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Lst>
  <p:sldSz cy="5143500" cx="9144000"/>
  <p:notesSz cx="6858000" cy="9144000"/>
  <p:embeddedFontLst>
    <p:embeddedFont>
      <p:font typeface="Proxima Nova"/>
      <p:regular r:id="rId128"/>
      <p:bold r:id="rId129"/>
      <p:italic r:id="rId130"/>
      <p:boldItalic r:id="rId131"/>
    </p:embeddedFont>
    <p:embeddedFont>
      <p:font typeface="Roboto"/>
      <p:regular r:id="rId132"/>
      <p:bold r:id="rId133"/>
      <p:italic r:id="rId134"/>
      <p:boldItalic r:id="rId135"/>
    </p:embeddedFont>
    <p:embeddedFont>
      <p:font typeface="Roboto Mono"/>
      <p:regular r:id="rId136"/>
      <p:bold r:id="rId137"/>
      <p:italic r:id="rId138"/>
      <p:boldItalic r:id="rId139"/>
    </p:embeddedFont>
    <p:embeddedFont>
      <p:font typeface="Alfa Slab One"/>
      <p:regular r:id="rId1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41" roundtripDataSignature="AMtx7mhFdpYUNvo0neKUkEeNDKtV776o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7A32DE4-3458-4DDD-9028-E1E8360CBD50}">
  <a:tblStyle styleId="{C7A32DE4-3458-4DDD-9028-E1E8360CBD50}"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font" Target="fonts/ProximaNova-bold.fntdata"/><Relationship Id="rId128" Type="http://schemas.openxmlformats.org/officeDocument/2006/relationships/font" Target="fonts/ProximaNova-regular.fntdata"/><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41" Type="http://customschemas.google.com/relationships/presentationmetadata" Target="metadata"/><Relationship Id="rId140" Type="http://schemas.openxmlformats.org/officeDocument/2006/relationships/font" Target="fonts/AlfaSlabOne-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font" Target="fonts/RobotoMono-boldItalic.fntdata"/><Relationship Id="rId138" Type="http://schemas.openxmlformats.org/officeDocument/2006/relationships/font" Target="fonts/RobotoMono-italic.fntdata"/><Relationship Id="rId137" Type="http://schemas.openxmlformats.org/officeDocument/2006/relationships/font" Target="fonts/RobotoMono-bold.fntdata"/><Relationship Id="rId132" Type="http://schemas.openxmlformats.org/officeDocument/2006/relationships/font" Target="fonts/Roboto-regular.fntdata"/><Relationship Id="rId131" Type="http://schemas.openxmlformats.org/officeDocument/2006/relationships/font" Target="fonts/ProximaNova-boldItalic.fntdata"/><Relationship Id="rId130" Type="http://schemas.openxmlformats.org/officeDocument/2006/relationships/font" Target="fonts/ProximaNova-italic.fntdata"/><Relationship Id="rId136" Type="http://schemas.openxmlformats.org/officeDocument/2006/relationships/font" Target="fonts/RobotoMono-regular.fntdata"/><Relationship Id="rId135" Type="http://schemas.openxmlformats.org/officeDocument/2006/relationships/font" Target="fonts/Roboto-boldItalic.fntdata"/><Relationship Id="rId134" Type="http://schemas.openxmlformats.org/officeDocument/2006/relationships/font" Target="fonts/Roboto-italic.fntdata"/><Relationship Id="rId133" Type="http://schemas.openxmlformats.org/officeDocument/2006/relationships/font" Target="fonts/Roboto-bold.fntdata"/><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 name="Google Shape;5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6" name="Google Shape;366;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0" name="Google Shape;380;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7" name="Google Shape;397;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0" name="Google Shape;410;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8" name="Google Shape;418;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6" name="Google Shape;426;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3" name="Google Shape;433;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0" name="Google Shape;440;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7" name="Google Shape;447;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4" name="Google Shape;454;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1" name="Google Shape;461;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8" name="Google Shape;468;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4" name="Google Shape;474;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2" name="Google Shape;482;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8" name="Google Shape;488;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4" name="Google Shape;494;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4" name="Google Shape;504;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0" name="Google Shape;510;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6" name="Google Shape;516;p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2" name="Google Shape;522;p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8" name="Google Shape;528;p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4" name="Google Shape;534;p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1" name="Google Shape;541;p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8" name="Google Shape;548;p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4" name="Google Shape;554;p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0" name="Google Shape;560;p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6" name="Google Shape;566;p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2" name="Google Shape;572;p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9" name="Google Shape;579;p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5" name="Google Shape;585;p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1" name="Google Shape;591;p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8" name="Google Shape;598;p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4" name="Google Shape;604;p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0" name="Google Shape;610;p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7" name="Google Shape;617;p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4" name="Google Shape;624;p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2" name="Google Shape;632;p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9" name="Google Shape;639;p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5" name="Google Shape;645;p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1" name="Google Shape;651;p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7" name="Google Shape;657;p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4" name="Google Shape;664;p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1" name="Google Shape;671;p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7" name="Google Shape;677;p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3" name="Google Shape;683;p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9" name="Google Shape;689;p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5" name="Google Shape;695;p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2" name="Google Shape;702;p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9" name="Google Shape;709;p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6" name="Google Shape;716;p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3" name="Google Shape;723;p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0" name="Google Shape;730;p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7" name="Google Shape;737;p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4" name="Google Shape;744;p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1" name="Google Shape;751;p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6" name="Google Shape;756;p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1" name="Google Shape;761;p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8" name="Google Shape;768;p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5" name="Google Shape;775;p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2" name="Google Shape;782;p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9" name="Google Shape;789;p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6" name="Google Shape;796;p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3" name="Google Shape;803;p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9" name="Google Shape;809;p1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5" name="Google Shape;815;p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1" name="Google Shape;821;p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p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7" name="Google Shape;827;p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3" name="Google Shape;833;p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9" name="Google Shape;839;p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5" name="Google Shape;845;p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1" name="Google Shape;851;p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123"/>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123"/>
          <p:cNvSpPr txBox="1"/>
          <p:nvPr>
            <p:ph type="ctrTitle"/>
          </p:nvPr>
        </p:nvSpPr>
        <p:spPr>
          <a:xfrm>
            <a:off x="311700" y="595975"/>
            <a:ext cx="8520600" cy="1957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12" name="Google Shape;12;p123"/>
          <p:cNvSpPr txBox="1"/>
          <p:nvPr>
            <p:ph idx="1" type="subTitle"/>
          </p:nvPr>
        </p:nvSpPr>
        <p:spPr>
          <a:xfrm>
            <a:off x="311700" y="3165823"/>
            <a:ext cx="8520600" cy="733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1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1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6" name="Google Shape;16;p1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7" name="Google Shape;17;p1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8" name="Shape 18"/>
        <p:cNvGrpSpPr/>
        <p:nvPr/>
      </p:nvGrpSpPr>
      <p:grpSpPr>
        <a:xfrm>
          <a:off x="0" y="0"/>
          <a:ext cx="0" cy="0"/>
          <a:chOff x="0" y="0"/>
          <a:chExt cx="0" cy="0"/>
        </a:xfrm>
      </p:grpSpPr>
      <p:sp>
        <p:nvSpPr>
          <p:cNvPr id="19" name="Google Shape;19;p125"/>
          <p:cNvSpPr txBox="1"/>
          <p:nvPr>
            <p:ph type="title"/>
          </p:nvPr>
        </p:nvSpPr>
        <p:spPr>
          <a:xfrm>
            <a:off x="311700" y="2480550"/>
            <a:ext cx="8114400" cy="24459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6800"/>
              <a:buNone/>
              <a:defRPr sz="6800">
                <a:solidFill>
                  <a:schemeClr val="lt1"/>
                </a:solidFill>
              </a:defRPr>
            </a:lvl1pPr>
            <a:lvl2pPr lvl="1" algn="l">
              <a:lnSpc>
                <a:spcPct val="100000"/>
              </a:lnSpc>
              <a:spcBef>
                <a:spcPts val="0"/>
              </a:spcBef>
              <a:spcAft>
                <a:spcPts val="0"/>
              </a:spcAft>
              <a:buClr>
                <a:schemeClr val="lt1"/>
              </a:buClr>
              <a:buSzPts val="6800"/>
              <a:buNone/>
              <a:defRPr sz="6800">
                <a:solidFill>
                  <a:schemeClr val="lt1"/>
                </a:solidFill>
              </a:defRPr>
            </a:lvl2pPr>
            <a:lvl3pPr lvl="2" algn="l">
              <a:lnSpc>
                <a:spcPct val="100000"/>
              </a:lnSpc>
              <a:spcBef>
                <a:spcPts val="0"/>
              </a:spcBef>
              <a:spcAft>
                <a:spcPts val="0"/>
              </a:spcAft>
              <a:buClr>
                <a:schemeClr val="lt1"/>
              </a:buClr>
              <a:buSzPts val="6800"/>
              <a:buNone/>
              <a:defRPr sz="6800">
                <a:solidFill>
                  <a:schemeClr val="lt1"/>
                </a:solidFill>
              </a:defRPr>
            </a:lvl3pPr>
            <a:lvl4pPr lvl="3" algn="l">
              <a:lnSpc>
                <a:spcPct val="100000"/>
              </a:lnSpc>
              <a:spcBef>
                <a:spcPts val="0"/>
              </a:spcBef>
              <a:spcAft>
                <a:spcPts val="0"/>
              </a:spcAft>
              <a:buClr>
                <a:schemeClr val="lt1"/>
              </a:buClr>
              <a:buSzPts val="6800"/>
              <a:buNone/>
              <a:defRPr sz="6800">
                <a:solidFill>
                  <a:schemeClr val="lt1"/>
                </a:solidFill>
              </a:defRPr>
            </a:lvl4pPr>
            <a:lvl5pPr lvl="4" algn="l">
              <a:lnSpc>
                <a:spcPct val="100000"/>
              </a:lnSpc>
              <a:spcBef>
                <a:spcPts val="0"/>
              </a:spcBef>
              <a:spcAft>
                <a:spcPts val="0"/>
              </a:spcAft>
              <a:buClr>
                <a:schemeClr val="lt1"/>
              </a:buClr>
              <a:buSzPts val="6800"/>
              <a:buNone/>
              <a:defRPr sz="6800">
                <a:solidFill>
                  <a:schemeClr val="lt1"/>
                </a:solidFill>
              </a:defRPr>
            </a:lvl5pPr>
            <a:lvl6pPr lvl="5" algn="l">
              <a:lnSpc>
                <a:spcPct val="100000"/>
              </a:lnSpc>
              <a:spcBef>
                <a:spcPts val="0"/>
              </a:spcBef>
              <a:spcAft>
                <a:spcPts val="0"/>
              </a:spcAft>
              <a:buClr>
                <a:schemeClr val="lt1"/>
              </a:buClr>
              <a:buSzPts val="6800"/>
              <a:buNone/>
              <a:defRPr sz="6800">
                <a:solidFill>
                  <a:schemeClr val="lt1"/>
                </a:solidFill>
              </a:defRPr>
            </a:lvl6pPr>
            <a:lvl7pPr lvl="6" algn="l">
              <a:lnSpc>
                <a:spcPct val="100000"/>
              </a:lnSpc>
              <a:spcBef>
                <a:spcPts val="0"/>
              </a:spcBef>
              <a:spcAft>
                <a:spcPts val="0"/>
              </a:spcAft>
              <a:buClr>
                <a:schemeClr val="lt1"/>
              </a:buClr>
              <a:buSzPts val="6800"/>
              <a:buNone/>
              <a:defRPr sz="6800">
                <a:solidFill>
                  <a:schemeClr val="lt1"/>
                </a:solidFill>
              </a:defRPr>
            </a:lvl7pPr>
            <a:lvl8pPr lvl="7" algn="l">
              <a:lnSpc>
                <a:spcPct val="100000"/>
              </a:lnSpc>
              <a:spcBef>
                <a:spcPts val="0"/>
              </a:spcBef>
              <a:spcAft>
                <a:spcPts val="0"/>
              </a:spcAft>
              <a:buClr>
                <a:schemeClr val="lt1"/>
              </a:buClr>
              <a:buSzPts val="6800"/>
              <a:buNone/>
              <a:defRPr sz="6800">
                <a:solidFill>
                  <a:schemeClr val="lt1"/>
                </a:solidFill>
              </a:defRPr>
            </a:lvl8pPr>
            <a:lvl9pPr lvl="8" algn="l">
              <a:lnSpc>
                <a:spcPct val="100000"/>
              </a:lnSpc>
              <a:spcBef>
                <a:spcPts val="0"/>
              </a:spcBef>
              <a:spcAft>
                <a:spcPts val="0"/>
              </a:spcAft>
              <a:buClr>
                <a:schemeClr val="lt1"/>
              </a:buClr>
              <a:buSzPts val="6800"/>
              <a:buNone/>
              <a:defRPr sz="6800">
                <a:solidFill>
                  <a:schemeClr val="lt1"/>
                </a:solidFill>
              </a:defRPr>
            </a:lvl9pPr>
          </a:lstStyle>
          <a:p/>
        </p:txBody>
      </p:sp>
      <p:sp>
        <p:nvSpPr>
          <p:cNvPr id="20" name="Google Shape;20;p1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1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3" name="Google Shape;23;p12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2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1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1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8" name="Google Shape;28;p1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128"/>
          <p:cNvSpPr txBox="1"/>
          <p:nvPr>
            <p:ph type="title"/>
          </p:nvPr>
        </p:nvSpPr>
        <p:spPr>
          <a:xfrm>
            <a:off x="311700" y="6318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1" name="Google Shape;31;p128"/>
          <p:cNvSpPr txBox="1"/>
          <p:nvPr>
            <p:ph idx="1" type="body"/>
          </p:nvPr>
        </p:nvSpPr>
        <p:spPr>
          <a:xfrm>
            <a:off x="311700" y="1490875"/>
            <a:ext cx="2808000" cy="30780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1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129"/>
          <p:cNvSpPr txBox="1"/>
          <p:nvPr>
            <p:ph type="title"/>
          </p:nvPr>
        </p:nvSpPr>
        <p:spPr>
          <a:xfrm>
            <a:off x="490250" y="526350"/>
            <a:ext cx="5683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35" name="Google Shape;35;p1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30"/>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8" name="Google Shape;38;p130"/>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130"/>
          <p:cNvSpPr txBox="1"/>
          <p:nvPr>
            <p:ph type="title"/>
          </p:nvPr>
        </p:nvSpPr>
        <p:spPr>
          <a:xfrm>
            <a:off x="265500" y="1375599"/>
            <a:ext cx="4045200" cy="1551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40" name="Google Shape;40;p130"/>
          <p:cNvSpPr txBox="1"/>
          <p:nvPr>
            <p:ph idx="1" type="subTitle"/>
          </p:nvPr>
        </p:nvSpPr>
        <p:spPr>
          <a:xfrm>
            <a:off x="265500" y="2981125"/>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130"/>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42" name="Google Shape;42;p1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31"/>
          <p:cNvSpPr txBox="1"/>
          <p:nvPr>
            <p:ph idx="1" type="body"/>
          </p:nvPr>
        </p:nvSpPr>
        <p:spPr>
          <a:xfrm>
            <a:off x="319500" y="4233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1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32"/>
          <p:cNvSpPr txBox="1"/>
          <p:nvPr>
            <p:ph hasCustomPrompt="1" type="title"/>
          </p:nvPr>
        </p:nvSpPr>
        <p:spPr>
          <a:xfrm>
            <a:off x="311700" y="1167925"/>
            <a:ext cx="8520600" cy="1980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11000"/>
              <a:buNone/>
              <a:defRPr sz="11000">
                <a:solidFill>
                  <a:schemeClr val="dk1"/>
                </a:solidFill>
              </a:defRPr>
            </a:lvl1pPr>
            <a:lvl2pPr lvl="1" algn="ctr">
              <a:lnSpc>
                <a:spcPct val="100000"/>
              </a:lnSpc>
              <a:spcBef>
                <a:spcPts val="0"/>
              </a:spcBef>
              <a:spcAft>
                <a:spcPts val="0"/>
              </a:spcAft>
              <a:buClr>
                <a:schemeClr val="dk1"/>
              </a:buClr>
              <a:buSzPts val="11000"/>
              <a:buNone/>
              <a:defRPr sz="11000">
                <a:solidFill>
                  <a:schemeClr val="dk1"/>
                </a:solidFill>
              </a:defRPr>
            </a:lvl2pPr>
            <a:lvl3pPr lvl="2" algn="ctr">
              <a:lnSpc>
                <a:spcPct val="100000"/>
              </a:lnSpc>
              <a:spcBef>
                <a:spcPts val="0"/>
              </a:spcBef>
              <a:spcAft>
                <a:spcPts val="0"/>
              </a:spcAft>
              <a:buClr>
                <a:schemeClr val="dk1"/>
              </a:buClr>
              <a:buSzPts val="11000"/>
              <a:buNone/>
              <a:defRPr sz="11000">
                <a:solidFill>
                  <a:schemeClr val="dk1"/>
                </a:solidFill>
              </a:defRPr>
            </a:lvl3pPr>
            <a:lvl4pPr lvl="3" algn="ctr">
              <a:lnSpc>
                <a:spcPct val="100000"/>
              </a:lnSpc>
              <a:spcBef>
                <a:spcPts val="0"/>
              </a:spcBef>
              <a:spcAft>
                <a:spcPts val="0"/>
              </a:spcAft>
              <a:buClr>
                <a:schemeClr val="dk1"/>
              </a:buClr>
              <a:buSzPts val="11000"/>
              <a:buNone/>
              <a:defRPr sz="11000">
                <a:solidFill>
                  <a:schemeClr val="dk1"/>
                </a:solidFill>
              </a:defRPr>
            </a:lvl4pPr>
            <a:lvl5pPr lvl="4" algn="ctr">
              <a:lnSpc>
                <a:spcPct val="100000"/>
              </a:lnSpc>
              <a:spcBef>
                <a:spcPts val="0"/>
              </a:spcBef>
              <a:spcAft>
                <a:spcPts val="0"/>
              </a:spcAft>
              <a:buClr>
                <a:schemeClr val="dk1"/>
              </a:buClr>
              <a:buSzPts val="11000"/>
              <a:buNone/>
              <a:defRPr sz="11000">
                <a:solidFill>
                  <a:schemeClr val="dk1"/>
                </a:solidFill>
              </a:defRPr>
            </a:lvl5pPr>
            <a:lvl6pPr lvl="5" algn="ctr">
              <a:lnSpc>
                <a:spcPct val="100000"/>
              </a:lnSpc>
              <a:spcBef>
                <a:spcPts val="0"/>
              </a:spcBef>
              <a:spcAft>
                <a:spcPts val="0"/>
              </a:spcAft>
              <a:buClr>
                <a:schemeClr val="dk1"/>
              </a:buClr>
              <a:buSzPts val="11000"/>
              <a:buNone/>
              <a:defRPr sz="11000">
                <a:solidFill>
                  <a:schemeClr val="dk1"/>
                </a:solidFill>
              </a:defRPr>
            </a:lvl6pPr>
            <a:lvl7pPr lvl="6" algn="ctr">
              <a:lnSpc>
                <a:spcPct val="100000"/>
              </a:lnSpc>
              <a:spcBef>
                <a:spcPts val="0"/>
              </a:spcBef>
              <a:spcAft>
                <a:spcPts val="0"/>
              </a:spcAft>
              <a:buClr>
                <a:schemeClr val="dk1"/>
              </a:buClr>
              <a:buSzPts val="11000"/>
              <a:buNone/>
              <a:defRPr sz="11000">
                <a:solidFill>
                  <a:schemeClr val="dk1"/>
                </a:solidFill>
              </a:defRPr>
            </a:lvl7pPr>
            <a:lvl8pPr lvl="7" algn="ctr">
              <a:lnSpc>
                <a:spcPct val="100000"/>
              </a:lnSpc>
              <a:spcBef>
                <a:spcPts val="0"/>
              </a:spcBef>
              <a:spcAft>
                <a:spcPts val="0"/>
              </a:spcAft>
              <a:buClr>
                <a:schemeClr val="dk1"/>
              </a:buClr>
              <a:buSzPts val="11000"/>
              <a:buNone/>
              <a:defRPr sz="11000">
                <a:solidFill>
                  <a:schemeClr val="dk1"/>
                </a:solidFill>
              </a:defRPr>
            </a:lvl8pPr>
            <a:lvl9pPr lvl="8" algn="ctr">
              <a:lnSpc>
                <a:spcPct val="100000"/>
              </a:lnSpc>
              <a:spcBef>
                <a:spcPts val="0"/>
              </a:spcBef>
              <a:spcAft>
                <a:spcPts val="0"/>
              </a:spcAft>
              <a:buClr>
                <a:schemeClr val="dk1"/>
              </a:buClr>
              <a:buSzPts val="11000"/>
              <a:buNone/>
              <a:defRPr sz="11000">
                <a:solidFill>
                  <a:schemeClr val="dk1"/>
                </a:solidFill>
              </a:defRPr>
            </a:lvl9pPr>
          </a:lstStyle>
          <a:p>
            <a:r>
              <a:t>xx%</a:t>
            </a:r>
          </a:p>
        </p:txBody>
      </p:sp>
      <p:sp>
        <p:nvSpPr>
          <p:cNvPr id="48" name="Google Shape;48;p132"/>
          <p:cNvSpPr txBox="1"/>
          <p:nvPr>
            <p:ph idx="1" type="body"/>
          </p:nvPr>
        </p:nvSpPr>
        <p:spPr>
          <a:xfrm>
            <a:off x="311700" y="32242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1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1pPr>
            <a:lvl2pPr lvl="1"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2pPr>
            <a:lvl3pPr lvl="2"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3pPr>
            <a:lvl4pPr lvl="3"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4pPr>
            <a:lvl5pPr lvl="4"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5pPr>
            <a:lvl6pPr lvl="5"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6pPr>
            <a:lvl7pPr lvl="6"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7pPr>
            <a:lvl8pPr lvl="7"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8pPr>
            <a:lvl9pPr lvl="8"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9pPr>
          </a:lstStyle>
          <a:p/>
        </p:txBody>
      </p:sp>
      <p:sp>
        <p:nvSpPr>
          <p:cNvPr id="7" name="Google Shape;7;p1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Proxima Nova"/>
              <a:buChar char="●"/>
              <a:defRPr b="0" i="0" sz="1800" u="none" cap="none" strike="noStrike">
                <a:solidFill>
                  <a:schemeClr val="dk2"/>
                </a:solidFill>
                <a:latin typeface="Proxima Nova"/>
                <a:ea typeface="Proxima Nova"/>
                <a:cs typeface="Proxima Nova"/>
                <a:sym typeface="Proxima Nova"/>
              </a:defRPr>
            </a:lvl1pPr>
            <a:lvl2pPr indent="-317500" lvl="1" marL="9144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2pPr>
            <a:lvl3pPr indent="-317500" lvl="2" marL="13716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3pPr>
            <a:lvl4pPr indent="-317500" lvl="3" marL="18288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4pPr>
            <a:lvl5pPr indent="-317500" lvl="4" marL="22860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5pPr>
            <a:lvl6pPr indent="-317500" lvl="5" marL="27432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6pPr>
            <a:lvl7pPr indent="-317500" lvl="6" marL="32004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7pPr>
            <a:lvl8pPr indent="-317500" lvl="7" marL="36576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8pPr>
            <a:lvl9pPr indent="-317500" lvl="8" marL="41148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9pPr>
          </a:lstStyle>
          <a:p/>
        </p:txBody>
      </p:sp>
      <p:sp>
        <p:nvSpPr>
          <p:cNvPr id="8" name="Google Shape;8;p1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w3.org/Style/CSS/" TargetMode="External"/><Relationship Id="rId4" Type="http://schemas.openxmlformats.org/officeDocument/2006/relationships/hyperlink" Target="https://www.eniun.com/resumen-tabla-propiedades-css-valore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codepen.io/Eniun/pen/gNdZXL" TargetMode="Externa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www.w3schools.com/tags/ref_pxtoemconversion.asp"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codepen.io/Eniun/pen/mdggOdO" TargetMode="External"/><Relationship Id="rId4" Type="http://schemas.openxmlformats.org/officeDocument/2006/relationships/hyperlink" Target="https://codepen.io/Eniun/pen/ZEZNEmp" TargetMode="External"/><Relationship Id="rId5" Type="http://schemas.openxmlformats.org/officeDocument/2006/relationships/hyperlink" Target="https://codepen.io/Eniun/pen/rNbbErW"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www.eniun.com/lista-codigos-de-colores-html-css/" TargetMode="Externa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codepen.io/Eniun/pen/yLoNxBj" TargetMode="Externa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hyperlink" Target="https://img.freepik.com/vector-gratis/fondo-monocromatico-blanco-estilo-papel_52683-66443.jpg?w=900&amp;t=st=1697252118~exp=1697252718~hmac=c828b4d3b79a4f8c77d76ef1d503fd6b1666bcb1e7b4434ad3dbaffaaadc84ff" TargetMode="External"/><Relationship Id="rId4" Type="http://schemas.openxmlformats.org/officeDocument/2006/relationships/hyperlink" Target="https://codepen.io/Eniun/pen/VwqNNpE" TargetMode="External"/><Relationship Id="rId5"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6.png"/><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hyperlink" Target="https://codepen.io/Eniun/pen/xoQpOz" TargetMode="External"/><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2.png"/><Relationship Id="rId4"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9.png"/><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hyperlink" Target="https://codepen.io/Eniun/pen/rEQEEy"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hyperlink" Target="https://www.eniun.com/pseudo-clases-pseudo-elementos-css/"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4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3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3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4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4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hyperlink" Target="https://www.eniun.com/posicion-comportamiento-contenedores-css/"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43.png"/><Relationship Id="rId4" Type="http://schemas.openxmlformats.org/officeDocument/2006/relationships/image" Target="../media/image5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52.png"/><Relationship Id="rId4" Type="http://schemas.openxmlformats.org/officeDocument/2006/relationships/image" Target="../media/image42.png"/><Relationship Id="rId5" Type="http://schemas.openxmlformats.org/officeDocument/2006/relationships/image" Target="../media/image41.png"/><Relationship Id="rId6" Type="http://schemas.openxmlformats.org/officeDocument/2006/relationships/image" Target="../media/image5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hyperlink" Target="https://codepen.io/Eniun/pen/ZdVWpM"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hyperlink" Target="https://codepen.io/Eniun/pen/QXzNxx"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hyperlink" Target="https://codepen.io/Eniun/pen/qzLNNq"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hyperlink" Target="https://codepen.io/Eniun/pen/bPOpyK"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hyperlink" Target="https://codepen.io/Eniun/pen/agPZWm"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4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5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hyperlink" Target="https://codepen.io/Eniun/pen/VJRVJb"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hyperlink" Target="https://codepen.io/Eniun/pen/agxQJM" TargetMode="External"/><Relationship Id="rId4" Type="http://schemas.openxmlformats.org/officeDocument/2006/relationships/hyperlink" Target="https://codepen.io/Eniun/pen/vqMQjK" TargetMode="External"/><Relationship Id="rId5" Type="http://schemas.openxmlformats.org/officeDocument/2006/relationships/hyperlink" Target="https://codepen.io/Eniun/pen/zVXyGY" TargetMode="External"/><Relationship Id="rId6" Type="http://schemas.openxmlformats.org/officeDocument/2006/relationships/hyperlink" Target="https://codepen.io/Eniun/pen/PrgxMO" TargetMode="External"/><Relationship Id="rId7" Type="http://schemas.openxmlformats.org/officeDocument/2006/relationships/hyperlink" Target="https://codepen.io/Eniun/pen/porjmLM"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hyperlink" Target="https://codepen.io/Eniun/pen/wvvrEed"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hyperlink" Target="https://codepen.io/Eniun/pen/zVXyzv" TargetMode="External"/><Relationship Id="rId4" Type="http://schemas.openxmlformats.org/officeDocument/2006/relationships/image" Target="../media/image5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hyperlink" Target="https://www.eniun.com/modelo-cajas-css-margenes-relleno-bordes/" TargetMode="External"/><Relationship Id="rId4" Type="http://schemas.openxmlformats.org/officeDocument/2006/relationships/hyperlink" Target="https://codepen.io/Eniun/pen/mddBGWV"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hyperlink" Target="https://codepen.io/CybMeta/pen/xGwoyd"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5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hyperlink" Target="https://codepen.io/Eniun/pen/xxLwVML" TargetMode="External"/><Relationship Id="rId4" Type="http://schemas.openxmlformats.org/officeDocument/2006/relationships/hyperlink" Target="https://codepen.io/Eniun/pen/qBdyWrR" TargetMode="External"/><Relationship Id="rId5" Type="http://schemas.openxmlformats.org/officeDocument/2006/relationships/hyperlink" Target="https://codepen.io/Eniun/pen/VwmzdWr"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hyperlink" Target="https://codepen.io/Eniun/pen/PoqBoKY" TargetMode="External"/><Relationship Id="rId4" Type="http://schemas.openxmlformats.org/officeDocument/2006/relationships/image" Target="../media/image48.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hyperlink" Target="https://codepen.io/Eniun/pen/QWbBWaK" TargetMode="External"/><Relationship Id="rId4" Type="http://schemas.openxmlformats.org/officeDocument/2006/relationships/image" Target="../media/image56.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66.png"/><Relationship Id="rId4" Type="http://schemas.openxmlformats.org/officeDocument/2006/relationships/hyperlink" Target="https://codepen.io/Eniun/pen/QWJYLMq"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59.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hyperlink" Target="https://codepen.io/Eniun/pen/poorvzK"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hyperlink" Target="https://codepen.io/Eniun/pen/poGdarW" TargetMode="External"/><Relationship Id="rId4" Type="http://schemas.openxmlformats.org/officeDocument/2006/relationships/hyperlink" Target="https://codepen.io/Eniun/pen/JjxyqpP" TargetMode="External"/><Relationship Id="rId5" Type="http://schemas.openxmlformats.org/officeDocument/2006/relationships/hyperlink" Target="https://codepen.io/Eniun/pen/jOdaZKG"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hyperlink" Target="https://codepen.io/Eniun/pen/ZEZqxVP?editors=1100" TargetMode="External"/><Relationship Id="rId4" Type="http://schemas.openxmlformats.org/officeDocument/2006/relationships/image" Target="../media/image6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60.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hyperlink" Target="https://www.eniun.com/transiciones-css-estilos-difrentes-entre-estados/" TargetMode="External"/><Relationship Id="rId4" Type="http://schemas.openxmlformats.org/officeDocument/2006/relationships/hyperlink" Target="https://www.eniun.com/transiciones-css-estilos-difrentes-entre-estados/" TargetMode="External"/><Relationship Id="rId5" Type="http://schemas.openxmlformats.org/officeDocument/2006/relationships/hyperlink" Target="https://codepen.io/Eniun/pen/gOyBeBR?editors=1100" TargetMode="Externa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57.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58.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hyperlink" Target="https://www.eniun.com/sombras-texto-contenedores-cajas-css/" TargetMode="External"/><Relationship Id="rId4" Type="http://schemas.openxmlformats.org/officeDocument/2006/relationships/image" Target="../media/image63.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hyperlink" Target="https://codepen.io/Eniun/pen/qBwJYaq"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 Id="rId3" Type="http://schemas.openxmlformats.org/officeDocument/2006/relationships/hyperlink" Target="https://codepen.io/Eniun/pen/ZEZqoBz"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 Id="rId3" Type="http://schemas.openxmlformats.org/officeDocument/2006/relationships/hyperlink" Target="https://www.eniun.com/transiciones-css-estilos-difrentes-entre-estados/" TargetMode="External"/><Relationship Id="rId4" Type="http://schemas.openxmlformats.org/officeDocument/2006/relationships/hyperlink" Target="https://codepen.io/Eniun/pen/QWPZXEM"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6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73.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64.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70.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6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65.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image" Target="../media/image7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7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 Id="rId3" Type="http://schemas.openxmlformats.org/officeDocument/2006/relationships/image" Target="../media/image68.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 Id="rId3" Type="http://schemas.openxmlformats.org/officeDocument/2006/relationships/image" Target="../media/image69.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 Id="rId3" Type="http://schemas.openxmlformats.org/officeDocument/2006/relationships/hyperlink" Target="https://www.eniun.com/selectores-css-tipos/#36_Combinacion_de_selectores" TargetMode="Externa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 Id="rId3" Type="http://schemas.openxmlformats.org/officeDocument/2006/relationships/hyperlink" Target="https://www.eniun.com/selectores-css-tipos/#35_Selector_descendiente"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hyperlink" Target="https://jigsaw.w3.org/css-validator/" TargetMode="External"/><Relationship Id="rId4" Type="http://schemas.openxmlformats.org/officeDocument/2006/relationships/hyperlink" Target="https://www.eniun.com/prefijos-css-navegadores-propiedades/" TargetMode="Externa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
          <p:cNvSpPr txBox="1"/>
          <p:nvPr>
            <p:ph type="ctrTitle"/>
          </p:nvPr>
        </p:nvSpPr>
        <p:spPr>
          <a:xfrm>
            <a:off x="311700" y="595975"/>
            <a:ext cx="8520600" cy="19578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400"/>
              <a:buNone/>
            </a:pPr>
            <a:r>
              <a:rPr lang="es"/>
              <a:t>Tema 3: CSS Inicial</a:t>
            </a:r>
            <a:endParaRPr/>
          </a:p>
        </p:txBody>
      </p:sp>
      <p:sp>
        <p:nvSpPr>
          <p:cNvPr id="57" name="Google Shape;57;p1"/>
          <p:cNvSpPr txBox="1"/>
          <p:nvPr>
            <p:ph idx="1" type="subTitle"/>
          </p:nvPr>
        </p:nvSpPr>
        <p:spPr>
          <a:xfrm>
            <a:off x="311700" y="3165823"/>
            <a:ext cx="8520600" cy="7335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ctr">
              <a:lnSpc>
                <a:spcPct val="100000"/>
              </a:lnSpc>
              <a:spcBef>
                <a:spcPts val="0"/>
              </a:spcBef>
              <a:spcAft>
                <a:spcPts val="0"/>
              </a:spcAft>
              <a:buSzPct val="108108"/>
              <a:buNone/>
            </a:pPr>
            <a:r>
              <a:rPr lang="es"/>
              <a:t>Diseño de Interfaces Web - 2º DAW</a:t>
            </a:r>
            <a:endParaRPr/>
          </a:p>
          <a:p>
            <a:pPr indent="0" lvl="0" marL="0" rtl="0" algn="ctr">
              <a:lnSpc>
                <a:spcPct val="100000"/>
              </a:lnSpc>
              <a:spcBef>
                <a:spcPts val="0"/>
              </a:spcBef>
              <a:spcAft>
                <a:spcPts val="0"/>
              </a:spcAft>
              <a:buSzPct val="108108"/>
              <a:buNone/>
            </a:pPr>
            <a:r>
              <a:rPr lang="es"/>
              <a:t>Juana Mª Rodríguez García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400050" lvl="0" marL="457200" rtl="0" algn="l">
              <a:lnSpc>
                <a:spcPct val="100000"/>
              </a:lnSpc>
              <a:spcBef>
                <a:spcPts val="0"/>
              </a:spcBef>
              <a:spcAft>
                <a:spcPts val="0"/>
              </a:spcAft>
              <a:buSzPct val="100000"/>
              <a:buAutoNum type="arabicPeriod"/>
            </a:pPr>
            <a:r>
              <a:rPr lang="es"/>
              <a:t>Introducción</a:t>
            </a:r>
            <a:endParaRPr/>
          </a:p>
        </p:txBody>
      </p:sp>
      <p:sp>
        <p:nvSpPr>
          <p:cNvPr id="63" name="Google Shape;63;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350">
                <a:solidFill>
                  <a:srgbClr val="000000"/>
                </a:solidFill>
                <a:latin typeface="Roboto"/>
                <a:ea typeface="Roboto"/>
                <a:cs typeface="Roboto"/>
                <a:sym typeface="Roboto"/>
              </a:rPr>
              <a:t>El lenguaje</a:t>
            </a:r>
            <a:r>
              <a:rPr b="1" lang="es" sz="1350">
                <a:solidFill>
                  <a:srgbClr val="000000"/>
                </a:solidFill>
                <a:latin typeface="Roboto"/>
                <a:ea typeface="Roboto"/>
                <a:cs typeface="Roboto"/>
                <a:sym typeface="Roboto"/>
              </a:rPr>
              <a:t> CSS está creado por el World Wide Web Consortium (W3C)</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latin typeface="Roboto"/>
                <a:ea typeface="Roboto"/>
                <a:cs typeface="Roboto"/>
                <a:sym typeface="Roboto"/>
              </a:rPr>
              <a:t>El lenguaje </a:t>
            </a:r>
            <a:r>
              <a:rPr b="1" lang="es" sz="1350">
                <a:solidFill>
                  <a:srgbClr val="000000"/>
                </a:solidFill>
                <a:latin typeface="Roboto"/>
                <a:ea typeface="Roboto"/>
                <a:cs typeface="Roboto"/>
                <a:sym typeface="Roboto"/>
              </a:rPr>
              <a:t>CSS se ha ido creando a lo largo del tiempo en varios niveles</a:t>
            </a:r>
            <a:r>
              <a:rPr lang="es" sz="1350">
                <a:solidFill>
                  <a:srgbClr val="000000"/>
                </a:solidFill>
                <a:latin typeface="Roboto"/>
                <a:ea typeface="Roboto"/>
                <a:cs typeface="Roboto"/>
                <a:sym typeface="Roboto"/>
              </a:rPr>
              <a:t>. Cada nivel de CSS se ha construido sobre el anterior, generalmente añadiendo funcionalidades nuevas. En la página oficial de W3C (</a:t>
            </a:r>
            <a:r>
              <a:rPr lang="es" sz="1350">
                <a:solidFill>
                  <a:srgbClr val="E7618B"/>
                </a:solidFill>
                <a:uFill>
                  <a:noFill/>
                </a:uFill>
                <a:latin typeface="Roboto"/>
                <a:ea typeface="Roboto"/>
                <a:cs typeface="Roboto"/>
                <a:sym typeface="Roboto"/>
                <a:hlinkClick r:id="rId3">
                  <a:extLst>
                    <a:ext uri="{A12FA001-AC4F-418D-AE19-62706E023703}">
                      <ahyp:hlinkClr val="tx"/>
                    </a:ext>
                  </a:extLst>
                </a:hlinkClick>
              </a:rPr>
              <a:t>w3.org/Style/CSS/</a:t>
            </a:r>
            <a:r>
              <a:rPr lang="es" sz="1350">
                <a:solidFill>
                  <a:srgbClr val="000000"/>
                </a:solidFill>
                <a:latin typeface="Roboto"/>
                <a:ea typeface="Roboto"/>
                <a:cs typeface="Roboto"/>
                <a:sym typeface="Roboto"/>
              </a:rPr>
              <a:t>) se pueden consultar todas las publicaciones relacionadas con las novedades del estándar CSS en sus diferentes versiones. </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highlight>
                  <a:srgbClr val="FFFFFF"/>
                </a:highlight>
                <a:latin typeface="Roboto"/>
                <a:ea typeface="Roboto"/>
                <a:cs typeface="Roboto"/>
                <a:sym typeface="Roboto"/>
              </a:rPr>
              <a:t>El estándar CSS2 define más de 100 propiedades, cada una de ellas con su lista de valores permitidos. Por su parte, el estándar </a:t>
            </a:r>
            <a:r>
              <a:rPr b="1" lang="es" sz="1350">
                <a:solidFill>
                  <a:srgbClr val="000000"/>
                </a:solidFill>
                <a:latin typeface="Roboto"/>
                <a:ea typeface="Roboto"/>
                <a:cs typeface="Roboto"/>
                <a:sym typeface="Roboto"/>
              </a:rPr>
              <a:t>CSS3 ya incluye más de 200 propiedades o atributos</a:t>
            </a:r>
            <a:r>
              <a:rPr lang="es" sz="1350">
                <a:solidFill>
                  <a:srgbClr val="000000"/>
                </a:solidFill>
                <a:highlight>
                  <a:srgbClr val="FFFFFF"/>
                </a:highlight>
                <a:latin typeface="Roboto"/>
                <a:ea typeface="Roboto"/>
                <a:cs typeface="Roboto"/>
                <a:sym typeface="Roboto"/>
              </a:rPr>
              <a:t>. </a:t>
            </a:r>
            <a:endParaRPr sz="1350">
              <a:solidFill>
                <a:srgbClr val="000000"/>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SzPts val="1800"/>
              <a:buNone/>
            </a:pPr>
            <a:r>
              <a:rPr lang="es" sz="1350">
                <a:solidFill>
                  <a:srgbClr val="000000"/>
                </a:solidFill>
                <a:highlight>
                  <a:srgbClr val="FFFFFF"/>
                </a:highlight>
                <a:latin typeface="Roboto"/>
                <a:ea typeface="Roboto"/>
                <a:cs typeface="Roboto"/>
                <a:sym typeface="Roboto"/>
              </a:rPr>
              <a:t>En el siguiente enlace puedes ver un </a:t>
            </a:r>
            <a:r>
              <a:rPr lang="es" sz="1350">
                <a:solidFill>
                  <a:srgbClr val="E7618B"/>
                </a:solidFill>
                <a:uFill>
                  <a:noFill/>
                </a:uFill>
                <a:latin typeface="Roboto"/>
                <a:ea typeface="Roboto"/>
                <a:cs typeface="Roboto"/>
                <a:sym typeface="Roboto"/>
                <a:hlinkClick r:id="rId4">
                  <a:extLst>
                    <a:ext uri="{A12FA001-AC4F-418D-AE19-62706E023703}">
                      <ahyp:hlinkClr val="tx"/>
                    </a:ext>
                  </a:extLst>
                </a:hlinkClick>
              </a:rPr>
              <a:t>resumen de las propiedades</a:t>
            </a:r>
            <a:r>
              <a:rPr lang="es" sz="1350">
                <a:solidFill>
                  <a:srgbClr val="000000"/>
                </a:solidFill>
                <a:highlight>
                  <a:srgbClr val="FFFFFF"/>
                </a:highlight>
                <a:latin typeface="Roboto"/>
                <a:ea typeface="Roboto"/>
                <a:cs typeface="Roboto"/>
                <a:sym typeface="Roboto"/>
              </a:rPr>
              <a:t> que se vamos a estudiar.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1.Introducción</a:t>
            </a:r>
            <a:endParaRPr/>
          </a:p>
          <a:p>
            <a:pPr indent="0" lvl="0" marL="0" rtl="0" algn="l">
              <a:lnSpc>
                <a:spcPct val="100000"/>
              </a:lnSpc>
              <a:spcBef>
                <a:spcPts val="0"/>
              </a:spcBef>
              <a:spcAft>
                <a:spcPts val="0"/>
              </a:spcAft>
              <a:buSzPct val="111111"/>
              <a:buNone/>
            </a:pPr>
            <a:r>
              <a:rPr lang="es"/>
              <a:t>1.1 Soporte en navegadores</a:t>
            </a:r>
            <a:endParaRPr/>
          </a:p>
        </p:txBody>
      </p:sp>
      <p:sp>
        <p:nvSpPr>
          <p:cNvPr id="69" name="Google Shape;69;p3"/>
          <p:cNvSpPr txBox="1"/>
          <p:nvPr>
            <p:ph idx="1" type="body"/>
          </p:nvPr>
        </p:nvSpPr>
        <p:spPr>
          <a:xfrm>
            <a:off x="311700" y="1362800"/>
            <a:ext cx="8520600" cy="32061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l">
              <a:lnSpc>
                <a:spcPct val="115000"/>
              </a:lnSpc>
              <a:spcBef>
                <a:spcPts val="0"/>
              </a:spcBef>
              <a:spcAft>
                <a:spcPts val="0"/>
              </a:spcAft>
              <a:buSzPct val="156862"/>
              <a:buNone/>
            </a:pPr>
            <a:r>
              <a:rPr lang="es" sz="1350">
                <a:solidFill>
                  <a:srgbClr val="000000"/>
                </a:solidFill>
                <a:latin typeface="Roboto"/>
                <a:ea typeface="Roboto"/>
                <a:cs typeface="Roboto"/>
                <a:sym typeface="Roboto"/>
              </a:rPr>
              <a:t>Cada navegador ofrece un soporte CSS distinto. Por este motivo, es necesario comprobar que nuestras webs se visualizan correctamente en los diferentes navegadores. A continuación, se presentan algunas herramientas útiles para verificar la compatibilidad y resolver problemas de CSS:</a:t>
            </a:r>
            <a:endParaRPr sz="1350">
              <a:solidFill>
                <a:srgbClr val="000000"/>
              </a:solidFill>
              <a:latin typeface="Roboto"/>
              <a:ea typeface="Roboto"/>
              <a:cs typeface="Roboto"/>
              <a:sym typeface="Roboto"/>
            </a:endParaRPr>
          </a:p>
          <a:p>
            <a:pPr indent="-301497" lvl="0" marL="749300" rtl="0" algn="l">
              <a:lnSpc>
                <a:spcPct val="115000"/>
              </a:lnSpc>
              <a:spcBef>
                <a:spcPts val="1100"/>
              </a:spcBef>
              <a:spcAft>
                <a:spcPts val="0"/>
              </a:spcAft>
              <a:buClr>
                <a:srgbClr val="2C3862"/>
              </a:buClr>
              <a:buSzPct val="100000"/>
              <a:buFont typeface="Roboto"/>
              <a:buAutoNum type="arabicPeriod"/>
            </a:pPr>
            <a:r>
              <a:rPr b="1" lang="es" sz="1350">
                <a:solidFill>
                  <a:srgbClr val="2C3862"/>
                </a:solidFill>
                <a:latin typeface="Roboto"/>
                <a:ea typeface="Roboto"/>
                <a:cs typeface="Roboto"/>
                <a:sym typeface="Roboto"/>
              </a:rPr>
              <a:t>Can I use</a:t>
            </a:r>
            <a:r>
              <a:rPr lang="es" sz="1350">
                <a:solidFill>
                  <a:srgbClr val="2C3862"/>
                </a:solidFill>
                <a:latin typeface="Roboto"/>
                <a:ea typeface="Roboto"/>
                <a:cs typeface="Roboto"/>
                <a:sym typeface="Roboto"/>
              </a:rPr>
              <a:t> (caniuse.com): Esta herramienta en línea permite verificar el soporte de diferentes características de CSS en varios navegadores y versiones.</a:t>
            </a:r>
            <a:endParaRPr sz="1350">
              <a:solidFill>
                <a:srgbClr val="2C3862"/>
              </a:solidFill>
              <a:latin typeface="Roboto"/>
              <a:ea typeface="Roboto"/>
              <a:cs typeface="Roboto"/>
              <a:sym typeface="Roboto"/>
            </a:endParaRPr>
          </a:p>
          <a:p>
            <a:pPr indent="-301497" lvl="0" marL="749300" rtl="0" algn="l">
              <a:lnSpc>
                <a:spcPct val="115000"/>
              </a:lnSpc>
              <a:spcBef>
                <a:spcPts val="0"/>
              </a:spcBef>
              <a:spcAft>
                <a:spcPts val="0"/>
              </a:spcAft>
              <a:buClr>
                <a:srgbClr val="2C3862"/>
              </a:buClr>
              <a:buSzPct val="100000"/>
              <a:buFont typeface="Roboto"/>
              <a:buAutoNum type="arabicPeriod"/>
            </a:pPr>
            <a:r>
              <a:rPr b="1" lang="es" sz="1350">
                <a:solidFill>
                  <a:srgbClr val="2C3862"/>
                </a:solidFill>
                <a:latin typeface="Roboto"/>
                <a:ea typeface="Roboto"/>
                <a:cs typeface="Roboto"/>
                <a:sym typeface="Roboto"/>
              </a:rPr>
              <a:t>Browserstack </a:t>
            </a:r>
            <a:r>
              <a:rPr lang="es" sz="1350">
                <a:solidFill>
                  <a:srgbClr val="2C3862"/>
                </a:solidFill>
                <a:latin typeface="Roboto"/>
                <a:ea typeface="Roboto"/>
                <a:cs typeface="Roboto"/>
                <a:sym typeface="Roboto"/>
              </a:rPr>
              <a:t>(browserstack.com): Es una plataforma que permite probar sitios web en diferentes navegadores y dispositivos para verificar la compatibilidad de CSS.</a:t>
            </a:r>
            <a:endParaRPr sz="1350">
              <a:solidFill>
                <a:srgbClr val="2C3862"/>
              </a:solidFill>
              <a:latin typeface="Roboto"/>
              <a:ea typeface="Roboto"/>
              <a:cs typeface="Roboto"/>
              <a:sym typeface="Roboto"/>
            </a:endParaRPr>
          </a:p>
          <a:p>
            <a:pPr indent="-301497" lvl="0" marL="749300" rtl="0" algn="l">
              <a:lnSpc>
                <a:spcPct val="115000"/>
              </a:lnSpc>
              <a:spcBef>
                <a:spcPts val="0"/>
              </a:spcBef>
              <a:spcAft>
                <a:spcPts val="0"/>
              </a:spcAft>
              <a:buClr>
                <a:srgbClr val="2C3862"/>
              </a:buClr>
              <a:buSzPct val="100000"/>
              <a:buFont typeface="Roboto"/>
              <a:buAutoNum type="arabicPeriod"/>
            </a:pPr>
            <a:r>
              <a:rPr b="1" lang="es" sz="1350">
                <a:solidFill>
                  <a:srgbClr val="2C3862"/>
                </a:solidFill>
                <a:latin typeface="Roboto"/>
                <a:ea typeface="Roboto"/>
                <a:cs typeface="Roboto"/>
                <a:sym typeface="Roboto"/>
              </a:rPr>
              <a:t>Developer Tools en los navegadores</a:t>
            </a:r>
            <a:r>
              <a:rPr lang="es" sz="1350">
                <a:solidFill>
                  <a:srgbClr val="2C3862"/>
                </a:solidFill>
                <a:latin typeface="Roboto"/>
                <a:ea typeface="Roboto"/>
                <a:cs typeface="Roboto"/>
                <a:sym typeface="Roboto"/>
              </a:rPr>
              <a:t>: Chrome, Firefox, Safari y Edge ofrecen herramientas integradas de desarrollo que permiten inspeccionar y modificar el código CSS para solucionar problemas y ajustar el diseño.</a:t>
            </a:r>
            <a:endParaRPr sz="1350">
              <a:solidFill>
                <a:srgbClr val="2C3862"/>
              </a:solidFill>
              <a:latin typeface="Roboto"/>
              <a:ea typeface="Roboto"/>
              <a:cs typeface="Roboto"/>
              <a:sym typeface="Roboto"/>
            </a:endParaRPr>
          </a:p>
          <a:p>
            <a:pPr indent="-301497" lvl="0" marL="749300" rtl="0" algn="l">
              <a:lnSpc>
                <a:spcPct val="115000"/>
              </a:lnSpc>
              <a:spcBef>
                <a:spcPts val="0"/>
              </a:spcBef>
              <a:spcAft>
                <a:spcPts val="0"/>
              </a:spcAft>
              <a:buClr>
                <a:srgbClr val="2C3862"/>
              </a:buClr>
              <a:buSzPct val="100000"/>
              <a:buFont typeface="Roboto"/>
              <a:buAutoNum type="arabicPeriod"/>
            </a:pPr>
            <a:r>
              <a:rPr b="1" lang="es" sz="1350">
                <a:solidFill>
                  <a:srgbClr val="2C3862"/>
                </a:solidFill>
                <a:latin typeface="Roboto"/>
                <a:ea typeface="Roboto"/>
                <a:cs typeface="Roboto"/>
                <a:sym typeface="Roboto"/>
              </a:rPr>
              <a:t>CSS Validator</a:t>
            </a:r>
            <a:r>
              <a:rPr lang="es" sz="1350">
                <a:solidFill>
                  <a:srgbClr val="2C3862"/>
                </a:solidFill>
                <a:latin typeface="Roboto"/>
                <a:ea typeface="Roboto"/>
                <a:cs typeface="Roboto"/>
                <a:sym typeface="Roboto"/>
              </a:rPr>
              <a:t> (jigsaw.w3.org/css-validator/): Es una herramienta de la W3C que verifica la validez del código CSS y muestra errores y advertencias para corregir problemas.</a:t>
            </a:r>
            <a:endParaRPr sz="1350">
              <a:solidFill>
                <a:srgbClr val="2C3862"/>
              </a:solidFill>
              <a:latin typeface="Roboto"/>
              <a:ea typeface="Roboto"/>
              <a:cs typeface="Roboto"/>
              <a:sym typeface="Roboto"/>
            </a:endParaRPr>
          </a:p>
          <a:p>
            <a:pPr indent="0" lvl="0" marL="0" rtl="0" algn="l">
              <a:lnSpc>
                <a:spcPct val="115000"/>
              </a:lnSpc>
              <a:spcBef>
                <a:spcPts val="1900"/>
              </a:spcBef>
              <a:spcAft>
                <a:spcPts val="1100"/>
              </a:spcAft>
              <a:buSzPct val="156862"/>
              <a:buNone/>
            </a:pPr>
            <a:r>
              <a:rPr lang="es" sz="1350">
                <a:solidFill>
                  <a:srgbClr val="000000"/>
                </a:solidFill>
                <a:latin typeface="Roboto"/>
                <a:ea typeface="Roboto"/>
                <a:cs typeface="Roboto"/>
                <a:sym typeface="Roboto"/>
              </a:rPr>
              <a:t>El uso de estas herramientas y el conocimiento del soporte de CSS en los navegadores más utilizados son fundamentales para garantizar que un sitio web tenga un diseño coherente y atractivo en diferentes entornos y dispositivos.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1.Introducción</a:t>
            </a:r>
            <a:endParaRPr/>
          </a:p>
          <a:p>
            <a:pPr indent="0" lvl="0" marL="0" rtl="0" algn="l">
              <a:lnSpc>
                <a:spcPct val="100000"/>
              </a:lnSpc>
              <a:spcBef>
                <a:spcPts val="0"/>
              </a:spcBef>
              <a:spcAft>
                <a:spcPts val="0"/>
              </a:spcAft>
              <a:buSzPct val="111111"/>
              <a:buNone/>
            </a:pPr>
            <a:r>
              <a:rPr lang="es"/>
              <a:t>1.1 Sintaxis</a:t>
            </a:r>
            <a:endParaRPr/>
          </a:p>
        </p:txBody>
      </p:sp>
      <p:sp>
        <p:nvSpPr>
          <p:cNvPr id="75" name="Google Shape;75;p4"/>
          <p:cNvSpPr txBox="1"/>
          <p:nvPr>
            <p:ph idx="1" type="body"/>
          </p:nvPr>
        </p:nvSpPr>
        <p:spPr>
          <a:xfrm>
            <a:off x="311700" y="1362800"/>
            <a:ext cx="8520600" cy="34905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lang="es" sz="1350">
                <a:solidFill>
                  <a:srgbClr val="000000"/>
                </a:solidFill>
                <a:latin typeface="Roboto"/>
                <a:ea typeface="Roboto"/>
                <a:cs typeface="Roboto"/>
                <a:sym typeface="Roboto"/>
              </a:rPr>
              <a:t>En CSS se utiliza la siguiente sintaxis para asignar valores a las propiedades de cada selector:</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0"/>
              </a:spcAft>
              <a:buSzPts val="1800"/>
              <a:buNone/>
            </a:pPr>
            <a:r>
              <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0"/>
              </a:spcAft>
              <a:buSzPts val="1800"/>
              <a:buNone/>
            </a:pPr>
            <a:r>
              <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0"/>
              </a:spcAft>
              <a:buSzPts val="1800"/>
              <a:buNone/>
            </a:pPr>
            <a:r>
              <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0"/>
              </a:spcAft>
              <a:buSzPts val="1800"/>
              <a:buNone/>
            </a:pPr>
            <a:r>
              <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0"/>
              </a:spcAft>
              <a:buSzPts val="1800"/>
              <a:buNone/>
            </a:pPr>
            <a:r>
              <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0"/>
              </a:spcAft>
              <a:buSzPts val="1800"/>
              <a:buNone/>
            </a:pPr>
            <a:r>
              <a:t/>
            </a:r>
            <a:endParaRPr sz="1100">
              <a:solidFill>
                <a:srgbClr val="000000"/>
              </a:solidFill>
              <a:latin typeface="Arial"/>
              <a:ea typeface="Arial"/>
              <a:cs typeface="Arial"/>
              <a:sym typeface="Arial"/>
            </a:endParaRPr>
          </a:p>
          <a:p>
            <a:pPr indent="-323850" lvl="0" marL="457200" rtl="0" algn="l">
              <a:lnSpc>
                <a:spcPct val="115000"/>
              </a:lnSpc>
              <a:spcBef>
                <a:spcPts val="0"/>
              </a:spcBef>
              <a:spcAft>
                <a:spcPts val="0"/>
              </a:spcAft>
              <a:buSzPts val="1500"/>
              <a:buChar char="●"/>
            </a:pPr>
            <a:r>
              <a:rPr lang="es" sz="1500"/>
              <a:t>Selector (selector): indica sobre qué elemento se aplican los estilos CSS.</a:t>
            </a:r>
            <a:endParaRPr sz="1500"/>
          </a:p>
          <a:p>
            <a:pPr indent="-323850" lvl="0" marL="457200" rtl="0" algn="l">
              <a:lnSpc>
                <a:spcPct val="115000"/>
              </a:lnSpc>
              <a:spcBef>
                <a:spcPts val="0"/>
              </a:spcBef>
              <a:spcAft>
                <a:spcPts val="0"/>
              </a:spcAft>
              <a:buSzPts val="1500"/>
              <a:buChar char="●"/>
            </a:pPr>
            <a:r>
              <a:rPr lang="es" sz="1500"/>
              <a:t>Propiedad o atributo (property or attribute): indica qué característica se va a cambiar.</a:t>
            </a:r>
            <a:endParaRPr sz="1500"/>
          </a:p>
          <a:p>
            <a:pPr indent="-323850" lvl="0" marL="457200" rtl="0" algn="l">
              <a:lnSpc>
                <a:spcPct val="115000"/>
              </a:lnSpc>
              <a:spcBef>
                <a:spcPts val="0"/>
              </a:spcBef>
              <a:spcAft>
                <a:spcPts val="0"/>
              </a:spcAft>
              <a:buSzPts val="1500"/>
              <a:buChar char="●"/>
            </a:pPr>
            <a:r>
              <a:rPr lang="es" sz="1500"/>
              <a:t>Valor (value): indica el valor de la propiedad que se desea modificar.</a:t>
            </a:r>
            <a:endParaRPr sz="1500"/>
          </a:p>
          <a:p>
            <a:pPr indent="-323850" lvl="0" marL="457200" rtl="0" algn="l">
              <a:lnSpc>
                <a:spcPct val="115000"/>
              </a:lnSpc>
              <a:spcBef>
                <a:spcPts val="0"/>
              </a:spcBef>
              <a:spcAft>
                <a:spcPts val="0"/>
              </a:spcAft>
              <a:buSzPts val="1500"/>
              <a:buChar char="●"/>
            </a:pPr>
            <a:r>
              <a:rPr lang="es" sz="1500"/>
              <a:t>Comentario (comment): los comentarios se escriben entre el carácter de apertura /* y el carácter de cierre */.</a:t>
            </a:r>
            <a:endParaRPr/>
          </a:p>
        </p:txBody>
      </p:sp>
      <p:pic>
        <p:nvPicPr>
          <p:cNvPr id="76" name="Google Shape;76;p4"/>
          <p:cNvPicPr preferRelativeResize="0"/>
          <p:nvPr/>
        </p:nvPicPr>
        <p:blipFill rotWithShape="1">
          <a:blip r:embed="rId3">
            <a:alphaModFix/>
          </a:blip>
          <a:srcRect b="0" l="0" r="0" t="0"/>
          <a:stretch/>
        </p:blipFill>
        <p:spPr>
          <a:xfrm>
            <a:off x="2120425" y="1541650"/>
            <a:ext cx="4358050" cy="20601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2.Cómo aplicar estilos en un HTML</a:t>
            </a:r>
            <a:endParaRPr/>
          </a:p>
          <a:p>
            <a:pPr indent="0" lvl="0" marL="0" rtl="0" algn="l">
              <a:lnSpc>
                <a:spcPct val="100000"/>
              </a:lnSpc>
              <a:spcBef>
                <a:spcPts val="0"/>
              </a:spcBef>
              <a:spcAft>
                <a:spcPts val="0"/>
              </a:spcAft>
              <a:buSzPct val="111111"/>
              <a:buNone/>
            </a:pPr>
            <a:r>
              <a:rPr lang="es"/>
              <a:t>2.1. CSS en línea</a:t>
            </a:r>
            <a:endParaRPr/>
          </a:p>
        </p:txBody>
      </p:sp>
      <p:sp>
        <p:nvSpPr>
          <p:cNvPr id="82" name="Google Shape;82;p5"/>
          <p:cNvSpPr txBox="1"/>
          <p:nvPr>
            <p:ph idx="1" type="body"/>
          </p:nvPr>
        </p:nvSpPr>
        <p:spPr>
          <a:xfrm>
            <a:off x="311700" y="1362800"/>
            <a:ext cx="8520600" cy="3206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350">
                <a:solidFill>
                  <a:srgbClr val="000000"/>
                </a:solidFill>
                <a:latin typeface="Roboto"/>
                <a:ea typeface="Roboto"/>
                <a:cs typeface="Roboto"/>
                <a:sym typeface="Roboto"/>
              </a:rPr>
              <a:t>Los estilos en línea son declaraciones CSS que se integran en las etiquetas HTML mediante el atributo </a:t>
            </a:r>
            <a:r>
              <a:rPr lang="es" sz="1350">
                <a:solidFill>
                  <a:srgbClr val="2991D6"/>
                </a:solidFill>
                <a:highlight>
                  <a:srgbClr val="FFFFFF"/>
                </a:highlight>
                <a:latin typeface="Courier New"/>
                <a:ea typeface="Courier New"/>
                <a:cs typeface="Courier New"/>
                <a:sym typeface="Courier New"/>
              </a:rPr>
              <a:t>style</a:t>
            </a:r>
            <a:r>
              <a:rPr lang="es" sz="1350">
                <a:solidFill>
                  <a:srgbClr val="000000"/>
                </a:solidFill>
                <a:latin typeface="Roboto"/>
                <a:ea typeface="Roboto"/>
                <a:cs typeface="Roboto"/>
                <a:sym typeface="Roboto"/>
              </a:rPr>
              <a:t>. Este método tan solo afecta al elemento en el que se integra el código. El CSS en línea es </a:t>
            </a:r>
            <a:r>
              <a:rPr b="1" lang="es" sz="1350">
                <a:solidFill>
                  <a:srgbClr val="000000"/>
                </a:solidFill>
                <a:latin typeface="Roboto"/>
                <a:ea typeface="Roboto"/>
                <a:cs typeface="Roboto"/>
                <a:sym typeface="Roboto"/>
              </a:rPr>
              <a:t>complicado de entender y mantener ya que mezcla los estilos CSS con el código HTML</a:t>
            </a:r>
            <a:r>
              <a:rPr lang="es" sz="1350">
                <a:solidFill>
                  <a:srgbClr val="000000"/>
                </a:solidFill>
                <a:latin typeface="Roboto"/>
                <a:ea typeface="Roboto"/>
                <a:cs typeface="Roboto"/>
                <a:sym typeface="Roboto"/>
              </a:rPr>
              <a:t>.</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latin typeface="Roboto"/>
                <a:ea typeface="Roboto"/>
                <a:cs typeface="Roboto"/>
                <a:sym typeface="Roboto"/>
              </a:rPr>
              <a:t>Ejemplo:</a:t>
            </a:r>
            <a:endParaRPr sz="1350">
              <a:solidFill>
                <a:srgbClr val="000000"/>
              </a:solidFill>
              <a:latin typeface="Roboto"/>
              <a:ea typeface="Roboto"/>
              <a:cs typeface="Roboto"/>
              <a:sym typeface="Roboto"/>
            </a:endParaRPr>
          </a:p>
          <a:p>
            <a:pPr indent="0" lvl="0" marL="241300" marR="50800" rtl="0" algn="l">
              <a:lnSpc>
                <a:spcPct val="170000"/>
              </a:lnSpc>
              <a:spcBef>
                <a:spcPts val="1100"/>
              </a:spcBef>
              <a:spcAft>
                <a:spcPts val="0"/>
              </a:spcAft>
              <a:buSzPts val="1800"/>
              <a:buNone/>
            </a:pPr>
            <a:r>
              <a:rPr lang="es" sz="1150">
                <a:solidFill>
                  <a:srgbClr val="444444"/>
                </a:solidFill>
                <a:highlight>
                  <a:srgbClr val="FFFFFF"/>
                </a:highlight>
                <a:latin typeface="Courier New"/>
                <a:ea typeface="Courier New"/>
                <a:cs typeface="Courier New"/>
                <a:sym typeface="Courier New"/>
              </a:rPr>
              <a:t>&lt;</a:t>
            </a:r>
            <a:r>
              <a:rPr b="1" lang="es" sz="1150">
                <a:solidFill>
                  <a:srgbClr val="066DA1"/>
                </a:solidFill>
                <a:highlight>
                  <a:srgbClr val="FFFFFF"/>
                </a:highlight>
                <a:latin typeface="Courier New"/>
                <a:ea typeface="Courier New"/>
                <a:cs typeface="Courier New"/>
                <a:sym typeface="Courier New"/>
              </a:rPr>
              <a:t>p</a:t>
            </a:r>
            <a:r>
              <a:rPr lang="es" sz="1150">
                <a:solidFill>
                  <a:srgbClr val="000000"/>
                </a:solidFill>
                <a:highlight>
                  <a:srgbClr val="FFFFFF"/>
                </a:highlight>
                <a:latin typeface="Courier New"/>
                <a:ea typeface="Courier New"/>
                <a:cs typeface="Courier New"/>
                <a:sym typeface="Courier New"/>
              </a:rPr>
              <a:t> </a:t>
            </a:r>
            <a:r>
              <a:rPr b="1" lang="es" sz="1150">
                <a:solidFill>
                  <a:srgbClr val="404247"/>
                </a:solidFill>
                <a:highlight>
                  <a:srgbClr val="FFFFFF"/>
                </a:highlight>
                <a:latin typeface="Courier New"/>
                <a:ea typeface="Courier New"/>
                <a:cs typeface="Courier New"/>
                <a:sym typeface="Courier New"/>
              </a:rPr>
              <a:t>style</a:t>
            </a:r>
            <a:r>
              <a:rPr lang="es" sz="1150">
                <a:solidFill>
                  <a:srgbClr val="404247"/>
                </a:solidFill>
                <a:highlight>
                  <a:srgbClr val="F0F0F0"/>
                </a:highlight>
                <a:latin typeface="Courier New"/>
                <a:ea typeface="Courier New"/>
                <a:cs typeface="Courier New"/>
                <a:sym typeface="Courier New"/>
              </a:rPr>
              <a:t>=</a:t>
            </a:r>
            <a:r>
              <a:rPr lang="es" sz="1150">
                <a:solidFill>
                  <a:srgbClr val="2D47E6"/>
                </a:solidFill>
                <a:highlight>
                  <a:srgbClr val="FFFFFF"/>
                </a:highlight>
                <a:latin typeface="Courier New"/>
                <a:ea typeface="Courier New"/>
                <a:cs typeface="Courier New"/>
                <a:sym typeface="Courier New"/>
              </a:rPr>
              <a:t>"color:green;"</a:t>
            </a:r>
            <a:r>
              <a:rPr lang="es" sz="1150">
                <a:solidFill>
                  <a:srgbClr val="444444"/>
                </a:solidFill>
                <a:highlight>
                  <a:srgbClr val="FFFFFF"/>
                </a:highlight>
                <a:latin typeface="Courier New"/>
                <a:ea typeface="Courier New"/>
                <a:cs typeface="Courier New"/>
                <a:sym typeface="Courier New"/>
              </a:rPr>
              <a:t>&gt;</a:t>
            </a:r>
            <a:r>
              <a:rPr lang="es" sz="1150">
                <a:solidFill>
                  <a:srgbClr val="000000"/>
                </a:solidFill>
                <a:highlight>
                  <a:srgbClr val="FFFFFF"/>
                </a:highlight>
                <a:latin typeface="Courier New"/>
                <a:ea typeface="Courier New"/>
                <a:cs typeface="Courier New"/>
                <a:sym typeface="Courier New"/>
              </a:rPr>
              <a:t>Párrafo de color verde.</a:t>
            </a:r>
            <a:r>
              <a:rPr lang="es" sz="1150">
                <a:solidFill>
                  <a:srgbClr val="444444"/>
                </a:solidFill>
                <a:highlight>
                  <a:srgbClr val="FFFFFF"/>
                </a:highlight>
                <a:latin typeface="Courier New"/>
                <a:ea typeface="Courier New"/>
                <a:cs typeface="Courier New"/>
                <a:sym typeface="Courier New"/>
              </a:rPr>
              <a:t>&lt;/</a:t>
            </a:r>
            <a:r>
              <a:rPr b="1" lang="es" sz="1150">
                <a:solidFill>
                  <a:srgbClr val="066DA1"/>
                </a:solidFill>
                <a:highlight>
                  <a:srgbClr val="FFFFFF"/>
                </a:highlight>
                <a:latin typeface="Courier New"/>
                <a:ea typeface="Courier New"/>
                <a:cs typeface="Courier New"/>
                <a:sym typeface="Courier New"/>
              </a:rPr>
              <a:t>p</a:t>
            </a:r>
            <a:r>
              <a:rPr lang="es" sz="1150">
                <a:solidFill>
                  <a:srgbClr val="444444"/>
                </a:solidFill>
                <a:highlight>
                  <a:srgbClr val="FFFFFF"/>
                </a:highlight>
                <a:latin typeface="Courier New"/>
                <a:ea typeface="Courier New"/>
                <a:cs typeface="Courier New"/>
                <a:sym typeface="Courier New"/>
              </a:rPr>
              <a:t>&gt;</a:t>
            </a:r>
            <a:endParaRPr sz="1150">
              <a:solidFill>
                <a:srgbClr val="444444"/>
              </a:solidFill>
              <a:highlight>
                <a:srgbClr val="FFFFFF"/>
              </a:highlight>
              <a:latin typeface="Courier New"/>
              <a:ea typeface="Courier New"/>
              <a:cs typeface="Courier New"/>
              <a:sym typeface="Courier New"/>
            </a:endParaRPr>
          </a:p>
          <a:p>
            <a:pPr indent="0" lvl="0" marL="0" rtl="0" algn="l">
              <a:lnSpc>
                <a:spcPct val="115000"/>
              </a:lnSpc>
              <a:spcBef>
                <a:spcPts val="1500"/>
              </a:spcBef>
              <a:spcAft>
                <a:spcPts val="1200"/>
              </a:spcAft>
              <a:buSzPts val="1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2.Cómo aplicar estilos en un HTML</a:t>
            </a:r>
            <a:endParaRPr/>
          </a:p>
          <a:p>
            <a:pPr indent="0" lvl="0" marL="0" rtl="0" algn="l">
              <a:lnSpc>
                <a:spcPct val="100000"/>
              </a:lnSpc>
              <a:spcBef>
                <a:spcPts val="0"/>
              </a:spcBef>
              <a:spcAft>
                <a:spcPts val="0"/>
              </a:spcAft>
              <a:buSzPct val="111111"/>
              <a:buNone/>
            </a:pPr>
            <a:r>
              <a:rPr lang="es"/>
              <a:t>2.2. CSS incrustado en la cabecera</a:t>
            </a:r>
            <a:endParaRPr/>
          </a:p>
        </p:txBody>
      </p:sp>
      <p:sp>
        <p:nvSpPr>
          <p:cNvPr id="88" name="Google Shape;88;p6"/>
          <p:cNvSpPr txBox="1"/>
          <p:nvPr>
            <p:ph idx="1" type="body"/>
          </p:nvPr>
        </p:nvSpPr>
        <p:spPr>
          <a:xfrm>
            <a:off x="311700" y="1526050"/>
            <a:ext cx="5372700" cy="3042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350">
                <a:solidFill>
                  <a:srgbClr val="000000"/>
                </a:solidFill>
                <a:latin typeface="Roboto"/>
                <a:ea typeface="Roboto"/>
                <a:cs typeface="Roboto"/>
                <a:sym typeface="Roboto"/>
              </a:rPr>
              <a:t>Otra manera muy simple de añadir estilo con CSS es utilizando la etiqueta </a:t>
            </a:r>
            <a:r>
              <a:rPr lang="es" sz="1350">
                <a:solidFill>
                  <a:srgbClr val="2991D6"/>
                </a:solidFill>
                <a:highlight>
                  <a:srgbClr val="FFFFFF"/>
                </a:highlight>
                <a:latin typeface="Courier New"/>
                <a:ea typeface="Courier New"/>
                <a:cs typeface="Courier New"/>
                <a:sym typeface="Courier New"/>
              </a:rPr>
              <a:t>&lt;style</a:t>
            </a:r>
            <a:r>
              <a:rPr lang="es" sz="1350">
                <a:solidFill>
                  <a:srgbClr val="000000"/>
                </a:solidFill>
                <a:latin typeface="Roboto"/>
                <a:ea typeface="Roboto"/>
                <a:cs typeface="Roboto"/>
                <a:sym typeface="Roboto"/>
              </a:rPr>
              <a:t>&gt; en la cabecera </a:t>
            </a:r>
            <a:r>
              <a:rPr lang="es" sz="1350">
                <a:solidFill>
                  <a:srgbClr val="2991D6"/>
                </a:solidFill>
                <a:highlight>
                  <a:srgbClr val="FFFFFF"/>
                </a:highlight>
                <a:latin typeface="Courier New"/>
                <a:ea typeface="Courier New"/>
                <a:cs typeface="Courier New"/>
                <a:sym typeface="Courier New"/>
              </a:rPr>
              <a:t>&lt;head&gt;</a:t>
            </a:r>
            <a:r>
              <a:rPr lang="es" sz="1350">
                <a:solidFill>
                  <a:srgbClr val="000000"/>
                </a:solidFill>
                <a:latin typeface="Roboto"/>
                <a:ea typeface="Roboto"/>
                <a:cs typeface="Roboto"/>
                <a:sym typeface="Roboto"/>
              </a:rPr>
              <a:t> del fichero HTML del sitio. </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1100"/>
              </a:spcAft>
              <a:buSzPts val="1800"/>
              <a:buNone/>
            </a:pPr>
            <a:r>
              <a:rPr lang="es" sz="1350">
                <a:solidFill>
                  <a:srgbClr val="000000"/>
                </a:solidFill>
                <a:latin typeface="Roboto"/>
                <a:ea typeface="Roboto"/>
                <a:cs typeface="Roboto"/>
                <a:sym typeface="Roboto"/>
              </a:rPr>
              <a:t>La </a:t>
            </a:r>
            <a:r>
              <a:rPr b="1" lang="es" sz="1350">
                <a:solidFill>
                  <a:srgbClr val="000000"/>
                </a:solidFill>
                <a:latin typeface="Roboto"/>
                <a:ea typeface="Roboto"/>
                <a:cs typeface="Roboto"/>
                <a:sym typeface="Roboto"/>
              </a:rPr>
              <a:t>desventaja </a:t>
            </a:r>
            <a:r>
              <a:rPr lang="es" sz="1350">
                <a:solidFill>
                  <a:srgbClr val="000000"/>
                </a:solidFill>
                <a:latin typeface="Roboto"/>
                <a:ea typeface="Roboto"/>
                <a:cs typeface="Roboto"/>
                <a:sym typeface="Roboto"/>
              </a:rPr>
              <a:t>de este método es que a la hora de realizar </a:t>
            </a:r>
            <a:r>
              <a:rPr b="1" lang="es" sz="1350">
                <a:solidFill>
                  <a:srgbClr val="000000"/>
                </a:solidFill>
                <a:latin typeface="Roboto"/>
                <a:ea typeface="Roboto"/>
                <a:cs typeface="Roboto"/>
                <a:sym typeface="Roboto"/>
              </a:rPr>
              <a:t>cualquier cambio, se debe realizar en múltiples páginas diferentes y el código estará repetido</a:t>
            </a:r>
            <a:r>
              <a:rPr lang="es" sz="1350">
                <a:solidFill>
                  <a:srgbClr val="000000"/>
                </a:solidFill>
                <a:latin typeface="Roboto"/>
                <a:ea typeface="Roboto"/>
                <a:cs typeface="Roboto"/>
                <a:sym typeface="Roboto"/>
              </a:rPr>
              <a:t>. Su uso puede llegar a ser necesario en el caso de utilizar un gestor de contenido que no permita modificar el archivo CSS directamente.</a:t>
            </a:r>
            <a:endParaRPr sz="1350">
              <a:solidFill>
                <a:srgbClr val="000000"/>
              </a:solidFill>
              <a:latin typeface="Roboto"/>
              <a:ea typeface="Roboto"/>
              <a:cs typeface="Roboto"/>
              <a:sym typeface="Roboto"/>
            </a:endParaRPr>
          </a:p>
        </p:txBody>
      </p:sp>
      <p:sp>
        <p:nvSpPr>
          <p:cNvPr id="89" name="Google Shape;89;p6"/>
          <p:cNvSpPr txBox="1"/>
          <p:nvPr/>
        </p:nvSpPr>
        <p:spPr>
          <a:xfrm>
            <a:off x="5827650" y="1295400"/>
            <a:ext cx="3123000" cy="3848100"/>
          </a:xfrm>
          <a:prstGeom prst="rect">
            <a:avLst/>
          </a:prstGeom>
          <a:noFill/>
          <a:ln>
            <a:noFill/>
          </a:ln>
        </p:spPr>
        <p:txBody>
          <a:bodyPr anchorCtr="0" anchor="t" bIns="91425" lIns="91425" spcFirstLastPara="1" rIns="91425" wrap="square" tIns="91425">
            <a:spAutoFit/>
          </a:bodyPr>
          <a:lstStyle/>
          <a:p>
            <a:pPr indent="0" lvl="0" marL="241300" marR="50800" rtl="0" algn="l">
              <a:lnSpc>
                <a:spcPct val="100000"/>
              </a:lnSpc>
              <a:spcBef>
                <a:spcPts val="0"/>
              </a:spcBef>
              <a:spcAft>
                <a:spcPts val="0"/>
              </a:spcAft>
              <a:buClr>
                <a:srgbClr val="000000"/>
              </a:buClr>
              <a:buSzPts val="1150"/>
              <a:buFont typeface="Arial"/>
              <a:buNone/>
            </a:pPr>
            <a:r>
              <a:rPr b="0" i="0" lang="es" sz="1150" u="none" cap="none" strike="noStrike">
                <a:solidFill>
                  <a:srgbClr val="444444"/>
                </a:solidFill>
                <a:highlight>
                  <a:srgbClr val="FFFFFF"/>
                </a:highlight>
                <a:latin typeface="Courier New"/>
                <a:ea typeface="Courier New"/>
                <a:cs typeface="Courier New"/>
                <a:sym typeface="Courier New"/>
              </a:rPr>
              <a:t>&lt;</a:t>
            </a:r>
            <a:r>
              <a:rPr b="1" i="0" lang="es" sz="1150" u="none" cap="none" strike="noStrike">
                <a:solidFill>
                  <a:srgbClr val="066DA1"/>
                </a:solidFill>
                <a:highlight>
                  <a:srgbClr val="FFFFFF"/>
                </a:highlight>
                <a:latin typeface="Courier New"/>
                <a:ea typeface="Courier New"/>
                <a:cs typeface="Courier New"/>
                <a:sym typeface="Courier New"/>
              </a:rPr>
              <a:t>html</a:t>
            </a:r>
            <a:r>
              <a:rPr b="0" i="0" lang="es" sz="1150" u="none" cap="none" strike="noStrike">
                <a:solidFill>
                  <a:srgbClr val="444444"/>
                </a:solidFill>
                <a:highlight>
                  <a:srgbClr val="FFFFFF"/>
                </a:highlight>
                <a:latin typeface="Courier New"/>
                <a:ea typeface="Courier New"/>
                <a:cs typeface="Courier New"/>
                <a:sym typeface="Courier New"/>
              </a:rPr>
              <a:t>&gt;</a:t>
            </a:r>
            <a:endParaRPr b="0" i="0" sz="1150" u="none" cap="none" strike="noStrike">
              <a:solidFill>
                <a:srgbClr val="444444"/>
              </a:solidFill>
              <a:highlight>
                <a:srgbClr val="FFFFFF"/>
              </a:highlight>
              <a:latin typeface="Courier New"/>
              <a:ea typeface="Courier New"/>
              <a:cs typeface="Courier New"/>
              <a:sym typeface="Courier New"/>
            </a:endParaRPr>
          </a:p>
          <a:p>
            <a:pPr indent="0" lvl="0" marL="241300" marR="50800" rtl="0" algn="l">
              <a:lnSpc>
                <a:spcPct val="100000"/>
              </a:lnSpc>
              <a:spcBef>
                <a:spcPts val="1500"/>
              </a:spcBef>
              <a:spcAft>
                <a:spcPts val="0"/>
              </a:spcAft>
              <a:buClr>
                <a:srgbClr val="000000"/>
              </a:buClr>
              <a:buSzPts val="1150"/>
              <a:buFont typeface="Arial"/>
              <a:buNone/>
            </a:pPr>
            <a:r>
              <a:rPr b="0" i="0" lang="es" sz="1150" u="none" cap="none" strike="noStrike">
                <a:solidFill>
                  <a:srgbClr val="444444"/>
                </a:solidFill>
                <a:highlight>
                  <a:srgbClr val="F8F8F8"/>
                </a:highlight>
                <a:latin typeface="Courier New"/>
                <a:ea typeface="Courier New"/>
                <a:cs typeface="Courier New"/>
                <a:sym typeface="Courier New"/>
              </a:rPr>
              <a:t>&lt;</a:t>
            </a:r>
            <a:r>
              <a:rPr b="1" i="0" lang="es" sz="1150" u="none" cap="none" strike="noStrike">
                <a:solidFill>
                  <a:srgbClr val="066DA1"/>
                </a:solidFill>
                <a:highlight>
                  <a:srgbClr val="F8F8F8"/>
                </a:highlight>
                <a:latin typeface="Courier New"/>
                <a:ea typeface="Courier New"/>
                <a:cs typeface="Courier New"/>
                <a:sym typeface="Courier New"/>
              </a:rPr>
              <a:t>head</a:t>
            </a:r>
            <a:r>
              <a:rPr b="0" i="0" lang="es" sz="1150" u="none" cap="none" strike="noStrike">
                <a:solidFill>
                  <a:srgbClr val="444444"/>
                </a:solidFill>
                <a:highlight>
                  <a:srgbClr val="F8F8F8"/>
                </a:highlight>
                <a:latin typeface="Courier New"/>
                <a:ea typeface="Courier New"/>
                <a:cs typeface="Courier New"/>
                <a:sym typeface="Courier New"/>
              </a:rPr>
              <a:t>&gt;</a:t>
            </a:r>
            <a:endParaRPr b="0" i="0" sz="1150" u="none" cap="none" strike="noStrike">
              <a:solidFill>
                <a:srgbClr val="444444"/>
              </a:solidFill>
              <a:highlight>
                <a:srgbClr val="F8F8F8"/>
              </a:highlight>
              <a:latin typeface="Courier New"/>
              <a:ea typeface="Courier New"/>
              <a:cs typeface="Courier New"/>
              <a:sym typeface="Courier New"/>
            </a:endParaRPr>
          </a:p>
          <a:p>
            <a:pPr indent="0" lvl="0" marL="241300" marR="50800" rtl="0" algn="l">
              <a:lnSpc>
                <a:spcPct val="100000"/>
              </a:lnSpc>
              <a:spcBef>
                <a:spcPts val="1500"/>
              </a:spcBef>
              <a:spcAft>
                <a:spcPts val="0"/>
              </a:spcAft>
              <a:buClr>
                <a:srgbClr val="000000"/>
              </a:buClr>
              <a:buSzPts val="1150"/>
              <a:buFont typeface="Arial"/>
              <a:buNone/>
            </a:pPr>
            <a:r>
              <a:rPr b="0" i="0" lang="es" sz="1150" u="none" cap="none" strike="noStrike">
                <a:solidFill>
                  <a:srgbClr val="000000"/>
                </a:solidFill>
                <a:highlight>
                  <a:srgbClr val="FFFFFF"/>
                </a:highlight>
                <a:latin typeface="Courier New"/>
                <a:ea typeface="Courier New"/>
                <a:cs typeface="Courier New"/>
                <a:sym typeface="Courier New"/>
              </a:rPr>
              <a:t>   </a:t>
            </a:r>
            <a:r>
              <a:rPr b="0" i="0" lang="es" sz="1150" u="none" cap="none" strike="noStrike">
                <a:solidFill>
                  <a:srgbClr val="444444"/>
                </a:solidFill>
                <a:highlight>
                  <a:srgbClr val="FFFFFF"/>
                </a:highlight>
                <a:latin typeface="Courier New"/>
                <a:ea typeface="Courier New"/>
                <a:cs typeface="Courier New"/>
                <a:sym typeface="Courier New"/>
              </a:rPr>
              <a:t>&lt;</a:t>
            </a:r>
            <a:r>
              <a:rPr b="1" i="0" lang="es" sz="1150" u="none" cap="none" strike="noStrike">
                <a:solidFill>
                  <a:srgbClr val="066DA1"/>
                </a:solidFill>
                <a:highlight>
                  <a:srgbClr val="FFFFFF"/>
                </a:highlight>
                <a:latin typeface="Courier New"/>
                <a:ea typeface="Courier New"/>
                <a:cs typeface="Courier New"/>
                <a:sym typeface="Courier New"/>
              </a:rPr>
              <a:t>title</a:t>
            </a:r>
            <a:r>
              <a:rPr b="0" i="0" lang="es" sz="1150" u="none" cap="none" strike="noStrike">
                <a:solidFill>
                  <a:srgbClr val="444444"/>
                </a:solidFill>
                <a:highlight>
                  <a:srgbClr val="FFFFFF"/>
                </a:highlight>
                <a:latin typeface="Courier New"/>
                <a:ea typeface="Courier New"/>
                <a:cs typeface="Courier New"/>
                <a:sym typeface="Courier New"/>
              </a:rPr>
              <a:t>&gt;</a:t>
            </a:r>
            <a:r>
              <a:rPr b="0" i="0" lang="es" sz="1150" u="none" cap="none" strike="noStrike">
                <a:solidFill>
                  <a:srgbClr val="000000"/>
                </a:solidFill>
                <a:highlight>
                  <a:srgbClr val="FFFFFF"/>
                </a:highlight>
                <a:latin typeface="Courier New"/>
                <a:ea typeface="Courier New"/>
                <a:cs typeface="Courier New"/>
                <a:sym typeface="Courier New"/>
              </a:rPr>
              <a:t>CSS incrustado en la cabecera</a:t>
            </a:r>
            <a:r>
              <a:rPr b="0" i="0" lang="es" sz="1150" u="none" cap="none" strike="noStrike">
                <a:solidFill>
                  <a:srgbClr val="444444"/>
                </a:solidFill>
                <a:highlight>
                  <a:srgbClr val="FFFFFF"/>
                </a:highlight>
                <a:latin typeface="Courier New"/>
                <a:ea typeface="Courier New"/>
                <a:cs typeface="Courier New"/>
                <a:sym typeface="Courier New"/>
              </a:rPr>
              <a:t>&lt;/</a:t>
            </a:r>
            <a:r>
              <a:rPr b="1" i="0" lang="es" sz="1150" u="none" cap="none" strike="noStrike">
                <a:solidFill>
                  <a:srgbClr val="066DA1"/>
                </a:solidFill>
                <a:highlight>
                  <a:srgbClr val="FFFFFF"/>
                </a:highlight>
                <a:latin typeface="Courier New"/>
                <a:ea typeface="Courier New"/>
                <a:cs typeface="Courier New"/>
                <a:sym typeface="Courier New"/>
              </a:rPr>
              <a:t>title</a:t>
            </a:r>
            <a:r>
              <a:rPr b="0" i="0" lang="es" sz="1150" u="none" cap="none" strike="noStrike">
                <a:solidFill>
                  <a:srgbClr val="444444"/>
                </a:solidFill>
                <a:highlight>
                  <a:srgbClr val="FFFFFF"/>
                </a:highlight>
                <a:latin typeface="Courier New"/>
                <a:ea typeface="Courier New"/>
                <a:cs typeface="Courier New"/>
                <a:sym typeface="Courier New"/>
              </a:rPr>
              <a:t>&gt;</a:t>
            </a:r>
            <a:r>
              <a:rPr b="0" i="0" lang="es" sz="1150" u="none" cap="none" strike="noStrike">
                <a:solidFill>
                  <a:srgbClr val="000000"/>
                </a:solidFill>
                <a:highlight>
                  <a:srgbClr val="FFFFFF"/>
                </a:highlight>
                <a:latin typeface="Courier New"/>
                <a:ea typeface="Courier New"/>
                <a:cs typeface="Courier New"/>
                <a:sym typeface="Courier New"/>
              </a:rPr>
              <a:t> </a:t>
            </a:r>
            <a:endParaRPr b="0" i="0" sz="1150" u="none" cap="none" strike="noStrike">
              <a:solidFill>
                <a:srgbClr val="000000"/>
              </a:solidFill>
              <a:highlight>
                <a:srgbClr val="FFFFFF"/>
              </a:highlight>
              <a:latin typeface="Courier New"/>
              <a:ea typeface="Courier New"/>
              <a:cs typeface="Courier New"/>
              <a:sym typeface="Courier New"/>
            </a:endParaRPr>
          </a:p>
          <a:p>
            <a:pPr indent="0" lvl="0" marL="241300" marR="50800" rtl="0" algn="l">
              <a:lnSpc>
                <a:spcPct val="100000"/>
              </a:lnSpc>
              <a:spcBef>
                <a:spcPts val="1500"/>
              </a:spcBef>
              <a:spcAft>
                <a:spcPts val="0"/>
              </a:spcAft>
              <a:buClr>
                <a:srgbClr val="000000"/>
              </a:buClr>
              <a:buSzPts val="1150"/>
              <a:buFont typeface="Arial"/>
              <a:buNone/>
            </a:pPr>
            <a:r>
              <a:rPr b="0" i="0" lang="es" sz="1150" u="none" cap="none" strike="noStrike">
                <a:solidFill>
                  <a:srgbClr val="000000"/>
                </a:solidFill>
                <a:highlight>
                  <a:srgbClr val="F8F8F8"/>
                </a:highlight>
                <a:latin typeface="Courier New"/>
                <a:ea typeface="Courier New"/>
                <a:cs typeface="Courier New"/>
                <a:sym typeface="Courier New"/>
              </a:rPr>
              <a:t>   </a:t>
            </a:r>
            <a:r>
              <a:rPr b="0" i="0" lang="es" sz="1150" u="none" cap="none" strike="noStrike">
                <a:solidFill>
                  <a:srgbClr val="444444"/>
                </a:solidFill>
                <a:highlight>
                  <a:srgbClr val="F8F8F8"/>
                </a:highlight>
                <a:latin typeface="Courier New"/>
                <a:ea typeface="Courier New"/>
                <a:cs typeface="Courier New"/>
                <a:sym typeface="Courier New"/>
              </a:rPr>
              <a:t>&lt;</a:t>
            </a:r>
            <a:r>
              <a:rPr b="1" i="0" lang="es" sz="1150" u="none" cap="none" strike="noStrike">
                <a:solidFill>
                  <a:srgbClr val="066DA1"/>
                </a:solidFill>
                <a:highlight>
                  <a:srgbClr val="F8F8F8"/>
                </a:highlight>
                <a:latin typeface="Courier New"/>
                <a:ea typeface="Courier New"/>
                <a:cs typeface="Courier New"/>
                <a:sym typeface="Courier New"/>
              </a:rPr>
              <a:t>style</a:t>
            </a:r>
            <a:r>
              <a:rPr b="0" i="0" lang="es" sz="1150" u="none" cap="none" strike="noStrike">
                <a:solidFill>
                  <a:srgbClr val="444444"/>
                </a:solidFill>
                <a:highlight>
                  <a:srgbClr val="F8F8F8"/>
                </a:highlight>
                <a:latin typeface="Courier New"/>
                <a:ea typeface="Courier New"/>
                <a:cs typeface="Courier New"/>
                <a:sym typeface="Courier New"/>
              </a:rPr>
              <a:t>&gt;</a:t>
            </a:r>
            <a:r>
              <a:rPr b="0" i="0" lang="es" sz="1150" u="none" cap="none" strike="noStrike">
                <a:solidFill>
                  <a:srgbClr val="000000"/>
                </a:solidFill>
                <a:highlight>
                  <a:srgbClr val="F8F8F8"/>
                </a:highlight>
                <a:latin typeface="Courier New"/>
                <a:ea typeface="Courier New"/>
                <a:cs typeface="Courier New"/>
                <a:sym typeface="Courier New"/>
              </a:rPr>
              <a:t>p{color:green;}</a:t>
            </a:r>
            <a:r>
              <a:rPr b="0" i="0" lang="es" sz="1150" u="none" cap="none" strike="noStrike">
                <a:solidFill>
                  <a:srgbClr val="444444"/>
                </a:solidFill>
                <a:highlight>
                  <a:srgbClr val="F8F8F8"/>
                </a:highlight>
                <a:latin typeface="Courier New"/>
                <a:ea typeface="Courier New"/>
                <a:cs typeface="Courier New"/>
                <a:sym typeface="Courier New"/>
              </a:rPr>
              <a:t>&lt;/</a:t>
            </a:r>
            <a:r>
              <a:rPr b="1" i="0" lang="es" sz="1150" u="none" cap="none" strike="noStrike">
                <a:solidFill>
                  <a:srgbClr val="066DA1"/>
                </a:solidFill>
                <a:highlight>
                  <a:srgbClr val="F8F8F8"/>
                </a:highlight>
                <a:latin typeface="Courier New"/>
                <a:ea typeface="Courier New"/>
                <a:cs typeface="Courier New"/>
                <a:sym typeface="Courier New"/>
              </a:rPr>
              <a:t>style</a:t>
            </a:r>
            <a:r>
              <a:rPr b="0" i="0" lang="es" sz="1150" u="none" cap="none" strike="noStrike">
                <a:solidFill>
                  <a:srgbClr val="444444"/>
                </a:solidFill>
                <a:highlight>
                  <a:srgbClr val="F8F8F8"/>
                </a:highlight>
                <a:latin typeface="Courier New"/>
                <a:ea typeface="Courier New"/>
                <a:cs typeface="Courier New"/>
                <a:sym typeface="Courier New"/>
              </a:rPr>
              <a:t>&gt;</a:t>
            </a:r>
            <a:endParaRPr b="0" i="0" sz="1150" u="none" cap="none" strike="noStrike">
              <a:solidFill>
                <a:srgbClr val="444444"/>
              </a:solidFill>
              <a:highlight>
                <a:srgbClr val="F8F8F8"/>
              </a:highlight>
              <a:latin typeface="Courier New"/>
              <a:ea typeface="Courier New"/>
              <a:cs typeface="Courier New"/>
              <a:sym typeface="Courier New"/>
            </a:endParaRPr>
          </a:p>
          <a:p>
            <a:pPr indent="0" lvl="0" marL="241300" marR="50800" rtl="0" algn="l">
              <a:lnSpc>
                <a:spcPct val="100000"/>
              </a:lnSpc>
              <a:spcBef>
                <a:spcPts val="1500"/>
              </a:spcBef>
              <a:spcAft>
                <a:spcPts val="0"/>
              </a:spcAft>
              <a:buClr>
                <a:srgbClr val="000000"/>
              </a:buClr>
              <a:buSzPts val="1150"/>
              <a:buFont typeface="Arial"/>
              <a:buNone/>
            </a:pPr>
            <a:r>
              <a:rPr b="0" i="0" lang="es" sz="1150" u="none" cap="none" strike="noStrike">
                <a:solidFill>
                  <a:srgbClr val="444444"/>
                </a:solidFill>
                <a:highlight>
                  <a:srgbClr val="FFFFFF"/>
                </a:highlight>
                <a:latin typeface="Courier New"/>
                <a:ea typeface="Courier New"/>
                <a:cs typeface="Courier New"/>
                <a:sym typeface="Courier New"/>
              </a:rPr>
              <a:t>&lt;/</a:t>
            </a:r>
            <a:r>
              <a:rPr b="1" i="0" lang="es" sz="1150" u="none" cap="none" strike="noStrike">
                <a:solidFill>
                  <a:srgbClr val="066DA1"/>
                </a:solidFill>
                <a:highlight>
                  <a:srgbClr val="FFFFFF"/>
                </a:highlight>
                <a:latin typeface="Courier New"/>
                <a:ea typeface="Courier New"/>
                <a:cs typeface="Courier New"/>
                <a:sym typeface="Courier New"/>
              </a:rPr>
              <a:t>head</a:t>
            </a:r>
            <a:r>
              <a:rPr b="0" i="0" lang="es" sz="1150" u="none" cap="none" strike="noStrike">
                <a:solidFill>
                  <a:srgbClr val="444444"/>
                </a:solidFill>
                <a:highlight>
                  <a:srgbClr val="FFFFFF"/>
                </a:highlight>
                <a:latin typeface="Courier New"/>
                <a:ea typeface="Courier New"/>
                <a:cs typeface="Courier New"/>
                <a:sym typeface="Courier New"/>
              </a:rPr>
              <a:t>&gt;</a:t>
            </a:r>
            <a:endParaRPr b="0" i="0" sz="1150" u="none" cap="none" strike="noStrike">
              <a:solidFill>
                <a:srgbClr val="444444"/>
              </a:solidFill>
              <a:highlight>
                <a:srgbClr val="FFFFFF"/>
              </a:highlight>
              <a:latin typeface="Courier New"/>
              <a:ea typeface="Courier New"/>
              <a:cs typeface="Courier New"/>
              <a:sym typeface="Courier New"/>
            </a:endParaRPr>
          </a:p>
          <a:p>
            <a:pPr indent="0" lvl="0" marL="241300" marR="50800" rtl="0" algn="l">
              <a:lnSpc>
                <a:spcPct val="100000"/>
              </a:lnSpc>
              <a:spcBef>
                <a:spcPts val="1500"/>
              </a:spcBef>
              <a:spcAft>
                <a:spcPts val="0"/>
              </a:spcAft>
              <a:buClr>
                <a:srgbClr val="000000"/>
              </a:buClr>
              <a:buSzPts val="1150"/>
              <a:buFont typeface="Arial"/>
              <a:buNone/>
            </a:pPr>
            <a:r>
              <a:rPr b="0" i="0" lang="es" sz="1150" u="none" cap="none" strike="noStrike">
                <a:solidFill>
                  <a:srgbClr val="444444"/>
                </a:solidFill>
                <a:highlight>
                  <a:srgbClr val="F8F8F8"/>
                </a:highlight>
                <a:latin typeface="Courier New"/>
                <a:ea typeface="Courier New"/>
                <a:cs typeface="Courier New"/>
                <a:sym typeface="Courier New"/>
              </a:rPr>
              <a:t>&lt;</a:t>
            </a:r>
            <a:r>
              <a:rPr b="1" i="0" lang="es" sz="1150" u="none" cap="none" strike="noStrike">
                <a:solidFill>
                  <a:srgbClr val="066DA1"/>
                </a:solidFill>
                <a:highlight>
                  <a:srgbClr val="F8F8F8"/>
                </a:highlight>
                <a:latin typeface="Courier New"/>
                <a:ea typeface="Courier New"/>
                <a:cs typeface="Courier New"/>
                <a:sym typeface="Courier New"/>
              </a:rPr>
              <a:t>body</a:t>
            </a:r>
            <a:r>
              <a:rPr b="0" i="0" lang="es" sz="1150" u="none" cap="none" strike="noStrike">
                <a:solidFill>
                  <a:srgbClr val="444444"/>
                </a:solidFill>
                <a:highlight>
                  <a:srgbClr val="F8F8F8"/>
                </a:highlight>
                <a:latin typeface="Courier New"/>
                <a:ea typeface="Courier New"/>
                <a:cs typeface="Courier New"/>
                <a:sym typeface="Courier New"/>
              </a:rPr>
              <a:t>&gt;</a:t>
            </a:r>
            <a:endParaRPr b="0" i="0" sz="1150" u="none" cap="none" strike="noStrike">
              <a:solidFill>
                <a:srgbClr val="444444"/>
              </a:solidFill>
              <a:highlight>
                <a:srgbClr val="F8F8F8"/>
              </a:highlight>
              <a:latin typeface="Courier New"/>
              <a:ea typeface="Courier New"/>
              <a:cs typeface="Courier New"/>
              <a:sym typeface="Courier New"/>
            </a:endParaRPr>
          </a:p>
          <a:p>
            <a:pPr indent="0" lvl="0" marL="241300" marR="50800" rtl="0" algn="l">
              <a:lnSpc>
                <a:spcPct val="100000"/>
              </a:lnSpc>
              <a:spcBef>
                <a:spcPts val="1500"/>
              </a:spcBef>
              <a:spcAft>
                <a:spcPts val="0"/>
              </a:spcAft>
              <a:buClr>
                <a:srgbClr val="000000"/>
              </a:buClr>
              <a:buSzPts val="1150"/>
              <a:buFont typeface="Arial"/>
              <a:buNone/>
            </a:pPr>
            <a:r>
              <a:rPr b="0" i="0" lang="es" sz="1150" u="none" cap="none" strike="noStrike">
                <a:solidFill>
                  <a:srgbClr val="000000"/>
                </a:solidFill>
                <a:highlight>
                  <a:srgbClr val="FFFFFF"/>
                </a:highlight>
                <a:latin typeface="Courier New"/>
                <a:ea typeface="Courier New"/>
                <a:cs typeface="Courier New"/>
                <a:sym typeface="Courier New"/>
              </a:rPr>
              <a:t>    </a:t>
            </a:r>
            <a:r>
              <a:rPr b="0" i="0" lang="es" sz="1150" u="none" cap="none" strike="noStrike">
                <a:solidFill>
                  <a:srgbClr val="444444"/>
                </a:solidFill>
                <a:highlight>
                  <a:srgbClr val="FFFFFF"/>
                </a:highlight>
                <a:latin typeface="Courier New"/>
                <a:ea typeface="Courier New"/>
                <a:cs typeface="Courier New"/>
                <a:sym typeface="Courier New"/>
              </a:rPr>
              <a:t>&lt;</a:t>
            </a:r>
            <a:r>
              <a:rPr b="1" i="0" lang="es" sz="1150" u="none" cap="none" strike="noStrike">
                <a:solidFill>
                  <a:srgbClr val="066DA1"/>
                </a:solidFill>
                <a:highlight>
                  <a:srgbClr val="FFFFFF"/>
                </a:highlight>
                <a:latin typeface="Courier New"/>
                <a:ea typeface="Courier New"/>
                <a:cs typeface="Courier New"/>
                <a:sym typeface="Courier New"/>
              </a:rPr>
              <a:t>p</a:t>
            </a:r>
            <a:r>
              <a:rPr b="0" i="0" lang="es" sz="1150" u="none" cap="none" strike="noStrike">
                <a:solidFill>
                  <a:srgbClr val="444444"/>
                </a:solidFill>
                <a:highlight>
                  <a:srgbClr val="FFFFFF"/>
                </a:highlight>
                <a:latin typeface="Courier New"/>
                <a:ea typeface="Courier New"/>
                <a:cs typeface="Courier New"/>
                <a:sym typeface="Courier New"/>
              </a:rPr>
              <a:t>&gt;</a:t>
            </a:r>
            <a:r>
              <a:rPr b="0" i="0" lang="es" sz="1150" u="none" cap="none" strike="noStrike">
                <a:solidFill>
                  <a:srgbClr val="000000"/>
                </a:solidFill>
                <a:highlight>
                  <a:srgbClr val="FFFFFF"/>
                </a:highlight>
                <a:latin typeface="Courier New"/>
                <a:ea typeface="Courier New"/>
                <a:cs typeface="Courier New"/>
                <a:sym typeface="Courier New"/>
              </a:rPr>
              <a:t>Párrafo de color verde.</a:t>
            </a:r>
            <a:r>
              <a:rPr b="0" i="0" lang="es" sz="1150" u="none" cap="none" strike="noStrike">
                <a:solidFill>
                  <a:srgbClr val="444444"/>
                </a:solidFill>
                <a:highlight>
                  <a:srgbClr val="FFFFFF"/>
                </a:highlight>
                <a:latin typeface="Courier New"/>
                <a:ea typeface="Courier New"/>
                <a:cs typeface="Courier New"/>
                <a:sym typeface="Courier New"/>
              </a:rPr>
              <a:t>&lt;/</a:t>
            </a:r>
            <a:r>
              <a:rPr b="1" i="0" lang="es" sz="1150" u="none" cap="none" strike="noStrike">
                <a:solidFill>
                  <a:srgbClr val="066DA1"/>
                </a:solidFill>
                <a:highlight>
                  <a:srgbClr val="FFFFFF"/>
                </a:highlight>
                <a:latin typeface="Courier New"/>
                <a:ea typeface="Courier New"/>
                <a:cs typeface="Courier New"/>
                <a:sym typeface="Courier New"/>
              </a:rPr>
              <a:t>p</a:t>
            </a:r>
            <a:r>
              <a:rPr b="0" i="0" lang="es" sz="1150" u="none" cap="none" strike="noStrike">
                <a:solidFill>
                  <a:srgbClr val="444444"/>
                </a:solidFill>
                <a:highlight>
                  <a:srgbClr val="FFFFFF"/>
                </a:highlight>
                <a:latin typeface="Courier New"/>
                <a:ea typeface="Courier New"/>
                <a:cs typeface="Courier New"/>
                <a:sym typeface="Courier New"/>
              </a:rPr>
              <a:t>&gt;</a:t>
            </a:r>
            <a:endParaRPr b="0" i="0" sz="1150" u="none" cap="none" strike="noStrike">
              <a:solidFill>
                <a:srgbClr val="444444"/>
              </a:solidFill>
              <a:highlight>
                <a:srgbClr val="FFFFFF"/>
              </a:highlight>
              <a:latin typeface="Courier New"/>
              <a:ea typeface="Courier New"/>
              <a:cs typeface="Courier New"/>
              <a:sym typeface="Courier New"/>
            </a:endParaRPr>
          </a:p>
          <a:p>
            <a:pPr indent="0" lvl="0" marL="241300" marR="50800" rtl="0" algn="l">
              <a:lnSpc>
                <a:spcPct val="100000"/>
              </a:lnSpc>
              <a:spcBef>
                <a:spcPts val="1500"/>
              </a:spcBef>
              <a:spcAft>
                <a:spcPts val="0"/>
              </a:spcAft>
              <a:buClr>
                <a:srgbClr val="000000"/>
              </a:buClr>
              <a:buSzPts val="1150"/>
              <a:buFont typeface="Arial"/>
              <a:buNone/>
            </a:pPr>
            <a:r>
              <a:rPr b="0" i="0" lang="es" sz="1150" u="none" cap="none" strike="noStrike">
                <a:solidFill>
                  <a:srgbClr val="444444"/>
                </a:solidFill>
                <a:highlight>
                  <a:srgbClr val="F8F8F8"/>
                </a:highlight>
                <a:latin typeface="Courier New"/>
                <a:ea typeface="Courier New"/>
                <a:cs typeface="Courier New"/>
                <a:sym typeface="Courier New"/>
              </a:rPr>
              <a:t>&lt;/</a:t>
            </a:r>
            <a:r>
              <a:rPr b="1" i="0" lang="es" sz="1150" u="none" cap="none" strike="noStrike">
                <a:solidFill>
                  <a:srgbClr val="066DA1"/>
                </a:solidFill>
                <a:highlight>
                  <a:srgbClr val="F8F8F8"/>
                </a:highlight>
                <a:latin typeface="Courier New"/>
                <a:ea typeface="Courier New"/>
                <a:cs typeface="Courier New"/>
                <a:sym typeface="Courier New"/>
              </a:rPr>
              <a:t>body</a:t>
            </a:r>
            <a:r>
              <a:rPr b="0" i="0" lang="es" sz="1150" u="none" cap="none" strike="noStrike">
                <a:solidFill>
                  <a:srgbClr val="444444"/>
                </a:solidFill>
                <a:highlight>
                  <a:srgbClr val="F8F8F8"/>
                </a:highlight>
                <a:latin typeface="Courier New"/>
                <a:ea typeface="Courier New"/>
                <a:cs typeface="Courier New"/>
                <a:sym typeface="Courier New"/>
              </a:rPr>
              <a:t>&gt;</a:t>
            </a:r>
            <a:endParaRPr b="0" i="0" sz="1150" u="none" cap="none" strike="noStrike">
              <a:solidFill>
                <a:srgbClr val="444444"/>
              </a:solidFill>
              <a:highlight>
                <a:srgbClr val="F8F8F8"/>
              </a:highlight>
              <a:latin typeface="Courier New"/>
              <a:ea typeface="Courier New"/>
              <a:cs typeface="Courier New"/>
              <a:sym typeface="Courier New"/>
            </a:endParaRPr>
          </a:p>
          <a:p>
            <a:pPr indent="0" lvl="0" marL="241300" marR="50800" rtl="0" algn="l">
              <a:lnSpc>
                <a:spcPct val="100000"/>
              </a:lnSpc>
              <a:spcBef>
                <a:spcPts val="1500"/>
              </a:spcBef>
              <a:spcAft>
                <a:spcPts val="1500"/>
              </a:spcAft>
              <a:buClr>
                <a:srgbClr val="000000"/>
              </a:buClr>
              <a:buSzPts val="1150"/>
              <a:buFont typeface="Arial"/>
              <a:buNone/>
            </a:pPr>
            <a:r>
              <a:rPr b="0" i="0" lang="es" sz="1150" u="none" cap="none" strike="noStrike">
                <a:solidFill>
                  <a:srgbClr val="444444"/>
                </a:solidFill>
                <a:highlight>
                  <a:srgbClr val="FFFFFF"/>
                </a:highlight>
                <a:latin typeface="Courier New"/>
                <a:ea typeface="Courier New"/>
                <a:cs typeface="Courier New"/>
                <a:sym typeface="Courier New"/>
              </a:rPr>
              <a:t>&lt;/</a:t>
            </a:r>
            <a:r>
              <a:rPr b="1" i="0" lang="es" sz="1150" u="none" cap="none" strike="noStrike">
                <a:solidFill>
                  <a:srgbClr val="066DA1"/>
                </a:solidFill>
                <a:highlight>
                  <a:srgbClr val="FFFFFF"/>
                </a:highlight>
                <a:latin typeface="Courier New"/>
                <a:ea typeface="Courier New"/>
                <a:cs typeface="Courier New"/>
                <a:sym typeface="Courier New"/>
              </a:rPr>
              <a:t>html</a:t>
            </a:r>
            <a:r>
              <a:rPr b="0" i="0" lang="es" sz="1150" u="none" cap="none" strike="noStrike">
                <a:solidFill>
                  <a:srgbClr val="444444"/>
                </a:solidFill>
                <a:highlight>
                  <a:srgbClr val="FFFFFF"/>
                </a:highlight>
                <a:latin typeface="Courier New"/>
                <a:ea typeface="Courier New"/>
                <a:cs typeface="Courier New"/>
                <a:sym typeface="Courier New"/>
              </a:rPr>
              <a:t>&gt;</a:t>
            </a:r>
            <a:endParaRPr b="0" i="0" sz="1350" u="none" cap="none" strike="noStrike">
              <a:solidFill>
                <a:srgbClr val="000000"/>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2.Cómo aplicar estilos en un HTML</a:t>
            </a:r>
            <a:endParaRPr/>
          </a:p>
          <a:p>
            <a:pPr indent="0" lvl="0" marL="0" rtl="0" algn="l">
              <a:lnSpc>
                <a:spcPct val="100000"/>
              </a:lnSpc>
              <a:spcBef>
                <a:spcPts val="0"/>
              </a:spcBef>
              <a:spcAft>
                <a:spcPts val="0"/>
              </a:spcAft>
              <a:buSzPct val="111111"/>
              <a:buNone/>
            </a:pPr>
            <a:r>
              <a:rPr lang="es"/>
              <a:t>2.3. CSS en hojas de estilo externa</a:t>
            </a:r>
            <a:endParaRPr/>
          </a:p>
        </p:txBody>
      </p:sp>
      <p:sp>
        <p:nvSpPr>
          <p:cNvPr id="95" name="Google Shape;95;p7"/>
          <p:cNvSpPr txBox="1"/>
          <p:nvPr>
            <p:ph idx="1" type="body"/>
          </p:nvPr>
        </p:nvSpPr>
        <p:spPr>
          <a:xfrm>
            <a:off x="311700" y="1526050"/>
            <a:ext cx="8117400" cy="3042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350">
                <a:solidFill>
                  <a:srgbClr val="000000"/>
                </a:solidFill>
                <a:latin typeface="Roboto"/>
                <a:ea typeface="Roboto"/>
                <a:cs typeface="Roboto"/>
                <a:sym typeface="Roboto"/>
              </a:rPr>
              <a:t>Mediante hojas de estilo externas se consigue separar el archivo de estilos del fichero HTML. El archivo de estilos cuenta con la extensión .css y se referencia desde HTML mediante el elemento &lt;link&gt;. Este es el </a:t>
            </a:r>
            <a:r>
              <a:rPr b="1" lang="es" sz="1350">
                <a:solidFill>
                  <a:srgbClr val="000000"/>
                </a:solidFill>
                <a:latin typeface="Roboto"/>
                <a:ea typeface="Roboto"/>
                <a:cs typeface="Roboto"/>
                <a:sym typeface="Roboto"/>
              </a:rPr>
              <a:t>método más eficiente y más sencillo de mantener ya que el código CSS se encuentra separado del fichero HTML</a:t>
            </a:r>
            <a:r>
              <a:rPr lang="es" sz="1350">
                <a:solidFill>
                  <a:srgbClr val="000000"/>
                </a:solidFill>
                <a:latin typeface="Roboto"/>
                <a:ea typeface="Roboto"/>
                <a:cs typeface="Roboto"/>
                <a:sym typeface="Roboto"/>
              </a:rPr>
              <a:t>.</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1100"/>
              </a:spcAft>
              <a:buSzPts val="1800"/>
              <a:buNone/>
            </a:pPr>
            <a:r>
              <a:t/>
            </a:r>
            <a:endParaRPr sz="1350">
              <a:solidFill>
                <a:srgbClr val="000000"/>
              </a:solidFill>
              <a:latin typeface="Roboto"/>
              <a:ea typeface="Roboto"/>
              <a:cs typeface="Roboto"/>
              <a:sym typeface="Roboto"/>
            </a:endParaRPr>
          </a:p>
        </p:txBody>
      </p:sp>
      <p:pic>
        <p:nvPicPr>
          <p:cNvPr id="96" name="Google Shape;96;p7"/>
          <p:cNvPicPr preferRelativeResize="0"/>
          <p:nvPr/>
        </p:nvPicPr>
        <p:blipFill rotWithShape="1">
          <a:blip r:embed="rId3">
            <a:alphaModFix/>
          </a:blip>
          <a:srcRect b="0" l="0" r="0" t="0"/>
          <a:stretch/>
        </p:blipFill>
        <p:spPr>
          <a:xfrm>
            <a:off x="2343562" y="2521400"/>
            <a:ext cx="4053675" cy="2551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3.Selectores</a:t>
            </a:r>
            <a:endParaRPr/>
          </a:p>
          <a:p>
            <a:pPr indent="0" lvl="0" marL="0" rtl="0" algn="l">
              <a:lnSpc>
                <a:spcPct val="100000"/>
              </a:lnSpc>
              <a:spcBef>
                <a:spcPts val="0"/>
              </a:spcBef>
              <a:spcAft>
                <a:spcPts val="0"/>
              </a:spcAft>
              <a:buSzPct val="111111"/>
              <a:buNone/>
            </a:pPr>
            <a:r>
              <a:t/>
            </a:r>
            <a:endParaRPr/>
          </a:p>
        </p:txBody>
      </p:sp>
      <p:sp>
        <p:nvSpPr>
          <p:cNvPr id="102" name="Google Shape;102;p8"/>
          <p:cNvSpPr txBox="1"/>
          <p:nvPr>
            <p:ph idx="1" type="body"/>
          </p:nvPr>
        </p:nvSpPr>
        <p:spPr>
          <a:xfrm>
            <a:off x="311700" y="4793225"/>
            <a:ext cx="8520600" cy="308400"/>
          </a:xfrm>
          <a:prstGeom prst="rect">
            <a:avLst/>
          </a:prstGeom>
          <a:noFill/>
          <a:ln>
            <a:noFill/>
          </a:ln>
        </p:spPr>
        <p:txBody>
          <a:bodyPr anchorCtr="0" anchor="t" bIns="91425" lIns="91425" spcFirstLastPara="1" rIns="91425" wrap="square" tIns="91425">
            <a:noAutofit/>
          </a:bodyPr>
          <a:lstStyle/>
          <a:p>
            <a:pPr indent="0" lvl="0" marL="0" rtl="0" algn="ctr">
              <a:lnSpc>
                <a:spcPct val="95000"/>
              </a:lnSpc>
              <a:spcBef>
                <a:spcPts val="0"/>
              </a:spcBef>
              <a:spcAft>
                <a:spcPts val="1200"/>
              </a:spcAft>
              <a:buSzPts val="523"/>
              <a:buNone/>
            </a:pPr>
            <a:r>
              <a:rPr lang="es" sz="1455" u="sng">
                <a:solidFill>
                  <a:schemeClr val="hlink"/>
                </a:solidFill>
                <a:hlinkClick r:id="rId3"/>
              </a:rPr>
              <a:t>https://codepen.io/Eniun/pen/gNdZXL</a:t>
            </a:r>
            <a:r>
              <a:rPr lang="es" sz="1455"/>
              <a:t> </a:t>
            </a:r>
            <a:endParaRPr sz="1455"/>
          </a:p>
        </p:txBody>
      </p:sp>
      <p:pic>
        <p:nvPicPr>
          <p:cNvPr id="103" name="Google Shape;103;p8"/>
          <p:cNvPicPr preferRelativeResize="0"/>
          <p:nvPr/>
        </p:nvPicPr>
        <p:blipFill rotWithShape="1">
          <a:blip r:embed="rId4">
            <a:alphaModFix/>
          </a:blip>
          <a:srcRect b="0" l="0" r="0" t="0"/>
          <a:stretch/>
        </p:blipFill>
        <p:spPr>
          <a:xfrm>
            <a:off x="1398800" y="1017725"/>
            <a:ext cx="6024375" cy="37944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Unidades de medida</a:t>
            </a:r>
            <a:endParaRPr/>
          </a:p>
          <a:p>
            <a:pPr indent="0" lvl="0" marL="0" rtl="0" algn="l">
              <a:lnSpc>
                <a:spcPct val="100000"/>
              </a:lnSpc>
              <a:spcBef>
                <a:spcPts val="0"/>
              </a:spcBef>
              <a:spcAft>
                <a:spcPts val="0"/>
              </a:spcAft>
              <a:buSzPct val="111111"/>
              <a:buNone/>
            </a:pPr>
            <a:r>
              <a:rPr lang="es"/>
              <a:t>4.1. Unidades absolutas</a:t>
            </a:r>
            <a:endParaRPr/>
          </a:p>
        </p:txBody>
      </p:sp>
      <p:sp>
        <p:nvSpPr>
          <p:cNvPr id="109" name="Google Shape;109;p9"/>
          <p:cNvSpPr txBox="1"/>
          <p:nvPr>
            <p:ph idx="1" type="body"/>
          </p:nvPr>
        </p:nvSpPr>
        <p:spPr>
          <a:xfrm>
            <a:off x="311700" y="1396525"/>
            <a:ext cx="8520600" cy="3172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350">
                <a:solidFill>
                  <a:srgbClr val="000000"/>
                </a:solidFill>
                <a:highlight>
                  <a:srgbClr val="FFFFFF"/>
                </a:highlight>
                <a:latin typeface="Roboto"/>
                <a:ea typeface="Roboto"/>
                <a:cs typeface="Roboto"/>
                <a:sym typeface="Roboto"/>
              </a:rPr>
              <a:t>Las </a:t>
            </a:r>
            <a:r>
              <a:rPr b="1" lang="es" sz="1350">
                <a:solidFill>
                  <a:srgbClr val="000000"/>
                </a:solidFill>
                <a:latin typeface="Roboto"/>
                <a:ea typeface="Roboto"/>
                <a:cs typeface="Roboto"/>
                <a:sym typeface="Roboto"/>
              </a:rPr>
              <a:t>unidades absolutas</a:t>
            </a:r>
            <a:r>
              <a:rPr lang="es" sz="1350">
                <a:solidFill>
                  <a:srgbClr val="000000"/>
                </a:solidFill>
                <a:highlight>
                  <a:srgbClr val="FFFFFF"/>
                </a:highlight>
                <a:latin typeface="Roboto"/>
                <a:ea typeface="Roboto"/>
                <a:cs typeface="Roboto"/>
                <a:sym typeface="Roboto"/>
              </a:rPr>
              <a:t> mantienen su aspecto y se visualizan siempre igual independientemente de las características del dispositivo.</a:t>
            </a:r>
            <a:endParaRPr sz="1350">
              <a:solidFill>
                <a:srgbClr val="000000"/>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SzPts val="1800"/>
              <a:buNone/>
            </a:pPr>
            <a:r>
              <a:t/>
            </a:r>
            <a:endParaRPr sz="1350">
              <a:solidFill>
                <a:srgbClr val="000000"/>
              </a:solidFill>
              <a:highlight>
                <a:srgbClr val="FFFFFF"/>
              </a:highlight>
              <a:latin typeface="Roboto"/>
              <a:ea typeface="Roboto"/>
              <a:cs typeface="Roboto"/>
              <a:sym typeface="Roboto"/>
            </a:endParaRPr>
          </a:p>
        </p:txBody>
      </p:sp>
      <p:pic>
        <p:nvPicPr>
          <p:cNvPr id="110" name="Google Shape;110;p9"/>
          <p:cNvPicPr preferRelativeResize="0"/>
          <p:nvPr/>
        </p:nvPicPr>
        <p:blipFill rotWithShape="1">
          <a:blip r:embed="rId3">
            <a:alphaModFix/>
          </a:blip>
          <a:srcRect b="0" l="0" r="0" t="0"/>
          <a:stretch/>
        </p:blipFill>
        <p:spPr>
          <a:xfrm>
            <a:off x="417250" y="2110851"/>
            <a:ext cx="8309499" cy="2748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Unidades de medida</a:t>
            </a:r>
            <a:endParaRPr/>
          </a:p>
          <a:p>
            <a:pPr indent="0" lvl="0" marL="0" rtl="0" algn="l">
              <a:lnSpc>
                <a:spcPct val="100000"/>
              </a:lnSpc>
              <a:spcBef>
                <a:spcPts val="0"/>
              </a:spcBef>
              <a:spcAft>
                <a:spcPts val="0"/>
              </a:spcAft>
              <a:buSzPct val="111111"/>
              <a:buNone/>
            </a:pPr>
            <a:r>
              <a:rPr lang="es"/>
              <a:t>4.2. Unidades relativas</a:t>
            </a:r>
            <a:endParaRPr/>
          </a:p>
        </p:txBody>
      </p:sp>
      <p:sp>
        <p:nvSpPr>
          <p:cNvPr id="116" name="Google Shape;116;p10"/>
          <p:cNvSpPr txBox="1"/>
          <p:nvPr>
            <p:ph idx="1" type="body"/>
          </p:nvPr>
        </p:nvSpPr>
        <p:spPr>
          <a:xfrm>
            <a:off x="311700" y="1396525"/>
            <a:ext cx="8520600" cy="3172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100"/>
              </a:spcAft>
              <a:buSzPts val="1800"/>
              <a:buNone/>
            </a:pPr>
            <a:r>
              <a:rPr lang="es" sz="1500">
                <a:solidFill>
                  <a:srgbClr val="000000"/>
                </a:solidFill>
                <a:latin typeface="Arial"/>
                <a:ea typeface="Arial"/>
                <a:cs typeface="Arial"/>
                <a:sym typeface="Arial"/>
              </a:rPr>
              <a:t>Las</a:t>
            </a:r>
            <a:r>
              <a:rPr b="1" lang="es" sz="1500">
                <a:solidFill>
                  <a:srgbClr val="000000"/>
                </a:solidFill>
                <a:latin typeface="Arial"/>
                <a:ea typeface="Arial"/>
                <a:cs typeface="Arial"/>
                <a:sym typeface="Arial"/>
              </a:rPr>
              <a:t> unidades relativas</a:t>
            </a:r>
            <a:r>
              <a:rPr lang="es" sz="1500">
                <a:solidFill>
                  <a:srgbClr val="000000"/>
                </a:solidFill>
                <a:latin typeface="Arial"/>
                <a:ea typeface="Arial"/>
                <a:cs typeface="Arial"/>
                <a:sym typeface="Arial"/>
              </a:rPr>
              <a:t> se ajustan a cada tipo de dispositivo ya que dependen de la resolución de cada pantalla.</a:t>
            </a:r>
            <a:endParaRPr sz="1750">
              <a:solidFill>
                <a:srgbClr val="000000"/>
              </a:solidFill>
              <a:highlight>
                <a:srgbClr val="FFFFFF"/>
              </a:highlight>
              <a:latin typeface="Roboto"/>
              <a:ea typeface="Roboto"/>
              <a:cs typeface="Roboto"/>
              <a:sym typeface="Roboto"/>
            </a:endParaRPr>
          </a:p>
        </p:txBody>
      </p:sp>
      <p:pic>
        <p:nvPicPr>
          <p:cNvPr id="117" name="Google Shape;117;p10"/>
          <p:cNvPicPr preferRelativeResize="0"/>
          <p:nvPr/>
        </p:nvPicPr>
        <p:blipFill rotWithShape="1">
          <a:blip r:embed="rId3">
            <a:alphaModFix/>
          </a:blip>
          <a:srcRect b="0" l="0" r="0" t="0"/>
          <a:stretch/>
        </p:blipFill>
        <p:spPr>
          <a:xfrm>
            <a:off x="500800" y="2330749"/>
            <a:ext cx="8142399" cy="2520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Unidades de medida</a:t>
            </a:r>
            <a:endParaRPr/>
          </a:p>
          <a:p>
            <a:pPr indent="0" lvl="0" marL="0" rtl="0" algn="l">
              <a:lnSpc>
                <a:spcPct val="100000"/>
              </a:lnSpc>
              <a:spcBef>
                <a:spcPts val="0"/>
              </a:spcBef>
              <a:spcAft>
                <a:spcPts val="0"/>
              </a:spcAft>
              <a:buSzPct val="111111"/>
              <a:buNone/>
            </a:pPr>
            <a:r>
              <a:rPr lang="es"/>
              <a:t>4.3. Usos de unidades</a:t>
            </a:r>
            <a:endParaRPr/>
          </a:p>
          <a:p>
            <a:pPr indent="0" lvl="0" marL="0" rtl="0" algn="l">
              <a:lnSpc>
                <a:spcPct val="100000"/>
              </a:lnSpc>
              <a:spcBef>
                <a:spcPts val="0"/>
              </a:spcBef>
              <a:spcAft>
                <a:spcPts val="0"/>
              </a:spcAft>
              <a:buSzPct val="111111"/>
              <a:buNone/>
            </a:pPr>
            <a:r>
              <a:t/>
            </a:r>
            <a:endParaRPr/>
          </a:p>
        </p:txBody>
      </p:sp>
      <p:sp>
        <p:nvSpPr>
          <p:cNvPr id="123" name="Google Shape;123;p11"/>
          <p:cNvSpPr txBox="1"/>
          <p:nvPr>
            <p:ph idx="1" type="body"/>
          </p:nvPr>
        </p:nvSpPr>
        <p:spPr>
          <a:xfrm>
            <a:off x="311700" y="1335475"/>
            <a:ext cx="8520600" cy="3233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350">
                <a:solidFill>
                  <a:srgbClr val="000000"/>
                </a:solidFill>
                <a:latin typeface="Roboto"/>
                <a:ea typeface="Roboto"/>
                <a:cs typeface="Roboto"/>
                <a:sym typeface="Roboto"/>
              </a:rPr>
              <a:t>Normalmente es </a:t>
            </a:r>
            <a:r>
              <a:rPr b="1" lang="es" sz="1350">
                <a:solidFill>
                  <a:srgbClr val="000000"/>
                </a:solidFill>
                <a:latin typeface="Roboto"/>
                <a:ea typeface="Roboto"/>
                <a:cs typeface="Roboto"/>
                <a:sym typeface="Roboto"/>
              </a:rPr>
              <a:t>recomendable usar unidades relativas</a:t>
            </a:r>
            <a:r>
              <a:rPr lang="es" sz="1350">
                <a:solidFill>
                  <a:srgbClr val="000000"/>
                </a:solidFill>
                <a:latin typeface="Roboto"/>
                <a:ea typeface="Roboto"/>
                <a:cs typeface="Roboto"/>
                <a:sym typeface="Roboto"/>
              </a:rPr>
              <a:t> en la medida de lo posible, ya que mejora la accesibilidad de la página web y permite que los documentos se adapten fácilmente a cualquier medio.  </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0"/>
              </a:spcAft>
              <a:buSzPts val="1800"/>
              <a:buNone/>
            </a:pPr>
            <a:r>
              <a:rPr b="1" lang="es" sz="1350">
                <a:solidFill>
                  <a:srgbClr val="000000"/>
                </a:solidFill>
                <a:latin typeface="Roboto"/>
                <a:ea typeface="Roboto"/>
                <a:cs typeface="Roboto"/>
                <a:sym typeface="Roboto"/>
              </a:rPr>
              <a:t>El tamaño de los ems se establece en base al tamaño que tenga definido el navegador.</a:t>
            </a:r>
            <a:endParaRPr b="1" sz="1350">
              <a:solidFill>
                <a:srgbClr val="000000"/>
              </a:solidFill>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latin typeface="Roboto"/>
                <a:ea typeface="Roboto"/>
                <a:cs typeface="Roboto"/>
                <a:sym typeface="Roboto"/>
              </a:rPr>
              <a:t>Usualmente </a:t>
            </a:r>
            <a:r>
              <a:rPr b="1" lang="es" sz="1350">
                <a:solidFill>
                  <a:srgbClr val="000000"/>
                </a:solidFill>
                <a:latin typeface="Roboto"/>
                <a:ea typeface="Roboto"/>
                <a:cs typeface="Roboto"/>
                <a:sym typeface="Roboto"/>
              </a:rPr>
              <a:t>el tamaño de una fuente por defecto en los navegadores es de 16px</a:t>
            </a:r>
            <a:r>
              <a:rPr lang="es" sz="1350">
                <a:solidFill>
                  <a:srgbClr val="000000"/>
                </a:solidFill>
                <a:latin typeface="Roboto"/>
                <a:ea typeface="Roboto"/>
                <a:cs typeface="Roboto"/>
                <a:sym typeface="Roboto"/>
              </a:rPr>
              <a:t>. Por tanto, tendríamos que  </a:t>
            </a:r>
            <a:r>
              <a:rPr b="1" lang="es" sz="1350">
                <a:solidFill>
                  <a:srgbClr val="000000"/>
                </a:solidFill>
                <a:latin typeface="Roboto"/>
                <a:ea typeface="Roboto"/>
                <a:cs typeface="Roboto"/>
                <a:sym typeface="Roboto"/>
              </a:rPr>
              <a:t>16px = 1em</a:t>
            </a:r>
            <a:r>
              <a:rPr lang="es" sz="1350">
                <a:solidFill>
                  <a:srgbClr val="000000"/>
                </a:solidFill>
                <a:latin typeface="Roboto"/>
                <a:ea typeface="Roboto"/>
                <a:cs typeface="Roboto"/>
                <a:sym typeface="Roboto"/>
              </a:rPr>
              <a:t> y podríamos definir la siguiente conversión entre unidades.</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0"/>
              </a:spcAft>
              <a:buSzPts val="1800"/>
              <a:buNone/>
            </a:pPr>
            <a:r>
              <a:t/>
            </a:r>
            <a:endParaRPr sz="1350">
              <a:solidFill>
                <a:srgbClr val="000000"/>
              </a:solidFill>
              <a:latin typeface="Roboto"/>
              <a:ea typeface="Roboto"/>
              <a:cs typeface="Roboto"/>
              <a:sym typeface="Roboto"/>
            </a:endParaRPr>
          </a:p>
          <a:p>
            <a:pPr indent="0" lvl="0" marL="0" rtl="0" algn="l">
              <a:lnSpc>
                <a:spcPct val="115000"/>
              </a:lnSpc>
              <a:spcBef>
                <a:spcPts val="0"/>
              </a:spcBef>
              <a:spcAft>
                <a:spcPts val="1200"/>
              </a:spcAft>
              <a:buSzPts val="1800"/>
              <a:buNone/>
            </a:pPr>
            <a:r>
              <a:t/>
            </a:r>
            <a:endParaRPr/>
          </a:p>
        </p:txBody>
      </p:sp>
      <p:pic>
        <p:nvPicPr>
          <p:cNvPr id="124" name="Google Shape;124;p11"/>
          <p:cNvPicPr preferRelativeResize="0"/>
          <p:nvPr/>
        </p:nvPicPr>
        <p:blipFill rotWithShape="1">
          <a:blip r:embed="rId3">
            <a:alphaModFix/>
          </a:blip>
          <a:srcRect b="0" l="0" r="0" t="0"/>
          <a:stretch/>
        </p:blipFill>
        <p:spPr>
          <a:xfrm>
            <a:off x="1708612" y="3021627"/>
            <a:ext cx="5726777" cy="2005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Unidades de medida</a:t>
            </a:r>
            <a:endParaRPr/>
          </a:p>
          <a:p>
            <a:pPr indent="0" lvl="0" marL="0" rtl="0" algn="l">
              <a:lnSpc>
                <a:spcPct val="100000"/>
              </a:lnSpc>
              <a:spcBef>
                <a:spcPts val="0"/>
              </a:spcBef>
              <a:spcAft>
                <a:spcPts val="0"/>
              </a:spcAft>
              <a:buSzPct val="111111"/>
              <a:buNone/>
            </a:pPr>
            <a:r>
              <a:rPr lang="es"/>
              <a:t>4.3. Usos de unidades</a:t>
            </a:r>
            <a:endParaRPr/>
          </a:p>
        </p:txBody>
      </p:sp>
      <p:sp>
        <p:nvSpPr>
          <p:cNvPr id="130" name="Google Shape;130;p12"/>
          <p:cNvSpPr txBox="1"/>
          <p:nvPr>
            <p:ph idx="1" type="body"/>
          </p:nvPr>
        </p:nvSpPr>
        <p:spPr>
          <a:xfrm>
            <a:off x="311700" y="1433650"/>
            <a:ext cx="3498300" cy="3135300"/>
          </a:xfrm>
          <a:prstGeom prst="rect">
            <a:avLst/>
          </a:prstGeom>
          <a:noFill/>
          <a:ln>
            <a:noFill/>
          </a:ln>
        </p:spPr>
        <p:txBody>
          <a:bodyPr anchorCtr="0" anchor="t" bIns="91425" lIns="91425" spcFirstLastPara="1" rIns="91425" wrap="square" tIns="91425">
            <a:normAutofit lnSpcReduction="10000"/>
          </a:bodyPr>
          <a:lstStyle/>
          <a:p>
            <a:pPr indent="-314325" lvl="0" marL="749300" rtl="0" algn="l">
              <a:lnSpc>
                <a:spcPct val="115000"/>
              </a:lnSpc>
              <a:spcBef>
                <a:spcPts val="0"/>
              </a:spcBef>
              <a:spcAft>
                <a:spcPts val="0"/>
              </a:spcAft>
              <a:buClr>
                <a:srgbClr val="2C3862"/>
              </a:buClr>
              <a:buSzPts val="1350"/>
              <a:buFont typeface="Roboto"/>
              <a:buChar char="●"/>
            </a:pPr>
            <a:r>
              <a:rPr lang="es" sz="1350">
                <a:solidFill>
                  <a:srgbClr val="2C3862"/>
                </a:solidFill>
                <a:latin typeface="Roboto"/>
                <a:ea typeface="Roboto"/>
                <a:cs typeface="Roboto"/>
                <a:sym typeface="Roboto"/>
              </a:rPr>
              <a:t>Si el tamaño de fuente por defecto en un navegador es de 12px. ¿Cuántos em son 16px? Puedes ver la conversión de píxel a ems en el conversor online de w3schools: </a:t>
            </a:r>
            <a:r>
              <a:rPr lang="es" sz="1350">
                <a:solidFill>
                  <a:srgbClr val="E7618B"/>
                </a:solidFill>
                <a:uFill>
                  <a:noFill/>
                </a:uFill>
                <a:latin typeface="Roboto"/>
                <a:ea typeface="Roboto"/>
                <a:cs typeface="Roboto"/>
                <a:sym typeface="Roboto"/>
                <a:hlinkClick r:id="rId3">
                  <a:extLst>
                    <a:ext uri="{A12FA001-AC4F-418D-AE19-62706E023703}">
                      <ahyp:hlinkClr val="tx"/>
                    </a:ext>
                  </a:extLst>
                </a:hlinkClick>
              </a:rPr>
              <a:t>w3schools.com/tags/ref_pxtoemconversion.asp</a:t>
            </a:r>
            <a:endParaRPr sz="1350">
              <a:solidFill>
                <a:srgbClr val="E7618B"/>
              </a:solidFill>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Char char="●"/>
            </a:pPr>
            <a:r>
              <a:rPr lang="es" sz="1350">
                <a:solidFill>
                  <a:srgbClr val="2C3862"/>
                </a:solidFill>
                <a:latin typeface="Roboto"/>
                <a:ea typeface="Roboto"/>
                <a:cs typeface="Roboto"/>
                <a:sym typeface="Roboto"/>
              </a:rPr>
              <a:t>Observa el resultado del siguiente código en un navegador y estudia las diferencias que hay entre los distintos tamaños definidos.</a:t>
            </a:r>
            <a:endParaRPr sz="1350">
              <a:solidFill>
                <a:srgbClr val="2C3862"/>
              </a:solidFill>
              <a:latin typeface="Roboto"/>
              <a:ea typeface="Roboto"/>
              <a:cs typeface="Roboto"/>
              <a:sym typeface="Roboto"/>
            </a:endParaRPr>
          </a:p>
        </p:txBody>
      </p:sp>
      <p:sp>
        <p:nvSpPr>
          <p:cNvPr id="131" name="Google Shape;131;p12"/>
          <p:cNvSpPr txBox="1"/>
          <p:nvPr/>
        </p:nvSpPr>
        <p:spPr>
          <a:xfrm>
            <a:off x="4271525" y="1433650"/>
            <a:ext cx="4743000" cy="300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2C3862"/>
                </a:solidFill>
                <a:latin typeface="Roboto"/>
                <a:ea typeface="Roboto"/>
                <a:cs typeface="Roboto"/>
                <a:sym typeface="Roboto"/>
              </a:rPr>
              <a:t>&lt;</a:t>
            </a:r>
            <a:r>
              <a:rPr b="0" i="0" lang="es" sz="1250" u="none" cap="none" strike="noStrike">
                <a:solidFill>
                  <a:srgbClr val="2C3862"/>
                </a:solidFill>
                <a:latin typeface="Roboto"/>
                <a:ea typeface="Roboto"/>
                <a:cs typeface="Roboto"/>
                <a:sym typeface="Roboto"/>
              </a:rPr>
              <a:t>p style="font-size: 16px;"&gt;Párrafo de 16px&lt;/p&gt;</a:t>
            </a:r>
            <a:endParaRPr b="0" i="0" sz="1250" u="none" cap="none" strike="noStrike">
              <a:solidFill>
                <a:srgbClr val="2C3862"/>
              </a:solidFill>
              <a:latin typeface="Roboto"/>
              <a:ea typeface="Roboto"/>
              <a:cs typeface="Roboto"/>
              <a:sym typeface="Roboto"/>
            </a:endParaRPr>
          </a:p>
          <a:p>
            <a:pPr indent="0" lvl="0" marL="0" marR="0" rtl="0" algn="l">
              <a:lnSpc>
                <a:spcPct val="100000"/>
              </a:lnSpc>
              <a:spcBef>
                <a:spcPts val="1900"/>
              </a:spcBef>
              <a:spcAft>
                <a:spcPts val="0"/>
              </a:spcAft>
              <a:buClr>
                <a:srgbClr val="000000"/>
              </a:buClr>
              <a:buSzPts val="1250"/>
              <a:buFont typeface="Arial"/>
              <a:buNone/>
            </a:pPr>
            <a:r>
              <a:rPr b="0" i="0" lang="es" sz="1250" u="none" cap="none" strike="noStrike">
                <a:solidFill>
                  <a:srgbClr val="2C3862"/>
                </a:solidFill>
                <a:latin typeface="Roboto"/>
                <a:ea typeface="Roboto"/>
                <a:cs typeface="Roboto"/>
                <a:sym typeface="Roboto"/>
              </a:rPr>
              <a:t>&lt;p style="font-size: 12px;"&gt;Párrafo de 12px&lt;/p&gt;</a:t>
            </a:r>
            <a:endParaRPr b="0" i="0" sz="1250" u="none" cap="none" strike="noStrike">
              <a:solidFill>
                <a:srgbClr val="2C3862"/>
              </a:solidFill>
              <a:latin typeface="Roboto"/>
              <a:ea typeface="Roboto"/>
              <a:cs typeface="Roboto"/>
              <a:sym typeface="Roboto"/>
            </a:endParaRPr>
          </a:p>
          <a:p>
            <a:pPr indent="0" lvl="0" marL="0" marR="0" rtl="0" algn="l">
              <a:lnSpc>
                <a:spcPct val="100000"/>
              </a:lnSpc>
              <a:spcBef>
                <a:spcPts val="1900"/>
              </a:spcBef>
              <a:spcAft>
                <a:spcPts val="0"/>
              </a:spcAft>
              <a:buClr>
                <a:srgbClr val="000000"/>
              </a:buClr>
              <a:buSzPts val="1250"/>
              <a:buFont typeface="Arial"/>
              <a:buNone/>
            </a:pPr>
            <a:r>
              <a:rPr b="0" i="0" lang="es" sz="1250" u="none" cap="none" strike="noStrike">
                <a:solidFill>
                  <a:srgbClr val="2C3862"/>
                </a:solidFill>
                <a:latin typeface="Roboto"/>
                <a:ea typeface="Roboto"/>
                <a:cs typeface="Roboto"/>
                <a:sym typeface="Roboto"/>
              </a:rPr>
              <a:t>&lt;p style="font-size: 1em;"&gt;Párrafo de 1em&lt;/p&gt;</a:t>
            </a:r>
            <a:endParaRPr b="0" i="0" sz="1250" u="none" cap="none" strike="noStrike">
              <a:solidFill>
                <a:srgbClr val="2C3862"/>
              </a:solidFill>
              <a:latin typeface="Roboto"/>
              <a:ea typeface="Roboto"/>
              <a:cs typeface="Roboto"/>
              <a:sym typeface="Roboto"/>
            </a:endParaRPr>
          </a:p>
          <a:p>
            <a:pPr indent="0" lvl="0" marL="0" marR="0" rtl="0" algn="l">
              <a:lnSpc>
                <a:spcPct val="100000"/>
              </a:lnSpc>
              <a:spcBef>
                <a:spcPts val="1900"/>
              </a:spcBef>
              <a:spcAft>
                <a:spcPts val="0"/>
              </a:spcAft>
              <a:buClr>
                <a:srgbClr val="000000"/>
              </a:buClr>
              <a:buSzPts val="1250"/>
              <a:buFont typeface="Arial"/>
              <a:buNone/>
            </a:pPr>
            <a:r>
              <a:rPr b="0" i="0" lang="es" sz="1250" u="none" cap="none" strike="noStrike">
                <a:solidFill>
                  <a:srgbClr val="2C3862"/>
                </a:solidFill>
                <a:latin typeface="Roboto"/>
                <a:ea typeface="Roboto"/>
                <a:cs typeface="Roboto"/>
                <a:sym typeface="Roboto"/>
              </a:rPr>
              <a:t>&lt;p style="font-size: 1.5em;"&gt;Párrafo de 1.5em&lt;/p&gt;</a:t>
            </a:r>
            <a:endParaRPr b="0" i="0" sz="1250" u="none" cap="none" strike="noStrike">
              <a:solidFill>
                <a:srgbClr val="2C3862"/>
              </a:solidFill>
              <a:latin typeface="Roboto"/>
              <a:ea typeface="Roboto"/>
              <a:cs typeface="Roboto"/>
              <a:sym typeface="Roboto"/>
            </a:endParaRPr>
          </a:p>
          <a:p>
            <a:pPr indent="0" lvl="0" marL="0" marR="0" rtl="0" algn="l">
              <a:lnSpc>
                <a:spcPct val="100000"/>
              </a:lnSpc>
              <a:spcBef>
                <a:spcPts val="1900"/>
              </a:spcBef>
              <a:spcAft>
                <a:spcPts val="0"/>
              </a:spcAft>
              <a:buClr>
                <a:srgbClr val="000000"/>
              </a:buClr>
              <a:buSzPts val="1250"/>
              <a:buFont typeface="Arial"/>
              <a:buNone/>
            </a:pPr>
            <a:r>
              <a:rPr b="0" i="0" lang="es" sz="1250" u="none" cap="none" strike="noStrike">
                <a:solidFill>
                  <a:srgbClr val="2C3862"/>
                </a:solidFill>
                <a:latin typeface="Roboto"/>
                <a:ea typeface="Roboto"/>
                <a:cs typeface="Roboto"/>
                <a:sym typeface="Roboto"/>
              </a:rPr>
              <a:t>&lt;p style="font-size: 0.5in;"&gt;Párrafo de 0.5 pulgadas&lt;/p&gt;</a:t>
            </a:r>
            <a:endParaRPr b="0" i="0" sz="1250" u="none" cap="none" strike="noStrike">
              <a:solidFill>
                <a:srgbClr val="2C3862"/>
              </a:solidFill>
              <a:latin typeface="Roboto"/>
              <a:ea typeface="Roboto"/>
              <a:cs typeface="Roboto"/>
              <a:sym typeface="Roboto"/>
            </a:endParaRPr>
          </a:p>
          <a:p>
            <a:pPr indent="0" lvl="0" marL="0" marR="0" rtl="0" algn="l">
              <a:lnSpc>
                <a:spcPct val="100000"/>
              </a:lnSpc>
              <a:spcBef>
                <a:spcPts val="1900"/>
              </a:spcBef>
              <a:spcAft>
                <a:spcPts val="0"/>
              </a:spcAft>
              <a:buClr>
                <a:srgbClr val="000000"/>
              </a:buClr>
              <a:buSzPts val="1250"/>
              <a:buFont typeface="Arial"/>
              <a:buNone/>
            </a:pPr>
            <a:r>
              <a:rPr b="0" i="0" lang="es" sz="1250" u="none" cap="none" strike="noStrike">
                <a:solidFill>
                  <a:srgbClr val="2C3862"/>
                </a:solidFill>
                <a:latin typeface="Roboto"/>
                <a:ea typeface="Roboto"/>
                <a:cs typeface="Roboto"/>
                <a:sym typeface="Roboto"/>
              </a:rPr>
              <a:t>&lt;p style="font-size: 8mm;"&gt;Párrafo de 8 milímetros&lt;/p&gt;</a:t>
            </a:r>
            <a:endParaRPr b="0" i="0" sz="1250" u="none" cap="none" strike="noStrike">
              <a:solidFill>
                <a:srgbClr val="2C3862"/>
              </a:solidFill>
              <a:latin typeface="Roboto"/>
              <a:ea typeface="Roboto"/>
              <a:cs typeface="Roboto"/>
              <a:sym typeface="Roboto"/>
            </a:endParaRPr>
          </a:p>
          <a:p>
            <a:pPr indent="0" lvl="0" marL="0" marR="0" rtl="0" algn="l">
              <a:lnSpc>
                <a:spcPct val="100000"/>
              </a:lnSpc>
              <a:spcBef>
                <a:spcPts val="1900"/>
              </a:spcBef>
              <a:spcAft>
                <a:spcPts val="1900"/>
              </a:spcAft>
              <a:buClr>
                <a:srgbClr val="000000"/>
              </a:buClr>
              <a:buSzPts val="1250"/>
              <a:buFont typeface="Arial"/>
              <a:buNone/>
            </a:pPr>
            <a:r>
              <a:rPr b="0" i="0" lang="es" sz="1250" u="none" cap="none" strike="noStrike">
                <a:solidFill>
                  <a:srgbClr val="2C3862"/>
                </a:solidFill>
                <a:latin typeface="Roboto"/>
                <a:ea typeface="Roboto"/>
                <a:cs typeface="Roboto"/>
                <a:sym typeface="Roboto"/>
              </a:rPr>
              <a:t>&lt;p style="font-size: 12pt;"&gt;Párrafo de 12 puntos&lt;/p&gt;</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Unidades de medida</a:t>
            </a:r>
            <a:endParaRPr/>
          </a:p>
          <a:p>
            <a:pPr indent="0" lvl="0" marL="0" rtl="0" algn="l">
              <a:lnSpc>
                <a:spcPct val="100000"/>
              </a:lnSpc>
              <a:spcBef>
                <a:spcPts val="0"/>
              </a:spcBef>
              <a:spcAft>
                <a:spcPts val="0"/>
              </a:spcAft>
              <a:buSzPct val="111111"/>
              <a:buNone/>
            </a:pPr>
            <a:r>
              <a:rPr lang="es"/>
              <a:t>4.4. Unidades vh y vw en CSS</a:t>
            </a:r>
            <a:endParaRPr/>
          </a:p>
          <a:p>
            <a:pPr indent="0" lvl="0" marL="0" rtl="0" algn="l">
              <a:lnSpc>
                <a:spcPct val="100000"/>
              </a:lnSpc>
              <a:spcBef>
                <a:spcPts val="0"/>
              </a:spcBef>
              <a:spcAft>
                <a:spcPts val="0"/>
              </a:spcAft>
              <a:buSzPct val="111111"/>
              <a:buNone/>
            </a:pPr>
            <a:r>
              <a:t/>
            </a:r>
            <a:endParaRPr/>
          </a:p>
        </p:txBody>
      </p:sp>
      <p:sp>
        <p:nvSpPr>
          <p:cNvPr id="137" name="Google Shape;137;p13"/>
          <p:cNvSpPr txBox="1"/>
          <p:nvPr>
            <p:ph idx="1" type="body"/>
          </p:nvPr>
        </p:nvSpPr>
        <p:spPr>
          <a:xfrm>
            <a:off x="311700" y="1617775"/>
            <a:ext cx="8520600" cy="2951100"/>
          </a:xfrm>
          <a:prstGeom prst="rect">
            <a:avLst/>
          </a:prstGeom>
          <a:noFill/>
          <a:ln>
            <a:noFill/>
          </a:ln>
        </p:spPr>
        <p:txBody>
          <a:bodyPr anchorCtr="0" anchor="t" bIns="91425" lIns="91425" spcFirstLastPara="1" rIns="91425" wrap="square" tIns="91425">
            <a:normAutofit/>
          </a:bodyPr>
          <a:lstStyle/>
          <a:p>
            <a:pPr indent="-320675" lvl="0" marL="749300" rtl="0" algn="l">
              <a:lnSpc>
                <a:spcPct val="115000"/>
              </a:lnSpc>
              <a:spcBef>
                <a:spcPts val="0"/>
              </a:spcBef>
              <a:spcAft>
                <a:spcPts val="0"/>
              </a:spcAft>
              <a:buClr>
                <a:srgbClr val="2C3862"/>
              </a:buClr>
              <a:buSzPts val="1450"/>
              <a:buFont typeface="Roboto"/>
              <a:buChar char="●"/>
            </a:pPr>
            <a:r>
              <a:rPr b="1" lang="es" sz="1450">
                <a:solidFill>
                  <a:srgbClr val="2C3862"/>
                </a:solidFill>
                <a:latin typeface="Roboto"/>
                <a:ea typeface="Roboto"/>
                <a:cs typeface="Roboto"/>
                <a:sym typeface="Roboto"/>
              </a:rPr>
              <a:t>vh (Viewport Height):</a:t>
            </a:r>
            <a:r>
              <a:rPr lang="es" sz="1450">
                <a:solidFill>
                  <a:srgbClr val="2C3862"/>
                </a:solidFill>
                <a:latin typeface="Roboto"/>
                <a:ea typeface="Roboto"/>
                <a:cs typeface="Roboto"/>
                <a:sym typeface="Roboto"/>
              </a:rPr>
              <a:t> Una unidad vh representa el</a:t>
            </a:r>
            <a:r>
              <a:rPr b="1" lang="es" sz="1450">
                <a:solidFill>
                  <a:srgbClr val="2C3862"/>
                </a:solidFill>
                <a:latin typeface="Roboto"/>
                <a:ea typeface="Roboto"/>
                <a:cs typeface="Roboto"/>
                <a:sym typeface="Roboto"/>
              </a:rPr>
              <a:t> 1% del alto del viewport</a:t>
            </a:r>
            <a:r>
              <a:rPr lang="es" sz="1450">
                <a:solidFill>
                  <a:srgbClr val="2C3862"/>
                </a:solidFill>
                <a:latin typeface="Roboto"/>
                <a:ea typeface="Roboto"/>
                <a:cs typeface="Roboto"/>
                <a:sym typeface="Roboto"/>
              </a:rPr>
              <a:t>. Por lo tanto, 1vh es igual al 1% del alto total del viewport del usuario. Esta unidad es útil para</a:t>
            </a:r>
            <a:r>
              <a:rPr b="1" lang="es" sz="1450">
                <a:solidFill>
                  <a:srgbClr val="2C3862"/>
                </a:solidFill>
                <a:latin typeface="Roboto"/>
                <a:ea typeface="Roboto"/>
                <a:cs typeface="Roboto"/>
                <a:sym typeface="Roboto"/>
              </a:rPr>
              <a:t> dimensionar elementos en función de la altura de la ventana del navegador</a:t>
            </a:r>
            <a:r>
              <a:rPr lang="es" sz="1450">
                <a:solidFill>
                  <a:srgbClr val="2C3862"/>
                </a:solidFill>
                <a:latin typeface="Roboto"/>
                <a:ea typeface="Roboto"/>
                <a:cs typeface="Roboto"/>
                <a:sym typeface="Roboto"/>
              </a:rPr>
              <a:t>.</a:t>
            </a:r>
            <a:endParaRPr sz="1450">
              <a:solidFill>
                <a:srgbClr val="2C3862"/>
              </a:solidFill>
              <a:latin typeface="Roboto"/>
              <a:ea typeface="Roboto"/>
              <a:cs typeface="Roboto"/>
              <a:sym typeface="Roboto"/>
            </a:endParaRPr>
          </a:p>
          <a:p>
            <a:pPr indent="0" lvl="0" marL="457200" rtl="0" algn="l">
              <a:lnSpc>
                <a:spcPct val="115000"/>
              </a:lnSpc>
              <a:spcBef>
                <a:spcPts val="1900"/>
              </a:spcBef>
              <a:spcAft>
                <a:spcPts val="0"/>
              </a:spcAft>
              <a:buSzPts val="1800"/>
              <a:buNone/>
            </a:pPr>
            <a:r>
              <a:t/>
            </a:r>
            <a:endParaRPr sz="1450">
              <a:solidFill>
                <a:srgbClr val="2C3862"/>
              </a:solidFill>
              <a:latin typeface="Roboto"/>
              <a:ea typeface="Roboto"/>
              <a:cs typeface="Roboto"/>
              <a:sym typeface="Roboto"/>
            </a:endParaRPr>
          </a:p>
          <a:p>
            <a:pPr indent="-320675" lvl="0" marL="749300" rtl="0" algn="l">
              <a:lnSpc>
                <a:spcPct val="115000"/>
              </a:lnSpc>
              <a:spcBef>
                <a:spcPts val="1900"/>
              </a:spcBef>
              <a:spcAft>
                <a:spcPts val="0"/>
              </a:spcAft>
              <a:buClr>
                <a:srgbClr val="2C3862"/>
              </a:buClr>
              <a:buSzPts val="1450"/>
              <a:buFont typeface="Roboto"/>
              <a:buChar char="●"/>
            </a:pPr>
            <a:r>
              <a:rPr b="1" lang="es" sz="1450">
                <a:solidFill>
                  <a:srgbClr val="2C3862"/>
                </a:solidFill>
                <a:latin typeface="Roboto"/>
                <a:ea typeface="Roboto"/>
                <a:cs typeface="Roboto"/>
                <a:sym typeface="Roboto"/>
              </a:rPr>
              <a:t>vw (Viewport Width):</a:t>
            </a:r>
            <a:r>
              <a:rPr lang="es" sz="1450">
                <a:solidFill>
                  <a:srgbClr val="2C3862"/>
                </a:solidFill>
                <a:latin typeface="Roboto"/>
                <a:ea typeface="Roboto"/>
                <a:cs typeface="Roboto"/>
                <a:sym typeface="Roboto"/>
              </a:rPr>
              <a:t> Por otro lado, una unidad vw representa el </a:t>
            </a:r>
            <a:r>
              <a:rPr b="1" lang="es" sz="1450">
                <a:solidFill>
                  <a:srgbClr val="2C3862"/>
                </a:solidFill>
                <a:latin typeface="Roboto"/>
                <a:ea typeface="Roboto"/>
                <a:cs typeface="Roboto"/>
                <a:sym typeface="Roboto"/>
              </a:rPr>
              <a:t>1% del ancho del viewport.</a:t>
            </a:r>
            <a:r>
              <a:rPr lang="es" sz="1450">
                <a:solidFill>
                  <a:srgbClr val="2C3862"/>
                </a:solidFill>
                <a:latin typeface="Roboto"/>
                <a:ea typeface="Roboto"/>
                <a:cs typeface="Roboto"/>
                <a:sym typeface="Roboto"/>
              </a:rPr>
              <a:t> Así, 1vw es igual al 1% del ancho total del viewport del usuario. Esta unidad es especialmente útil para</a:t>
            </a:r>
            <a:r>
              <a:rPr b="1" lang="es" sz="1450">
                <a:solidFill>
                  <a:srgbClr val="2C3862"/>
                </a:solidFill>
                <a:latin typeface="Roboto"/>
                <a:ea typeface="Roboto"/>
                <a:cs typeface="Roboto"/>
                <a:sym typeface="Roboto"/>
              </a:rPr>
              <a:t> dimensionar elementos en función del ancho de la ventana del navegador</a:t>
            </a:r>
            <a:r>
              <a:rPr lang="es" sz="1450">
                <a:solidFill>
                  <a:srgbClr val="2C3862"/>
                </a:solidFill>
                <a:latin typeface="Roboto"/>
                <a:ea typeface="Roboto"/>
                <a:cs typeface="Roboto"/>
                <a:sym typeface="Roboto"/>
              </a:rPr>
              <a:t>.</a:t>
            </a:r>
            <a:endParaRPr sz="19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Unidades de medida</a:t>
            </a:r>
            <a:endParaRPr/>
          </a:p>
          <a:p>
            <a:pPr indent="0" lvl="0" marL="0" rtl="0" algn="l">
              <a:lnSpc>
                <a:spcPct val="100000"/>
              </a:lnSpc>
              <a:spcBef>
                <a:spcPts val="0"/>
              </a:spcBef>
              <a:spcAft>
                <a:spcPts val="0"/>
              </a:spcAft>
              <a:buSzPct val="111111"/>
              <a:buNone/>
            </a:pPr>
            <a:r>
              <a:rPr lang="es"/>
              <a:t>4.4. Unidades vh y vw en CSS</a:t>
            </a:r>
            <a:endParaRPr/>
          </a:p>
          <a:p>
            <a:pPr indent="0" lvl="0" marL="0" rtl="0" algn="l">
              <a:lnSpc>
                <a:spcPct val="100000"/>
              </a:lnSpc>
              <a:spcBef>
                <a:spcPts val="0"/>
              </a:spcBef>
              <a:spcAft>
                <a:spcPts val="0"/>
              </a:spcAft>
              <a:buSzPct val="111111"/>
              <a:buNone/>
            </a:pPr>
            <a:r>
              <a:t/>
            </a:r>
            <a:endParaRPr/>
          </a:p>
        </p:txBody>
      </p:sp>
      <p:sp>
        <p:nvSpPr>
          <p:cNvPr id="143" name="Google Shape;143;p14"/>
          <p:cNvSpPr txBox="1"/>
          <p:nvPr>
            <p:ph idx="1" type="body"/>
          </p:nvPr>
        </p:nvSpPr>
        <p:spPr>
          <a:xfrm>
            <a:off x="311700" y="1477100"/>
            <a:ext cx="8520600" cy="3091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400">
                <a:solidFill>
                  <a:srgbClr val="000000"/>
                </a:solidFill>
                <a:latin typeface="Arial"/>
                <a:ea typeface="Arial"/>
                <a:cs typeface="Arial"/>
                <a:sym typeface="Arial"/>
              </a:rPr>
              <a:t>Las unidades vh y vw se suelen usar para dimensionar alturas, anchuras o márgenes:</a:t>
            </a:r>
            <a:endParaRPr sz="1400">
              <a:solidFill>
                <a:srgbClr val="000000"/>
              </a:solidFill>
              <a:latin typeface="Arial"/>
              <a:ea typeface="Arial"/>
              <a:cs typeface="Arial"/>
              <a:sym typeface="Arial"/>
            </a:endParaRPr>
          </a:p>
          <a:p>
            <a:pPr indent="-317500" lvl="0" marL="749300" rtl="0" algn="l">
              <a:lnSpc>
                <a:spcPct val="115000"/>
              </a:lnSpc>
              <a:spcBef>
                <a:spcPts val="1100"/>
              </a:spcBef>
              <a:spcAft>
                <a:spcPts val="0"/>
              </a:spcAft>
              <a:buClr>
                <a:srgbClr val="2C3862"/>
              </a:buClr>
              <a:buSzPts val="1400"/>
              <a:buFont typeface="Arial"/>
              <a:buChar char="●"/>
            </a:pPr>
            <a:r>
              <a:rPr b="1" lang="es" sz="1400">
                <a:solidFill>
                  <a:srgbClr val="2C3862"/>
                </a:solidFill>
                <a:latin typeface="Arial"/>
                <a:ea typeface="Arial"/>
                <a:cs typeface="Arial"/>
                <a:sym typeface="Arial"/>
              </a:rPr>
              <a:t>Dimensionamiento de altura y anchura:</a:t>
            </a:r>
            <a:r>
              <a:rPr lang="es" sz="1400">
                <a:solidFill>
                  <a:srgbClr val="2C3862"/>
                </a:solidFill>
                <a:latin typeface="Arial"/>
                <a:ea typeface="Arial"/>
                <a:cs typeface="Arial"/>
                <a:sym typeface="Arial"/>
              </a:rPr>
              <a:t> Se pueden especificar valores de altura y anchura utilizando vh y vw, lo que permite crear diseños que se escalan automáticamente según el tamaño de la ventana del navegador.</a:t>
            </a:r>
            <a:endParaRPr sz="1400">
              <a:solidFill>
                <a:srgbClr val="2C3862"/>
              </a:solidFill>
              <a:latin typeface="Arial"/>
              <a:ea typeface="Arial"/>
              <a:cs typeface="Arial"/>
              <a:sym typeface="Arial"/>
            </a:endParaRPr>
          </a:p>
          <a:p>
            <a:pPr indent="0" lvl="0" marL="0" rtl="0" algn="l">
              <a:lnSpc>
                <a:spcPct val="115000"/>
              </a:lnSpc>
              <a:spcBef>
                <a:spcPts val="1900"/>
              </a:spcBef>
              <a:spcAft>
                <a:spcPts val="0"/>
              </a:spcAft>
              <a:buSzPts val="1800"/>
              <a:buNone/>
            </a:pPr>
            <a:br>
              <a:rPr lang="es" sz="1400">
                <a:solidFill>
                  <a:srgbClr val="2C3862"/>
                </a:solidFill>
                <a:latin typeface="Arial"/>
                <a:ea typeface="Arial"/>
                <a:cs typeface="Arial"/>
                <a:sym typeface="Arial"/>
              </a:rPr>
            </a:br>
            <a:endParaRPr sz="1400">
              <a:solidFill>
                <a:srgbClr val="2C3862"/>
              </a:solidFill>
              <a:latin typeface="Arial"/>
              <a:ea typeface="Arial"/>
              <a:cs typeface="Arial"/>
              <a:sym typeface="Arial"/>
            </a:endParaRPr>
          </a:p>
          <a:p>
            <a:pPr indent="-304800" lvl="0" marL="749300" rtl="0" algn="l">
              <a:lnSpc>
                <a:spcPct val="115000"/>
              </a:lnSpc>
              <a:spcBef>
                <a:spcPts val="1900"/>
              </a:spcBef>
              <a:spcAft>
                <a:spcPts val="0"/>
              </a:spcAft>
              <a:buClr>
                <a:srgbClr val="2C3862"/>
              </a:buClr>
              <a:buSzPts val="1200"/>
              <a:buFont typeface="Courier New"/>
              <a:buChar char="●"/>
            </a:pPr>
            <a:r>
              <a:rPr b="1" lang="es" sz="1400">
                <a:solidFill>
                  <a:srgbClr val="2C3862"/>
                </a:solidFill>
                <a:latin typeface="Arial"/>
                <a:ea typeface="Arial"/>
                <a:cs typeface="Arial"/>
                <a:sym typeface="Arial"/>
              </a:rPr>
              <a:t>Espaciado vertical y horizontal:</a:t>
            </a:r>
            <a:r>
              <a:rPr lang="es" sz="1400">
                <a:solidFill>
                  <a:srgbClr val="2C3862"/>
                </a:solidFill>
                <a:latin typeface="Arial"/>
                <a:ea typeface="Arial"/>
                <a:cs typeface="Arial"/>
                <a:sym typeface="Arial"/>
              </a:rPr>
              <a:t> Se pueden definir márgenes y espaciados utilizando vh y vw, lo que garantiza que los elementos mantengan proporciones adecuadas en diferentes tamaños de pantalla.</a:t>
            </a:r>
            <a:endParaRPr sz="1400">
              <a:solidFill>
                <a:srgbClr val="2C3862"/>
              </a:solidFill>
              <a:latin typeface="Arial"/>
              <a:ea typeface="Arial"/>
              <a:cs typeface="Arial"/>
              <a:sym typeface="Arial"/>
            </a:endParaRPr>
          </a:p>
        </p:txBody>
      </p:sp>
      <p:pic>
        <p:nvPicPr>
          <p:cNvPr id="144" name="Google Shape;144;p14"/>
          <p:cNvPicPr preferRelativeResize="0"/>
          <p:nvPr/>
        </p:nvPicPr>
        <p:blipFill rotWithShape="1">
          <a:blip r:embed="rId3">
            <a:alphaModFix/>
          </a:blip>
          <a:srcRect b="0" l="0" r="0" t="0"/>
          <a:stretch/>
        </p:blipFill>
        <p:spPr>
          <a:xfrm>
            <a:off x="1494700" y="2702475"/>
            <a:ext cx="6605926" cy="828950"/>
          </a:xfrm>
          <a:prstGeom prst="rect">
            <a:avLst/>
          </a:prstGeom>
          <a:noFill/>
          <a:ln>
            <a:noFill/>
          </a:ln>
        </p:spPr>
      </p:pic>
      <p:pic>
        <p:nvPicPr>
          <p:cNvPr id="145" name="Google Shape;145;p14"/>
          <p:cNvPicPr preferRelativeResize="0"/>
          <p:nvPr/>
        </p:nvPicPr>
        <p:blipFill rotWithShape="1">
          <a:blip r:embed="rId4">
            <a:alphaModFix/>
          </a:blip>
          <a:srcRect b="0" l="0" r="0" t="0"/>
          <a:stretch/>
        </p:blipFill>
        <p:spPr>
          <a:xfrm>
            <a:off x="1594817" y="4269675"/>
            <a:ext cx="6405685" cy="8738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Unidades de medida</a:t>
            </a:r>
            <a:endParaRPr/>
          </a:p>
          <a:p>
            <a:pPr indent="0" lvl="0" marL="0" rtl="0" algn="l">
              <a:lnSpc>
                <a:spcPct val="100000"/>
              </a:lnSpc>
              <a:spcBef>
                <a:spcPts val="0"/>
              </a:spcBef>
              <a:spcAft>
                <a:spcPts val="0"/>
              </a:spcAft>
              <a:buSzPct val="111111"/>
              <a:buNone/>
            </a:pPr>
            <a:r>
              <a:rPr lang="es"/>
              <a:t>4.4. Unidades vh y vw en CSS</a:t>
            </a:r>
            <a:endParaRPr/>
          </a:p>
          <a:p>
            <a:pPr indent="0" lvl="0" marL="0" rtl="0" algn="l">
              <a:lnSpc>
                <a:spcPct val="100000"/>
              </a:lnSpc>
              <a:spcBef>
                <a:spcPts val="0"/>
              </a:spcBef>
              <a:spcAft>
                <a:spcPts val="0"/>
              </a:spcAft>
              <a:buSzPct val="111111"/>
              <a:buNone/>
            </a:pPr>
            <a:r>
              <a:t/>
            </a:r>
            <a:endParaRPr/>
          </a:p>
        </p:txBody>
      </p:sp>
      <p:sp>
        <p:nvSpPr>
          <p:cNvPr id="151" name="Google Shape;151;p15"/>
          <p:cNvSpPr txBox="1"/>
          <p:nvPr>
            <p:ph idx="1" type="body"/>
          </p:nvPr>
        </p:nvSpPr>
        <p:spPr>
          <a:xfrm>
            <a:off x="311700" y="1371600"/>
            <a:ext cx="8520600" cy="3197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350" u="sng">
                <a:solidFill>
                  <a:srgbClr val="000000"/>
                </a:solidFill>
                <a:latin typeface="Roboto"/>
                <a:ea typeface="Roboto"/>
                <a:cs typeface="Roboto"/>
                <a:sym typeface="Roboto"/>
              </a:rPr>
              <a:t>La diferencia principal entre usar vh, vw y % </a:t>
            </a:r>
            <a:r>
              <a:rPr lang="es" sz="1350">
                <a:solidFill>
                  <a:srgbClr val="000000"/>
                </a:solidFill>
                <a:latin typeface="Roboto"/>
                <a:ea typeface="Roboto"/>
                <a:cs typeface="Roboto"/>
                <a:sym typeface="Roboto"/>
              </a:rPr>
              <a:t>radica en la referencia de dimensionamiento. </a:t>
            </a:r>
            <a:endParaRPr sz="1350">
              <a:solidFill>
                <a:srgbClr val="000000"/>
              </a:solidFill>
              <a:latin typeface="Roboto"/>
              <a:ea typeface="Roboto"/>
              <a:cs typeface="Roboto"/>
              <a:sym typeface="Roboto"/>
            </a:endParaRPr>
          </a:p>
          <a:p>
            <a:pPr indent="-314325" lvl="0" marL="457200" rtl="0" algn="l">
              <a:lnSpc>
                <a:spcPct val="115000"/>
              </a:lnSpc>
              <a:spcBef>
                <a:spcPts val="1100"/>
              </a:spcBef>
              <a:spcAft>
                <a:spcPts val="0"/>
              </a:spcAft>
              <a:buClr>
                <a:srgbClr val="000000"/>
              </a:buClr>
              <a:buSzPts val="1350"/>
              <a:buFont typeface="Roboto"/>
              <a:buChar char="●"/>
            </a:pPr>
            <a:r>
              <a:rPr b="1" lang="es" sz="1350">
                <a:solidFill>
                  <a:srgbClr val="000000"/>
                </a:solidFill>
                <a:latin typeface="Roboto"/>
                <a:ea typeface="Roboto"/>
                <a:cs typeface="Roboto"/>
                <a:sym typeface="Roboto"/>
              </a:rPr>
              <a:t>% se basa en el tamaño del elemento contenedor</a:t>
            </a:r>
            <a:endParaRPr sz="1350">
              <a:solidFill>
                <a:srgbClr val="000000"/>
              </a:solidFill>
              <a:latin typeface="Roboto"/>
              <a:ea typeface="Roboto"/>
              <a:cs typeface="Roboto"/>
              <a:sym typeface="Roboto"/>
            </a:endParaRPr>
          </a:p>
          <a:p>
            <a:pPr indent="-314325" lvl="0" marL="457200" rtl="0" algn="l">
              <a:lnSpc>
                <a:spcPct val="115000"/>
              </a:lnSpc>
              <a:spcBef>
                <a:spcPts val="0"/>
              </a:spcBef>
              <a:spcAft>
                <a:spcPts val="0"/>
              </a:spcAft>
              <a:buClr>
                <a:srgbClr val="000000"/>
              </a:buClr>
              <a:buSzPts val="1350"/>
              <a:buFont typeface="Roboto"/>
              <a:buChar char="●"/>
            </a:pPr>
            <a:r>
              <a:rPr b="1" lang="es" sz="1350">
                <a:solidFill>
                  <a:srgbClr val="000000"/>
                </a:solidFill>
                <a:latin typeface="Roboto"/>
                <a:ea typeface="Roboto"/>
                <a:cs typeface="Roboto"/>
                <a:sym typeface="Roboto"/>
              </a:rPr>
              <a:t>vh y vw se refieren al tamaño del viewport (área visible del navegador)</a:t>
            </a:r>
            <a:r>
              <a:rPr lang="es" sz="1350">
                <a:solidFill>
                  <a:srgbClr val="000000"/>
                </a:solidFill>
                <a:latin typeface="Roboto"/>
                <a:ea typeface="Roboto"/>
                <a:cs typeface="Roboto"/>
                <a:sym typeface="Roboto"/>
              </a:rPr>
              <a:t>.</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0"/>
              </a:spcAft>
              <a:buSzPts val="1800"/>
              <a:buNone/>
            </a:pPr>
            <a:r>
              <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latin typeface="Roboto"/>
                <a:ea typeface="Roboto"/>
                <a:cs typeface="Roboto"/>
                <a:sym typeface="Roboto"/>
              </a:rPr>
              <a:t>Por ejemplo, si un elemento tiene una altura del 50% en relación con su contenedor, esta altura cambiará si el contenedor cambia de tamaño. En cambio, si se establece una altura del 50vh para un elemento, esta altura será siempre el 50% del alto del viewport, independientemente del tamaño del contenedor. Lo mismo se aplica al ancho con vw.</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1200"/>
              </a:spcAft>
              <a:buSzPts val="1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Unidades de medida</a:t>
            </a:r>
            <a:endParaRPr/>
          </a:p>
          <a:p>
            <a:pPr indent="0" lvl="0" marL="0" rtl="0" algn="l">
              <a:lnSpc>
                <a:spcPct val="100000"/>
              </a:lnSpc>
              <a:spcBef>
                <a:spcPts val="0"/>
              </a:spcBef>
              <a:spcAft>
                <a:spcPts val="0"/>
              </a:spcAft>
              <a:buSzPct val="111111"/>
              <a:buNone/>
            </a:pPr>
            <a:r>
              <a:rPr lang="es"/>
              <a:t>4.4. Unidades vh y vw en CSS. EJEMPLOS</a:t>
            </a:r>
            <a:endParaRPr/>
          </a:p>
          <a:p>
            <a:pPr indent="0" lvl="0" marL="0" rtl="0" algn="l">
              <a:lnSpc>
                <a:spcPct val="100000"/>
              </a:lnSpc>
              <a:spcBef>
                <a:spcPts val="0"/>
              </a:spcBef>
              <a:spcAft>
                <a:spcPts val="0"/>
              </a:spcAft>
              <a:buSzPct val="111111"/>
              <a:buNone/>
            </a:pPr>
            <a:r>
              <a:t/>
            </a:r>
            <a:endParaRPr/>
          </a:p>
        </p:txBody>
      </p:sp>
      <p:sp>
        <p:nvSpPr>
          <p:cNvPr id="157" name="Google Shape;157;p16"/>
          <p:cNvSpPr txBox="1"/>
          <p:nvPr>
            <p:ph idx="1" type="body"/>
          </p:nvPr>
        </p:nvSpPr>
        <p:spPr>
          <a:xfrm>
            <a:off x="311700" y="1450725"/>
            <a:ext cx="8520600" cy="3118200"/>
          </a:xfrm>
          <a:prstGeom prst="rect">
            <a:avLst/>
          </a:prstGeom>
          <a:noFill/>
          <a:ln>
            <a:noFill/>
          </a:ln>
        </p:spPr>
        <p:txBody>
          <a:bodyPr anchorCtr="0" anchor="t" bIns="91425" lIns="91425" spcFirstLastPara="1" rIns="91425" wrap="square" tIns="91425">
            <a:normAutofit lnSpcReduction="20000"/>
          </a:bodyPr>
          <a:lstStyle/>
          <a:p>
            <a:pPr indent="-336550" lvl="0" marL="457200" rtl="0" algn="l">
              <a:lnSpc>
                <a:spcPct val="127358"/>
              </a:lnSpc>
              <a:spcBef>
                <a:spcPts val="0"/>
              </a:spcBef>
              <a:spcAft>
                <a:spcPts val="0"/>
              </a:spcAft>
              <a:buClr>
                <a:srgbClr val="232B46"/>
              </a:buClr>
              <a:buSzPts val="1700"/>
              <a:buFont typeface="Roboto"/>
              <a:buChar char="●"/>
            </a:pPr>
            <a:r>
              <a:rPr b="1" lang="es" sz="1700">
                <a:solidFill>
                  <a:srgbClr val="232B46"/>
                </a:solidFill>
                <a:latin typeface="Roboto"/>
                <a:ea typeface="Roboto"/>
                <a:cs typeface="Roboto"/>
                <a:sym typeface="Roboto"/>
              </a:rPr>
              <a:t>Centrar verticalmente un texto según el tamaño del viewport (con line-height)</a:t>
            </a:r>
            <a:endParaRPr b="1" sz="1700">
              <a:solidFill>
                <a:srgbClr val="232B46"/>
              </a:solidFill>
              <a:latin typeface="Roboto"/>
              <a:ea typeface="Roboto"/>
              <a:cs typeface="Roboto"/>
              <a:sym typeface="Roboto"/>
            </a:endParaRPr>
          </a:p>
          <a:p>
            <a:pPr indent="-346075" lvl="1" marL="914400" rtl="0" algn="l">
              <a:lnSpc>
                <a:spcPct val="127358"/>
              </a:lnSpc>
              <a:spcBef>
                <a:spcPts val="0"/>
              </a:spcBef>
              <a:spcAft>
                <a:spcPts val="0"/>
              </a:spcAft>
              <a:buSzPts val="1850"/>
              <a:buFont typeface="Roboto"/>
              <a:buChar char="○"/>
            </a:pPr>
            <a:r>
              <a:rPr b="1" lang="es" sz="1850" u="sng">
                <a:solidFill>
                  <a:schemeClr val="hlink"/>
                </a:solidFill>
                <a:latin typeface="Roboto"/>
                <a:ea typeface="Roboto"/>
                <a:cs typeface="Roboto"/>
                <a:sym typeface="Roboto"/>
                <a:hlinkClick r:id="rId3"/>
              </a:rPr>
              <a:t>https://codepen.io/Eniun/pen/mdggOdO</a:t>
            </a:r>
            <a:r>
              <a:rPr b="1" lang="es" sz="1850">
                <a:solidFill>
                  <a:srgbClr val="232B46"/>
                </a:solidFill>
                <a:latin typeface="Roboto"/>
                <a:ea typeface="Roboto"/>
                <a:cs typeface="Roboto"/>
                <a:sym typeface="Roboto"/>
              </a:rPr>
              <a:t> </a:t>
            </a:r>
            <a:endParaRPr b="1" sz="1850">
              <a:solidFill>
                <a:srgbClr val="232B46"/>
              </a:solidFill>
              <a:latin typeface="Roboto"/>
              <a:ea typeface="Roboto"/>
              <a:cs typeface="Roboto"/>
              <a:sym typeface="Roboto"/>
            </a:endParaRPr>
          </a:p>
          <a:p>
            <a:pPr indent="-346075" lvl="0" marL="457200" rtl="0" algn="l">
              <a:lnSpc>
                <a:spcPct val="127358"/>
              </a:lnSpc>
              <a:spcBef>
                <a:spcPts val="0"/>
              </a:spcBef>
              <a:spcAft>
                <a:spcPts val="0"/>
              </a:spcAft>
              <a:buSzPts val="1850"/>
              <a:buFont typeface="Roboto"/>
              <a:buChar char="●"/>
            </a:pPr>
            <a:r>
              <a:rPr b="1" lang="es" sz="1750">
                <a:solidFill>
                  <a:srgbClr val="232B46"/>
                </a:solidFill>
                <a:latin typeface="Roboto"/>
                <a:ea typeface="Roboto"/>
                <a:cs typeface="Roboto"/>
                <a:sym typeface="Roboto"/>
              </a:rPr>
              <a:t>Centrar cualquier elemento según el ancho del viewport (con propiedad transform)</a:t>
            </a:r>
            <a:endParaRPr b="1" sz="1750">
              <a:solidFill>
                <a:srgbClr val="232B46"/>
              </a:solidFill>
              <a:latin typeface="Roboto"/>
              <a:ea typeface="Roboto"/>
              <a:cs typeface="Roboto"/>
              <a:sym typeface="Roboto"/>
            </a:endParaRPr>
          </a:p>
          <a:p>
            <a:pPr indent="-339725" lvl="1" marL="914400" rtl="0" algn="l">
              <a:lnSpc>
                <a:spcPct val="127358"/>
              </a:lnSpc>
              <a:spcBef>
                <a:spcPts val="0"/>
              </a:spcBef>
              <a:spcAft>
                <a:spcPts val="0"/>
              </a:spcAft>
              <a:buClr>
                <a:srgbClr val="232B46"/>
              </a:buClr>
              <a:buSzPts val="1750"/>
              <a:buFont typeface="Roboto"/>
              <a:buChar char="○"/>
            </a:pPr>
            <a:r>
              <a:rPr b="1" lang="es" sz="1750" u="sng">
                <a:solidFill>
                  <a:schemeClr val="hlink"/>
                </a:solidFill>
                <a:latin typeface="Roboto"/>
                <a:ea typeface="Roboto"/>
                <a:cs typeface="Roboto"/>
                <a:sym typeface="Roboto"/>
                <a:hlinkClick r:id="rId4"/>
              </a:rPr>
              <a:t>https://codepen.io/Eniun/pen/ZEZNEmp</a:t>
            </a:r>
            <a:r>
              <a:rPr b="1" lang="es" sz="1750">
                <a:solidFill>
                  <a:srgbClr val="232B46"/>
                </a:solidFill>
                <a:latin typeface="Roboto"/>
                <a:ea typeface="Roboto"/>
                <a:cs typeface="Roboto"/>
                <a:sym typeface="Roboto"/>
              </a:rPr>
              <a:t> </a:t>
            </a:r>
            <a:endParaRPr b="1" sz="1750">
              <a:solidFill>
                <a:srgbClr val="232B46"/>
              </a:solidFill>
              <a:latin typeface="Roboto"/>
              <a:ea typeface="Roboto"/>
              <a:cs typeface="Roboto"/>
              <a:sym typeface="Roboto"/>
            </a:endParaRPr>
          </a:p>
          <a:p>
            <a:pPr indent="-339725" lvl="0" marL="457200" rtl="0" algn="l">
              <a:lnSpc>
                <a:spcPct val="127358"/>
              </a:lnSpc>
              <a:spcBef>
                <a:spcPts val="0"/>
              </a:spcBef>
              <a:spcAft>
                <a:spcPts val="0"/>
              </a:spcAft>
              <a:buClr>
                <a:srgbClr val="232B46"/>
              </a:buClr>
              <a:buSzPts val="1750"/>
              <a:buFont typeface="Roboto"/>
              <a:buChar char="●"/>
            </a:pPr>
            <a:r>
              <a:rPr b="1" lang="es" sz="1750">
                <a:solidFill>
                  <a:srgbClr val="232B46"/>
                </a:solidFill>
                <a:latin typeface="Roboto"/>
                <a:ea typeface="Roboto"/>
                <a:cs typeface="Roboto"/>
                <a:sym typeface="Roboto"/>
              </a:rPr>
              <a:t>Diseño de footer fijo en la parte inferior del viewport solo si hay poco contenido</a:t>
            </a:r>
            <a:endParaRPr b="1" sz="1750">
              <a:solidFill>
                <a:srgbClr val="232B46"/>
              </a:solidFill>
              <a:latin typeface="Roboto"/>
              <a:ea typeface="Roboto"/>
              <a:cs typeface="Roboto"/>
              <a:sym typeface="Roboto"/>
            </a:endParaRPr>
          </a:p>
          <a:p>
            <a:pPr indent="-339725" lvl="1" marL="914400" rtl="0" algn="l">
              <a:lnSpc>
                <a:spcPct val="127358"/>
              </a:lnSpc>
              <a:spcBef>
                <a:spcPts val="0"/>
              </a:spcBef>
              <a:spcAft>
                <a:spcPts val="0"/>
              </a:spcAft>
              <a:buClr>
                <a:srgbClr val="232B46"/>
              </a:buClr>
              <a:buSzPts val="1750"/>
              <a:buFont typeface="Roboto"/>
              <a:buChar char="○"/>
            </a:pPr>
            <a:r>
              <a:rPr b="1" lang="es" sz="1750" u="sng">
                <a:solidFill>
                  <a:schemeClr val="hlink"/>
                </a:solidFill>
                <a:latin typeface="Roboto"/>
                <a:ea typeface="Roboto"/>
                <a:cs typeface="Roboto"/>
                <a:sym typeface="Roboto"/>
                <a:hlinkClick r:id="rId5"/>
              </a:rPr>
              <a:t>https://codepen.io/Eniun/pen/rNbbErW</a:t>
            </a:r>
            <a:r>
              <a:rPr b="1" lang="es" sz="1750">
                <a:solidFill>
                  <a:srgbClr val="232B46"/>
                </a:solidFill>
                <a:latin typeface="Roboto"/>
                <a:ea typeface="Roboto"/>
                <a:cs typeface="Roboto"/>
                <a:sym typeface="Roboto"/>
              </a:rPr>
              <a:t> </a:t>
            </a:r>
            <a:endParaRPr b="1" sz="1750">
              <a:solidFill>
                <a:srgbClr val="232B46"/>
              </a:solidFill>
              <a:latin typeface="Roboto"/>
              <a:ea typeface="Roboto"/>
              <a:cs typeface="Roboto"/>
              <a:sym typeface="Roboto"/>
            </a:endParaRPr>
          </a:p>
          <a:p>
            <a:pPr indent="0" lvl="0" marL="0" rtl="0" algn="l">
              <a:lnSpc>
                <a:spcPct val="115000"/>
              </a:lnSpc>
              <a:spcBef>
                <a:spcPts val="1100"/>
              </a:spcBef>
              <a:spcAft>
                <a:spcPts val="1200"/>
              </a:spcAft>
              <a:buSzPts val="18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 Colores y fondo en CSS</a:t>
            </a:r>
            <a:endParaRPr/>
          </a:p>
          <a:p>
            <a:pPr indent="0" lvl="0" marL="0" rtl="0" algn="l">
              <a:lnSpc>
                <a:spcPct val="100000"/>
              </a:lnSpc>
              <a:spcBef>
                <a:spcPts val="0"/>
              </a:spcBef>
              <a:spcAft>
                <a:spcPts val="0"/>
              </a:spcAft>
              <a:buSzPct val="111111"/>
              <a:buNone/>
            </a:pPr>
            <a:r>
              <a:rPr lang="es"/>
              <a:t>5.1. Valores de los colores</a:t>
            </a:r>
            <a:endParaRPr/>
          </a:p>
          <a:p>
            <a:pPr indent="0" lvl="0" marL="0" rtl="0" algn="l">
              <a:lnSpc>
                <a:spcPct val="100000"/>
              </a:lnSpc>
              <a:spcBef>
                <a:spcPts val="0"/>
              </a:spcBef>
              <a:spcAft>
                <a:spcPts val="0"/>
              </a:spcAft>
              <a:buSzPct val="111111"/>
              <a:buNone/>
            </a:pPr>
            <a:r>
              <a:t/>
            </a:r>
            <a:endParaRPr/>
          </a:p>
        </p:txBody>
      </p:sp>
      <p:sp>
        <p:nvSpPr>
          <p:cNvPr id="163" name="Google Shape;163;p17"/>
          <p:cNvSpPr txBox="1"/>
          <p:nvPr>
            <p:ph idx="1" type="body"/>
          </p:nvPr>
        </p:nvSpPr>
        <p:spPr>
          <a:xfrm>
            <a:off x="311700" y="1346125"/>
            <a:ext cx="8520600" cy="3222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350">
                <a:solidFill>
                  <a:srgbClr val="000000"/>
                </a:solidFill>
                <a:latin typeface="Roboto"/>
                <a:ea typeface="Roboto"/>
                <a:cs typeface="Roboto"/>
                <a:sym typeface="Roboto"/>
              </a:rPr>
              <a:t>Los valores de los </a:t>
            </a:r>
            <a:r>
              <a:rPr b="1" lang="es" sz="1350">
                <a:solidFill>
                  <a:srgbClr val="000000"/>
                </a:solidFill>
                <a:latin typeface="Roboto"/>
                <a:ea typeface="Roboto"/>
                <a:cs typeface="Roboto"/>
                <a:sym typeface="Roboto"/>
              </a:rPr>
              <a:t>colores </a:t>
            </a:r>
            <a:r>
              <a:rPr lang="es" sz="1350">
                <a:solidFill>
                  <a:srgbClr val="000000"/>
                </a:solidFill>
                <a:latin typeface="Roboto"/>
                <a:ea typeface="Roboto"/>
                <a:cs typeface="Roboto"/>
                <a:sym typeface="Roboto"/>
              </a:rPr>
              <a:t>se pueden definir de varias formas: </a:t>
            </a:r>
            <a:endParaRPr sz="1350">
              <a:solidFill>
                <a:srgbClr val="000000"/>
              </a:solidFill>
              <a:latin typeface="Roboto"/>
              <a:ea typeface="Roboto"/>
              <a:cs typeface="Roboto"/>
              <a:sym typeface="Roboto"/>
            </a:endParaRPr>
          </a:p>
          <a:p>
            <a:pPr indent="-314325" lvl="0" marL="749300" rtl="0" algn="l">
              <a:lnSpc>
                <a:spcPct val="115000"/>
              </a:lnSpc>
              <a:spcBef>
                <a:spcPts val="1100"/>
              </a:spcBef>
              <a:spcAft>
                <a:spcPts val="0"/>
              </a:spcAft>
              <a:buClr>
                <a:srgbClr val="2C3862"/>
              </a:buClr>
              <a:buSzPts val="1350"/>
              <a:buFont typeface="Roboto"/>
              <a:buChar char="●"/>
            </a:pPr>
            <a:r>
              <a:rPr b="1" lang="es" sz="1350">
                <a:solidFill>
                  <a:srgbClr val="2C3862"/>
                </a:solidFill>
                <a:latin typeface="Roboto"/>
                <a:ea typeface="Roboto"/>
                <a:cs typeface="Roboto"/>
                <a:sym typeface="Roboto"/>
              </a:rPr>
              <a:t>Nombre predefinido</a:t>
            </a:r>
            <a:r>
              <a:rPr lang="es" sz="1350">
                <a:solidFill>
                  <a:srgbClr val="2C3862"/>
                </a:solidFill>
                <a:latin typeface="Roboto"/>
                <a:ea typeface="Roboto"/>
                <a:cs typeface="Roboto"/>
                <a:sym typeface="Roboto"/>
              </a:rPr>
              <a:t>: red, yellow, blue, green… </a:t>
            </a:r>
            <a:endParaRPr sz="1350">
              <a:solidFill>
                <a:srgbClr val="2C3862"/>
              </a:solidFill>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Char char="●"/>
            </a:pPr>
            <a:r>
              <a:rPr b="1" lang="es" sz="1350">
                <a:solidFill>
                  <a:srgbClr val="2C3862"/>
                </a:solidFill>
                <a:latin typeface="Roboto"/>
                <a:ea typeface="Roboto"/>
                <a:cs typeface="Roboto"/>
                <a:sym typeface="Roboto"/>
              </a:rPr>
              <a:t>Código hexadecimal</a:t>
            </a:r>
            <a:r>
              <a:rPr lang="es" sz="1350">
                <a:solidFill>
                  <a:srgbClr val="2C3862"/>
                </a:solidFill>
                <a:latin typeface="Roboto"/>
                <a:ea typeface="Roboto"/>
                <a:cs typeface="Roboto"/>
                <a:sym typeface="Roboto"/>
              </a:rPr>
              <a:t>: #RRGGBB o #RRGGBBAA</a:t>
            </a:r>
            <a:endParaRPr sz="1350">
              <a:solidFill>
                <a:srgbClr val="2C3862"/>
              </a:solidFill>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Char char="●"/>
            </a:pPr>
            <a:r>
              <a:rPr b="1" lang="es" sz="1350">
                <a:solidFill>
                  <a:srgbClr val="2C3862"/>
                </a:solidFill>
                <a:latin typeface="Roboto"/>
                <a:ea typeface="Roboto"/>
                <a:cs typeface="Roboto"/>
                <a:sym typeface="Roboto"/>
              </a:rPr>
              <a:t>RGB</a:t>
            </a:r>
            <a:r>
              <a:rPr lang="es" sz="1350">
                <a:solidFill>
                  <a:srgbClr val="2C3862"/>
                </a:solidFill>
                <a:latin typeface="Roboto"/>
                <a:ea typeface="Roboto"/>
                <a:cs typeface="Roboto"/>
                <a:sym typeface="Roboto"/>
              </a:rPr>
              <a:t>: Red, Green, Blue</a:t>
            </a:r>
            <a:endParaRPr sz="1350">
              <a:solidFill>
                <a:srgbClr val="2C3862"/>
              </a:solidFill>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Char char="●"/>
            </a:pPr>
            <a:r>
              <a:rPr b="1" lang="es" sz="1350">
                <a:solidFill>
                  <a:srgbClr val="2C3862"/>
                </a:solidFill>
                <a:latin typeface="Roboto"/>
                <a:ea typeface="Roboto"/>
                <a:cs typeface="Roboto"/>
                <a:sym typeface="Roboto"/>
              </a:rPr>
              <a:t>RGBA</a:t>
            </a:r>
            <a:r>
              <a:rPr lang="es" sz="1350">
                <a:solidFill>
                  <a:srgbClr val="2C3862"/>
                </a:solidFill>
                <a:latin typeface="Roboto"/>
                <a:ea typeface="Roboto"/>
                <a:cs typeface="Roboto"/>
                <a:sym typeface="Roboto"/>
              </a:rPr>
              <a:t>: Red, Green, Blue, Alpha</a:t>
            </a:r>
            <a:endParaRPr sz="1350">
              <a:solidFill>
                <a:srgbClr val="2C3862"/>
              </a:solidFill>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Char char="●"/>
            </a:pPr>
            <a:r>
              <a:rPr b="1" lang="es" sz="1350">
                <a:solidFill>
                  <a:srgbClr val="2C3862"/>
                </a:solidFill>
                <a:latin typeface="Roboto"/>
                <a:ea typeface="Roboto"/>
                <a:cs typeface="Roboto"/>
                <a:sym typeface="Roboto"/>
              </a:rPr>
              <a:t>HSL:</a:t>
            </a:r>
            <a:r>
              <a:rPr lang="es" sz="1350">
                <a:solidFill>
                  <a:srgbClr val="2C3862"/>
                </a:solidFill>
                <a:latin typeface="Roboto"/>
                <a:ea typeface="Roboto"/>
                <a:cs typeface="Roboto"/>
                <a:sym typeface="Roboto"/>
              </a:rPr>
              <a:t> Hue, Saturation, Lightness</a:t>
            </a:r>
            <a:endParaRPr sz="1350">
              <a:solidFill>
                <a:srgbClr val="2C3862"/>
              </a:solidFill>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Char char="●"/>
            </a:pPr>
            <a:r>
              <a:rPr b="1" lang="es" sz="1350">
                <a:solidFill>
                  <a:srgbClr val="2C3862"/>
                </a:solidFill>
                <a:latin typeface="Roboto"/>
                <a:ea typeface="Roboto"/>
                <a:cs typeface="Roboto"/>
                <a:sym typeface="Roboto"/>
              </a:rPr>
              <a:t>HSLA: </a:t>
            </a:r>
            <a:r>
              <a:rPr lang="es" sz="1350">
                <a:solidFill>
                  <a:srgbClr val="2C3862"/>
                </a:solidFill>
                <a:latin typeface="Roboto"/>
                <a:ea typeface="Roboto"/>
                <a:cs typeface="Roboto"/>
                <a:sym typeface="Roboto"/>
              </a:rPr>
              <a:t>Hue, Saturation, Lightness, Alpha</a:t>
            </a:r>
            <a:endParaRPr sz="1350">
              <a:solidFill>
                <a:srgbClr val="2C3862"/>
              </a:solidFill>
              <a:latin typeface="Roboto"/>
              <a:ea typeface="Roboto"/>
              <a:cs typeface="Roboto"/>
              <a:sym typeface="Roboto"/>
            </a:endParaRPr>
          </a:p>
          <a:p>
            <a:pPr indent="0" lvl="0" marL="0" rtl="0" algn="l">
              <a:lnSpc>
                <a:spcPct val="115000"/>
              </a:lnSpc>
              <a:spcBef>
                <a:spcPts val="1900"/>
              </a:spcBef>
              <a:spcAft>
                <a:spcPts val="0"/>
              </a:spcAft>
              <a:buSzPts val="1800"/>
              <a:buNone/>
            </a:pPr>
            <a:r>
              <a:rPr lang="es" sz="1350">
                <a:solidFill>
                  <a:srgbClr val="000000"/>
                </a:solidFill>
                <a:latin typeface="Roboto"/>
                <a:ea typeface="Roboto"/>
                <a:cs typeface="Roboto"/>
                <a:sym typeface="Roboto"/>
              </a:rPr>
              <a:t>En nuestro caso, vamos a utilizar los valores definidos por su</a:t>
            </a:r>
            <a:r>
              <a:rPr b="1" lang="es" sz="1350">
                <a:solidFill>
                  <a:srgbClr val="000000"/>
                </a:solidFill>
                <a:latin typeface="Roboto"/>
                <a:ea typeface="Roboto"/>
                <a:cs typeface="Roboto"/>
                <a:sym typeface="Roboto"/>
              </a:rPr>
              <a:t> nombre, código hexadecimal y RGB o RGBA</a:t>
            </a:r>
            <a:r>
              <a:rPr lang="es" sz="1350">
                <a:solidFill>
                  <a:srgbClr val="000000"/>
                </a:solidFill>
                <a:latin typeface="Roboto"/>
                <a:ea typeface="Roboto"/>
                <a:cs typeface="Roboto"/>
                <a:sym typeface="Roboto"/>
              </a:rPr>
              <a:t>. </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1200"/>
              </a:spcAft>
              <a:buSzPts val="18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 Colores y fondo en CSS</a:t>
            </a:r>
            <a:endParaRPr/>
          </a:p>
          <a:p>
            <a:pPr indent="0" lvl="0" marL="0" rtl="0" algn="l">
              <a:lnSpc>
                <a:spcPct val="100000"/>
              </a:lnSpc>
              <a:spcBef>
                <a:spcPts val="0"/>
              </a:spcBef>
              <a:spcAft>
                <a:spcPts val="0"/>
              </a:spcAft>
              <a:buSzPct val="111111"/>
              <a:buNone/>
            </a:pPr>
            <a:r>
              <a:rPr lang="es"/>
              <a:t>5.2. Tabla de colores</a:t>
            </a:r>
            <a:endParaRPr/>
          </a:p>
          <a:p>
            <a:pPr indent="0" lvl="0" marL="0" rtl="0" algn="l">
              <a:lnSpc>
                <a:spcPct val="100000"/>
              </a:lnSpc>
              <a:spcBef>
                <a:spcPts val="0"/>
              </a:spcBef>
              <a:spcAft>
                <a:spcPts val="0"/>
              </a:spcAft>
              <a:buSzPct val="111111"/>
              <a:buNone/>
            </a:pPr>
            <a:r>
              <a:t/>
            </a:r>
            <a:endParaRPr/>
          </a:p>
        </p:txBody>
      </p:sp>
      <p:sp>
        <p:nvSpPr>
          <p:cNvPr id="169" name="Google Shape;169;p18"/>
          <p:cNvSpPr txBox="1"/>
          <p:nvPr>
            <p:ph idx="1" type="body"/>
          </p:nvPr>
        </p:nvSpPr>
        <p:spPr>
          <a:xfrm>
            <a:off x="311700" y="1346125"/>
            <a:ext cx="8520600" cy="3222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HTML soporta en torno a 140 nombres de colores diferentes</a:t>
            </a:r>
            <a:endParaRPr/>
          </a:p>
          <a:p>
            <a:pPr indent="0" lvl="0" marL="0" rtl="0" algn="l">
              <a:lnSpc>
                <a:spcPct val="115000"/>
              </a:lnSpc>
              <a:spcBef>
                <a:spcPts val="1200"/>
              </a:spcBef>
              <a:spcAft>
                <a:spcPts val="1200"/>
              </a:spcAft>
              <a:buSzPts val="1800"/>
              <a:buNone/>
            </a:pPr>
            <a:r>
              <a:rPr lang="es" u="sng">
                <a:solidFill>
                  <a:schemeClr val="hlink"/>
                </a:solidFill>
                <a:hlinkClick r:id="rId3"/>
              </a:rPr>
              <a:t>Ver lista completa</a:t>
            </a:r>
            <a:endParaRPr/>
          </a:p>
        </p:txBody>
      </p:sp>
      <p:pic>
        <p:nvPicPr>
          <p:cNvPr id="170" name="Google Shape;170;p18"/>
          <p:cNvPicPr preferRelativeResize="0"/>
          <p:nvPr/>
        </p:nvPicPr>
        <p:blipFill rotWithShape="1">
          <a:blip r:embed="rId4">
            <a:alphaModFix/>
          </a:blip>
          <a:srcRect b="0" l="0" r="0" t="0"/>
          <a:stretch/>
        </p:blipFill>
        <p:spPr>
          <a:xfrm>
            <a:off x="1496225" y="2293375"/>
            <a:ext cx="6077301" cy="28013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 Colores y fondo en CSS</a:t>
            </a:r>
            <a:endParaRPr/>
          </a:p>
          <a:p>
            <a:pPr indent="0" lvl="0" marL="0" rtl="0" algn="l">
              <a:lnSpc>
                <a:spcPct val="100000"/>
              </a:lnSpc>
              <a:spcBef>
                <a:spcPts val="0"/>
              </a:spcBef>
              <a:spcAft>
                <a:spcPts val="0"/>
              </a:spcAft>
              <a:buSzPct val="111111"/>
              <a:buNone/>
            </a:pPr>
            <a:r>
              <a:rPr lang="es"/>
              <a:t>5.2. Tabla de colores</a:t>
            </a:r>
            <a:endParaRPr/>
          </a:p>
          <a:p>
            <a:pPr indent="0" lvl="0" marL="0" rtl="0" algn="l">
              <a:lnSpc>
                <a:spcPct val="100000"/>
              </a:lnSpc>
              <a:spcBef>
                <a:spcPts val="0"/>
              </a:spcBef>
              <a:spcAft>
                <a:spcPts val="0"/>
              </a:spcAft>
              <a:buSzPct val="111111"/>
              <a:buNone/>
            </a:pPr>
            <a:r>
              <a:t/>
            </a:r>
            <a:endParaRPr/>
          </a:p>
        </p:txBody>
      </p:sp>
      <p:sp>
        <p:nvSpPr>
          <p:cNvPr id="176" name="Google Shape;176;p19"/>
          <p:cNvSpPr txBox="1"/>
          <p:nvPr>
            <p:ph idx="1" type="body"/>
          </p:nvPr>
        </p:nvSpPr>
        <p:spPr>
          <a:xfrm>
            <a:off x="311700" y="1296250"/>
            <a:ext cx="8520600" cy="327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Transparencia de los colores: </a:t>
            </a:r>
            <a:r>
              <a:rPr lang="es" u="sng">
                <a:solidFill>
                  <a:schemeClr val="hlink"/>
                </a:solidFill>
                <a:hlinkClick r:id="rId3"/>
              </a:rPr>
              <a:t>https://codepen.io/Eniun/pen/yLoNxBj</a:t>
            </a:r>
            <a:r>
              <a:rPr lang="es"/>
              <a:t> </a:t>
            </a:r>
            <a:endParaRPr/>
          </a:p>
          <a:p>
            <a:pPr indent="0" lvl="0" marL="0" rtl="0" algn="l">
              <a:lnSpc>
                <a:spcPct val="115000"/>
              </a:lnSpc>
              <a:spcBef>
                <a:spcPts val="1200"/>
              </a:spcBef>
              <a:spcAft>
                <a:spcPts val="1200"/>
              </a:spcAft>
              <a:buSzPts val="1800"/>
              <a:buNone/>
            </a:pPr>
            <a:r>
              <a:t/>
            </a:r>
            <a:endParaRPr/>
          </a:p>
        </p:txBody>
      </p:sp>
      <p:pic>
        <p:nvPicPr>
          <p:cNvPr id="177" name="Google Shape;177;p19"/>
          <p:cNvPicPr preferRelativeResize="0"/>
          <p:nvPr/>
        </p:nvPicPr>
        <p:blipFill rotWithShape="1">
          <a:blip r:embed="rId4">
            <a:alphaModFix/>
          </a:blip>
          <a:srcRect b="0" l="0" r="0" t="0"/>
          <a:stretch/>
        </p:blipFill>
        <p:spPr>
          <a:xfrm>
            <a:off x="382225" y="2009899"/>
            <a:ext cx="8005624" cy="18718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 Colores y fondo en CSS</a:t>
            </a:r>
            <a:endParaRPr/>
          </a:p>
          <a:p>
            <a:pPr indent="0" lvl="0" marL="0" rtl="0" algn="l">
              <a:lnSpc>
                <a:spcPct val="100000"/>
              </a:lnSpc>
              <a:spcBef>
                <a:spcPts val="0"/>
              </a:spcBef>
              <a:spcAft>
                <a:spcPts val="0"/>
              </a:spcAft>
              <a:buSzPct val="111111"/>
              <a:buNone/>
            </a:pPr>
            <a:r>
              <a:rPr lang="es"/>
              <a:t>5.3. Propiedades más utilizadas</a:t>
            </a:r>
            <a:endParaRPr/>
          </a:p>
          <a:p>
            <a:pPr indent="0" lvl="0" marL="0" rtl="0" algn="l">
              <a:lnSpc>
                <a:spcPct val="100000"/>
              </a:lnSpc>
              <a:spcBef>
                <a:spcPts val="0"/>
              </a:spcBef>
              <a:spcAft>
                <a:spcPts val="0"/>
              </a:spcAft>
              <a:buSzPct val="111111"/>
              <a:buNone/>
            </a:pPr>
            <a:r>
              <a:t/>
            </a:r>
            <a:endParaRPr/>
          </a:p>
        </p:txBody>
      </p:sp>
      <p:sp>
        <p:nvSpPr>
          <p:cNvPr id="183" name="Google Shape;183;p20"/>
          <p:cNvSpPr txBox="1"/>
          <p:nvPr>
            <p:ph idx="1" type="body"/>
          </p:nvPr>
        </p:nvSpPr>
        <p:spPr>
          <a:xfrm>
            <a:off x="311700" y="1296250"/>
            <a:ext cx="8520600" cy="327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84" name="Google Shape;184;p20"/>
          <p:cNvPicPr preferRelativeResize="0"/>
          <p:nvPr/>
        </p:nvPicPr>
        <p:blipFill rotWithShape="1">
          <a:blip r:embed="rId3">
            <a:alphaModFix/>
          </a:blip>
          <a:srcRect b="0" l="0" r="0" t="0"/>
          <a:stretch/>
        </p:blipFill>
        <p:spPr>
          <a:xfrm>
            <a:off x="1225750" y="1347850"/>
            <a:ext cx="6880126" cy="37956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EJERCICIO PROPUESTO</a:t>
            </a:r>
            <a:endParaRPr/>
          </a:p>
        </p:txBody>
      </p:sp>
      <p:sp>
        <p:nvSpPr>
          <p:cNvPr id="190" name="Google Shape;190;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350">
                <a:solidFill>
                  <a:srgbClr val="000000"/>
                </a:solidFill>
                <a:highlight>
                  <a:srgbClr val="FFFFFF"/>
                </a:highlight>
                <a:latin typeface="Roboto"/>
                <a:ea typeface="Roboto"/>
                <a:cs typeface="Roboto"/>
                <a:sym typeface="Roboto"/>
              </a:rPr>
              <a:t>Observa el resultado de los siguientes estilos y estudia las diferencias que hay entre los distintos valores definidos.</a:t>
            </a:r>
            <a:endParaRPr sz="1350">
              <a:solidFill>
                <a:srgbClr val="000000"/>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SzPts val="1800"/>
              <a:buNone/>
            </a:pPr>
            <a:r>
              <a:rPr lang="es" sz="1350">
                <a:solidFill>
                  <a:srgbClr val="000000"/>
                </a:solidFill>
                <a:latin typeface="Courier New"/>
                <a:ea typeface="Courier New"/>
                <a:cs typeface="Courier New"/>
                <a:sym typeface="Courier New"/>
              </a:rPr>
              <a:t>.a { background-color: red; }</a:t>
            </a:r>
            <a:endParaRPr sz="135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SzPts val="1800"/>
              <a:buNone/>
            </a:pPr>
            <a:r>
              <a:rPr lang="es" sz="1350">
                <a:solidFill>
                  <a:srgbClr val="000000"/>
                </a:solidFill>
                <a:latin typeface="Courier New"/>
                <a:ea typeface="Courier New"/>
                <a:cs typeface="Courier New"/>
                <a:sym typeface="Courier New"/>
              </a:rPr>
              <a:t>.b { background-color: #FF0000; }</a:t>
            </a:r>
            <a:endParaRPr sz="135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SzPts val="1800"/>
              <a:buNone/>
            </a:pPr>
            <a:r>
              <a:rPr lang="es" sz="1350">
                <a:solidFill>
                  <a:srgbClr val="000000"/>
                </a:solidFill>
                <a:latin typeface="Courier New"/>
                <a:ea typeface="Courier New"/>
                <a:cs typeface="Courier New"/>
                <a:sym typeface="Courier New"/>
              </a:rPr>
              <a:t>.c { background-color: RGB(255,0,0); }</a:t>
            </a:r>
            <a:endParaRPr sz="135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SzPts val="1800"/>
              <a:buNone/>
            </a:pPr>
            <a:r>
              <a:rPr lang="es" sz="1350">
                <a:solidFill>
                  <a:srgbClr val="000000"/>
                </a:solidFill>
                <a:latin typeface="Courier New"/>
                <a:ea typeface="Courier New"/>
                <a:cs typeface="Courier New"/>
                <a:sym typeface="Courier New"/>
              </a:rPr>
              <a:t>.d { background-color: red; opacity: 0.5; }</a:t>
            </a:r>
            <a:endParaRPr sz="135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SzPts val="1800"/>
              <a:buNone/>
            </a:pPr>
            <a:r>
              <a:rPr lang="es" sz="1350">
                <a:solidFill>
                  <a:srgbClr val="000000"/>
                </a:solidFill>
                <a:latin typeface="Courier New"/>
                <a:ea typeface="Courier New"/>
                <a:cs typeface="Courier New"/>
                <a:sym typeface="Courier New"/>
              </a:rPr>
              <a:t>.e { background-color: rgba(255, 0, 0, 0.5); }</a:t>
            </a:r>
            <a:endParaRPr sz="1350">
              <a:solidFill>
                <a:srgbClr val="000000"/>
              </a:solidFill>
              <a:latin typeface="Courier New"/>
              <a:ea typeface="Courier New"/>
              <a:cs typeface="Courier New"/>
              <a:sym typeface="Courier New"/>
            </a:endParaRPr>
          </a:p>
          <a:p>
            <a:pPr indent="0" lvl="0" marL="0" marR="139700" rtl="0" algn="l">
              <a:lnSpc>
                <a:spcPct val="116666"/>
              </a:lnSpc>
              <a:spcBef>
                <a:spcPts val="1200"/>
              </a:spcBef>
              <a:spcAft>
                <a:spcPts val="1500"/>
              </a:spcAft>
              <a:buSzPts val="1800"/>
              <a:buNone/>
            </a:pPr>
            <a:r>
              <a:rPr lang="es" sz="1350">
                <a:solidFill>
                  <a:srgbClr val="000000"/>
                </a:solidFill>
                <a:latin typeface="Courier New"/>
                <a:ea typeface="Courier New"/>
                <a:cs typeface="Courier New"/>
                <a:sym typeface="Courier New"/>
              </a:rPr>
              <a:t>.f { background-color: transparent; }</a:t>
            </a:r>
            <a:endParaRPr/>
          </a:p>
        </p:txBody>
      </p:sp>
      <p:sp>
        <p:nvSpPr>
          <p:cNvPr id="191" name="Google Shape;191;p21"/>
          <p:cNvSpPr txBox="1"/>
          <p:nvPr/>
        </p:nvSpPr>
        <p:spPr>
          <a:xfrm>
            <a:off x="5874725" y="1574375"/>
            <a:ext cx="3174600" cy="2986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Courier New"/>
                <a:ea typeface="Courier New"/>
                <a:cs typeface="Courier New"/>
                <a:sym typeface="Courier New"/>
              </a:rPr>
              <a:t>&lt;p class="a"&gt;Rojo con su nombre&lt;/p&gt;</a:t>
            </a:r>
            <a:endParaRPr b="0" i="0" sz="14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Courier New"/>
                <a:ea typeface="Courier New"/>
                <a:cs typeface="Courier New"/>
                <a:sym typeface="Courier New"/>
              </a:rPr>
              <a:t>&lt;p class="b"&gt;Rojo con Hexadecimal&lt;p/&gt;</a:t>
            </a:r>
            <a:endParaRPr b="0" i="0" sz="14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Courier New"/>
                <a:ea typeface="Courier New"/>
                <a:cs typeface="Courier New"/>
                <a:sym typeface="Courier New"/>
              </a:rPr>
              <a:t>&lt;p class="c"&gt;Rojo con RGB&lt;/p&gt;</a:t>
            </a:r>
            <a:endParaRPr b="0" i="0" sz="14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Courier New"/>
                <a:ea typeface="Courier New"/>
                <a:cs typeface="Courier New"/>
                <a:sym typeface="Courier New"/>
              </a:rPr>
              <a:t>&lt;p class="d"&gt;Texto con opacidad 0.5&lt;/p&gt;</a:t>
            </a:r>
            <a:endParaRPr b="0" i="0" sz="14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Courier New"/>
                <a:ea typeface="Courier New"/>
                <a:cs typeface="Courier New"/>
                <a:sym typeface="Courier New"/>
              </a:rPr>
              <a:t>&lt;p class="e"&gt;Fondo con opacidad 0.5&lt;/p&gt;</a:t>
            </a:r>
            <a:endParaRPr b="0" i="0" sz="14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Courier New"/>
                <a:ea typeface="Courier New"/>
                <a:cs typeface="Courier New"/>
                <a:sym typeface="Courier New"/>
              </a:rPr>
              <a:t>&lt;p class="f"&gt;Fondo transparente&lt;/p&gt;</a:t>
            </a:r>
            <a:endParaRPr b="0" i="0" sz="14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 Colores y fondo en CSS</a:t>
            </a:r>
            <a:endParaRPr/>
          </a:p>
          <a:p>
            <a:pPr indent="0" lvl="0" marL="0" rtl="0" algn="l">
              <a:lnSpc>
                <a:spcPct val="100000"/>
              </a:lnSpc>
              <a:spcBef>
                <a:spcPts val="0"/>
              </a:spcBef>
              <a:spcAft>
                <a:spcPts val="0"/>
              </a:spcAft>
              <a:buSzPct val="111111"/>
              <a:buNone/>
            </a:pPr>
            <a:r>
              <a:rPr lang="es"/>
              <a:t>5.3. Propiedades más utilizadas</a:t>
            </a:r>
            <a:endParaRPr/>
          </a:p>
          <a:p>
            <a:pPr indent="0" lvl="0" marL="0" rtl="0" algn="l">
              <a:lnSpc>
                <a:spcPct val="100000"/>
              </a:lnSpc>
              <a:spcBef>
                <a:spcPts val="0"/>
              </a:spcBef>
              <a:spcAft>
                <a:spcPts val="0"/>
              </a:spcAft>
              <a:buSzPct val="111111"/>
              <a:buNone/>
            </a:pPr>
            <a:r>
              <a:t/>
            </a:r>
            <a:endParaRPr/>
          </a:p>
        </p:txBody>
      </p:sp>
      <p:sp>
        <p:nvSpPr>
          <p:cNvPr id="197" name="Google Shape;197;p22"/>
          <p:cNvSpPr txBox="1"/>
          <p:nvPr>
            <p:ph idx="1" type="body"/>
          </p:nvPr>
        </p:nvSpPr>
        <p:spPr>
          <a:xfrm>
            <a:off x="311700" y="1296250"/>
            <a:ext cx="8520600" cy="327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98" name="Google Shape;198;p22"/>
          <p:cNvPicPr preferRelativeResize="0"/>
          <p:nvPr/>
        </p:nvPicPr>
        <p:blipFill rotWithShape="1">
          <a:blip r:embed="rId3">
            <a:alphaModFix/>
          </a:blip>
          <a:srcRect b="0" l="0" r="0" t="0"/>
          <a:stretch/>
        </p:blipFill>
        <p:spPr>
          <a:xfrm>
            <a:off x="1874250" y="1353075"/>
            <a:ext cx="5509475" cy="1695875"/>
          </a:xfrm>
          <a:prstGeom prst="rect">
            <a:avLst/>
          </a:prstGeom>
          <a:noFill/>
          <a:ln>
            <a:noFill/>
          </a:ln>
        </p:spPr>
      </p:pic>
      <p:pic>
        <p:nvPicPr>
          <p:cNvPr id="199" name="Google Shape;199;p22"/>
          <p:cNvPicPr preferRelativeResize="0"/>
          <p:nvPr/>
        </p:nvPicPr>
        <p:blipFill rotWithShape="1">
          <a:blip r:embed="rId4">
            <a:alphaModFix/>
          </a:blip>
          <a:srcRect b="0" l="0" r="0" t="0"/>
          <a:stretch/>
        </p:blipFill>
        <p:spPr>
          <a:xfrm>
            <a:off x="1866325" y="3091832"/>
            <a:ext cx="5509474" cy="208926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EJERCICIO PROPUESTO</a:t>
            </a:r>
            <a:endParaRPr/>
          </a:p>
        </p:txBody>
      </p:sp>
      <p:sp>
        <p:nvSpPr>
          <p:cNvPr id="205" name="Google Shape;205;p23"/>
          <p:cNvSpPr txBox="1"/>
          <p:nvPr/>
        </p:nvSpPr>
        <p:spPr>
          <a:xfrm>
            <a:off x="434825" y="1532300"/>
            <a:ext cx="6439800" cy="2403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latin typeface="Courier New"/>
                <a:ea typeface="Courier New"/>
                <a:cs typeface="Courier New"/>
                <a:sym typeface="Courier New"/>
              </a:rPr>
              <a:t>body { background-image: url("https://bit.ly/2slA7jo");}</a:t>
            </a:r>
            <a:endParaRPr b="0" i="0" sz="135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latin typeface="Courier New"/>
                <a:ea typeface="Courier New"/>
                <a:cs typeface="Courier New"/>
                <a:sym typeface="Courier New"/>
              </a:rPr>
              <a:t>body { background-image: url("https://bit.ly/2slA7jo"); </a:t>
            </a:r>
            <a:r>
              <a:rPr b="1" i="0" lang="es" sz="1350" u="none" cap="none" strike="noStrike">
                <a:solidFill>
                  <a:srgbClr val="000000"/>
                </a:solidFill>
                <a:latin typeface="Courier New"/>
                <a:ea typeface="Courier New"/>
                <a:cs typeface="Courier New"/>
                <a:sym typeface="Courier New"/>
              </a:rPr>
              <a:t>background-repeat</a:t>
            </a:r>
            <a:r>
              <a:rPr b="0" i="0" lang="es" sz="1350" u="none" cap="none" strike="noStrike">
                <a:solidFill>
                  <a:srgbClr val="000000"/>
                </a:solidFill>
                <a:latin typeface="Courier New"/>
                <a:ea typeface="Courier New"/>
                <a:cs typeface="Courier New"/>
                <a:sym typeface="Courier New"/>
              </a:rPr>
              <a:t>: repeat-x;}</a:t>
            </a:r>
            <a:endParaRPr b="0" i="0" sz="135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latin typeface="Courier New"/>
                <a:ea typeface="Courier New"/>
                <a:cs typeface="Courier New"/>
                <a:sym typeface="Courier New"/>
              </a:rPr>
              <a:t>body { background-image: url("https://bit.ly/2slA7jo"); </a:t>
            </a:r>
            <a:r>
              <a:rPr b="1" i="0" lang="es" sz="1350" u="none" cap="none" strike="noStrike">
                <a:solidFill>
                  <a:srgbClr val="000000"/>
                </a:solidFill>
                <a:latin typeface="Courier New"/>
                <a:ea typeface="Courier New"/>
                <a:cs typeface="Courier New"/>
                <a:sym typeface="Courier New"/>
              </a:rPr>
              <a:t>background-repeat</a:t>
            </a:r>
            <a:r>
              <a:rPr b="0" i="0" lang="es" sz="1350" u="none" cap="none" strike="noStrike">
                <a:solidFill>
                  <a:srgbClr val="000000"/>
                </a:solidFill>
                <a:latin typeface="Courier New"/>
                <a:ea typeface="Courier New"/>
                <a:cs typeface="Courier New"/>
                <a:sym typeface="Courier New"/>
              </a:rPr>
              <a:t>: repeat-y;}</a:t>
            </a:r>
            <a:endParaRPr b="0" i="0" sz="135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latin typeface="Courier New"/>
                <a:ea typeface="Courier New"/>
                <a:cs typeface="Courier New"/>
                <a:sym typeface="Courier New"/>
              </a:rPr>
              <a:t>body { background-image: url("https://bit.ly/2slA7jo"); </a:t>
            </a:r>
            <a:r>
              <a:rPr b="1" i="0" lang="es" sz="1350" u="none" cap="none" strike="noStrike">
                <a:solidFill>
                  <a:srgbClr val="000000"/>
                </a:solidFill>
                <a:latin typeface="Courier New"/>
                <a:ea typeface="Courier New"/>
                <a:cs typeface="Courier New"/>
                <a:sym typeface="Courier New"/>
              </a:rPr>
              <a:t>background-repeat</a:t>
            </a:r>
            <a:r>
              <a:rPr b="0" i="0" lang="es" sz="1350" u="none" cap="none" strike="noStrike">
                <a:solidFill>
                  <a:srgbClr val="000000"/>
                </a:solidFill>
                <a:latin typeface="Courier New"/>
                <a:ea typeface="Courier New"/>
                <a:cs typeface="Courier New"/>
                <a:sym typeface="Courier New"/>
              </a:rPr>
              <a:t>: no-repeat;}</a:t>
            </a:r>
            <a:endParaRPr b="0" i="0" sz="135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latin typeface="Courier New"/>
                <a:ea typeface="Courier New"/>
                <a:cs typeface="Courier New"/>
                <a:sym typeface="Courier New"/>
              </a:rPr>
              <a:t>body { background-image: url("https://bit.ly/2slA7jo"); </a:t>
            </a:r>
            <a:r>
              <a:rPr b="1" i="0" lang="es" sz="1350" u="none" cap="none" strike="noStrike">
                <a:solidFill>
                  <a:srgbClr val="000000"/>
                </a:solidFill>
                <a:latin typeface="Courier New"/>
                <a:ea typeface="Courier New"/>
                <a:cs typeface="Courier New"/>
                <a:sym typeface="Courier New"/>
              </a:rPr>
              <a:t>background-repeat</a:t>
            </a:r>
            <a:r>
              <a:rPr b="0" i="0" lang="es" sz="1350" u="none" cap="none" strike="noStrike">
                <a:solidFill>
                  <a:srgbClr val="000000"/>
                </a:solidFill>
                <a:latin typeface="Courier New"/>
                <a:ea typeface="Courier New"/>
                <a:cs typeface="Courier New"/>
                <a:sym typeface="Courier New"/>
              </a:rPr>
              <a:t>: repeat;}</a:t>
            </a:r>
            <a:endParaRPr b="0" i="0" sz="1350" u="none" cap="none" strike="noStrike">
              <a:solidFill>
                <a:srgbClr val="000000"/>
              </a:solidFill>
              <a:latin typeface="Courier New"/>
              <a:ea typeface="Courier New"/>
              <a:cs typeface="Courier New"/>
              <a:sym typeface="Courier New"/>
            </a:endParaRPr>
          </a:p>
          <a:p>
            <a:pPr indent="0" lvl="0" marL="0" marR="139700" rtl="0" algn="l">
              <a:lnSpc>
                <a:spcPct val="116666"/>
              </a:lnSpc>
              <a:spcBef>
                <a:spcPts val="1100"/>
              </a:spcBef>
              <a:spcAft>
                <a:spcPts val="1500"/>
              </a:spcAft>
              <a:buClr>
                <a:srgbClr val="000000"/>
              </a:buClr>
              <a:buSzPts val="1350"/>
              <a:buFont typeface="Arial"/>
              <a:buNone/>
            </a:pPr>
            <a:r>
              <a:t/>
            </a:r>
            <a:endParaRPr b="0" i="0" sz="135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 Colores y fondo en CSS</a:t>
            </a:r>
            <a:endParaRPr/>
          </a:p>
          <a:p>
            <a:pPr indent="0" lvl="0" marL="0" rtl="0" algn="l">
              <a:lnSpc>
                <a:spcPct val="100000"/>
              </a:lnSpc>
              <a:spcBef>
                <a:spcPts val="0"/>
              </a:spcBef>
              <a:spcAft>
                <a:spcPts val="0"/>
              </a:spcAft>
              <a:buSzPct val="111111"/>
              <a:buNone/>
            </a:pPr>
            <a:r>
              <a:rPr lang="es"/>
              <a:t>5.3. Propiedades más utilizadas</a:t>
            </a:r>
            <a:endParaRPr/>
          </a:p>
          <a:p>
            <a:pPr indent="0" lvl="0" marL="0" rtl="0" algn="l">
              <a:lnSpc>
                <a:spcPct val="100000"/>
              </a:lnSpc>
              <a:spcBef>
                <a:spcPts val="0"/>
              </a:spcBef>
              <a:spcAft>
                <a:spcPts val="0"/>
              </a:spcAft>
              <a:buSzPct val="111111"/>
              <a:buNone/>
            </a:pPr>
            <a:r>
              <a:t/>
            </a:r>
            <a:endParaRPr/>
          </a:p>
        </p:txBody>
      </p:sp>
      <p:sp>
        <p:nvSpPr>
          <p:cNvPr id="211" name="Google Shape;211;p24"/>
          <p:cNvSpPr txBox="1"/>
          <p:nvPr>
            <p:ph idx="1" type="body"/>
          </p:nvPr>
        </p:nvSpPr>
        <p:spPr>
          <a:xfrm>
            <a:off x="311700" y="1372450"/>
            <a:ext cx="8520600" cy="37830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t/>
            </a:r>
            <a:endParaRPr sz="135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SzPts val="1800"/>
              <a:buNone/>
            </a:pPr>
            <a:r>
              <a:t/>
            </a:r>
            <a:endParaRPr sz="135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SzPts val="1800"/>
              <a:buNone/>
            </a:pPr>
            <a:r>
              <a:t/>
            </a:r>
            <a:endParaRPr sz="135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SzPts val="1800"/>
              <a:buNone/>
            </a:pPr>
            <a:r>
              <a:t/>
            </a:r>
            <a:endParaRPr sz="135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SzPts val="1800"/>
              <a:buNone/>
            </a:pPr>
            <a:r>
              <a:t/>
            </a:r>
            <a:endParaRPr sz="135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SzPts val="1800"/>
              <a:buNone/>
            </a:pPr>
            <a:r>
              <a:t/>
            </a:r>
            <a:endParaRPr sz="135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SzPts val="1800"/>
              <a:buNone/>
            </a:pPr>
            <a:r>
              <a:t/>
            </a:r>
            <a:endParaRPr sz="135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SzPts val="1800"/>
              <a:buNone/>
            </a:pPr>
            <a:r>
              <a:rPr lang="es" sz="1350">
                <a:solidFill>
                  <a:srgbClr val="000000"/>
                </a:solidFill>
                <a:latin typeface="Courier New"/>
                <a:ea typeface="Courier New"/>
                <a:cs typeface="Courier New"/>
                <a:sym typeface="Courier New"/>
              </a:rPr>
              <a:t>body { background-image: url("https://bit.ly/2slA7jo"); background-repeat: no-repeat; </a:t>
            </a:r>
            <a:r>
              <a:rPr b="1" lang="es" sz="1350">
                <a:solidFill>
                  <a:srgbClr val="000000"/>
                </a:solidFill>
                <a:latin typeface="Courier New"/>
                <a:ea typeface="Courier New"/>
                <a:cs typeface="Courier New"/>
                <a:sym typeface="Courier New"/>
              </a:rPr>
              <a:t>background-attachment: fixed;</a:t>
            </a:r>
            <a:r>
              <a:rPr lang="es" sz="1350">
                <a:solidFill>
                  <a:srgbClr val="000000"/>
                </a:solidFill>
                <a:latin typeface="Courier New"/>
                <a:ea typeface="Courier New"/>
                <a:cs typeface="Courier New"/>
                <a:sym typeface="Courier New"/>
              </a:rPr>
              <a:t>}</a:t>
            </a:r>
            <a:endParaRPr sz="1350">
              <a:solidFill>
                <a:srgbClr val="000000"/>
              </a:solidFill>
              <a:latin typeface="Courier New"/>
              <a:ea typeface="Courier New"/>
              <a:cs typeface="Courier New"/>
              <a:sym typeface="Courier New"/>
            </a:endParaRPr>
          </a:p>
          <a:p>
            <a:pPr indent="0" lvl="0" marL="0" marR="139700" rtl="0" algn="l">
              <a:lnSpc>
                <a:spcPct val="116666"/>
              </a:lnSpc>
              <a:spcBef>
                <a:spcPts val="1200"/>
              </a:spcBef>
              <a:spcAft>
                <a:spcPts val="1500"/>
              </a:spcAft>
              <a:buSzPts val="1800"/>
              <a:buNone/>
            </a:pPr>
            <a:r>
              <a:rPr lang="es" sz="1350">
                <a:solidFill>
                  <a:srgbClr val="000000"/>
                </a:solidFill>
                <a:latin typeface="Courier New"/>
                <a:ea typeface="Courier New"/>
                <a:cs typeface="Courier New"/>
                <a:sym typeface="Courier New"/>
              </a:rPr>
              <a:t>body { background-image: url("https://bit.ly/2slA7jo"); background-repeat: no-repeat; </a:t>
            </a:r>
            <a:r>
              <a:rPr b="1" lang="es" sz="1350">
                <a:solidFill>
                  <a:srgbClr val="000000"/>
                </a:solidFill>
                <a:latin typeface="Courier New"/>
                <a:ea typeface="Courier New"/>
                <a:cs typeface="Courier New"/>
                <a:sym typeface="Courier New"/>
              </a:rPr>
              <a:t>background-attachment: scroll;</a:t>
            </a:r>
            <a:r>
              <a:rPr lang="es" sz="1350">
                <a:solidFill>
                  <a:srgbClr val="000000"/>
                </a:solidFill>
                <a:latin typeface="Courier New"/>
                <a:ea typeface="Courier New"/>
                <a:cs typeface="Courier New"/>
                <a:sym typeface="Courier New"/>
              </a:rPr>
              <a:t>}</a:t>
            </a:r>
            <a:endParaRPr/>
          </a:p>
        </p:txBody>
      </p:sp>
      <p:pic>
        <p:nvPicPr>
          <p:cNvPr id="212" name="Google Shape;212;p24"/>
          <p:cNvPicPr preferRelativeResize="0"/>
          <p:nvPr/>
        </p:nvPicPr>
        <p:blipFill rotWithShape="1">
          <a:blip r:embed="rId3">
            <a:alphaModFix/>
          </a:blip>
          <a:srcRect b="0" l="0" r="0" t="0"/>
          <a:stretch/>
        </p:blipFill>
        <p:spPr>
          <a:xfrm>
            <a:off x="1465951" y="1520763"/>
            <a:ext cx="6305900" cy="21019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 Colores y fondo en CSS</a:t>
            </a:r>
            <a:endParaRPr/>
          </a:p>
          <a:p>
            <a:pPr indent="0" lvl="0" marL="0" rtl="0" algn="l">
              <a:lnSpc>
                <a:spcPct val="100000"/>
              </a:lnSpc>
              <a:spcBef>
                <a:spcPts val="0"/>
              </a:spcBef>
              <a:spcAft>
                <a:spcPts val="0"/>
              </a:spcAft>
              <a:buSzPct val="111111"/>
              <a:buNone/>
            </a:pPr>
            <a:r>
              <a:rPr lang="es"/>
              <a:t>5.3. Propiedades más utilizadas</a:t>
            </a:r>
            <a:endParaRPr/>
          </a:p>
          <a:p>
            <a:pPr indent="0" lvl="0" marL="0" rtl="0" algn="l">
              <a:lnSpc>
                <a:spcPct val="100000"/>
              </a:lnSpc>
              <a:spcBef>
                <a:spcPts val="0"/>
              </a:spcBef>
              <a:spcAft>
                <a:spcPts val="0"/>
              </a:spcAft>
              <a:buSzPct val="111111"/>
              <a:buNone/>
            </a:pPr>
            <a:r>
              <a:t/>
            </a:r>
            <a:endParaRPr/>
          </a:p>
        </p:txBody>
      </p:sp>
      <p:sp>
        <p:nvSpPr>
          <p:cNvPr id="218" name="Google Shape;218;p25"/>
          <p:cNvSpPr txBox="1"/>
          <p:nvPr>
            <p:ph idx="1" type="body"/>
          </p:nvPr>
        </p:nvSpPr>
        <p:spPr>
          <a:xfrm>
            <a:off x="311700" y="1372450"/>
            <a:ext cx="8520600" cy="3783000"/>
          </a:xfrm>
          <a:prstGeom prst="rect">
            <a:avLst/>
          </a:prstGeom>
          <a:noFill/>
          <a:ln>
            <a:noFill/>
          </a:ln>
        </p:spPr>
        <p:txBody>
          <a:bodyPr anchorCtr="0" anchor="t" bIns="91425" lIns="91425" spcFirstLastPara="1" rIns="91425" wrap="square" tIns="91425">
            <a:normAutofit/>
          </a:bodyPr>
          <a:lstStyle/>
          <a:p>
            <a:pPr indent="0" lvl="0" marL="0" marR="139700" rtl="0" algn="l">
              <a:lnSpc>
                <a:spcPct val="116666"/>
              </a:lnSpc>
              <a:spcBef>
                <a:spcPts val="1100"/>
              </a:spcBef>
              <a:spcAft>
                <a:spcPts val="1500"/>
              </a:spcAft>
              <a:buSzPts val="1800"/>
              <a:buNone/>
            </a:pPr>
            <a:r>
              <a:t/>
            </a:r>
            <a:endParaRPr/>
          </a:p>
        </p:txBody>
      </p:sp>
      <p:pic>
        <p:nvPicPr>
          <p:cNvPr id="219" name="Google Shape;219;p25"/>
          <p:cNvPicPr preferRelativeResize="0"/>
          <p:nvPr/>
        </p:nvPicPr>
        <p:blipFill rotWithShape="1">
          <a:blip r:embed="rId3">
            <a:alphaModFix/>
          </a:blip>
          <a:srcRect b="0" l="0" r="0" t="0"/>
          <a:stretch/>
        </p:blipFill>
        <p:spPr>
          <a:xfrm>
            <a:off x="1096375" y="1456175"/>
            <a:ext cx="6852824" cy="343092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 Colores y fondo en CSS</a:t>
            </a:r>
            <a:endParaRPr/>
          </a:p>
          <a:p>
            <a:pPr indent="0" lvl="0" marL="0" rtl="0" algn="l">
              <a:lnSpc>
                <a:spcPct val="100000"/>
              </a:lnSpc>
              <a:spcBef>
                <a:spcPts val="0"/>
              </a:spcBef>
              <a:spcAft>
                <a:spcPts val="0"/>
              </a:spcAft>
              <a:buSzPct val="111111"/>
              <a:buNone/>
            </a:pPr>
            <a:r>
              <a:rPr lang="es"/>
              <a:t>5.3. Propiedades más utilizadas</a:t>
            </a:r>
            <a:endParaRPr/>
          </a:p>
        </p:txBody>
      </p:sp>
      <p:sp>
        <p:nvSpPr>
          <p:cNvPr id="225" name="Google Shape;225;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26" name="Google Shape;226;p26"/>
          <p:cNvPicPr preferRelativeResize="0"/>
          <p:nvPr/>
        </p:nvPicPr>
        <p:blipFill rotWithShape="1">
          <a:blip r:embed="rId3">
            <a:alphaModFix/>
          </a:blip>
          <a:srcRect b="0" l="0" r="0" t="0"/>
          <a:stretch/>
        </p:blipFill>
        <p:spPr>
          <a:xfrm>
            <a:off x="1138200" y="1415625"/>
            <a:ext cx="6867599" cy="37278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7"/>
          <p:cNvSpPr txBox="1"/>
          <p:nvPr>
            <p:ph type="title"/>
          </p:nvPr>
        </p:nvSpPr>
        <p:spPr>
          <a:xfrm>
            <a:off x="311688" y="2361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 Colores y fondo en CSS</a:t>
            </a:r>
            <a:endParaRPr/>
          </a:p>
          <a:p>
            <a:pPr indent="0" lvl="0" marL="0" rtl="0" algn="l">
              <a:lnSpc>
                <a:spcPct val="100000"/>
              </a:lnSpc>
              <a:spcBef>
                <a:spcPts val="0"/>
              </a:spcBef>
              <a:spcAft>
                <a:spcPts val="0"/>
              </a:spcAft>
              <a:buSzPct val="111111"/>
              <a:buNone/>
            </a:pPr>
            <a:r>
              <a:rPr lang="es"/>
              <a:t>5.3. Propiedades más utilizadas</a:t>
            </a:r>
            <a:endParaRPr/>
          </a:p>
          <a:p>
            <a:pPr indent="0" lvl="0" marL="0" rtl="0" algn="l">
              <a:lnSpc>
                <a:spcPct val="100000"/>
              </a:lnSpc>
              <a:spcBef>
                <a:spcPts val="0"/>
              </a:spcBef>
              <a:spcAft>
                <a:spcPts val="0"/>
              </a:spcAft>
              <a:buSzPct val="111111"/>
              <a:buNone/>
            </a:pPr>
            <a:r>
              <a:t/>
            </a:r>
            <a:endParaRPr/>
          </a:p>
        </p:txBody>
      </p:sp>
      <p:sp>
        <p:nvSpPr>
          <p:cNvPr id="232" name="Google Shape;232;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33" name="Google Shape;233;p27"/>
          <p:cNvPicPr preferRelativeResize="0"/>
          <p:nvPr/>
        </p:nvPicPr>
        <p:blipFill rotWithShape="1">
          <a:blip r:embed="rId3">
            <a:alphaModFix/>
          </a:blip>
          <a:srcRect b="0" l="0" r="0" t="0"/>
          <a:stretch/>
        </p:blipFill>
        <p:spPr>
          <a:xfrm>
            <a:off x="1594037" y="1115200"/>
            <a:ext cx="5955925" cy="40283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 Colores y fondo en CSS</a:t>
            </a:r>
            <a:endParaRPr/>
          </a:p>
          <a:p>
            <a:pPr indent="0" lvl="0" marL="0" rtl="0" algn="l">
              <a:lnSpc>
                <a:spcPct val="100000"/>
              </a:lnSpc>
              <a:spcBef>
                <a:spcPts val="0"/>
              </a:spcBef>
              <a:spcAft>
                <a:spcPts val="0"/>
              </a:spcAft>
              <a:buSzPct val="111111"/>
              <a:buNone/>
            </a:pPr>
            <a:r>
              <a:rPr lang="es"/>
              <a:t>5.3. Propiedades más utilizadas</a:t>
            </a:r>
            <a:endParaRPr/>
          </a:p>
          <a:p>
            <a:pPr indent="0" lvl="0" marL="0" rtl="0" algn="l">
              <a:lnSpc>
                <a:spcPct val="100000"/>
              </a:lnSpc>
              <a:spcBef>
                <a:spcPts val="0"/>
              </a:spcBef>
              <a:spcAft>
                <a:spcPts val="0"/>
              </a:spcAft>
              <a:buSzPct val="111111"/>
              <a:buNone/>
            </a:pPr>
            <a:r>
              <a:t/>
            </a:r>
            <a:endParaRPr/>
          </a:p>
        </p:txBody>
      </p:sp>
      <p:sp>
        <p:nvSpPr>
          <p:cNvPr id="239" name="Google Shape;239;p28"/>
          <p:cNvSpPr txBox="1"/>
          <p:nvPr>
            <p:ph idx="1" type="body"/>
          </p:nvPr>
        </p:nvSpPr>
        <p:spPr>
          <a:xfrm>
            <a:off x="311700" y="1394625"/>
            <a:ext cx="8520600" cy="34842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44144"/>
              <a:buNone/>
            </a:pPr>
            <a:r>
              <a:rPr lang="es" sz="1350">
                <a:solidFill>
                  <a:srgbClr val="000000"/>
                </a:solidFill>
                <a:highlight>
                  <a:srgbClr val="FFFFFF"/>
                </a:highlight>
                <a:latin typeface="Roboto"/>
                <a:ea typeface="Roboto"/>
                <a:cs typeface="Roboto"/>
                <a:sym typeface="Roboto"/>
              </a:rPr>
              <a:t>La propiedad </a:t>
            </a:r>
            <a:r>
              <a:rPr lang="es" sz="1350">
                <a:solidFill>
                  <a:srgbClr val="2991D6"/>
                </a:solidFill>
                <a:highlight>
                  <a:srgbClr val="FFFFFF"/>
                </a:highlight>
                <a:latin typeface="Courier New"/>
                <a:ea typeface="Courier New"/>
                <a:cs typeface="Courier New"/>
                <a:sym typeface="Courier New"/>
              </a:rPr>
              <a:t>background-size</a:t>
            </a:r>
            <a:r>
              <a:rPr lang="es" sz="1350">
                <a:solidFill>
                  <a:srgbClr val="000000"/>
                </a:solidFill>
                <a:highlight>
                  <a:srgbClr val="FFFFFF"/>
                </a:highlight>
                <a:latin typeface="Roboto"/>
                <a:ea typeface="Roboto"/>
                <a:cs typeface="Roboto"/>
                <a:sym typeface="Roboto"/>
              </a:rPr>
              <a:t> es especialmente útil cuando se trabaja con imágenes de fondo en elementos como encabezados, secciones, divs, etc., y se desea controlar cómo se ajusta la imagen de fondo en relación con el tamaño del contenedor.</a:t>
            </a:r>
            <a:endParaRPr sz="1350">
              <a:solidFill>
                <a:srgbClr val="000000"/>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SzPct val="144144"/>
              <a:buNone/>
            </a:pPr>
            <a:r>
              <a:rPr lang="es" sz="1350">
                <a:solidFill>
                  <a:srgbClr val="000000"/>
                </a:solidFill>
                <a:latin typeface="Courier New"/>
                <a:ea typeface="Courier New"/>
                <a:cs typeface="Courier New"/>
                <a:sym typeface="Courier New"/>
              </a:rPr>
              <a:t>/* La imagen se ajusta para cubrir completamente el contenedor */</a:t>
            </a:r>
            <a:endParaRPr sz="135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SzPct val="144144"/>
              <a:buNone/>
            </a:pPr>
            <a:r>
              <a:rPr lang="es" sz="1350">
                <a:solidFill>
                  <a:srgbClr val="000000"/>
                </a:solidFill>
                <a:latin typeface="Courier New"/>
                <a:ea typeface="Courier New"/>
                <a:cs typeface="Courier New"/>
                <a:sym typeface="Courier New"/>
              </a:rPr>
              <a:t>background-size: cover;</a:t>
            </a:r>
            <a:endParaRPr sz="135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SzPct val="144144"/>
              <a:buNone/>
            </a:pPr>
            <a:r>
              <a:rPr lang="es" sz="1350">
                <a:solidFill>
                  <a:srgbClr val="000000"/>
                </a:solidFill>
                <a:latin typeface="Courier New"/>
                <a:ea typeface="Courier New"/>
                <a:cs typeface="Courier New"/>
                <a:sym typeface="Courier New"/>
              </a:rPr>
              <a:t>/* La imagen se ajusta para caber completamente dentro del contenedor */</a:t>
            </a:r>
            <a:endParaRPr sz="135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SzPct val="144144"/>
              <a:buNone/>
            </a:pPr>
            <a:r>
              <a:rPr lang="es" sz="1350">
                <a:solidFill>
                  <a:srgbClr val="000000"/>
                </a:solidFill>
                <a:latin typeface="Courier New"/>
                <a:ea typeface="Courier New"/>
                <a:cs typeface="Courier New"/>
                <a:sym typeface="Courier New"/>
              </a:rPr>
              <a:t>background-size: contain;</a:t>
            </a:r>
            <a:endParaRPr sz="135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SzPct val="144144"/>
              <a:buNone/>
            </a:pPr>
            <a:r>
              <a:rPr lang="es" sz="1350">
                <a:solidFill>
                  <a:srgbClr val="000000"/>
                </a:solidFill>
                <a:latin typeface="Courier New"/>
                <a:ea typeface="Courier New"/>
                <a:cs typeface="Courier New"/>
                <a:sym typeface="Courier New"/>
              </a:rPr>
              <a:t>/* La imagen tiene un ancho fijo de 200px y se ajusta automáticamente en altura */</a:t>
            </a:r>
            <a:endParaRPr sz="135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SzPct val="144144"/>
              <a:buNone/>
            </a:pPr>
            <a:r>
              <a:rPr lang="es" sz="1350">
                <a:solidFill>
                  <a:srgbClr val="000000"/>
                </a:solidFill>
                <a:latin typeface="Courier New"/>
                <a:ea typeface="Courier New"/>
                <a:cs typeface="Courier New"/>
                <a:sym typeface="Courier New"/>
              </a:rPr>
              <a:t>background-size: 200px auto;</a:t>
            </a:r>
            <a:endParaRPr sz="1350">
              <a:solidFill>
                <a:srgbClr val="000000"/>
              </a:solidFill>
              <a:latin typeface="Courier New"/>
              <a:ea typeface="Courier New"/>
              <a:cs typeface="Courier New"/>
              <a:sym typeface="Courier New"/>
            </a:endParaRPr>
          </a:p>
          <a:p>
            <a:pPr indent="0" lvl="0" marL="0" rtl="0" algn="l">
              <a:lnSpc>
                <a:spcPct val="115000"/>
              </a:lnSpc>
              <a:spcBef>
                <a:spcPts val="1200"/>
              </a:spcBef>
              <a:spcAft>
                <a:spcPts val="0"/>
              </a:spcAft>
              <a:buSzPct val="144144"/>
              <a:buNone/>
            </a:pPr>
            <a:r>
              <a:rPr lang="es" sz="1350">
                <a:solidFill>
                  <a:srgbClr val="000000"/>
                </a:solidFill>
                <a:latin typeface="Courier New"/>
                <a:ea typeface="Courier New"/>
                <a:cs typeface="Courier New"/>
                <a:sym typeface="Courier New"/>
              </a:rPr>
              <a:t>/* La imagen tiene un ancho fijo del 50% del contenedor y una altura fija de 100px */</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200"/>
              </a:spcBef>
              <a:spcAft>
                <a:spcPts val="1100"/>
              </a:spcAft>
              <a:buSzPct val="144144"/>
              <a:buNone/>
            </a:pPr>
            <a:r>
              <a:rPr lang="es" sz="1350">
                <a:solidFill>
                  <a:srgbClr val="000000"/>
                </a:solidFill>
                <a:latin typeface="Courier New"/>
                <a:ea typeface="Courier New"/>
                <a:cs typeface="Courier New"/>
                <a:sym typeface="Courier New"/>
              </a:rPr>
              <a:t>background-size: 50% 100px;</a:t>
            </a:r>
            <a:endParaRPr sz="1350">
              <a:solidFill>
                <a:srgbClr val="000000"/>
              </a:solidFill>
              <a:highlight>
                <a:srgbClr val="FFFFFF"/>
              </a:highlight>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 Colores y fondo en CSS</a:t>
            </a:r>
            <a:endParaRPr/>
          </a:p>
          <a:p>
            <a:pPr indent="0" lvl="0" marL="0" rtl="0" algn="l">
              <a:lnSpc>
                <a:spcPct val="100000"/>
              </a:lnSpc>
              <a:spcBef>
                <a:spcPts val="0"/>
              </a:spcBef>
              <a:spcAft>
                <a:spcPts val="0"/>
              </a:spcAft>
              <a:buSzPct val="111111"/>
              <a:buNone/>
            </a:pPr>
            <a:r>
              <a:rPr lang="es"/>
              <a:t>5.3. Propiedades más utilizadas</a:t>
            </a:r>
            <a:endParaRPr/>
          </a:p>
        </p:txBody>
      </p:sp>
      <p:sp>
        <p:nvSpPr>
          <p:cNvPr id="245" name="Google Shape;245;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46" name="Google Shape;246;p29"/>
          <p:cNvPicPr preferRelativeResize="0"/>
          <p:nvPr/>
        </p:nvPicPr>
        <p:blipFill rotWithShape="1">
          <a:blip r:embed="rId3">
            <a:alphaModFix/>
          </a:blip>
          <a:srcRect b="0" l="0" r="0" t="0"/>
          <a:stretch/>
        </p:blipFill>
        <p:spPr>
          <a:xfrm>
            <a:off x="1154900" y="1757938"/>
            <a:ext cx="6834224" cy="22054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30"/>
          <p:cNvPicPr preferRelativeResize="0"/>
          <p:nvPr/>
        </p:nvPicPr>
        <p:blipFill rotWithShape="1">
          <a:blip r:embed="rId3">
            <a:alphaModFix/>
          </a:blip>
          <a:srcRect b="0" l="0" r="0" t="0"/>
          <a:stretch/>
        </p:blipFill>
        <p:spPr>
          <a:xfrm>
            <a:off x="954114" y="0"/>
            <a:ext cx="7235771" cy="51435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EJERCICIO </a:t>
            </a:r>
            <a:endParaRPr/>
          </a:p>
        </p:txBody>
      </p:sp>
      <p:sp>
        <p:nvSpPr>
          <p:cNvPr id="257" name="Google Shape;257;p31"/>
          <p:cNvSpPr txBox="1"/>
          <p:nvPr>
            <p:ph idx="1" type="body"/>
          </p:nvPr>
        </p:nvSpPr>
        <p:spPr>
          <a:xfrm>
            <a:off x="311700" y="1152475"/>
            <a:ext cx="8520600" cy="3990900"/>
          </a:xfrm>
          <a:prstGeom prst="rect">
            <a:avLst/>
          </a:prstGeom>
          <a:noFill/>
          <a:ln>
            <a:noFill/>
          </a:ln>
        </p:spPr>
        <p:txBody>
          <a:bodyPr anchorCtr="0" anchor="t" bIns="91425" lIns="91425" spcFirstLastPara="1" rIns="91425" wrap="square" tIns="91425">
            <a:normAutofit fontScale="85000"/>
          </a:bodyPr>
          <a:lstStyle/>
          <a:p>
            <a:pPr indent="0" lvl="0" marL="241300" marR="50800" rtl="0" algn="l">
              <a:lnSpc>
                <a:spcPct val="170000"/>
              </a:lnSpc>
              <a:spcBef>
                <a:spcPts val="0"/>
              </a:spcBef>
              <a:spcAft>
                <a:spcPts val="0"/>
              </a:spcAft>
              <a:buSzPct val="184143"/>
              <a:buNone/>
            </a:pPr>
            <a:r>
              <a:rPr lang="es" sz="1150">
                <a:solidFill>
                  <a:srgbClr val="000000"/>
                </a:solidFill>
                <a:latin typeface="Courier New"/>
                <a:ea typeface="Courier New"/>
                <a:cs typeface="Courier New"/>
                <a:sym typeface="Courier New"/>
              </a:rPr>
              <a:t>Realiza la cabecera de una página web siguiendo las indicaciones siguientes:</a:t>
            </a:r>
            <a:endParaRPr sz="1150">
              <a:solidFill>
                <a:srgbClr val="000000"/>
              </a:solidFill>
              <a:latin typeface="Courier New"/>
              <a:ea typeface="Courier New"/>
              <a:cs typeface="Courier New"/>
              <a:sym typeface="Courier New"/>
            </a:endParaRPr>
          </a:p>
          <a:p>
            <a:pPr indent="-290702" lvl="0" marL="457200" marR="50800" rtl="0" algn="l">
              <a:lnSpc>
                <a:spcPct val="170000"/>
              </a:lnSpc>
              <a:spcBef>
                <a:spcPts val="0"/>
              </a:spcBef>
              <a:spcAft>
                <a:spcPts val="0"/>
              </a:spcAft>
              <a:buClr>
                <a:srgbClr val="000000"/>
              </a:buClr>
              <a:buSzPct val="100000"/>
              <a:buFont typeface="Courier New"/>
              <a:buChar char="●"/>
            </a:pPr>
            <a:r>
              <a:rPr lang="es" sz="1150">
                <a:solidFill>
                  <a:srgbClr val="000000"/>
                </a:solidFill>
                <a:latin typeface="Courier New"/>
                <a:ea typeface="Courier New"/>
                <a:cs typeface="Courier New"/>
                <a:sym typeface="Courier New"/>
              </a:rPr>
              <a:t>Añade un contenedor con una imagen de fondo: </a:t>
            </a:r>
            <a:r>
              <a:rPr lang="es" sz="1150" u="sng">
                <a:solidFill>
                  <a:schemeClr val="hlink"/>
                </a:solidFill>
                <a:latin typeface="Courier New"/>
                <a:ea typeface="Courier New"/>
                <a:cs typeface="Courier New"/>
                <a:sym typeface="Courier New"/>
                <a:hlinkClick r:id="rId3"/>
              </a:rPr>
              <a:t>https://img.freepik.com/vector-gratis/fondo-monocromatico-blanco-estilo-papel_52683-66443.jpg?w=900&amp;t=st=1697252118~exp=1697252718~hmac=c828b4d3b79a4f8c77d76ef1d503fd6b1666bcb1e7b4434ad3dbaffaaadc84ff</a:t>
            </a:r>
            <a:r>
              <a:rPr lang="es" sz="1150">
                <a:solidFill>
                  <a:srgbClr val="000000"/>
                </a:solidFill>
                <a:latin typeface="Courier New"/>
                <a:ea typeface="Courier New"/>
                <a:cs typeface="Courier New"/>
                <a:sym typeface="Courier New"/>
              </a:rPr>
              <a:t>"</a:t>
            </a:r>
            <a:endParaRPr sz="1150">
              <a:solidFill>
                <a:srgbClr val="000000"/>
              </a:solidFill>
              <a:latin typeface="Courier New"/>
              <a:ea typeface="Courier New"/>
              <a:cs typeface="Courier New"/>
              <a:sym typeface="Courier New"/>
            </a:endParaRPr>
          </a:p>
          <a:p>
            <a:pPr indent="-290702" lvl="0" marL="457200" marR="50800" rtl="0" algn="l">
              <a:lnSpc>
                <a:spcPct val="170000"/>
              </a:lnSpc>
              <a:spcBef>
                <a:spcPts val="0"/>
              </a:spcBef>
              <a:spcAft>
                <a:spcPts val="0"/>
              </a:spcAft>
              <a:buClr>
                <a:srgbClr val="000000"/>
              </a:buClr>
              <a:buSzPct val="100000"/>
              <a:buFont typeface="Courier New"/>
              <a:buChar char="●"/>
            </a:pPr>
            <a:r>
              <a:rPr lang="es" sz="1150">
                <a:solidFill>
                  <a:srgbClr val="000000"/>
                </a:solidFill>
                <a:latin typeface="Courier New"/>
                <a:ea typeface="Courier New"/>
                <a:cs typeface="Courier New"/>
                <a:sym typeface="Courier New"/>
              </a:rPr>
              <a:t>Cubre completamente el contenedor           </a:t>
            </a:r>
            <a:endParaRPr sz="1150">
              <a:solidFill>
                <a:srgbClr val="000000"/>
              </a:solidFill>
              <a:latin typeface="Courier New"/>
              <a:ea typeface="Courier New"/>
              <a:cs typeface="Courier New"/>
              <a:sym typeface="Courier New"/>
            </a:endParaRPr>
          </a:p>
          <a:p>
            <a:pPr indent="-290702" lvl="0" marL="457200" marR="50800" rtl="0" algn="l">
              <a:lnSpc>
                <a:spcPct val="170000"/>
              </a:lnSpc>
              <a:spcBef>
                <a:spcPts val="0"/>
              </a:spcBef>
              <a:spcAft>
                <a:spcPts val="0"/>
              </a:spcAft>
              <a:buClr>
                <a:srgbClr val="000000"/>
              </a:buClr>
              <a:buSzPct val="100000"/>
              <a:buFont typeface="Courier New"/>
              <a:buChar char="●"/>
            </a:pPr>
            <a:r>
              <a:rPr lang="es" sz="1150">
                <a:solidFill>
                  <a:srgbClr val="000000"/>
                </a:solidFill>
                <a:latin typeface="Courier New"/>
                <a:ea typeface="Courier New"/>
                <a:cs typeface="Courier New"/>
                <a:sym typeface="Courier New"/>
              </a:rPr>
              <a:t>Centra la imagen </a:t>
            </a:r>
            <a:endParaRPr sz="1150">
              <a:solidFill>
                <a:srgbClr val="000000"/>
              </a:solidFill>
              <a:latin typeface="Courier New"/>
              <a:ea typeface="Courier New"/>
              <a:cs typeface="Courier New"/>
              <a:sym typeface="Courier New"/>
            </a:endParaRPr>
          </a:p>
          <a:p>
            <a:pPr indent="-290702" lvl="0" marL="457200" marR="50800" rtl="0" algn="l">
              <a:lnSpc>
                <a:spcPct val="170000"/>
              </a:lnSpc>
              <a:spcBef>
                <a:spcPts val="0"/>
              </a:spcBef>
              <a:spcAft>
                <a:spcPts val="0"/>
              </a:spcAft>
              <a:buClr>
                <a:srgbClr val="000000"/>
              </a:buClr>
              <a:buSzPct val="100000"/>
              <a:buFont typeface="Courier New"/>
              <a:buChar char="●"/>
            </a:pPr>
            <a:r>
              <a:rPr lang="es" sz="1150">
                <a:solidFill>
                  <a:srgbClr val="000000"/>
                </a:solidFill>
                <a:latin typeface="Courier New"/>
                <a:ea typeface="Courier New"/>
                <a:cs typeface="Courier New"/>
                <a:sym typeface="Courier New"/>
              </a:rPr>
              <a:t>No se repite la imagen de fondo </a:t>
            </a:r>
            <a:endParaRPr sz="1150">
              <a:solidFill>
                <a:srgbClr val="000000"/>
              </a:solidFill>
              <a:latin typeface="Courier New"/>
              <a:ea typeface="Courier New"/>
              <a:cs typeface="Courier New"/>
              <a:sym typeface="Courier New"/>
            </a:endParaRPr>
          </a:p>
          <a:p>
            <a:pPr indent="-290702" lvl="0" marL="457200" marR="50800" rtl="0" algn="l">
              <a:lnSpc>
                <a:spcPct val="170000"/>
              </a:lnSpc>
              <a:spcBef>
                <a:spcPts val="0"/>
              </a:spcBef>
              <a:spcAft>
                <a:spcPts val="0"/>
              </a:spcAft>
              <a:buClr>
                <a:srgbClr val="000000"/>
              </a:buClr>
              <a:buSzPct val="100000"/>
              <a:buFont typeface="Courier New"/>
              <a:buChar char="●"/>
            </a:pPr>
            <a:r>
              <a:rPr lang="es" sz="1150">
                <a:solidFill>
                  <a:srgbClr val="000000"/>
                </a:solidFill>
                <a:latin typeface="Courier New"/>
                <a:ea typeface="Courier New"/>
                <a:cs typeface="Courier New"/>
                <a:sym typeface="Courier New"/>
              </a:rPr>
              <a:t>Fondo fijo en la ventana</a:t>
            </a:r>
            <a:endParaRPr sz="1150">
              <a:solidFill>
                <a:srgbClr val="000000"/>
              </a:solidFill>
              <a:latin typeface="Courier New"/>
              <a:ea typeface="Courier New"/>
              <a:cs typeface="Courier New"/>
              <a:sym typeface="Courier New"/>
            </a:endParaRPr>
          </a:p>
          <a:p>
            <a:pPr indent="-290702" lvl="0" marL="457200" marR="50800" rtl="0" algn="l">
              <a:lnSpc>
                <a:spcPct val="170000"/>
              </a:lnSpc>
              <a:spcBef>
                <a:spcPts val="0"/>
              </a:spcBef>
              <a:spcAft>
                <a:spcPts val="0"/>
              </a:spcAft>
              <a:buClr>
                <a:srgbClr val="000000"/>
              </a:buClr>
              <a:buSzPct val="100000"/>
              <a:buFont typeface="Courier New"/>
              <a:buChar char="●"/>
            </a:pPr>
            <a:r>
              <a:rPr lang="es" sz="1150">
                <a:solidFill>
                  <a:srgbClr val="000000"/>
                </a:solidFill>
                <a:latin typeface="Courier New"/>
                <a:ea typeface="Courier New"/>
                <a:cs typeface="Courier New"/>
                <a:sym typeface="Courier New"/>
              </a:rPr>
              <a:t>Opacidad del contenedor</a:t>
            </a:r>
            <a:endParaRPr sz="1150">
              <a:solidFill>
                <a:srgbClr val="000000"/>
              </a:solidFill>
              <a:latin typeface="Courier New"/>
              <a:ea typeface="Courier New"/>
              <a:cs typeface="Courier New"/>
              <a:sym typeface="Courier New"/>
            </a:endParaRPr>
          </a:p>
          <a:p>
            <a:pPr indent="-290702" lvl="0" marL="457200" marR="50800" rtl="0" algn="l">
              <a:lnSpc>
                <a:spcPct val="170000"/>
              </a:lnSpc>
              <a:spcBef>
                <a:spcPts val="0"/>
              </a:spcBef>
              <a:spcAft>
                <a:spcPts val="0"/>
              </a:spcAft>
              <a:buClr>
                <a:srgbClr val="000000"/>
              </a:buClr>
              <a:buSzPct val="100000"/>
              <a:buFont typeface="Courier New"/>
              <a:buChar char="●"/>
            </a:pPr>
            <a:r>
              <a:rPr lang="es" sz="1150">
                <a:solidFill>
                  <a:srgbClr val="000000"/>
                </a:solidFill>
                <a:latin typeface="Courier New"/>
                <a:ea typeface="Courier New"/>
                <a:cs typeface="Courier New"/>
                <a:sym typeface="Courier New"/>
              </a:rPr>
              <a:t>Alineación del contenido al centro</a:t>
            </a:r>
            <a:endParaRPr sz="1150">
              <a:solidFill>
                <a:srgbClr val="000000"/>
              </a:solidFill>
              <a:latin typeface="Courier New"/>
              <a:ea typeface="Courier New"/>
              <a:cs typeface="Courier New"/>
              <a:sym typeface="Courier New"/>
            </a:endParaRPr>
          </a:p>
          <a:p>
            <a:pPr indent="-290702" lvl="0" marL="457200" marR="50800" rtl="0" algn="l">
              <a:lnSpc>
                <a:spcPct val="170000"/>
              </a:lnSpc>
              <a:spcBef>
                <a:spcPts val="0"/>
              </a:spcBef>
              <a:spcAft>
                <a:spcPts val="0"/>
              </a:spcAft>
              <a:buClr>
                <a:srgbClr val="000000"/>
              </a:buClr>
              <a:buSzPct val="100000"/>
              <a:buFont typeface="Courier New"/>
              <a:buChar char="●"/>
            </a:pPr>
            <a:r>
              <a:rPr lang="es" sz="1150">
                <a:solidFill>
                  <a:srgbClr val="000000"/>
                </a:solidFill>
                <a:latin typeface="Courier New"/>
                <a:ea typeface="Courier New"/>
                <a:cs typeface="Courier New"/>
                <a:sym typeface="Courier New"/>
              </a:rPr>
              <a:t>Añade un relleno al contenedor, para comprobar que la imagen </a:t>
            </a:r>
            <a:br>
              <a:rPr lang="es" sz="1150">
                <a:solidFill>
                  <a:srgbClr val="000000"/>
                </a:solidFill>
                <a:latin typeface="Courier New"/>
                <a:ea typeface="Courier New"/>
                <a:cs typeface="Courier New"/>
                <a:sym typeface="Courier New"/>
              </a:rPr>
            </a:br>
            <a:r>
              <a:rPr lang="es" sz="1150">
                <a:solidFill>
                  <a:srgbClr val="000000"/>
                </a:solidFill>
                <a:latin typeface="Courier New"/>
                <a:ea typeface="Courier New"/>
                <a:cs typeface="Courier New"/>
                <a:sym typeface="Courier New"/>
              </a:rPr>
              <a:t>cubre ese relleno</a:t>
            </a:r>
            <a:endParaRPr sz="1150">
              <a:solidFill>
                <a:srgbClr val="000000"/>
              </a:solidFill>
              <a:latin typeface="Courier New"/>
              <a:ea typeface="Courier New"/>
              <a:cs typeface="Courier New"/>
              <a:sym typeface="Courier New"/>
            </a:endParaRPr>
          </a:p>
          <a:p>
            <a:pPr indent="-290702" lvl="0" marL="457200" marR="50800" rtl="0" algn="l">
              <a:lnSpc>
                <a:spcPct val="170000"/>
              </a:lnSpc>
              <a:spcBef>
                <a:spcPts val="0"/>
              </a:spcBef>
              <a:spcAft>
                <a:spcPts val="0"/>
              </a:spcAft>
              <a:buClr>
                <a:srgbClr val="000000"/>
              </a:buClr>
              <a:buSzPct val="100000"/>
              <a:buFont typeface="Courier New"/>
              <a:buChar char="●"/>
            </a:pPr>
            <a:r>
              <a:rPr lang="es" sz="1150">
                <a:solidFill>
                  <a:srgbClr val="000000"/>
                </a:solidFill>
                <a:latin typeface="Courier New"/>
                <a:ea typeface="Courier New"/>
                <a:cs typeface="Courier New"/>
                <a:sym typeface="Courier New"/>
              </a:rPr>
              <a:t>Añade un h2, un párrafo y un botón que estén centrados </a:t>
            </a:r>
            <a:endParaRPr sz="1150">
              <a:solidFill>
                <a:srgbClr val="000000"/>
              </a:solidFill>
              <a:latin typeface="Courier New"/>
              <a:ea typeface="Courier New"/>
              <a:cs typeface="Courier New"/>
              <a:sym typeface="Courier New"/>
            </a:endParaRPr>
          </a:p>
          <a:p>
            <a:pPr indent="0" lvl="0" marL="0" rtl="0" algn="l">
              <a:lnSpc>
                <a:spcPct val="115000"/>
              </a:lnSpc>
              <a:spcBef>
                <a:spcPts val="0"/>
              </a:spcBef>
              <a:spcAft>
                <a:spcPts val="0"/>
              </a:spcAft>
              <a:buSzPct val="184143"/>
              <a:buNone/>
            </a:pPr>
            <a:r>
              <a:rPr lang="es" sz="1150" u="sng">
                <a:solidFill>
                  <a:schemeClr val="lt1"/>
                </a:solidFill>
                <a:highlight>
                  <a:schemeClr val="lt1"/>
                </a:highlight>
                <a:latin typeface="Courier New"/>
                <a:ea typeface="Courier New"/>
                <a:cs typeface="Courier New"/>
                <a:sym typeface="Courier New"/>
                <a:hlinkClick r:id="rId4">
                  <a:extLst>
                    <a:ext uri="{A12FA001-AC4F-418D-AE19-62706E023703}">
                      <ahyp:hlinkClr val="tx"/>
                    </a:ext>
                  </a:extLst>
                </a:hlinkClick>
              </a:rPr>
              <a:t>https://codepen.io/Eniun/pen/VwqNNpE</a:t>
            </a:r>
            <a:r>
              <a:rPr lang="es" sz="1150" u="sng">
                <a:solidFill>
                  <a:schemeClr val="lt1"/>
                </a:solidFill>
                <a:highlight>
                  <a:schemeClr val="lt1"/>
                </a:highlight>
                <a:latin typeface="Courier New"/>
                <a:ea typeface="Courier New"/>
                <a:cs typeface="Courier New"/>
                <a:sym typeface="Courier New"/>
              </a:rPr>
              <a:t>    </a:t>
            </a:r>
            <a:endParaRPr sz="1150" u="sng">
              <a:solidFill>
                <a:schemeClr val="lt1"/>
              </a:solidFill>
              <a:highlight>
                <a:schemeClr val="lt1"/>
              </a:highlight>
              <a:latin typeface="Courier New"/>
              <a:ea typeface="Courier New"/>
              <a:cs typeface="Courier New"/>
              <a:sym typeface="Courier New"/>
            </a:endParaRPr>
          </a:p>
          <a:p>
            <a:pPr indent="0" lvl="0" marL="0" rtl="0" algn="l">
              <a:lnSpc>
                <a:spcPct val="115000"/>
              </a:lnSpc>
              <a:spcBef>
                <a:spcPts val="1200"/>
              </a:spcBef>
              <a:spcAft>
                <a:spcPts val="1200"/>
              </a:spcAft>
              <a:buSzPct val="184143"/>
              <a:buNone/>
            </a:pPr>
            <a:r>
              <a:t/>
            </a:r>
            <a:endParaRPr sz="1150">
              <a:solidFill>
                <a:schemeClr val="lt1"/>
              </a:solidFill>
              <a:highlight>
                <a:schemeClr val="lt1"/>
              </a:highlight>
              <a:latin typeface="Courier New"/>
              <a:ea typeface="Courier New"/>
              <a:cs typeface="Courier New"/>
              <a:sym typeface="Courier New"/>
            </a:endParaRPr>
          </a:p>
        </p:txBody>
      </p:sp>
      <p:pic>
        <p:nvPicPr>
          <p:cNvPr id="258" name="Google Shape;258;p31"/>
          <p:cNvPicPr preferRelativeResize="0"/>
          <p:nvPr/>
        </p:nvPicPr>
        <p:blipFill rotWithShape="1">
          <a:blip r:embed="rId5">
            <a:alphaModFix/>
          </a:blip>
          <a:srcRect b="0" l="0" r="0" t="0"/>
          <a:stretch/>
        </p:blipFill>
        <p:spPr>
          <a:xfrm>
            <a:off x="6070025" y="2263575"/>
            <a:ext cx="2604323" cy="2239201"/>
          </a:xfrm>
          <a:prstGeom prst="rect">
            <a:avLst/>
          </a:prstGeom>
          <a:noFill/>
          <a:ln>
            <a:noFill/>
          </a:ln>
          <a:effectLst>
            <a:outerShdw blurRad="57150" rotWithShape="0" algn="bl" dir="5400000" dist="19050">
              <a:srgbClr val="000000">
                <a:alpha val="49803"/>
              </a:srgbClr>
            </a:outerShdw>
            <a:reflection blurRad="0" dir="5400000" dist="38100" endA="0" endPos="30000" fadeDir="5400012" kx="0" rotWithShape="0" algn="bl" stPos="0" sy="-100000" ky="0"/>
          </a:effectLst>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6. Propiedades del texto</a:t>
            </a:r>
            <a:endParaRPr/>
          </a:p>
          <a:p>
            <a:pPr indent="0" lvl="0" marL="0" rtl="0" algn="l">
              <a:lnSpc>
                <a:spcPct val="100000"/>
              </a:lnSpc>
              <a:spcBef>
                <a:spcPts val="0"/>
              </a:spcBef>
              <a:spcAft>
                <a:spcPts val="0"/>
              </a:spcAft>
              <a:buSzPct val="111111"/>
              <a:buNone/>
            </a:pPr>
            <a:r>
              <a:t/>
            </a:r>
            <a:endParaRPr/>
          </a:p>
        </p:txBody>
      </p:sp>
      <p:sp>
        <p:nvSpPr>
          <p:cNvPr id="264" name="Google Shape;264;p32"/>
          <p:cNvSpPr txBox="1"/>
          <p:nvPr>
            <p:ph idx="1" type="body"/>
          </p:nvPr>
        </p:nvSpPr>
        <p:spPr>
          <a:xfrm>
            <a:off x="311700" y="1152475"/>
            <a:ext cx="8520600" cy="38232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15000"/>
              </a:lnSpc>
              <a:spcBef>
                <a:spcPts val="0"/>
              </a:spcBef>
              <a:spcAft>
                <a:spcPts val="0"/>
              </a:spcAft>
              <a:buSzPct val="84611"/>
              <a:buNone/>
            </a:pPr>
            <a:r>
              <a:rPr b="1" lang="es" sz="2745"/>
              <a:t>6.1. Text-indent</a:t>
            </a:r>
            <a:endParaRPr b="1" sz="2745"/>
          </a:p>
          <a:p>
            <a:pPr indent="0" lvl="0" marL="0" rtl="0" algn="l">
              <a:lnSpc>
                <a:spcPct val="115000"/>
              </a:lnSpc>
              <a:spcBef>
                <a:spcPts val="1200"/>
              </a:spcBef>
              <a:spcAft>
                <a:spcPts val="0"/>
              </a:spcAft>
              <a:buSzPct val="172043"/>
              <a:buNone/>
            </a:pPr>
            <a:r>
              <a:rPr lang="es" sz="1350">
                <a:solidFill>
                  <a:srgbClr val="000000"/>
                </a:solidFill>
                <a:highlight>
                  <a:srgbClr val="FFFFFF"/>
                </a:highlight>
                <a:latin typeface="Courier New"/>
                <a:ea typeface="Courier New"/>
                <a:cs typeface="Courier New"/>
                <a:sym typeface="Courier New"/>
              </a:rPr>
              <a:t>.a { text-indent: 50px; }</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ct val="172043"/>
              <a:buNone/>
            </a:pPr>
            <a:r>
              <a:rPr lang="es" sz="1350">
                <a:solidFill>
                  <a:srgbClr val="000000"/>
                </a:solidFill>
                <a:highlight>
                  <a:srgbClr val="FFFFFF"/>
                </a:highlight>
                <a:latin typeface="Courier New"/>
                <a:ea typeface="Courier New"/>
                <a:cs typeface="Courier New"/>
                <a:sym typeface="Courier New"/>
              </a:rPr>
              <a:t>.b { text-indent: 3em; }</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ct val="172043"/>
              <a:buNone/>
            </a:pPr>
            <a:r>
              <a:rPr lang="es" sz="1350">
                <a:solidFill>
                  <a:srgbClr val="000000"/>
                </a:solidFill>
                <a:highlight>
                  <a:srgbClr val="FFFFFF"/>
                </a:highlight>
                <a:latin typeface="Courier New"/>
                <a:ea typeface="Courier New"/>
                <a:cs typeface="Courier New"/>
                <a:sym typeface="Courier New"/>
              </a:rPr>
              <a:t>.c { text-indent: 30%;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200"/>
              </a:spcBef>
              <a:spcAft>
                <a:spcPts val="0"/>
              </a:spcAft>
              <a:buSzPct val="172043"/>
              <a:buNone/>
            </a:pPr>
            <a:r>
              <a:rPr lang="es" sz="1350">
                <a:solidFill>
                  <a:srgbClr val="000000"/>
                </a:solidFill>
                <a:highlight>
                  <a:srgbClr val="FFFFFF"/>
                </a:highlight>
                <a:latin typeface="Courier New"/>
                <a:ea typeface="Courier New"/>
                <a:cs typeface="Courier New"/>
                <a:sym typeface="Courier New"/>
              </a:rPr>
              <a:t>.d { text-indent: -50px;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ct val="172043"/>
              <a:buNone/>
            </a:pPr>
            <a:r>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ct val="172043"/>
              <a:buNone/>
            </a:pPr>
            <a:r>
              <a:rPr lang="es" sz="1350">
                <a:solidFill>
                  <a:srgbClr val="000000"/>
                </a:solidFill>
                <a:highlight>
                  <a:srgbClr val="FFFFFF"/>
                </a:highlight>
                <a:latin typeface="Courier New"/>
                <a:ea typeface="Courier New"/>
                <a:cs typeface="Courier New"/>
                <a:sym typeface="Courier New"/>
              </a:rPr>
              <a:t>&lt;h3&gt;Propiedad text-indent&lt;/h3&gt;</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ct val="172043"/>
              <a:buNone/>
            </a:pPr>
            <a:r>
              <a:rPr lang="es" sz="1350">
                <a:solidFill>
                  <a:srgbClr val="000000"/>
                </a:solidFill>
                <a:highlight>
                  <a:srgbClr val="FFFFFF"/>
                </a:highlight>
                <a:latin typeface="Courier New"/>
                <a:ea typeface="Courier New"/>
                <a:cs typeface="Courier New"/>
                <a:sym typeface="Courier New"/>
              </a:rPr>
              <a:t>&lt;p class="a"&gt;text-indent: 50px&lt;/p&gt;</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ct val="172043"/>
              <a:buNone/>
            </a:pPr>
            <a:r>
              <a:rPr lang="es" sz="1350">
                <a:solidFill>
                  <a:srgbClr val="000000"/>
                </a:solidFill>
                <a:highlight>
                  <a:srgbClr val="FFFFFF"/>
                </a:highlight>
                <a:latin typeface="Courier New"/>
                <a:ea typeface="Courier New"/>
                <a:cs typeface="Courier New"/>
                <a:sym typeface="Courier New"/>
              </a:rPr>
              <a:t>&lt;p class="b"&gt;text-indent: 3em&lt;/p&gt;</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ct val="172043"/>
              <a:buNone/>
            </a:pPr>
            <a:r>
              <a:rPr lang="es" sz="1350">
                <a:solidFill>
                  <a:srgbClr val="000000"/>
                </a:solidFill>
                <a:highlight>
                  <a:srgbClr val="FFFFFF"/>
                </a:highlight>
                <a:latin typeface="Courier New"/>
                <a:ea typeface="Courier New"/>
                <a:cs typeface="Courier New"/>
                <a:sym typeface="Courier New"/>
              </a:rPr>
              <a:t>&lt;p class="c"&gt;text-indent: 20%&lt;/p&gt;</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1500"/>
              </a:spcAft>
              <a:buSzPct val="172043"/>
              <a:buNone/>
            </a:pPr>
            <a:r>
              <a:rPr lang="es" sz="1350">
                <a:solidFill>
                  <a:srgbClr val="000000"/>
                </a:solidFill>
                <a:highlight>
                  <a:srgbClr val="FFFFFF"/>
                </a:highlight>
                <a:latin typeface="Courier New"/>
                <a:ea typeface="Courier New"/>
                <a:cs typeface="Courier New"/>
                <a:sym typeface="Courier New"/>
              </a:rPr>
              <a:t>&lt;p class="d"&gt;text-indent: -50px&lt;/p&gt;</a:t>
            </a:r>
            <a:endParaRPr b="1"/>
          </a:p>
        </p:txBody>
      </p:sp>
      <p:pic>
        <p:nvPicPr>
          <p:cNvPr id="265" name="Google Shape;265;p32"/>
          <p:cNvPicPr preferRelativeResize="0"/>
          <p:nvPr/>
        </p:nvPicPr>
        <p:blipFill rotWithShape="1">
          <a:blip r:embed="rId3">
            <a:alphaModFix/>
          </a:blip>
          <a:srcRect b="0" l="0" r="0" t="0"/>
          <a:stretch/>
        </p:blipFill>
        <p:spPr>
          <a:xfrm>
            <a:off x="3907088" y="1861913"/>
            <a:ext cx="5229225" cy="25431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6. Propiedades del texto</a:t>
            </a:r>
            <a:endParaRPr/>
          </a:p>
          <a:p>
            <a:pPr indent="0" lvl="0" marL="0" rtl="0" algn="l">
              <a:lnSpc>
                <a:spcPct val="100000"/>
              </a:lnSpc>
              <a:spcBef>
                <a:spcPts val="0"/>
              </a:spcBef>
              <a:spcAft>
                <a:spcPts val="0"/>
              </a:spcAft>
              <a:buSzPct val="111111"/>
              <a:buNone/>
            </a:pPr>
            <a:r>
              <a:t/>
            </a:r>
            <a:endParaRPr/>
          </a:p>
        </p:txBody>
      </p:sp>
      <p:sp>
        <p:nvSpPr>
          <p:cNvPr id="271" name="Google Shape;271;p33"/>
          <p:cNvSpPr txBox="1"/>
          <p:nvPr>
            <p:ph idx="1" type="body"/>
          </p:nvPr>
        </p:nvSpPr>
        <p:spPr>
          <a:xfrm>
            <a:off x="311700" y="1152475"/>
            <a:ext cx="8520600" cy="3823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sz="2745"/>
              <a:t>6.2. Text-align</a:t>
            </a:r>
            <a:endParaRPr b="1"/>
          </a:p>
        </p:txBody>
      </p:sp>
      <p:pic>
        <p:nvPicPr>
          <p:cNvPr id="272" name="Google Shape;272;p33"/>
          <p:cNvPicPr preferRelativeResize="0"/>
          <p:nvPr/>
        </p:nvPicPr>
        <p:blipFill rotWithShape="1">
          <a:blip r:embed="rId3">
            <a:alphaModFix/>
          </a:blip>
          <a:srcRect b="0" l="0" r="0" t="0"/>
          <a:stretch/>
        </p:blipFill>
        <p:spPr>
          <a:xfrm>
            <a:off x="567050" y="2060150"/>
            <a:ext cx="8265249" cy="26322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6. Propiedades del texto</a:t>
            </a:r>
            <a:endParaRPr/>
          </a:p>
          <a:p>
            <a:pPr indent="0" lvl="0" marL="0" rtl="0" algn="l">
              <a:lnSpc>
                <a:spcPct val="100000"/>
              </a:lnSpc>
              <a:spcBef>
                <a:spcPts val="0"/>
              </a:spcBef>
              <a:spcAft>
                <a:spcPts val="0"/>
              </a:spcAft>
              <a:buSzPct val="111111"/>
              <a:buNone/>
            </a:pPr>
            <a:r>
              <a:t/>
            </a:r>
            <a:endParaRPr/>
          </a:p>
        </p:txBody>
      </p:sp>
      <p:sp>
        <p:nvSpPr>
          <p:cNvPr id="278" name="Google Shape;278;p34"/>
          <p:cNvSpPr txBox="1"/>
          <p:nvPr>
            <p:ph idx="1" type="body"/>
          </p:nvPr>
        </p:nvSpPr>
        <p:spPr>
          <a:xfrm>
            <a:off x="311700" y="1152475"/>
            <a:ext cx="8520600" cy="3823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2745"/>
              <a:t>6.3. Text-decoration</a:t>
            </a:r>
            <a:endParaRPr b="1" sz="2745"/>
          </a:p>
          <a:p>
            <a:pPr indent="0" lvl="0" marL="0" rtl="0" algn="l">
              <a:lnSpc>
                <a:spcPct val="115000"/>
              </a:lnSpc>
              <a:spcBef>
                <a:spcPts val="12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.a { text-decoration: underline; }</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.b { text-decoration: overline;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2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.c { text-decoration: line-through; }</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500"/>
              </a:spcBef>
              <a:spcAft>
                <a:spcPts val="0"/>
              </a:spcAft>
              <a:buSzPts val="1800"/>
              <a:buNone/>
            </a:pPr>
            <a:r>
              <a:t/>
            </a:r>
            <a:endParaRPr b="1" sz="2745"/>
          </a:p>
          <a:p>
            <a:pPr indent="0" lvl="0" marL="0" rtl="0" algn="l">
              <a:lnSpc>
                <a:spcPct val="115000"/>
              </a:lnSpc>
              <a:spcBef>
                <a:spcPts val="1200"/>
              </a:spcBef>
              <a:spcAft>
                <a:spcPts val="1200"/>
              </a:spcAft>
              <a:buSzPts val="1800"/>
              <a:buNone/>
            </a:pPr>
            <a:r>
              <a:t/>
            </a:r>
            <a:endParaRPr b="1" sz="2745"/>
          </a:p>
        </p:txBody>
      </p:sp>
      <p:pic>
        <p:nvPicPr>
          <p:cNvPr id="279" name="Google Shape;279;p34"/>
          <p:cNvPicPr preferRelativeResize="0"/>
          <p:nvPr/>
        </p:nvPicPr>
        <p:blipFill rotWithShape="1">
          <a:blip r:embed="rId3">
            <a:alphaModFix/>
          </a:blip>
          <a:srcRect b="0" l="0" r="0" t="0"/>
          <a:stretch/>
        </p:blipFill>
        <p:spPr>
          <a:xfrm>
            <a:off x="5153700" y="1627638"/>
            <a:ext cx="2876550" cy="17240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6. Propiedades del texto</a:t>
            </a:r>
            <a:endParaRPr/>
          </a:p>
          <a:p>
            <a:pPr indent="0" lvl="0" marL="0" rtl="0" algn="l">
              <a:lnSpc>
                <a:spcPct val="100000"/>
              </a:lnSpc>
              <a:spcBef>
                <a:spcPts val="0"/>
              </a:spcBef>
              <a:spcAft>
                <a:spcPts val="0"/>
              </a:spcAft>
              <a:buSzPct val="111111"/>
              <a:buNone/>
            </a:pPr>
            <a:r>
              <a:t/>
            </a:r>
            <a:endParaRPr/>
          </a:p>
        </p:txBody>
      </p:sp>
      <p:sp>
        <p:nvSpPr>
          <p:cNvPr id="285" name="Google Shape;285;p35"/>
          <p:cNvSpPr txBox="1"/>
          <p:nvPr>
            <p:ph idx="1" type="body"/>
          </p:nvPr>
        </p:nvSpPr>
        <p:spPr>
          <a:xfrm>
            <a:off x="311700" y="1152475"/>
            <a:ext cx="8520600" cy="38232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b="1" lang="es" sz="2745"/>
              <a:t>6.4. Letter-spacing</a:t>
            </a:r>
            <a:endParaRPr b="1" sz="2745"/>
          </a:p>
          <a:p>
            <a:pPr indent="0" lvl="0" marL="0" rtl="0" algn="l">
              <a:lnSpc>
                <a:spcPct val="115000"/>
              </a:lnSpc>
              <a:spcBef>
                <a:spcPts val="12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.a { letter-spacing: 3px;  }</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.b { letter-spacing: 10px;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2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.c { letter-spacing: 15px; }</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500"/>
              </a:spcBef>
              <a:spcAft>
                <a:spcPts val="0"/>
              </a:spcAft>
              <a:buSzPts val="1800"/>
              <a:buNone/>
            </a:pPr>
            <a:r>
              <a:t/>
            </a:r>
            <a:endParaRPr b="1" sz="2745"/>
          </a:p>
          <a:p>
            <a:pPr indent="0" lvl="0" marL="0" rtl="0" algn="l">
              <a:lnSpc>
                <a:spcPct val="115000"/>
              </a:lnSpc>
              <a:spcBef>
                <a:spcPts val="1200"/>
              </a:spcBef>
              <a:spcAft>
                <a:spcPts val="0"/>
              </a:spcAft>
              <a:buSzPts val="1800"/>
              <a:buNone/>
            </a:pPr>
            <a:r>
              <a:rPr b="1" lang="es" sz="2745"/>
              <a:t>6.5. Word-spacing</a:t>
            </a:r>
            <a:endParaRPr b="1" sz="2745"/>
          </a:p>
          <a:p>
            <a:pPr indent="0" lvl="0" marL="0" rtl="0" algn="l">
              <a:lnSpc>
                <a:spcPct val="115000"/>
              </a:lnSpc>
              <a:spcBef>
                <a:spcPts val="12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.a { word-spacing: 5px; }</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.b { word-spacing: 20px;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200"/>
              </a:spcBef>
              <a:spcAft>
                <a:spcPts val="1500"/>
              </a:spcAft>
              <a:buSzPts val="1800"/>
              <a:buNone/>
            </a:pPr>
            <a:r>
              <a:rPr lang="es" sz="1350">
                <a:solidFill>
                  <a:srgbClr val="000000"/>
                </a:solidFill>
                <a:highlight>
                  <a:srgbClr val="FFFFFF"/>
                </a:highlight>
                <a:latin typeface="Courier New"/>
                <a:ea typeface="Courier New"/>
                <a:cs typeface="Courier New"/>
                <a:sym typeface="Courier New"/>
              </a:rPr>
              <a:t>.c { word-spacing: 50px; }</a:t>
            </a:r>
            <a:endParaRPr b="1" sz="2745"/>
          </a:p>
        </p:txBody>
      </p:sp>
      <p:pic>
        <p:nvPicPr>
          <p:cNvPr id="286" name="Google Shape;286;p35"/>
          <p:cNvPicPr preferRelativeResize="0"/>
          <p:nvPr/>
        </p:nvPicPr>
        <p:blipFill rotWithShape="1">
          <a:blip r:embed="rId3">
            <a:alphaModFix/>
          </a:blip>
          <a:srcRect b="0" l="0" r="0" t="0"/>
          <a:stretch/>
        </p:blipFill>
        <p:spPr>
          <a:xfrm>
            <a:off x="4136463" y="1324250"/>
            <a:ext cx="4695825" cy="1619250"/>
          </a:xfrm>
          <a:prstGeom prst="rect">
            <a:avLst/>
          </a:prstGeom>
          <a:noFill/>
          <a:ln>
            <a:noFill/>
          </a:ln>
        </p:spPr>
      </p:pic>
      <p:pic>
        <p:nvPicPr>
          <p:cNvPr id="287" name="Google Shape;287;p35"/>
          <p:cNvPicPr preferRelativeResize="0"/>
          <p:nvPr/>
        </p:nvPicPr>
        <p:blipFill rotWithShape="1">
          <a:blip r:embed="rId4">
            <a:alphaModFix/>
          </a:blip>
          <a:srcRect b="0" l="0" r="0" t="0"/>
          <a:stretch/>
        </p:blipFill>
        <p:spPr>
          <a:xfrm>
            <a:off x="4071775" y="3250025"/>
            <a:ext cx="2609850" cy="14478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6. Propiedades del texto</a:t>
            </a:r>
            <a:endParaRPr/>
          </a:p>
          <a:p>
            <a:pPr indent="0" lvl="0" marL="0" rtl="0" algn="l">
              <a:lnSpc>
                <a:spcPct val="100000"/>
              </a:lnSpc>
              <a:spcBef>
                <a:spcPts val="0"/>
              </a:spcBef>
              <a:spcAft>
                <a:spcPts val="0"/>
              </a:spcAft>
              <a:buSzPct val="111111"/>
              <a:buNone/>
            </a:pPr>
            <a:r>
              <a:t/>
            </a:r>
            <a:endParaRPr/>
          </a:p>
        </p:txBody>
      </p:sp>
      <p:sp>
        <p:nvSpPr>
          <p:cNvPr id="293" name="Google Shape;293;p36"/>
          <p:cNvSpPr txBox="1"/>
          <p:nvPr>
            <p:ph idx="1" type="body"/>
          </p:nvPr>
        </p:nvSpPr>
        <p:spPr>
          <a:xfrm>
            <a:off x="311700" y="1531100"/>
            <a:ext cx="8520600" cy="3444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2745"/>
              <a:t>6.6. Text-transform</a:t>
            </a:r>
            <a:endParaRPr b="1" sz="2745"/>
          </a:p>
          <a:p>
            <a:pPr indent="0" lvl="0" marL="0" rtl="0" algn="l">
              <a:lnSpc>
                <a:spcPct val="115000"/>
              </a:lnSpc>
              <a:spcBef>
                <a:spcPts val="12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.a { text-transform: capitalize; }</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.b { text-transform: uppercase;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200"/>
              </a:spcBef>
              <a:spcAft>
                <a:spcPts val="1500"/>
              </a:spcAft>
              <a:buSzPts val="1800"/>
              <a:buNone/>
            </a:pPr>
            <a:r>
              <a:rPr lang="es" sz="1350">
                <a:solidFill>
                  <a:srgbClr val="000000"/>
                </a:solidFill>
                <a:highlight>
                  <a:srgbClr val="FFFFFF"/>
                </a:highlight>
                <a:latin typeface="Courier New"/>
                <a:ea typeface="Courier New"/>
                <a:cs typeface="Courier New"/>
                <a:sym typeface="Courier New"/>
              </a:rPr>
              <a:t>.c { text-transform: lowercase; }</a:t>
            </a:r>
            <a:endParaRPr b="1" sz="2745"/>
          </a:p>
        </p:txBody>
      </p:sp>
      <p:pic>
        <p:nvPicPr>
          <p:cNvPr id="294" name="Google Shape;294;p36"/>
          <p:cNvPicPr preferRelativeResize="0"/>
          <p:nvPr/>
        </p:nvPicPr>
        <p:blipFill rotWithShape="1">
          <a:blip r:embed="rId3">
            <a:alphaModFix/>
          </a:blip>
          <a:srcRect b="0" l="0" r="0" t="0"/>
          <a:stretch/>
        </p:blipFill>
        <p:spPr>
          <a:xfrm>
            <a:off x="5003738" y="1925238"/>
            <a:ext cx="2847975" cy="14573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6. Propiedades del texto</a:t>
            </a:r>
            <a:endParaRPr/>
          </a:p>
          <a:p>
            <a:pPr indent="0" lvl="0" marL="0" rtl="0" algn="l">
              <a:lnSpc>
                <a:spcPct val="100000"/>
              </a:lnSpc>
              <a:spcBef>
                <a:spcPts val="0"/>
              </a:spcBef>
              <a:spcAft>
                <a:spcPts val="0"/>
              </a:spcAft>
              <a:buSzPct val="111111"/>
              <a:buNone/>
            </a:pPr>
            <a:r>
              <a:t/>
            </a:r>
            <a:endParaRPr/>
          </a:p>
        </p:txBody>
      </p:sp>
      <p:sp>
        <p:nvSpPr>
          <p:cNvPr id="300" name="Google Shape;300;p37"/>
          <p:cNvSpPr txBox="1"/>
          <p:nvPr>
            <p:ph idx="1" type="body"/>
          </p:nvPr>
        </p:nvSpPr>
        <p:spPr>
          <a:xfrm>
            <a:off x="311700" y="1531100"/>
            <a:ext cx="8520600" cy="3444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2745"/>
              <a:t>6.7. Line-height</a:t>
            </a:r>
            <a:endParaRPr b="1" sz="2745"/>
          </a:p>
          <a:p>
            <a:pPr indent="0" lvl="0" marL="0" marR="139700" rtl="0" algn="l">
              <a:lnSpc>
                <a:spcPct val="116666"/>
              </a:lnSpc>
              <a:spcBef>
                <a:spcPts val="12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.a { line-height: 50px;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.b { line-height: 3em;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.c { line-height: 20%;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ts val="1800"/>
              <a:buNone/>
            </a:pPr>
            <a:r>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1500"/>
              </a:spcAft>
              <a:buSzPts val="1800"/>
              <a:buNone/>
            </a:pPr>
            <a:r>
              <a:rPr lang="es" sz="1350" u="sng">
                <a:solidFill>
                  <a:schemeClr val="hlink"/>
                </a:solidFill>
                <a:highlight>
                  <a:srgbClr val="FFFFFF"/>
                </a:highlight>
                <a:latin typeface="Courier New"/>
                <a:ea typeface="Courier New"/>
                <a:cs typeface="Courier New"/>
                <a:sym typeface="Courier New"/>
                <a:hlinkClick r:id="rId3"/>
              </a:rPr>
              <a:t>https://codepen.io/Eniun/pen/xoQpOz</a:t>
            </a:r>
            <a:r>
              <a:rPr lang="es" sz="1350">
                <a:solidFill>
                  <a:srgbClr val="000000"/>
                </a:solidFill>
                <a:highlight>
                  <a:srgbClr val="FFFFFF"/>
                </a:highlight>
                <a:latin typeface="Courier New"/>
                <a:ea typeface="Courier New"/>
                <a:cs typeface="Courier New"/>
                <a:sym typeface="Courier New"/>
              </a:rPr>
              <a:t> </a:t>
            </a:r>
            <a:endParaRPr sz="1350">
              <a:solidFill>
                <a:srgbClr val="000000"/>
              </a:solidFill>
              <a:highlight>
                <a:srgbClr val="FFFFFF"/>
              </a:highlight>
              <a:latin typeface="Courier New"/>
              <a:ea typeface="Courier New"/>
              <a:cs typeface="Courier New"/>
              <a:sym typeface="Courier New"/>
            </a:endParaRPr>
          </a:p>
        </p:txBody>
      </p:sp>
      <p:pic>
        <p:nvPicPr>
          <p:cNvPr id="301" name="Google Shape;301;p37"/>
          <p:cNvPicPr preferRelativeResize="0"/>
          <p:nvPr/>
        </p:nvPicPr>
        <p:blipFill rotWithShape="1">
          <a:blip r:embed="rId4">
            <a:alphaModFix/>
          </a:blip>
          <a:srcRect b="0" l="0" r="0" t="0"/>
          <a:stretch/>
        </p:blipFill>
        <p:spPr>
          <a:xfrm>
            <a:off x="4703388" y="1708900"/>
            <a:ext cx="2828925" cy="21526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6. Propiedades del texto</a:t>
            </a:r>
            <a:endParaRPr/>
          </a:p>
          <a:p>
            <a:pPr indent="0" lvl="0" marL="0" rtl="0" algn="l">
              <a:lnSpc>
                <a:spcPct val="100000"/>
              </a:lnSpc>
              <a:spcBef>
                <a:spcPts val="0"/>
              </a:spcBef>
              <a:spcAft>
                <a:spcPts val="0"/>
              </a:spcAft>
              <a:buSzPct val="111111"/>
              <a:buNone/>
            </a:pPr>
            <a:r>
              <a:t/>
            </a:r>
            <a:endParaRPr/>
          </a:p>
        </p:txBody>
      </p:sp>
      <p:sp>
        <p:nvSpPr>
          <p:cNvPr id="307" name="Google Shape;307;p38"/>
          <p:cNvSpPr txBox="1"/>
          <p:nvPr>
            <p:ph idx="1" type="body"/>
          </p:nvPr>
        </p:nvSpPr>
        <p:spPr>
          <a:xfrm>
            <a:off x="311700" y="1596775"/>
            <a:ext cx="8520600" cy="34446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77145"/>
              <a:buNone/>
            </a:pPr>
            <a:r>
              <a:rPr b="1" lang="es" sz="2745"/>
              <a:t>6.8. Vertical-align</a:t>
            </a:r>
            <a:endParaRPr b="1" sz="2745"/>
          </a:p>
          <a:p>
            <a:pPr indent="0" lvl="0" marL="0" marR="139700" rtl="0" algn="l">
              <a:lnSpc>
                <a:spcPct val="116666"/>
              </a:lnSpc>
              <a:spcBef>
                <a:spcPts val="1200"/>
              </a:spcBef>
              <a:spcAft>
                <a:spcPts val="0"/>
              </a:spcAft>
              <a:buSzPct val="156862"/>
              <a:buNone/>
            </a:pPr>
            <a:r>
              <a:rPr lang="es" sz="1350">
                <a:solidFill>
                  <a:srgbClr val="000000"/>
                </a:solidFill>
                <a:highlight>
                  <a:srgbClr val="FFFFFF"/>
                </a:highlight>
                <a:latin typeface="Courier New"/>
                <a:ea typeface="Courier New"/>
                <a:cs typeface="Courier New"/>
                <a:sym typeface="Courier New"/>
              </a:rPr>
              <a:t>.a { vertical-align: top;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ct val="156862"/>
              <a:buNone/>
            </a:pPr>
            <a:r>
              <a:rPr lang="es" sz="1350">
                <a:solidFill>
                  <a:srgbClr val="000000"/>
                </a:solidFill>
                <a:highlight>
                  <a:srgbClr val="FFFFFF"/>
                </a:highlight>
                <a:latin typeface="Courier New"/>
                <a:ea typeface="Courier New"/>
                <a:cs typeface="Courier New"/>
                <a:sym typeface="Courier New"/>
              </a:rPr>
              <a:t>.b { vertical-align: middle;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ct val="156862"/>
              <a:buNone/>
            </a:pPr>
            <a:r>
              <a:rPr lang="es" sz="1350">
                <a:solidFill>
                  <a:srgbClr val="000000"/>
                </a:solidFill>
                <a:highlight>
                  <a:srgbClr val="FFFFFF"/>
                </a:highlight>
                <a:latin typeface="Courier New"/>
                <a:ea typeface="Courier New"/>
                <a:cs typeface="Courier New"/>
                <a:sym typeface="Courier New"/>
              </a:rPr>
              <a:t>.c { vertical-align: bottom;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ct val="156862"/>
              <a:buNone/>
            </a:pPr>
            <a:r>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ct val="156862"/>
              <a:buNone/>
            </a:pPr>
            <a:r>
              <a:rPr lang="es" sz="1350">
                <a:solidFill>
                  <a:srgbClr val="000000"/>
                </a:solidFill>
                <a:highlight>
                  <a:srgbClr val="FFFFFF"/>
                </a:highlight>
                <a:latin typeface="Courier New"/>
                <a:ea typeface="Courier New"/>
                <a:cs typeface="Courier New"/>
                <a:sym typeface="Courier New"/>
              </a:rPr>
              <a:t>.a { vertical-align: baseline;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ct val="156862"/>
              <a:buNone/>
            </a:pPr>
            <a:r>
              <a:rPr lang="es" sz="1350">
                <a:solidFill>
                  <a:srgbClr val="000000"/>
                </a:solidFill>
                <a:highlight>
                  <a:srgbClr val="FFFFFF"/>
                </a:highlight>
                <a:latin typeface="Courier New"/>
                <a:ea typeface="Courier New"/>
                <a:cs typeface="Courier New"/>
                <a:sym typeface="Courier New"/>
              </a:rPr>
              <a:t>.b { vertical-align: sub;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ct val="156862"/>
              <a:buNone/>
            </a:pPr>
            <a:r>
              <a:rPr lang="es" sz="1350">
                <a:solidFill>
                  <a:srgbClr val="000000"/>
                </a:solidFill>
                <a:highlight>
                  <a:srgbClr val="FFFFFF"/>
                </a:highlight>
                <a:latin typeface="Courier New"/>
                <a:ea typeface="Courier New"/>
                <a:cs typeface="Courier New"/>
                <a:sym typeface="Courier New"/>
              </a:rPr>
              <a:t>.c { vertical-align: super;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1500"/>
              </a:spcAft>
              <a:buSzPct val="156862"/>
              <a:buNone/>
            </a:pPr>
            <a:r>
              <a:rPr lang="es" sz="1350">
                <a:solidFill>
                  <a:srgbClr val="000000"/>
                </a:solidFill>
                <a:highlight>
                  <a:srgbClr val="FFFFFF"/>
                </a:highlight>
                <a:latin typeface="Courier New"/>
                <a:ea typeface="Courier New"/>
                <a:cs typeface="Courier New"/>
                <a:sym typeface="Courier New"/>
              </a:rPr>
              <a:t>.d { vertical-align: -10px; }</a:t>
            </a:r>
            <a:endParaRPr sz="1350">
              <a:solidFill>
                <a:srgbClr val="000000"/>
              </a:solidFill>
              <a:highlight>
                <a:srgbClr val="FFFFFF"/>
              </a:highlight>
              <a:latin typeface="Courier New"/>
              <a:ea typeface="Courier New"/>
              <a:cs typeface="Courier New"/>
              <a:sym typeface="Courier New"/>
            </a:endParaRPr>
          </a:p>
        </p:txBody>
      </p:sp>
      <p:pic>
        <p:nvPicPr>
          <p:cNvPr id="308" name="Google Shape;308;p38"/>
          <p:cNvPicPr preferRelativeResize="0"/>
          <p:nvPr/>
        </p:nvPicPr>
        <p:blipFill rotWithShape="1">
          <a:blip r:embed="rId3">
            <a:alphaModFix/>
          </a:blip>
          <a:srcRect b="0" l="0" r="0" t="0"/>
          <a:stretch/>
        </p:blipFill>
        <p:spPr>
          <a:xfrm>
            <a:off x="4165050" y="1089325"/>
            <a:ext cx="4667250" cy="1866900"/>
          </a:xfrm>
          <a:prstGeom prst="rect">
            <a:avLst/>
          </a:prstGeom>
          <a:noFill/>
          <a:ln>
            <a:noFill/>
          </a:ln>
        </p:spPr>
      </p:pic>
      <p:pic>
        <p:nvPicPr>
          <p:cNvPr id="309" name="Google Shape;309;p38"/>
          <p:cNvPicPr preferRelativeResize="0"/>
          <p:nvPr/>
        </p:nvPicPr>
        <p:blipFill rotWithShape="1">
          <a:blip r:embed="rId4">
            <a:alphaModFix/>
          </a:blip>
          <a:srcRect b="0" l="0" r="0" t="0"/>
          <a:stretch/>
        </p:blipFill>
        <p:spPr>
          <a:xfrm>
            <a:off x="4165050" y="3027850"/>
            <a:ext cx="2099500" cy="21156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6. Propiedades del texto</a:t>
            </a:r>
            <a:endParaRPr/>
          </a:p>
          <a:p>
            <a:pPr indent="0" lvl="0" marL="0" rtl="0" algn="l">
              <a:lnSpc>
                <a:spcPct val="100000"/>
              </a:lnSpc>
              <a:spcBef>
                <a:spcPts val="0"/>
              </a:spcBef>
              <a:spcAft>
                <a:spcPts val="0"/>
              </a:spcAft>
              <a:buSzPct val="111111"/>
              <a:buNone/>
            </a:pPr>
            <a:r>
              <a:t/>
            </a:r>
            <a:endParaRPr/>
          </a:p>
        </p:txBody>
      </p:sp>
      <p:sp>
        <p:nvSpPr>
          <p:cNvPr id="315" name="Google Shape;315;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316" name="Google Shape;316;p39"/>
          <p:cNvPicPr preferRelativeResize="0"/>
          <p:nvPr/>
        </p:nvPicPr>
        <p:blipFill rotWithShape="1">
          <a:blip r:embed="rId3">
            <a:alphaModFix/>
          </a:blip>
          <a:srcRect b="0" l="0" r="0" t="0"/>
          <a:stretch/>
        </p:blipFill>
        <p:spPr>
          <a:xfrm>
            <a:off x="676900" y="1017723"/>
            <a:ext cx="7790201" cy="41012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EJERCICIO</a:t>
            </a:r>
            <a:endParaRPr/>
          </a:p>
          <a:p>
            <a:pPr indent="0" lvl="0" marL="0" rtl="0" algn="l">
              <a:lnSpc>
                <a:spcPct val="100000"/>
              </a:lnSpc>
              <a:spcBef>
                <a:spcPts val="0"/>
              </a:spcBef>
              <a:spcAft>
                <a:spcPts val="0"/>
              </a:spcAft>
              <a:buSzPct val="111111"/>
              <a:buNone/>
            </a:pPr>
            <a:r>
              <a:t/>
            </a:r>
            <a:endParaRPr/>
          </a:p>
        </p:txBody>
      </p:sp>
      <p:sp>
        <p:nvSpPr>
          <p:cNvPr id="322" name="Google Shape;322;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Ejercicio propiedades del texto en Moodle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7. Propiedades de las fuentes</a:t>
            </a:r>
            <a:endParaRPr/>
          </a:p>
          <a:p>
            <a:pPr indent="0" lvl="0" marL="0" rtl="0" algn="l">
              <a:lnSpc>
                <a:spcPct val="100000"/>
              </a:lnSpc>
              <a:spcBef>
                <a:spcPts val="0"/>
              </a:spcBef>
              <a:spcAft>
                <a:spcPts val="0"/>
              </a:spcAft>
              <a:buSzPct val="111111"/>
              <a:buNone/>
            </a:pPr>
            <a:r>
              <a:t/>
            </a:r>
            <a:endParaRPr/>
          </a:p>
        </p:txBody>
      </p:sp>
      <p:sp>
        <p:nvSpPr>
          <p:cNvPr id="328" name="Google Shape;328;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2745"/>
              <a:t>7.1. Font-family</a:t>
            </a:r>
            <a:endParaRPr b="1" sz="2745"/>
          </a:p>
          <a:p>
            <a:pPr indent="0" lvl="0" marL="0" marR="139700" rtl="0" algn="l">
              <a:lnSpc>
                <a:spcPct val="116666"/>
              </a:lnSpc>
              <a:spcBef>
                <a:spcPts val="12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.a  { font-family: "Times New Roman", Times, serif;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.b  { font-family: Arial, Helvetica, sans-serif; }</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500"/>
              </a:spcBef>
              <a:spcAft>
                <a:spcPts val="0"/>
              </a:spcAft>
              <a:buSzPts val="1800"/>
              <a:buNone/>
            </a:pPr>
            <a:r>
              <a:rPr b="1" lang="es" sz="2745"/>
              <a:t>7.2. Font-style</a:t>
            </a:r>
            <a:endParaRPr b="1"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2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.a  { font-style: normal;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.b  { font-style: italic;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1500"/>
              </a:spcAft>
              <a:buSzPts val="1800"/>
              <a:buNone/>
            </a:pPr>
            <a:r>
              <a:rPr lang="es" sz="1350">
                <a:solidFill>
                  <a:srgbClr val="000000"/>
                </a:solidFill>
                <a:highlight>
                  <a:srgbClr val="FFFFFF"/>
                </a:highlight>
                <a:latin typeface="Courier New"/>
                <a:ea typeface="Courier New"/>
                <a:cs typeface="Courier New"/>
                <a:sym typeface="Courier New"/>
              </a:rPr>
              <a:t>.c  { font-style: oblique; }</a:t>
            </a:r>
            <a:endParaRPr sz="1350">
              <a:solidFill>
                <a:srgbClr val="000000"/>
              </a:solidFill>
              <a:highlight>
                <a:srgbClr val="FFFFFF"/>
              </a:highlight>
              <a:latin typeface="Courier New"/>
              <a:ea typeface="Courier New"/>
              <a:cs typeface="Courier New"/>
              <a:sym typeface="Courier New"/>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7. Propiedades de las fuentes</a:t>
            </a:r>
            <a:endParaRPr/>
          </a:p>
          <a:p>
            <a:pPr indent="0" lvl="0" marL="0" rtl="0" algn="l">
              <a:lnSpc>
                <a:spcPct val="100000"/>
              </a:lnSpc>
              <a:spcBef>
                <a:spcPts val="0"/>
              </a:spcBef>
              <a:spcAft>
                <a:spcPts val="0"/>
              </a:spcAft>
              <a:buSzPct val="111111"/>
              <a:buNone/>
            </a:pPr>
            <a:r>
              <a:t/>
            </a:r>
            <a:endParaRPr/>
          </a:p>
        </p:txBody>
      </p:sp>
      <p:sp>
        <p:nvSpPr>
          <p:cNvPr id="334" name="Google Shape;334;p4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2745"/>
              <a:t>7.3. Font-variant</a:t>
            </a:r>
            <a:endParaRPr b="1" sz="2745"/>
          </a:p>
          <a:p>
            <a:pPr indent="0" lvl="0" marL="0" marR="139700" rtl="0" algn="l">
              <a:lnSpc>
                <a:spcPct val="116666"/>
              </a:lnSpc>
              <a:spcBef>
                <a:spcPts val="12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.a  { font-variant: normal;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.b  { font-variant: small-caps; }</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500"/>
              </a:spcBef>
              <a:spcAft>
                <a:spcPts val="0"/>
              </a:spcAft>
              <a:buSzPts val="1800"/>
              <a:buNone/>
            </a:pPr>
            <a:r>
              <a:rPr b="1" lang="es" sz="2745"/>
              <a:t>7.4. Font-weight</a:t>
            </a:r>
            <a:endParaRPr b="1"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2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.a  { font-weight: normal;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.b  { font-weight: bold;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1500"/>
              </a:spcAft>
              <a:buSzPts val="1800"/>
              <a:buNone/>
            </a:pPr>
            <a:r>
              <a:rPr lang="es" sz="1350">
                <a:solidFill>
                  <a:srgbClr val="000000"/>
                </a:solidFill>
                <a:highlight>
                  <a:srgbClr val="FFFFFF"/>
                </a:highlight>
                <a:latin typeface="Courier New"/>
                <a:ea typeface="Courier New"/>
                <a:cs typeface="Courier New"/>
                <a:sym typeface="Courier New"/>
              </a:rPr>
              <a:t>.c  { font-weight: 600; }</a:t>
            </a:r>
            <a:endParaRPr sz="1350">
              <a:solidFill>
                <a:srgbClr val="000000"/>
              </a:solidFill>
              <a:highlight>
                <a:srgbClr val="FFFFFF"/>
              </a:highlight>
              <a:latin typeface="Courier New"/>
              <a:ea typeface="Courier New"/>
              <a:cs typeface="Courier New"/>
              <a:sym typeface="Courier New"/>
            </a:endParaRPr>
          </a:p>
        </p:txBody>
      </p:sp>
      <p:pic>
        <p:nvPicPr>
          <p:cNvPr id="335" name="Google Shape;335;p42"/>
          <p:cNvPicPr preferRelativeResize="0"/>
          <p:nvPr/>
        </p:nvPicPr>
        <p:blipFill rotWithShape="1">
          <a:blip r:embed="rId3">
            <a:alphaModFix/>
          </a:blip>
          <a:srcRect b="0" l="0" r="0" t="0"/>
          <a:stretch/>
        </p:blipFill>
        <p:spPr>
          <a:xfrm>
            <a:off x="4743450" y="1402613"/>
            <a:ext cx="2514600" cy="1057275"/>
          </a:xfrm>
          <a:prstGeom prst="rect">
            <a:avLst/>
          </a:prstGeom>
          <a:noFill/>
          <a:ln>
            <a:noFill/>
          </a:ln>
        </p:spPr>
      </p:pic>
      <p:pic>
        <p:nvPicPr>
          <p:cNvPr id="336" name="Google Shape;336;p42"/>
          <p:cNvPicPr preferRelativeResize="0"/>
          <p:nvPr/>
        </p:nvPicPr>
        <p:blipFill rotWithShape="1">
          <a:blip r:embed="rId4">
            <a:alphaModFix/>
          </a:blip>
          <a:srcRect b="0" l="0" r="0" t="0"/>
          <a:stretch/>
        </p:blipFill>
        <p:spPr>
          <a:xfrm>
            <a:off x="4743455" y="3007517"/>
            <a:ext cx="2514600" cy="1444283"/>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7. Propiedades de las fuentes</a:t>
            </a:r>
            <a:endParaRPr/>
          </a:p>
          <a:p>
            <a:pPr indent="0" lvl="0" marL="0" rtl="0" algn="l">
              <a:lnSpc>
                <a:spcPct val="100000"/>
              </a:lnSpc>
              <a:spcBef>
                <a:spcPts val="0"/>
              </a:spcBef>
              <a:spcAft>
                <a:spcPts val="0"/>
              </a:spcAft>
              <a:buSzPct val="111111"/>
              <a:buNone/>
            </a:pPr>
            <a:r>
              <a:t/>
            </a:r>
            <a:endParaRPr/>
          </a:p>
        </p:txBody>
      </p:sp>
      <p:sp>
        <p:nvSpPr>
          <p:cNvPr id="342" name="Google Shape;342;p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2745"/>
              <a:t>7.5. Font-size</a:t>
            </a:r>
            <a:endParaRPr b="1" sz="2745"/>
          </a:p>
          <a:p>
            <a:pPr indent="0" lvl="0" marL="0" marR="139700" rtl="0" algn="l">
              <a:lnSpc>
                <a:spcPct val="116666"/>
              </a:lnSpc>
              <a:spcBef>
                <a:spcPts val="12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.a  { font-size: 20px;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.b  { font-size: 2em;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.c  { font-size: xx-small;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.d  { font-size: small;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.e  { font-size: 250%;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1500"/>
              </a:spcAft>
              <a:buSzPts val="1800"/>
              <a:buNone/>
            </a:pPr>
            <a:r>
              <a:t/>
            </a:r>
            <a:endParaRPr sz="1350">
              <a:solidFill>
                <a:srgbClr val="000000"/>
              </a:solidFill>
              <a:highlight>
                <a:srgbClr val="FFFFFF"/>
              </a:highlight>
              <a:latin typeface="Courier New"/>
              <a:ea typeface="Courier New"/>
              <a:cs typeface="Courier New"/>
              <a:sym typeface="Courier New"/>
            </a:endParaRPr>
          </a:p>
        </p:txBody>
      </p:sp>
      <p:pic>
        <p:nvPicPr>
          <p:cNvPr id="343" name="Google Shape;343;p43"/>
          <p:cNvPicPr preferRelativeResize="0"/>
          <p:nvPr/>
        </p:nvPicPr>
        <p:blipFill rotWithShape="1">
          <a:blip r:embed="rId3">
            <a:alphaModFix/>
          </a:blip>
          <a:srcRect b="0" l="0" r="0" t="0"/>
          <a:stretch/>
        </p:blipFill>
        <p:spPr>
          <a:xfrm>
            <a:off x="3444750" y="1036638"/>
            <a:ext cx="5600700" cy="36480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7. Propiedades de las fuentes</a:t>
            </a:r>
            <a:endParaRPr/>
          </a:p>
          <a:p>
            <a:pPr indent="0" lvl="0" marL="0" rtl="0" algn="l">
              <a:lnSpc>
                <a:spcPct val="100000"/>
              </a:lnSpc>
              <a:spcBef>
                <a:spcPts val="0"/>
              </a:spcBef>
              <a:spcAft>
                <a:spcPts val="0"/>
              </a:spcAft>
              <a:buSzPct val="111111"/>
              <a:buNone/>
            </a:pPr>
            <a:r>
              <a:t/>
            </a:r>
            <a:endParaRPr/>
          </a:p>
        </p:txBody>
      </p:sp>
      <p:sp>
        <p:nvSpPr>
          <p:cNvPr id="349" name="Google Shape;349;p4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350" name="Google Shape;350;p44"/>
          <p:cNvPicPr preferRelativeResize="0"/>
          <p:nvPr/>
        </p:nvPicPr>
        <p:blipFill rotWithShape="1">
          <a:blip r:embed="rId3">
            <a:alphaModFix/>
          </a:blip>
          <a:srcRect b="0" l="0" r="0" t="0"/>
          <a:stretch/>
        </p:blipFill>
        <p:spPr>
          <a:xfrm>
            <a:off x="496728" y="1362600"/>
            <a:ext cx="8150535" cy="35394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8. Propiedades de las listas</a:t>
            </a:r>
            <a:endParaRPr/>
          </a:p>
        </p:txBody>
      </p:sp>
      <p:sp>
        <p:nvSpPr>
          <p:cNvPr id="356" name="Google Shape;356;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2745"/>
              <a:t>8.1. List-style-type</a:t>
            </a:r>
            <a:endParaRPr b="1" sz="2745"/>
          </a:p>
          <a:p>
            <a:pPr indent="0" lvl="0" marL="0" rtl="0" algn="l">
              <a:lnSpc>
                <a:spcPct val="115000"/>
              </a:lnSpc>
              <a:spcBef>
                <a:spcPts val="12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.a {list-style-type: circle;}</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.b {list-style-type: square;}</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.c {list-style-type: upper-roman;}</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2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.d {list-style-type: lower-alpha;}</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500"/>
              </a:spcBef>
              <a:spcAft>
                <a:spcPts val="1200"/>
              </a:spcAft>
              <a:buSzPts val="1800"/>
              <a:buNone/>
            </a:pPr>
            <a:r>
              <a:t/>
            </a:r>
            <a:endParaRPr/>
          </a:p>
        </p:txBody>
      </p:sp>
      <p:pic>
        <p:nvPicPr>
          <p:cNvPr id="357" name="Google Shape;357;p45"/>
          <p:cNvPicPr preferRelativeResize="0"/>
          <p:nvPr/>
        </p:nvPicPr>
        <p:blipFill rotWithShape="1">
          <a:blip r:embed="rId3">
            <a:alphaModFix/>
          </a:blip>
          <a:srcRect b="0" l="0" r="0" t="0"/>
          <a:stretch/>
        </p:blipFill>
        <p:spPr>
          <a:xfrm>
            <a:off x="5827325" y="423850"/>
            <a:ext cx="2514600" cy="42957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8. Propiedades de las listas</a:t>
            </a:r>
            <a:endParaRPr/>
          </a:p>
        </p:txBody>
      </p:sp>
      <p:sp>
        <p:nvSpPr>
          <p:cNvPr id="363" name="Google Shape;363;p4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2745"/>
              <a:t>8.2. List-style-image</a:t>
            </a:r>
            <a:endParaRPr b="1" sz="2745"/>
          </a:p>
          <a:p>
            <a:pPr indent="0" lvl="0" marL="0" marR="139700" rtl="0" algn="l">
              <a:lnSpc>
                <a:spcPct val="116666"/>
              </a:lnSpc>
              <a:spcBef>
                <a:spcPts val="12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ul.a { list-style-image: url('https://i.racjonalista.pl/img/em/lol.gif');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ul.b { list-style-image: url('https://media.giphy.com/media/tBik70kZOJKOk/giphy.gif');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EJEMPLO: </a:t>
            </a:r>
            <a:r>
              <a:rPr lang="es" sz="1350" u="sng">
                <a:solidFill>
                  <a:schemeClr val="hlink"/>
                </a:solidFill>
                <a:highlight>
                  <a:srgbClr val="FFFFFF"/>
                </a:highlight>
                <a:latin typeface="Courier New"/>
                <a:ea typeface="Courier New"/>
                <a:cs typeface="Courier New"/>
                <a:sym typeface="Courier New"/>
                <a:hlinkClick r:id="rId3"/>
              </a:rPr>
              <a:t>https://codepen.io/Eniun/pen/rEQEEy</a:t>
            </a:r>
            <a:r>
              <a:rPr lang="es" sz="1350">
                <a:solidFill>
                  <a:srgbClr val="000000"/>
                </a:solidFill>
                <a:highlight>
                  <a:srgbClr val="FFFFFF"/>
                </a:highlight>
                <a:latin typeface="Courier New"/>
                <a:ea typeface="Courier New"/>
                <a:cs typeface="Courier New"/>
                <a:sym typeface="Courier New"/>
              </a:rPr>
              <a:t>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ts val="1800"/>
              <a:buNone/>
            </a:pPr>
            <a:r>
              <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500"/>
              </a:spcBef>
              <a:spcAft>
                <a:spcPts val="1200"/>
              </a:spcAft>
              <a:buSzPts val="1800"/>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8. Propiedades de las listas</a:t>
            </a:r>
            <a:endParaRPr/>
          </a:p>
        </p:txBody>
      </p:sp>
      <p:sp>
        <p:nvSpPr>
          <p:cNvPr id="369" name="Google Shape;369;p4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2745"/>
              <a:t>8.3. List-style-position</a:t>
            </a:r>
            <a:endParaRPr b="1" sz="2745"/>
          </a:p>
          <a:p>
            <a:pPr indent="0" lvl="0" marL="0" marR="139700" rtl="0" algn="l">
              <a:lnSpc>
                <a:spcPct val="116666"/>
              </a:lnSpc>
              <a:spcBef>
                <a:spcPts val="12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ul.a { list-style-position: outside;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ts val="1800"/>
              <a:buNone/>
            </a:pPr>
            <a:r>
              <a:rPr lang="es" sz="1350">
                <a:solidFill>
                  <a:srgbClr val="000000"/>
                </a:solidFill>
                <a:highlight>
                  <a:srgbClr val="FFFFFF"/>
                </a:highlight>
                <a:latin typeface="Courier New"/>
                <a:ea typeface="Courier New"/>
                <a:cs typeface="Courier New"/>
                <a:sym typeface="Courier New"/>
              </a:rPr>
              <a:t>ul.b { list-style-position: inside; }</a:t>
            </a:r>
            <a:endParaRPr sz="1350">
              <a:solidFill>
                <a:srgbClr val="000000"/>
              </a:solidFill>
              <a:highlight>
                <a:srgbClr val="FFFFFF"/>
              </a:highlight>
              <a:latin typeface="Courier New"/>
              <a:ea typeface="Courier New"/>
              <a:cs typeface="Courier New"/>
              <a:sym typeface="Courier New"/>
            </a:endParaRPr>
          </a:p>
          <a:p>
            <a:pPr indent="0" lvl="0" marL="0" marR="139700" rtl="0" algn="l">
              <a:lnSpc>
                <a:spcPct val="116666"/>
              </a:lnSpc>
              <a:spcBef>
                <a:spcPts val="1500"/>
              </a:spcBef>
              <a:spcAft>
                <a:spcPts val="0"/>
              </a:spcAft>
              <a:buSzPts val="1800"/>
              <a:buNone/>
            </a:pPr>
            <a:r>
              <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500"/>
              </a:spcBef>
              <a:spcAft>
                <a:spcPts val="1200"/>
              </a:spcAft>
              <a:buSzPts val="1800"/>
              <a:buNone/>
            </a:pPr>
            <a:r>
              <a:t/>
            </a:r>
            <a:endParaRPr/>
          </a:p>
        </p:txBody>
      </p:sp>
      <p:pic>
        <p:nvPicPr>
          <p:cNvPr id="370" name="Google Shape;370;p47"/>
          <p:cNvPicPr preferRelativeResize="0"/>
          <p:nvPr/>
        </p:nvPicPr>
        <p:blipFill rotWithShape="1">
          <a:blip r:embed="rId3">
            <a:alphaModFix/>
          </a:blip>
          <a:srcRect b="0" l="0" r="0" t="0"/>
          <a:stretch/>
        </p:blipFill>
        <p:spPr>
          <a:xfrm>
            <a:off x="4572000" y="1805983"/>
            <a:ext cx="4425599" cy="29766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8. Propiedades de las listas</a:t>
            </a:r>
            <a:endParaRPr/>
          </a:p>
        </p:txBody>
      </p:sp>
      <p:sp>
        <p:nvSpPr>
          <p:cNvPr id="376" name="Google Shape;376;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377" name="Google Shape;377;p48"/>
          <p:cNvPicPr preferRelativeResize="0"/>
          <p:nvPr/>
        </p:nvPicPr>
        <p:blipFill rotWithShape="1">
          <a:blip r:embed="rId3">
            <a:alphaModFix/>
          </a:blip>
          <a:srcRect b="0" l="0" r="0" t="0"/>
          <a:stretch/>
        </p:blipFill>
        <p:spPr>
          <a:xfrm>
            <a:off x="504087" y="1152466"/>
            <a:ext cx="8135826" cy="358598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8. Propiedades de las listas</a:t>
            </a:r>
            <a:endParaRPr/>
          </a:p>
        </p:txBody>
      </p:sp>
      <p:sp>
        <p:nvSpPr>
          <p:cNvPr id="383" name="Google Shape;383;p49"/>
          <p:cNvSpPr txBox="1"/>
          <p:nvPr>
            <p:ph idx="1" type="body"/>
          </p:nvPr>
        </p:nvSpPr>
        <p:spPr>
          <a:xfrm>
            <a:off x="377400" y="1017725"/>
            <a:ext cx="79968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2745"/>
              <a:t>8.4. Personalizar listas con emoticonos</a:t>
            </a:r>
            <a:endParaRPr b="1" sz="2745"/>
          </a:p>
          <a:p>
            <a:pPr indent="0" lvl="0" marL="0" marR="139700" rtl="0" algn="l">
              <a:lnSpc>
                <a:spcPct val="116666"/>
              </a:lnSpc>
              <a:spcBef>
                <a:spcPts val="1200"/>
              </a:spcBef>
              <a:spcAft>
                <a:spcPts val="0"/>
              </a:spcAft>
              <a:buSzPts val="1800"/>
              <a:buNone/>
            </a:pPr>
            <a:r>
              <a:rPr lang="es" sz="1350">
                <a:solidFill>
                  <a:srgbClr val="000000"/>
                </a:solidFill>
                <a:highlight>
                  <a:srgbClr val="FFFFFF"/>
                </a:highlight>
                <a:latin typeface="Roboto"/>
                <a:ea typeface="Roboto"/>
                <a:cs typeface="Roboto"/>
                <a:sym typeface="Roboto"/>
              </a:rPr>
              <a:t>Puedes personalizar tus listas utilizando emoticonos como marcadores. Para hacerlo, puedes utilizar la propiedad </a:t>
            </a:r>
            <a:r>
              <a:rPr lang="es" sz="1350">
                <a:solidFill>
                  <a:srgbClr val="2991D6"/>
                </a:solidFill>
                <a:highlight>
                  <a:srgbClr val="FFFFFF"/>
                </a:highlight>
                <a:latin typeface="Courier New"/>
                <a:ea typeface="Courier New"/>
                <a:cs typeface="Courier New"/>
                <a:sym typeface="Courier New"/>
              </a:rPr>
              <a:t>list-style-image</a:t>
            </a:r>
            <a:r>
              <a:rPr lang="es" sz="1350">
                <a:solidFill>
                  <a:srgbClr val="000000"/>
                </a:solidFill>
                <a:highlight>
                  <a:srgbClr val="FFFFFF"/>
                </a:highlight>
                <a:latin typeface="Roboto"/>
                <a:ea typeface="Roboto"/>
                <a:cs typeface="Roboto"/>
                <a:sym typeface="Roboto"/>
              </a:rPr>
              <a:t> en combinación con algunos emoticonos o iconos que desees utilizar. Además necesitarás </a:t>
            </a:r>
            <a:r>
              <a:rPr lang="es" sz="1350">
                <a:solidFill>
                  <a:srgbClr val="E7618B"/>
                </a:solidFill>
                <a:highlight>
                  <a:srgbClr val="FFFFFF"/>
                </a:highlight>
                <a:uFill>
                  <a:noFill/>
                </a:uFill>
                <a:latin typeface="Roboto"/>
                <a:ea typeface="Roboto"/>
                <a:cs typeface="Roboto"/>
                <a:sym typeface="Roboto"/>
                <a:hlinkClick r:id="rId3">
                  <a:extLst>
                    <a:ext uri="{A12FA001-AC4F-418D-AE19-62706E023703}">
                      <ahyp:hlinkClr val="tx"/>
                    </a:ext>
                  </a:extLst>
                </a:hlinkClick>
              </a:rPr>
              <a:t>usar el pseudo-elemento</a:t>
            </a:r>
            <a:r>
              <a:rPr lang="es" sz="1350">
                <a:solidFill>
                  <a:srgbClr val="000000"/>
                </a:solidFill>
                <a:highlight>
                  <a:srgbClr val="FFFFFF"/>
                </a:highlight>
                <a:latin typeface="Roboto"/>
                <a:ea typeface="Roboto"/>
                <a:cs typeface="Roboto"/>
                <a:sym typeface="Roboto"/>
              </a:rPr>
              <a:t> </a:t>
            </a:r>
            <a:r>
              <a:rPr lang="es" sz="1350">
                <a:solidFill>
                  <a:srgbClr val="2991D6"/>
                </a:solidFill>
                <a:highlight>
                  <a:srgbClr val="FFFFFF"/>
                </a:highlight>
                <a:latin typeface="Courier New"/>
                <a:ea typeface="Courier New"/>
                <a:cs typeface="Courier New"/>
                <a:sym typeface="Courier New"/>
              </a:rPr>
              <a:t>::before</a:t>
            </a:r>
            <a:r>
              <a:rPr lang="es" sz="1350">
                <a:solidFill>
                  <a:srgbClr val="000000"/>
                </a:solidFill>
                <a:highlight>
                  <a:srgbClr val="FFFFFF"/>
                </a:highlight>
                <a:latin typeface="Roboto"/>
                <a:ea typeface="Roboto"/>
                <a:cs typeface="Roboto"/>
                <a:sym typeface="Roboto"/>
              </a:rPr>
              <a:t> que estudiaremos en secciones más avanzadas.</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500"/>
              </a:spcBef>
              <a:spcAft>
                <a:spcPts val="1200"/>
              </a:spcAft>
              <a:buSzPts val="1800"/>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0"/>
          <p:cNvSpPr txBox="1"/>
          <p:nvPr/>
        </p:nvSpPr>
        <p:spPr>
          <a:xfrm>
            <a:off x="539425" y="0"/>
            <a:ext cx="8520600" cy="496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CFCFC"/>
                </a:highlight>
                <a:latin typeface="Courier New"/>
                <a:ea typeface="Courier New"/>
                <a:cs typeface="Courier New"/>
                <a:sym typeface="Courier New"/>
              </a:rPr>
              <a:t>&lt;head&gt;</a:t>
            </a:r>
            <a:endParaRPr b="0" i="0" sz="13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CFCFC"/>
                </a:highlight>
                <a:latin typeface="Courier New"/>
                <a:ea typeface="Courier New"/>
                <a:cs typeface="Courier New"/>
                <a:sym typeface="Courier New"/>
              </a:rPr>
              <a:t>    &lt;meta charset="UTF-8"&gt;</a:t>
            </a:r>
            <a:endParaRPr b="0" i="0" sz="13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CFCFC"/>
                </a:highlight>
                <a:latin typeface="Courier New"/>
                <a:ea typeface="Courier New"/>
                <a:cs typeface="Courier New"/>
                <a:sym typeface="Courier New"/>
              </a:rPr>
              <a:t>    &lt;title&gt;Listas con Emoticonos&lt;/title&gt;</a:t>
            </a:r>
            <a:endParaRPr b="0" i="0" sz="13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CFCFC"/>
                </a:highlight>
                <a:latin typeface="Courier New"/>
                <a:ea typeface="Courier New"/>
                <a:cs typeface="Courier New"/>
                <a:sym typeface="Courier New"/>
              </a:rPr>
              <a:t>    &lt;style&gt;</a:t>
            </a:r>
            <a:endParaRPr b="0" i="0" sz="13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CFCFC"/>
                </a:highlight>
                <a:latin typeface="Courier New"/>
                <a:ea typeface="Courier New"/>
                <a:cs typeface="Courier New"/>
                <a:sym typeface="Courier New"/>
              </a:rPr>
              <a:t>        ul {</a:t>
            </a:r>
            <a:endParaRPr b="0" i="0" sz="13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CFCFC"/>
                </a:highlight>
                <a:latin typeface="Courier New"/>
                <a:ea typeface="Courier New"/>
                <a:cs typeface="Courier New"/>
                <a:sym typeface="Courier New"/>
              </a:rPr>
              <a:t>            list-style: none; /* Eliminamos los marcadores predeterminados */</a:t>
            </a:r>
            <a:endParaRPr b="0" i="0" sz="13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CFCFC"/>
                </a:highlight>
                <a:latin typeface="Courier New"/>
                <a:ea typeface="Courier New"/>
                <a:cs typeface="Courier New"/>
                <a:sym typeface="Courier New"/>
              </a:rPr>
              <a:t>            padding: 0; /* Eliminamos el relleno predeterminado */</a:t>
            </a:r>
            <a:endParaRPr b="0" i="0" sz="13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CFCFC"/>
                </a:highlight>
                <a:latin typeface="Courier New"/>
                <a:ea typeface="Courier New"/>
                <a:cs typeface="Courier New"/>
                <a:sym typeface="Courier New"/>
              </a:rPr>
              <a:t>        }</a:t>
            </a:r>
            <a:endParaRPr b="0" i="0" sz="13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CFCFC"/>
                </a:highlight>
                <a:latin typeface="Courier New"/>
                <a:ea typeface="Courier New"/>
                <a:cs typeface="Courier New"/>
                <a:sym typeface="Courier New"/>
              </a:rPr>
              <a:t>        li::before {</a:t>
            </a:r>
            <a:endParaRPr b="0" i="0" sz="13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CFCFC"/>
                </a:highlight>
                <a:latin typeface="Courier New"/>
                <a:ea typeface="Courier New"/>
                <a:cs typeface="Courier New"/>
                <a:sym typeface="Courier New"/>
              </a:rPr>
              <a:t>            content: '😊'; /* Emoticono como marcador */</a:t>
            </a:r>
            <a:endParaRPr b="0" i="0" sz="13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CFCFC"/>
                </a:highlight>
                <a:latin typeface="Courier New"/>
                <a:ea typeface="Courier New"/>
                <a:cs typeface="Courier New"/>
                <a:sym typeface="Courier New"/>
              </a:rPr>
              <a:t>            margin-right: 10px; /* Espacio entre el emoticono y el texto del elemento */</a:t>
            </a:r>
            <a:endParaRPr b="0" i="0" sz="13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CFCFC"/>
                </a:highlight>
                <a:latin typeface="Courier New"/>
                <a:ea typeface="Courier New"/>
                <a:cs typeface="Courier New"/>
                <a:sym typeface="Courier New"/>
              </a:rPr>
              <a:t>        }</a:t>
            </a:r>
            <a:endParaRPr b="0" i="0" sz="13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CFCFC"/>
                </a:highlight>
                <a:latin typeface="Courier New"/>
                <a:ea typeface="Courier New"/>
                <a:cs typeface="Courier New"/>
                <a:sym typeface="Courier New"/>
              </a:rPr>
              <a:t>    &lt;/style&gt;</a:t>
            </a:r>
            <a:endParaRPr b="0" i="0" sz="13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CFCFC"/>
                </a:highlight>
                <a:latin typeface="Courier New"/>
                <a:ea typeface="Courier New"/>
                <a:cs typeface="Courier New"/>
                <a:sym typeface="Courier New"/>
              </a:rPr>
              <a:t>&lt;/head&gt;</a:t>
            </a:r>
            <a:endParaRPr b="0" i="0" sz="13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CFCFC"/>
                </a:highlight>
                <a:latin typeface="Courier New"/>
                <a:ea typeface="Courier New"/>
                <a:cs typeface="Courier New"/>
                <a:sym typeface="Courier New"/>
              </a:rPr>
              <a:t>&lt;body&gt;</a:t>
            </a:r>
            <a:endParaRPr b="0" i="0" sz="13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CFCFC"/>
                </a:highlight>
                <a:latin typeface="Courier New"/>
                <a:ea typeface="Courier New"/>
                <a:cs typeface="Courier New"/>
                <a:sym typeface="Courier New"/>
              </a:rPr>
              <a:t>    &lt;h1&gt;Listas con Emoticonos&lt;/h1&gt;</a:t>
            </a:r>
            <a:endParaRPr b="0" i="0" sz="13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CFCFC"/>
                </a:highlight>
                <a:latin typeface="Courier New"/>
                <a:ea typeface="Courier New"/>
                <a:cs typeface="Courier New"/>
                <a:sym typeface="Courier New"/>
              </a:rPr>
              <a:t>    &lt;ul&gt;</a:t>
            </a:r>
            <a:endParaRPr b="0" i="0" sz="13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CFCFC"/>
                </a:highlight>
                <a:latin typeface="Courier New"/>
                <a:ea typeface="Courier New"/>
                <a:cs typeface="Courier New"/>
                <a:sym typeface="Courier New"/>
              </a:rPr>
              <a:t>        &lt;li&gt;Elemento 1&lt;/li&gt;</a:t>
            </a:r>
            <a:endParaRPr b="0" i="0" sz="13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CFCFC"/>
                </a:highlight>
                <a:latin typeface="Courier New"/>
                <a:ea typeface="Courier New"/>
                <a:cs typeface="Courier New"/>
                <a:sym typeface="Courier New"/>
              </a:rPr>
              <a:t>        &lt;li&gt;Elemento 2&lt;/li&gt;</a:t>
            </a:r>
            <a:endParaRPr b="0" i="0" sz="13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CFCFC"/>
                </a:highlight>
                <a:latin typeface="Courier New"/>
                <a:ea typeface="Courier New"/>
                <a:cs typeface="Courier New"/>
                <a:sym typeface="Courier New"/>
              </a:rPr>
              <a:t>    &lt;/ul&gt;</a:t>
            </a:r>
            <a:endParaRPr b="0" i="0" sz="13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CFCFC"/>
                </a:highlight>
                <a:latin typeface="Courier New"/>
                <a:ea typeface="Courier New"/>
                <a:cs typeface="Courier New"/>
                <a:sym typeface="Courier New"/>
              </a:rPr>
              <a:t>&lt;/body&gt;</a:t>
            </a:r>
            <a:endParaRPr b="0" i="0" sz="1350" u="none" cap="none" strike="noStrike">
              <a:solidFill>
                <a:srgbClr val="000000"/>
              </a:solidFill>
              <a:highlight>
                <a:srgbClr val="FCFCFC"/>
              </a:highlight>
              <a:latin typeface="Courier New"/>
              <a:ea typeface="Courier New"/>
              <a:cs typeface="Courier New"/>
              <a:sym typeface="Courier New"/>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8. Propiedades de las listas</a:t>
            </a:r>
            <a:endParaRPr/>
          </a:p>
        </p:txBody>
      </p:sp>
      <p:sp>
        <p:nvSpPr>
          <p:cNvPr id="394" name="Google Shape;394;p51"/>
          <p:cNvSpPr txBox="1"/>
          <p:nvPr>
            <p:ph idx="1" type="body"/>
          </p:nvPr>
        </p:nvSpPr>
        <p:spPr>
          <a:xfrm>
            <a:off x="377400" y="1017725"/>
            <a:ext cx="79968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2745"/>
              <a:t>8.5. Usar imagen con background-image</a:t>
            </a:r>
            <a:endParaRPr b="1" sz="2745"/>
          </a:p>
          <a:p>
            <a:pPr indent="0" lvl="0" marL="0" rtl="0" algn="l">
              <a:lnSpc>
                <a:spcPct val="115000"/>
              </a:lnSpc>
              <a:spcBef>
                <a:spcPts val="1200"/>
              </a:spcBef>
              <a:spcAft>
                <a:spcPts val="0"/>
              </a:spcAft>
              <a:buSzPts val="1800"/>
              <a:buNone/>
            </a:pPr>
            <a:r>
              <a:rPr lang="es" sz="1350">
                <a:solidFill>
                  <a:srgbClr val="000000"/>
                </a:solidFill>
                <a:highlight>
                  <a:srgbClr val="FFFFFF"/>
                </a:highlight>
                <a:latin typeface="Roboto"/>
                <a:ea typeface="Roboto"/>
                <a:cs typeface="Roboto"/>
                <a:sym typeface="Roboto"/>
              </a:rPr>
              <a:t>En el punto 8.2 hemos visto cómo agregar una imagen en la viñeta usando la propiedad </a:t>
            </a:r>
            <a:r>
              <a:rPr lang="es" sz="1350">
                <a:solidFill>
                  <a:srgbClr val="2991D6"/>
                </a:solidFill>
                <a:highlight>
                  <a:srgbClr val="FFFFFF"/>
                </a:highlight>
                <a:latin typeface="Courier New"/>
                <a:ea typeface="Courier New"/>
                <a:cs typeface="Courier New"/>
                <a:sym typeface="Courier New"/>
              </a:rPr>
              <a:t>list-style-image</a:t>
            </a:r>
            <a:r>
              <a:rPr lang="es" sz="1350">
                <a:solidFill>
                  <a:srgbClr val="000000"/>
                </a:solidFill>
                <a:highlight>
                  <a:srgbClr val="FFFFFF"/>
                </a:highlight>
                <a:latin typeface="Roboto"/>
                <a:ea typeface="Roboto"/>
                <a:cs typeface="Roboto"/>
                <a:sym typeface="Roboto"/>
              </a:rPr>
              <a:t>. Sin embargo, este método es muy limitado en lo que respecta al control del tamaño y posición de la viñeta. Para este caso, es más apropiado usar la propiedad </a:t>
            </a:r>
            <a:r>
              <a:rPr lang="es" sz="1350">
                <a:solidFill>
                  <a:srgbClr val="2991D6"/>
                </a:solidFill>
                <a:highlight>
                  <a:srgbClr val="FFFFFF"/>
                </a:highlight>
                <a:latin typeface="Courier New"/>
                <a:ea typeface="Courier New"/>
                <a:cs typeface="Courier New"/>
                <a:sym typeface="Courier New"/>
              </a:rPr>
              <a:t>background-image</a:t>
            </a:r>
            <a:r>
              <a:rPr lang="es" sz="1350">
                <a:solidFill>
                  <a:srgbClr val="000000"/>
                </a:solidFill>
                <a:highlight>
                  <a:srgbClr val="FFFFFF"/>
                </a:highlight>
                <a:latin typeface="Roboto"/>
                <a:ea typeface="Roboto"/>
                <a:cs typeface="Roboto"/>
                <a:sym typeface="Roboto"/>
              </a:rPr>
              <a:t>.</a:t>
            </a:r>
            <a:endParaRPr sz="1350">
              <a:solidFill>
                <a:srgbClr val="000000"/>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highlight>
                  <a:srgbClr val="FFFFFF"/>
                </a:highlight>
                <a:latin typeface="Roboto"/>
                <a:ea typeface="Roboto"/>
                <a:cs typeface="Roboto"/>
                <a:sym typeface="Roboto"/>
              </a:rPr>
              <a:t>Supongamos que tienes una imagen llamada «viñeta.png» que deseas utilizar como marcador en tu lista:</a:t>
            </a:r>
            <a:endParaRPr sz="1350">
              <a:solidFill>
                <a:srgbClr val="000000"/>
              </a:solidFill>
              <a:highlight>
                <a:srgbClr val="FFFFFF"/>
              </a:highlight>
              <a:latin typeface="Roboto"/>
              <a:ea typeface="Roboto"/>
              <a:cs typeface="Roboto"/>
              <a:sym typeface="Roboto"/>
            </a:endParaRPr>
          </a:p>
          <a:p>
            <a:pPr indent="0" lvl="0" marL="0" marR="139700" rtl="0" algn="l">
              <a:lnSpc>
                <a:spcPct val="116666"/>
              </a:lnSpc>
              <a:spcBef>
                <a:spcPts val="1100"/>
              </a:spcBef>
              <a:spcAft>
                <a:spcPts val="1500"/>
              </a:spcAft>
              <a:buSzPts val="1800"/>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2"/>
          <p:cNvSpPr txBox="1"/>
          <p:nvPr>
            <p:ph idx="1" type="body"/>
          </p:nvPr>
        </p:nvSpPr>
        <p:spPr>
          <a:xfrm>
            <a:off x="377400" y="1017725"/>
            <a:ext cx="7996800" cy="3416400"/>
          </a:xfrm>
          <a:prstGeom prst="rect">
            <a:avLst/>
          </a:prstGeom>
          <a:noFill/>
          <a:ln>
            <a:noFill/>
          </a:ln>
        </p:spPr>
        <p:txBody>
          <a:bodyPr anchorCtr="0" anchor="t" bIns="91425" lIns="91425" spcFirstLastPara="1" rIns="91425" wrap="square" tIns="91425">
            <a:normAutofit/>
          </a:bodyPr>
          <a:lstStyle/>
          <a:p>
            <a:pPr indent="0" lvl="0" marL="0" marR="139700" rtl="0" algn="l">
              <a:lnSpc>
                <a:spcPct val="116666"/>
              </a:lnSpc>
              <a:spcBef>
                <a:spcPts val="1100"/>
              </a:spcBef>
              <a:spcAft>
                <a:spcPts val="0"/>
              </a:spcAft>
              <a:buSzPts val="1800"/>
              <a:buNone/>
            </a:pPr>
            <a:r>
              <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500"/>
              </a:spcBef>
              <a:spcAft>
                <a:spcPts val="1200"/>
              </a:spcAft>
              <a:buSzPts val="1800"/>
              <a:buNone/>
            </a:pPr>
            <a:r>
              <a:t/>
            </a:r>
            <a:endParaRPr/>
          </a:p>
        </p:txBody>
      </p:sp>
      <p:sp>
        <p:nvSpPr>
          <p:cNvPr id="400" name="Google Shape;400;p52"/>
          <p:cNvSpPr txBox="1"/>
          <p:nvPr/>
        </p:nvSpPr>
        <p:spPr>
          <a:xfrm>
            <a:off x="0" y="0"/>
            <a:ext cx="9144000" cy="518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&lt;head&gt;</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    &lt;meta charset="UTF-8"&gt;</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    &lt;style&gt;</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        ul {</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            list-style: none; /* Eliminamos los marcadores predeterminados */</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            padding: 0; /* Eliminamos el relleno predeterminado */</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        }</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        li::before {</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            content: ""; /* Dejamos el contenido en blanco */</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            display: inline-block;</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            width: 20px; /* Ancho de la imagen de la viñeta */</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            height: 20px; /* Alto de la imagen de la viñeta */</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            background-image: url('viñeta.png'); /* Ruta de la imagen de la viñeta */</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            background-size: contain; /* Ajustar la imagen al contenedor */</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            margin-right: 10px; /* Espacio entre la viñeta y el texto del elemento */</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        }</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    &lt;/style&gt;</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&lt;/head&gt;</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&lt;body&gt;</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    &lt;h1&gt;Lista con Imagen de Viñeta&lt;/h1&gt;</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    &lt;ul&gt;</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        &lt;li&gt;Elemento 1&lt;/li&gt;</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        &lt;li&gt;Elemento 2&lt;/li&gt;</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    &lt;/ul&gt;</a:t>
            </a:r>
            <a:endParaRPr b="0" i="0" sz="1250" u="none" cap="none" strike="noStrike">
              <a:solidFill>
                <a:srgbClr val="000000"/>
              </a:solidFill>
              <a:highlight>
                <a:srgbClr val="FCFCFC"/>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50"/>
              <a:buFont typeface="Arial"/>
              <a:buNone/>
            </a:pPr>
            <a:r>
              <a:rPr b="0" i="0" lang="es" sz="1250" u="none" cap="none" strike="noStrike">
                <a:solidFill>
                  <a:srgbClr val="000000"/>
                </a:solidFill>
                <a:highlight>
                  <a:srgbClr val="FCFCFC"/>
                </a:highlight>
                <a:latin typeface="Courier New"/>
                <a:ea typeface="Courier New"/>
                <a:cs typeface="Courier New"/>
                <a:sym typeface="Courier New"/>
              </a:rPr>
              <a:t>&lt;/body&gt;</a:t>
            </a:r>
            <a:endParaRPr b="0" i="0" sz="1250" u="none" cap="none" strike="noStrike">
              <a:solidFill>
                <a:srgbClr val="000000"/>
              </a:solidFill>
              <a:highlight>
                <a:srgbClr val="FCFCFC"/>
              </a:highlight>
              <a:latin typeface="Courier New"/>
              <a:ea typeface="Courier New"/>
              <a:cs typeface="Courier New"/>
              <a:sym typeface="Courier New"/>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9. Modelo de cajas</a:t>
            </a:r>
            <a:endParaRPr/>
          </a:p>
        </p:txBody>
      </p:sp>
      <p:sp>
        <p:nvSpPr>
          <p:cNvPr id="406" name="Google Shape;406;p53"/>
          <p:cNvSpPr txBox="1"/>
          <p:nvPr>
            <p:ph idx="1" type="body"/>
          </p:nvPr>
        </p:nvSpPr>
        <p:spPr>
          <a:xfrm>
            <a:off x="311700" y="1152475"/>
            <a:ext cx="30732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sz="1350">
                <a:solidFill>
                  <a:srgbClr val="000000"/>
                </a:solidFill>
                <a:highlight>
                  <a:srgbClr val="FFFFFF"/>
                </a:highlight>
                <a:latin typeface="Roboto"/>
                <a:ea typeface="Roboto"/>
                <a:cs typeface="Roboto"/>
                <a:sym typeface="Roboto"/>
              </a:rPr>
              <a:t>Cualquier elemento incluido en un documento HTML dispone de una estructura tipo caja que se puede modificar usando las propiedades CSS. Las propiedades más importantes de las cajas o contenedores son las siguientes: </a:t>
            </a:r>
            <a:r>
              <a:rPr b="1" lang="es" sz="1350">
                <a:solidFill>
                  <a:srgbClr val="000000"/>
                </a:solidFill>
                <a:highlight>
                  <a:srgbClr val="FFFFFF"/>
                </a:highlight>
                <a:latin typeface="Roboto"/>
                <a:ea typeface="Roboto"/>
                <a:cs typeface="Roboto"/>
                <a:sym typeface="Roboto"/>
              </a:rPr>
              <a:t>margin </a:t>
            </a:r>
            <a:r>
              <a:rPr lang="es" sz="1350">
                <a:solidFill>
                  <a:srgbClr val="000000"/>
                </a:solidFill>
                <a:highlight>
                  <a:srgbClr val="FFFFFF"/>
                </a:highlight>
                <a:latin typeface="Roboto"/>
                <a:ea typeface="Roboto"/>
                <a:cs typeface="Roboto"/>
                <a:sym typeface="Roboto"/>
              </a:rPr>
              <a:t>(margen externo)</a:t>
            </a:r>
            <a:r>
              <a:rPr b="1" lang="es" sz="1350">
                <a:solidFill>
                  <a:srgbClr val="000000"/>
                </a:solidFill>
                <a:highlight>
                  <a:srgbClr val="FFFFFF"/>
                </a:highlight>
                <a:latin typeface="Roboto"/>
                <a:ea typeface="Roboto"/>
                <a:cs typeface="Roboto"/>
                <a:sym typeface="Roboto"/>
              </a:rPr>
              <a:t>, border </a:t>
            </a:r>
            <a:r>
              <a:rPr lang="es" sz="1350">
                <a:solidFill>
                  <a:srgbClr val="000000"/>
                </a:solidFill>
                <a:highlight>
                  <a:srgbClr val="FFFFFF"/>
                </a:highlight>
                <a:latin typeface="Roboto"/>
                <a:ea typeface="Roboto"/>
                <a:cs typeface="Roboto"/>
                <a:sym typeface="Roboto"/>
              </a:rPr>
              <a:t>(borde) y</a:t>
            </a:r>
            <a:r>
              <a:rPr b="1" lang="es" sz="1350">
                <a:solidFill>
                  <a:srgbClr val="000000"/>
                </a:solidFill>
                <a:highlight>
                  <a:srgbClr val="FFFFFF"/>
                </a:highlight>
                <a:latin typeface="Roboto"/>
                <a:ea typeface="Roboto"/>
                <a:cs typeface="Roboto"/>
                <a:sym typeface="Roboto"/>
              </a:rPr>
              <a:t> padding</a:t>
            </a:r>
            <a:r>
              <a:rPr lang="es" sz="1350">
                <a:solidFill>
                  <a:srgbClr val="000000"/>
                </a:solidFill>
                <a:highlight>
                  <a:srgbClr val="FFFFFF"/>
                </a:highlight>
                <a:latin typeface="Roboto"/>
                <a:ea typeface="Roboto"/>
                <a:cs typeface="Roboto"/>
                <a:sym typeface="Roboto"/>
              </a:rPr>
              <a:t> (margen interno).</a:t>
            </a:r>
            <a:endParaRPr/>
          </a:p>
        </p:txBody>
      </p:sp>
      <p:pic>
        <p:nvPicPr>
          <p:cNvPr id="407" name="Google Shape;407;p53"/>
          <p:cNvPicPr preferRelativeResize="0"/>
          <p:nvPr/>
        </p:nvPicPr>
        <p:blipFill rotWithShape="1">
          <a:blip r:embed="rId3">
            <a:alphaModFix/>
          </a:blip>
          <a:srcRect b="0" l="0" r="0" t="0"/>
          <a:stretch/>
        </p:blipFill>
        <p:spPr>
          <a:xfrm>
            <a:off x="3498300" y="923925"/>
            <a:ext cx="5334000" cy="40576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9. Modelo de cajas</a:t>
            </a:r>
            <a:endParaRPr/>
          </a:p>
          <a:p>
            <a:pPr indent="0" lvl="0" marL="0" rtl="0" algn="l">
              <a:lnSpc>
                <a:spcPct val="100000"/>
              </a:lnSpc>
              <a:spcBef>
                <a:spcPts val="0"/>
              </a:spcBef>
              <a:spcAft>
                <a:spcPts val="0"/>
              </a:spcAft>
              <a:buSzPct val="111111"/>
              <a:buNone/>
            </a:pPr>
            <a:r>
              <a:t/>
            </a:r>
            <a:endParaRPr/>
          </a:p>
        </p:txBody>
      </p:sp>
      <p:sp>
        <p:nvSpPr>
          <p:cNvPr id="413" name="Google Shape;413;p54"/>
          <p:cNvSpPr txBox="1"/>
          <p:nvPr>
            <p:ph idx="1" type="body"/>
          </p:nvPr>
        </p:nvSpPr>
        <p:spPr>
          <a:xfrm>
            <a:off x="311700" y="1017725"/>
            <a:ext cx="8520600" cy="3551100"/>
          </a:xfrm>
          <a:prstGeom prst="rect">
            <a:avLst/>
          </a:prstGeom>
          <a:noFill/>
          <a:ln>
            <a:noFill/>
          </a:ln>
        </p:spPr>
        <p:txBody>
          <a:bodyPr anchorCtr="0" anchor="t" bIns="91425" lIns="91425" spcFirstLastPara="1" rIns="91425" wrap="square" tIns="91425">
            <a:normAutofit/>
          </a:bodyPr>
          <a:lstStyle/>
          <a:p>
            <a:pPr indent="0" lvl="0" marL="0" rtl="0" algn="l">
              <a:lnSpc>
                <a:spcPct val="137500"/>
              </a:lnSpc>
              <a:spcBef>
                <a:spcPts val="0"/>
              </a:spcBef>
              <a:spcAft>
                <a:spcPts val="0"/>
              </a:spcAft>
              <a:buSzPts val="1800"/>
              <a:buNone/>
            </a:pPr>
            <a:r>
              <a:rPr b="1" lang="es" sz="3000">
                <a:solidFill>
                  <a:srgbClr val="232B46"/>
                </a:solidFill>
                <a:highlight>
                  <a:srgbClr val="FFFFFF"/>
                </a:highlight>
                <a:latin typeface="Roboto"/>
                <a:ea typeface="Roboto"/>
                <a:cs typeface="Roboto"/>
                <a:sym typeface="Roboto"/>
              </a:rPr>
              <a:t>9.1. Padding o relleno</a:t>
            </a:r>
            <a:endParaRPr b="1" sz="3000">
              <a:solidFill>
                <a:srgbClr val="232B46"/>
              </a:solidFill>
              <a:highlight>
                <a:srgbClr val="FFFFFF"/>
              </a:highlight>
              <a:latin typeface="Roboto"/>
              <a:ea typeface="Roboto"/>
              <a:cs typeface="Roboto"/>
              <a:sym typeface="Roboto"/>
            </a:endParaRPr>
          </a:p>
          <a:p>
            <a:pPr indent="0" lvl="0" marL="0" rtl="0" algn="l">
              <a:lnSpc>
                <a:spcPct val="115000"/>
              </a:lnSpc>
              <a:spcBef>
                <a:spcPts val="1100"/>
              </a:spcBef>
              <a:spcAft>
                <a:spcPts val="1100"/>
              </a:spcAft>
              <a:buSzPts val="1800"/>
              <a:buNone/>
            </a:pPr>
            <a:r>
              <a:rPr lang="es" sz="1350">
                <a:solidFill>
                  <a:srgbClr val="000000"/>
                </a:solidFill>
                <a:highlight>
                  <a:srgbClr val="FFFFFF"/>
                </a:highlight>
                <a:latin typeface="Roboto"/>
                <a:ea typeface="Roboto"/>
                <a:cs typeface="Roboto"/>
                <a:sym typeface="Roboto"/>
              </a:rPr>
              <a:t>El </a:t>
            </a:r>
            <a:r>
              <a:rPr b="1" lang="es" sz="1350">
                <a:solidFill>
                  <a:srgbClr val="000000"/>
                </a:solidFill>
                <a:highlight>
                  <a:srgbClr val="FFFFFF"/>
                </a:highlight>
                <a:latin typeface="Roboto"/>
                <a:ea typeface="Roboto"/>
                <a:cs typeface="Roboto"/>
                <a:sym typeface="Roboto"/>
              </a:rPr>
              <a:t>padding </a:t>
            </a:r>
            <a:r>
              <a:rPr lang="es" sz="1350">
                <a:solidFill>
                  <a:srgbClr val="000000"/>
                </a:solidFill>
                <a:highlight>
                  <a:srgbClr val="FFFFFF"/>
                </a:highlight>
                <a:latin typeface="Roboto"/>
                <a:ea typeface="Roboto"/>
                <a:cs typeface="Roboto"/>
                <a:sym typeface="Roboto"/>
              </a:rPr>
              <a:t>es el </a:t>
            </a:r>
            <a:r>
              <a:rPr b="1" lang="es" sz="1350">
                <a:solidFill>
                  <a:srgbClr val="000000"/>
                </a:solidFill>
                <a:highlight>
                  <a:srgbClr val="FFFFFF"/>
                </a:highlight>
                <a:latin typeface="Roboto"/>
                <a:ea typeface="Roboto"/>
                <a:cs typeface="Roboto"/>
                <a:sym typeface="Roboto"/>
              </a:rPr>
              <a:t>margen interno </a:t>
            </a:r>
            <a:r>
              <a:rPr lang="es" sz="1350">
                <a:solidFill>
                  <a:srgbClr val="000000"/>
                </a:solidFill>
                <a:highlight>
                  <a:srgbClr val="FFFFFF"/>
                </a:highlight>
                <a:latin typeface="Roboto"/>
                <a:ea typeface="Roboto"/>
                <a:cs typeface="Roboto"/>
                <a:sym typeface="Roboto"/>
              </a:rPr>
              <a:t>de un elemento, también se le llama relleno y es la cantidad de espacio entre el borde y el contenido del elemento. </a:t>
            </a:r>
            <a:endParaRPr/>
          </a:p>
        </p:txBody>
      </p:sp>
      <p:sp>
        <p:nvSpPr>
          <p:cNvPr id="414" name="Google Shape;414;p54"/>
          <p:cNvSpPr txBox="1"/>
          <p:nvPr/>
        </p:nvSpPr>
        <p:spPr>
          <a:xfrm>
            <a:off x="384450" y="2273300"/>
            <a:ext cx="8375100" cy="302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div.a {</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padding-top: 30px;</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padding-bottom: 80px;</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padding-right: 50px;</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padding-left: 40px;</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border: 1px solid black;</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background-color: azure;</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div.b { /* </a:t>
            </a:r>
            <a:r>
              <a:rPr b="0" i="1" lang="es" sz="1350" u="none" cap="none" strike="noStrike">
                <a:solidFill>
                  <a:srgbClr val="000000"/>
                </a:solidFill>
                <a:highlight>
                  <a:srgbClr val="FFFFFF"/>
                </a:highlight>
                <a:latin typeface="Courier New"/>
                <a:ea typeface="Courier New"/>
                <a:cs typeface="Courier New"/>
                <a:sym typeface="Courier New"/>
              </a:rPr>
              <a:t>Propiedad corta</a:t>
            </a:r>
            <a:r>
              <a:rPr b="0" i="0" lang="es" sz="1350" u="none" cap="none" strike="noStrike">
                <a:solidFill>
                  <a:srgbClr val="000000"/>
                </a:solidFill>
                <a:highlight>
                  <a:srgbClr val="FFFFFF"/>
                </a:highlight>
                <a:latin typeface="Courier New"/>
                <a:ea typeface="Courier New"/>
                <a:cs typeface="Courier New"/>
                <a:sym typeface="Courier New"/>
              </a:rPr>
              <a:t> */</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padding: 30px 50px 80px 40px; /*</a:t>
            </a:r>
            <a:r>
              <a:rPr b="1" i="0" lang="es" sz="1350" u="none" cap="none" strike="noStrike">
                <a:solidFill>
                  <a:srgbClr val="000000"/>
                </a:solidFill>
                <a:highlight>
                  <a:srgbClr val="FFFFFF"/>
                </a:highlight>
                <a:latin typeface="Courier New"/>
                <a:ea typeface="Courier New"/>
                <a:cs typeface="Courier New"/>
                <a:sym typeface="Courier New"/>
              </a:rPr>
              <a:t>superior, derecha, inferior e izquierda</a:t>
            </a:r>
            <a:r>
              <a:rPr b="0" i="0" lang="es" sz="1350" u="none" cap="none" strike="noStrike">
                <a:solidFill>
                  <a:srgbClr val="000000"/>
                </a:solidFill>
                <a:highlight>
                  <a:srgbClr val="FFFFFF"/>
                </a:highlight>
                <a:latin typeface="Courier New"/>
                <a:ea typeface="Courier New"/>
                <a:cs typeface="Courier New"/>
                <a:sym typeface="Courier New"/>
              </a:rPr>
              <a:t>*/</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border: 1px solid black;</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background-color: darkseagreen;</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139700" marR="139700" rtl="0" algn="l">
              <a:lnSpc>
                <a:spcPct val="116666"/>
              </a:lnSpc>
              <a:spcBef>
                <a:spcPts val="1100"/>
              </a:spcBef>
              <a:spcAft>
                <a:spcPts val="150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a:t>
            </a:r>
            <a:endParaRPr b="0" i="0" sz="1350" u="none" cap="none" strike="noStrike">
              <a:solidFill>
                <a:srgbClr val="000000"/>
              </a:solidFill>
              <a:highlight>
                <a:srgbClr val="FFFFFF"/>
              </a:highlight>
              <a:latin typeface="Courier New"/>
              <a:ea typeface="Courier New"/>
              <a:cs typeface="Courier New"/>
              <a:sym typeface="Courier New"/>
            </a:endParaRPr>
          </a:p>
        </p:txBody>
      </p:sp>
      <p:pic>
        <p:nvPicPr>
          <p:cNvPr id="415" name="Google Shape;415;p54"/>
          <p:cNvPicPr preferRelativeResize="0"/>
          <p:nvPr/>
        </p:nvPicPr>
        <p:blipFill rotWithShape="1">
          <a:blip r:embed="rId3">
            <a:alphaModFix/>
          </a:blip>
          <a:srcRect b="0" l="0" r="0" t="0"/>
          <a:stretch/>
        </p:blipFill>
        <p:spPr>
          <a:xfrm>
            <a:off x="6117320" y="2042045"/>
            <a:ext cx="2820025" cy="31014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9. Modelo de cajas</a:t>
            </a:r>
            <a:endParaRPr/>
          </a:p>
          <a:p>
            <a:pPr indent="0" lvl="0" marL="0" rtl="0" algn="l">
              <a:lnSpc>
                <a:spcPct val="100000"/>
              </a:lnSpc>
              <a:spcBef>
                <a:spcPts val="0"/>
              </a:spcBef>
              <a:spcAft>
                <a:spcPts val="0"/>
              </a:spcAft>
              <a:buSzPct val="111111"/>
              <a:buNone/>
            </a:pPr>
            <a:r>
              <a:t/>
            </a:r>
            <a:endParaRPr/>
          </a:p>
        </p:txBody>
      </p:sp>
      <p:sp>
        <p:nvSpPr>
          <p:cNvPr id="421" name="Google Shape;421;p5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37500"/>
              </a:lnSpc>
              <a:spcBef>
                <a:spcPts val="0"/>
              </a:spcBef>
              <a:spcAft>
                <a:spcPts val="0"/>
              </a:spcAft>
              <a:buSzPts val="1800"/>
              <a:buNone/>
            </a:pPr>
            <a:r>
              <a:rPr b="1" lang="es" sz="3000">
                <a:solidFill>
                  <a:srgbClr val="232B46"/>
                </a:solidFill>
                <a:highlight>
                  <a:srgbClr val="FFFFFF"/>
                </a:highlight>
                <a:latin typeface="Roboto"/>
                <a:ea typeface="Roboto"/>
                <a:cs typeface="Roboto"/>
                <a:sym typeface="Roboto"/>
              </a:rPr>
              <a:t>9.2. Margin</a:t>
            </a:r>
            <a:endParaRPr b="1" sz="3000">
              <a:solidFill>
                <a:srgbClr val="232B46"/>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highlight>
                  <a:srgbClr val="FFFFFF"/>
                </a:highlight>
                <a:latin typeface="Roboto"/>
                <a:ea typeface="Roboto"/>
                <a:cs typeface="Roboto"/>
                <a:sym typeface="Roboto"/>
              </a:rPr>
              <a:t>El </a:t>
            </a:r>
            <a:r>
              <a:rPr b="1" lang="es" sz="1350">
                <a:solidFill>
                  <a:srgbClr val="000000"/>
                </a:solidFill>
                <a:highlight>
                  <a:srgbClr val="FFFFFF"/>
                </a:highlight>
                <a:latin typeface="Roboto"/>
                <a:ea typeface="Roboto"/>
                <a:cs typeface="Roboto"/>
                <a:sym typeface="Roboto"/>
              </a:rPr>
              <a:t>margin </a:t>
            </a:r>
            <a:r>
              <a:rPr lang="es" sz="1350">
                <a:solidFill>
                  <a:srgbClr val="000000"/>
                </a:solidFill>
                <a:highlight>
                  <a:srgbClr val="FFFFFF"/>
                </a:highlight>
                <a:latin typeface="Roboto"/>
                <a:ea typeface="Roboto"/>
                <a:cs typeface="Roboto"/>
                <a:sym typeface="Roboto"/>
              </a:rPr>
              <a:t>es el </a:t>
            </a:r>
            <a:r>
              <a:rPr b="1" lang="es" sz="1350">
                <a:solidFill>
                  <a:srgbClr val="000000"/>
                </a:solidFill>
                <a:highlight>
                  <a:srgbClr val="FFFFFF"/>
                </a:highlight>
                <a:latin typeface="Roboto"/>
                <a:ea typeface="Roboto"/>
                <a:cs typeface="Roboto"/>
                <a:sym typeface="Roboto"/>
              </a:rPr>
              <a:t>margen externo</a:t>
            </a:r>
            <a:r>
              <a:rPr lang="es" sz="1350">
                <a:solidFill>
                  <a:srgbClr val="000000"/>
                </a:solidFill>
                <a:highlight>
                  <a:srgbClr val="FFFFFF"/>
                </a:highlight>
                <a:latin typeface="Roboto"/>
                <a:ea typeface="Roboto"/>
                <a:cs typeface="Roboto"/>
                <a:sym typeface="Roboto"/>
              </a:rPr>
              <a:t> de un elemento, fuera de cualquier borde definido. </a:t>
            </a:r>
            <a:endParaRPr sz="1350">
              <a:solidFill>
                <a:srgbClr val="000000"/>
              </a:solidFill>
              <a:highlight>
                <a:srgbClr val="FFFFFF"/>
              </a:highlight>
              <a:latin typeface="Roboto"/>
              <a:ea typeface="Roboto"/>
              <a:cs typeface="Roboto"/>
              <a:sym typeface="Roboto"/>
            </a:endParaRPr>
          </a:p>
          <a:p>
            <a:pPr indent="0" lvl="0" marL="0" rtl="0" algn="l">
              <a:lnSpc>
                <a:spcPct val="115000"/>
              </a:lnSpc>
              <a:spcBef>
                <a:spcPts val="1100"/>
              </a:spcBef>
              <a:spcAft>
                <a:spcPts val="1200"/>
              </a:spcAft>
              <a:buSzPts val="1800"/>
              <a:buNone/>
            </a:pPr>
            <a:r>
              <a:t/>
            </a:r>
            <a:endParaRPr/>
          </a:p>
        </p:txBody>
      </p:sp>
      <p:sp>
        <p:nvSpPr>
          <p:cNvPr id="422" name="Google Shape;422;p55"/>
          <p:cNvSpPr txBox="1"/>
          <p:nvPr/>
        </p:nvSpPr>
        <p:spPr>
          <a:xfrm>
            <a:off x="419100" y="2230800"/>
            <a:ext cx="6369600" cy="302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div.a {</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margin-top: 30px;</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margin-bottom: 80px;</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margin-right: 50px;</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margin-left: 40px;</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border: 1px solid black;</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background-color: azure;</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div.b { /* </a:t>
            </a:r>
            <a:r>
              <a:rPr b="0" i="1" lang="es" sz="1350" u="none" cap="none" strike="noStrike">
                <a:solidFill>
                  <a:srgbClr val="000000"/>
                </a:solidFill>
                <a:highlight>
                  <a:srgbClr val="FFFFFF"/>
                </a:highlight>
                <a:latin typeface="Courier New"/>
                <a:ea typeface="Courier New"/>
                <a:cs typeface="Courier New"/>
                <a:sym typeface="Courier New"/>
              </a:rPr>
              <a:t>Propiedad corta</a:t>
            </a:r>
            <a:r>
              <a:rPr b="0" i="0" lang="es" sz="1350" u="none" cap="none" strike="noStrike">
                <a:solidFill>
                  <a:srgbClr val="000000"/>
                </a:solidFill>
                <a:highlight>
                  <a:srgbClr val="FFFFFF"/>
                </a:highlight>
                <a:latin typeface="Courier New"/>
                <a:ea typeface="Courier New"/>
                <a:cs typeface="Courier New"/>
                <a:sym typeface="Courier New"/>
              </a:rPr>
              <a:t> */</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margin: 30px 80px 50px 40px;</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border: 1px solid black;</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background-color: darkseagreen;</a:t>
            </a:r>
            <a:endParaRPr b="0" i="0" sz="1350" u="none" cap="none" strike="noStrike">
              <a:solidFill>
                <a:srgbClr val="000000"/>
              </a:solidFill>
              <a:highlight>
                <a:srgbClr val="FFFFFF"/>
              </a:highlight>
              <a:latin typeface="Courier New"/>
              <a:ea typeface="Courier New"/>
              <a:cs typeface="Courier New"/>
              <a:sym typeface="Courier New"/>
            </a:endParaRPr>
          </a:p>
          <a:p>
            <a:pPr indent="0" lvl="0" marL="139700" marR="139700" rtl="0" algn="l">
              <a:lnSpc>
                <a:spcPct val="116666"/>
              </a:lnSpc>
              <a:spcBef>
                <a:spcPts val="1100"/>
              </a:spcBef>
              <a:spcAft>
                <a:spcPts val="1500"/>
              </a:spcAft>
              <a:buClr>
                <a:srgbClr val="000000"/>
              </a:buClr>
              <a:buSzPts val="1350"/>
              <a:buFont typeface="Arial"/>
              <a:buNone/>
            </a:pPr>
            <a:r>
              <a:rPr b="0" i="0" lang="es" sz="1350" u="none" cap="none" strike="noStrike">
                <a:solidFill>
                  <a:srgbClr val="000000"/>
                </a:solidFill>
                <a:highlight>
                  <a:srgbClr val="FFFFFF"/>
                </a:highlight>
                <a:latin typeface="Courier New"/>
                <a:ea typeface="Courier New"/>
                <a:cs typeface="Courier New"/>
                <a:sym typeface="Courier New"/>
              </a:rPr>
              <a:t> }</a:t>
            </a:r>
            <a:endParaRPr b="0" i="0" sz="1350" u="none" cap="none" strike="noStrike">
              <a:solidFill>
                <a:srgbClr val="000000"/>
              </a:solidFill>
              <a:highlight>
                <a:srgbClr val="FFFFFF"/>
              </a:highlight>
              <a:latin typeface="Courier New"/>
              <a:ea typeface="Courier New"/>
              <a:cs typeface="Courier New"/>
              <a:sym typeface="Courier New"/>
            </a:endParaRPr>
          </a:p>
        </p:txBody>
      </p:sp>
      <p:pic>
        <p:nvPicPr>
          <p:cNvPr id="423" name="Google Shape;423;p55"/>
          <p:cNvPicPr preferRelativeResize="0"/>
          <p:nvPr/>
        </p:nvPicPr>
        <p:blipFill rotWithShape="1">
          <a:blip r:embed="rId3">
            <a:alphaModFix/>
          </a:blip>
          <a:srcRect b="0" l="0" r="0" t="0"/>
          <a:stretch/>
        </p:blipFill>
        <p:spPr>
          <a:xfrm>
            <a:off x="5152352" y="2332400"/>
            <a:ext cx="3991649" cy="30270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9. Modelo de cajas</a:t>
            </a:r>
            <a:endParaRPr/>
          </a:p>
          <a:p>
            <a:pPr indent="0" lvl="0" marL="0" rtl="0" algn="l">
              <a:lnSpc>
                <a:spcPct val="100000"/>
              </a:lnSpc>
              <a:spcBef>
                <a:spcPts val="0"/>
              </a:spcBef>
              <a:spcAft>
                <a:spcPts val="0"/>
              </a:spcAft>
              <a:buSzPct val="111111"/>
              <a:buNone/>
            </a:pPr>
            <a:r>
              <a:t/>
            </a:r>
            <a:endParaRPr/>
          </a:p>
        </p:txBody>
      </p:sp>
      <p:sp>
        <p:nvSpPr>
          <p:cNvPr id="429" name="Google Shape;429;p56"/>
          <p:cNvSpPr txBox="1"/>
          <p:nvPr>
            <p:ph idx="1" type="body"/>
          </p:nvPr>
        </p:nvSpPr>
        <p:spPr>
          <a:xfrm>
            <a:off x="311700" y="101772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37500"/>
              </a:lnSpc>
              <a:spcBef>
                <a:spcPts val="0"/>
              </a:spcBef>
              <a:spcAft>
                <a:spcPts val="0"/>
              </a:spcAft>
              <a:buSzPts val="1800"/>
              <a:buNone/>
            </a:pPr>
            <a:r>
              <a:rPr b="1" lang="es" sz="3000">
                <a:solidFill>
                  <a:srgbClr val="232B46"/>
                </a:solidFill>
                <a:highlight>
                  <a:srgbClr val="FFFFFF"/>
                </a:highlight>
                <a:latin typeface="Roboto"/>
                <a:ea typeface="Roboto"/>
                <a:cs typeface="Roboto"/>
                <a:sym typeface="Roboto"/>
              </a:rPr>
              <a:t>9.3. Bordes</a:t>
            </a:r>
            <a:endParaRPr b="1" sz="3000">
              <a:solidFill>
                <a:srgbClr val="232B46"/>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SzPts val="1800"/>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a:p>
        </p:txBody>
      </p:sp>
      <p:graphicFrame>
        <p:nvGraphicFramePr>
          <p:cNvPr id="430" name="Google Shape;430;p56"/>
          <p:cNvGraphicFramePr/>
          <p:nvPr/>
        </p:nvGraphicFramePr>
        <p:xfrm>
          <a:off x="632100" y="1460150"/>
          <a:ext cx="3000000" cy="3000000"/>
        </p:xfrm>
        <a:graphic>
          <a:graphicData uri="http://schemas.openxmlformats.org/drawingml/2006/table">
            <a:tbl>
              <a:tblPr>
                <a:noFill/>
                <a:tableStyleId>{C7A32DE4-3458-4DDD-9028-E1E8360CBD50}</a:tableStyleId>
              </a:tblPr>
              <a:tblGrid>
                <a:gridCol w="2413000"/>
                <a:gridCol w="3063875"/>
                <a:gridCol w="2402925"/>
              </a:tblGrid>
              <a:tr h="381000">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t>Propiedad</a:t>
                      </a:r>
                      <a:endParaRPr b="1" sz="11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t>Descripción</a:t>
                      </a:r>
                      <a:endParaRPr b="1" sz="11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t>Valores</a:t>
                      </a:r>
                      <a:endParaRPr b="1" sz="1100" u="none" cap="none" strike="noStrike"/>
                    </a:p>
                  </a:txBody>
                  <a:tcPr marT="91425" marB="91425" marR="91425" marL="91425"/>
                </a:tc>
              </a:tr>
              <a:tr h="381000">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border-top-width border-right-width border-bottom-width border-left-width</a:t>
                      </a:r>
                      <a:endParaRPr sz="14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Anchura del borde superior, derecho, inferior o izquierdo</a:t>
                      </a:r>
                      <a:endParaRPr sz="14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thin | medium | thick | longitud</a:t>
                      </a:r>
                      <a:endParaRPr sz="1400" u="none" cap="none" strike="noStrike"/>
                    </a:p>
                  </a:txBody>
                  <a:tcPr marT="91425" marB="91425" marR="91425" marL="91425"/>
                </a:tc>
              </a:tr>
              <a:tr h="381000">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border-width</a:t>
                      </a:r>
                      <a:endParaRPr sz="14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Anchura del borde (reducida)</a:t>
                      </a:r>
                      <a:endParaRPr sz="14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thin | medium | thick | longitud {1,4}</a:t>
                      </a:r>
                      <a:endParaRPr sz="1400" u="none" cap="none" strike="noStrike"/>
                    </a:p>
                  </a:txBody>
                  <a:tcPr marT="91425" marB="91425" marR="91425" marL="91425"/>
                </a:tc>
              </a:tr>
              <a:tr h="381000">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border-top-color border-right-color border-bottom-color border-left-color</a:t>
                      </a:r>
                      <a:endParaRPr sz="14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Color del borde superior, derecho, inferior e izquierdo</a:t>
                      </a:r>
                      <a:endParaRPr sz="14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color | transparent</a:t>
                      </a:r>
                      <a:endParaRPr sz="1400" u="none" cap="none" strike="noStrike"/>
                    </a:p>
                  </a:txBody>
                  <a:tcPr marT="91425" marB="91425" marR="91425" marL="91425"/>
                </a:tc>
              </a:tr>
              <a:tr h="381000">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border-color</a:t>
                      </a:r>
                      <a:endParaRPr sz="14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Color del borde (reducida)</a:t>
                      </a:r>
                      <a:endParaRPr sz="14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color | transparent {1,4}</a:t>
                      </a:r>
                      <a:endParaRPr sz="1400" u="none" cap="none" strike="noStrike"/>
                    </a:p>
                  </a:txBody>
                  <a:tcPr marT="91425" marB="91425" marR="91425" marL="91425"/>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9. Modelo de cajas</a:t>
            </a:r>
            <a:endParaRPr/>
          </a:p>
          <a:p>
            <a:pPr indent="0" lvl="0" marL="0" rtl="0" algn="l">
              <a:lnSpc>
                <a:spcPct val="100000"/>
              </a:lnSpc>
              <a:spcBef>
                <a:spcPts val="0"/>
              </a:spcBef>
              <a:spcAft>
                <a:spcPts val="0"/>
              </a:spcAft>
              <a:buSzPct val="111111"/>
              <a:buNone/>
            </a:pPr>
            <a:r>
              <a:t/>
            </a:r>
            <a:endParaRPr/>
          </a:p>
        </p:txBody>
      </p:sp>
      <p:sp>
        <p:nvSpPr>
          <p:cNvPr id="436" name="Google Shape;436;p57"/>
          <p:cNvSpPr txBox="1"/>
          <p:nvPr>
            <p:ph idx="1" type="body"/>
          </p:nvPr>
        </p:nvSpPr>
        <p:spPr>
          <a:xfrm>
            <a:off x="311700" y="101772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a:p>
        </p:txBody>
      </p:sp>
      <p:graphicFrame>
        <p:nvGraphicFramePr>
          <p:cNvPr id="437" name="Google Shape;437;p57"/>
          <p:cNvGraphicFramePr/>
          <p:nvPr/>
        </p:nvGraphicFramePr>
        <p:xfrm>
          <a:off x="499500" y="902925"/>
          <a:ext cx="3000000" cy="3000000"/>
        </p:xfrm>
        <a:graphic>
          <a:graphicData uri="http://schemas.openxmlformats.org/drawingml/2006/table">
            <a:tbl>
              <a:tblPr>
                <a:noFill/>
                <a:tableStyleId>{C7A32DE4-3458-4DDD-9028-E1E8360CBD50}</a:tableStyleId>
              </a:tblPr>
              <a:tblGrid>
                <a:gridCol w="2164300"/>
                <a:gridCol w="2989800"/>
                <a:gridCol w="3217850"/>
              </a:tblGrid>
              <a:tr h="160475">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t>Propiedad</a:t>
                      </a:r>
                      <a:endParaRPr b="1" sz="11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t>Descripción</a:t>
                      </a:r>
                      <a:endParaRPr b="1" sz="11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t>Valores</a:t>
                      </a:r>
                      <a:endParaRPr b="1" sz="1100" u="none" cap="none" strike="noStrike"/>
                    </a:p>
                  </a:txBody>
                  <a:tcPr marT="91425" marB="91425" marR="91425" marL="91425"/>
                </a:tc>
              </a:tr>
              <a:tr h="381000">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border-top-style border-right-style border-bottom-style border-left-style</a:t>
                      </a:r>
                      <a:endParaRPr sz="14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Estilo del borde superior, derecho, inferior e izquierdo</a:t>
                      </a:r>
                      <a:endParaRPr sz="14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none | hidden | dotted | dashed | solid | double | groove | ridge | inset | outset</a:t>
                      </a:r>
                      <a:endParaRPr sz="1400" u="none" cap="none" strike="noStrike"/>
                    </a:p>
                  </a:txBody>
                  <a:tcPr marT="91425" marB="91425" marR="91425" marL="91425"/>
                </a:tc>
              </a:tr>
              <a:tr h="381000">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border-style</a:t>
                      </a:r>
                      <a:endParaRPr sz="14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Estilo del borde (reducida)</a:t>
                      </a:r>
                      <a:endParaRPr sz="14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none | hidden | dotted | dashed | solid | double | groove | ridge | inset | outset {1,4}</a:t>
                      </a:r>
                      <a:endParaRPr sz="1400" u="none" cap="none" strike="noStrike"/>
                    </a:p>
                  </a:txBody>
                  <a:tcPr marT="91425" marB="91425" marR="91425" marL="91425"/>
                </a:tc>
              </a:tr>
              <a:tr h="381000">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border-top border-right border-bottom border-left</a:t>
                      </a:r>
                      <a:endParaRPr sz="14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Ancho, estilo y color para el borde superior, derecho, inferior e izquierdo</a:t>
                      </a:r>
                      <a:endParaRPr sz="14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border-top-width | border-top-style | border-top-color</a:t>
                      </a:r>
                      <a:endParaRPr sz="1400" u="none" cap="none" strike="noStrike"/>
                    </a:p>
                  </a:txBody>
                  <a:tcPr marT="91425" marB="91425" marR="91425" marL="91425"/>
                </a:tc>
              </a:tr>
              <a:tr h="381000">
                <a:tc>
                  <a:txBody>
                    <a:bodyPr/>
                    <a:lstStyle/>
                    <a:p>
                      <a:pPr indent="0" lvl="0" marL="0" marR="0" rtl="0" algn="l">
                        <a:lnSpc>
                          <a:spcPct val="115000"/>
                        </a:lnSpc>
                        <a:spcBef>
                          <a:spcPts val="0"/>
                        </a:spcBef>
                        <a:spcAft>
                          <a:spcPts val="0"/>
                        </a:spcAft>
                        <a:buClr>
                          <a:srgbClr val="000000"/>
                        </a:buClr>
                        <a:buSzPts val="1400"/>
                        <a:buFont typeface="Arial"/>
                        <a:buNone/>
                      </a:pPr>
                      <a:r>
                        <a:rPr b="1" lang="es" sz="1400" u="none" cap="none" strike="noStrike"/>
                        <a:t>border</a:t>
                      </a:r>
                      <a:endParaRPr b="1" sz="14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400"/>
                        <a:buFont typeface="Arial"/>
                        <a:buNone/>
                      </a:pPr>
                      <a:r>
                        <a:rPr b="1" lang="es" sz="1400" u="none" cap="none" strike="noStrike"/>
                        <a:t>Ancho, estilo y color para los bordes (reducida)</a:t>
                      </a:r>
                      <a:endParaRPr b="1" sz="14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400"/>
                        <a:buFont typeface="Arial"/>
                        <a:buNone/>
                      </a:pPr>
                      <a:r>
                        <a:rPr b="1" lang="es" sz="1400" u="none" cap="none" strike="noStrike"/>
                        <a:t>border-width | border-style | border-color</a:t>
                      </a:r>
                      <a:endParaRPr b="1" sz="1400" u="none" cap="none" strike="noStrike"/>
                    </a:p>
                  </a:txBody>
                  <a:tcPr marT="91425" marB="91425" marR="91425" marL="91425"/>
                </a:tc>
              </a:tr>
              <a:tr h="381000">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border-radius</a:t>
                      </a:r>
                      <a:endParaRPr sz="14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Curvatura del borde</a:t>
                      </a:r>
                      <a:endParaRPr sz="14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400"/>
                        <a:buFont typeface="Arial"/>
                        <a:buNone/>
                      </a:pPr>
                      <a:r>
                        <a:rPr lang="es" sz="1400" u="none" cap="none" strike="noStrike"/>
                        <a:t>longitud | porcentaje {1,4}</a:t>
                      </a:r>
                      <a:endParaRPr sz="1400" u="none" cap="none" strike="noStrike"/>
                    </a:p>
                  </a:txBody>
                  <a:tcPr marT="91425" marB="91425" marR="91425" marL="91425"/>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9. Modelo de cajas</a:t>
            </a:r>
            <a:endParaRPr/>
          </a:p>
        </p:txBody>
      </p:sp>
      <p:sp>
        <p:nvSpPr>
          <p:cNvPr id="443" name="Google Shape;443;p5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37500"/>
              </a:lnSpc>
              <a:spcBef>
                <a:spcPts val="0"/>
              </a:spcBef>
              <a:spcAft>
                <a:spcPts val="0"/>
              </a:spcAft>
              <a:buSzPct val="77419"/>
              <a:buNone/>
            </a:pPr>
            <a:r>
              <a:rPr b="1" lang="es" sz="3000">
                <a:solidFill>
                  <a:srgbClr val="232B46"/>
                </a:solidFill>
                <a:highlight>
                  <a:srgbClr val="FFFFFF"/>
                </a:highlight>
                <a:latin typeface="Roboto"/>
                <a:ea typeface="Roboto"/>
                <a:cs typeface="Roboto"/>
                <a:sym typeface="Roboto"/>
              </a:rPr>
              <a:t>9.3. Bordes</a:t>
            </a:r>
            <a:endParaRPr b="1" sz="3000">
              <a:solidFill>
                <a:srgbClr val="232B46"/>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SzPct val="172043"/>
              <a:buNone/>
            </a:pPr>
            <a:r>
              <a:rPr lang="es" sz="1350">
                <a:solidFill>
                  <a:srgbClr val="000000"/>
                </a:solidFill>
                <a:highlight>
                  <a:srgbClr val="FFFFFF"/>
                </a:highlight>
                <a:latin typeface="Courier New"/>
                <a:ea typeface="Courier New"/>
                <a:cs typeface="Courier New"/>
                <a:sym typeface="Courier New"/>
              </a:rPr>
              <a:t>.a { border: 4px solid blue; }</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ct val="172043"/>
              <a:buNone/>
            </a:pPr>
            <a:r>
              <a:rPr lang="es" sz="1350">
                <a:solidFill>
                  <a:srgbClr val="000000"/>
                </a:solidFill>
                <a:highlight>
                  <a:srgbClr val="FFFFFF"/>
                </a:highlight>
                <a:latin typeface="Courier New"/>
                <a:ea typeface="Courier New"/>
                <a:cs typeface="Courier New"/>
                <a:sym typeface="Courier New"/>
              </a:rPr>
              <a:t>.b { border: 6px dotted green; }</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ct val="172043"/>
              <a:buNone/>
            </a:pPr>
            <a:r>
              <a:rPr lang="es" sz="1350">
                <a:solidFill>
                  <a:srgbClr val="000000"/>
                </a:solidFill>
                <a:highlight>
                  <a:srgbClr val="FFFFFF"/>
                </a:highlight>
                <a:latin typeface="Courier New"/>
                <a:ea typeface="Courier New"/>
                <a:cs typeface="Courier New"/>
                <a:sym typeface="Courier New"/>
              </a:rPr>
              <a:t>.c { border: 3px dashed purple; }</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ct val="172043"/>
              <a:buNone/>
            </a:pPr>
            <a:r>
              <a:rPr lang="es" sz="1350">
                <a:solidFill>
                  <a:srgbClr val="000000"/>
                </a:solidFill>
                <a:highlight>
                  <a:srgbClr val="FFFFFF"/>
                </a:highlight>
                <a:latin typeface="Courier New"/>
                <a:ea typeface="Courier New"/>
                <a:cs typeface="Courier New"/>
                <a:sym typeface="Courier New"/>
              </a:rPr>
              <a:t>.d { </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ct val="172043"/>
              <a:buNone/>
            </a:pPr>
            <a:r>
              <a:rPr lang="es" sz="1350">
                <a:solidFill>
                  <a:srgbClr val="000000"/>
                </a:solidFill>
                <a:highlight>
                  <a:srgbClr val="FFFFFF"/>
                </a:highlight>
                <a:latin typeface="Courier New"/>
                <a:ea typeface="Courier New"/>
                <a:cs typeface="Courier New"/>
                <a:sym typeface="Courier New"/>
              </a:rPr>
              <a:t>     border-top: 3px double orange;</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ct val="172043"/>
              <a:buNone/>
            </a:pPr>
            <a:r>
              <a:rPr lang="es" sz="1350">
                <a:solidFill>
                  <a:srgbClr val="000000"/>
                </a:solidFill>
                <a:highlight>
                  <a:srgbClr val="FFFFFF"/>
                </a:highlight>
                <a:latin typeface="Courier New"/>
                <a:ea typeface="Courier New"/>
                <a:cs typeface="Courier New"/>
                <a:sym typeface="Courier New"/>
              </a:rPr>
              <a:t>     border-right: 3px double brown;</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ct val="172043"/>
              <a:buNone/>
            </a:pPr>
            <a:r>
              <a:rPr lang="es" sz="1350">
                <a:solidFill>
                  <a:srgbClr val="000000"/>
                </a:solidFill>
                <a:highlight>
                  <a:srgbClr val="FFFFFF"/>
                </a:highlight>
                <a:latin typeface="Courier New"/>
                <a:ea typeface="Courier New"/>
                <a:cs typeface="Courier New"/>
                <a:sym typeface="Courier New"/>
              </a:rPr>
              <a:t>     border-bottom: 3px double brown;</a:t>
            </a:r>
            <a:endParaRPr sz="135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ct val="172043"/>
              <a:buNone/>
            </a:pPr>
            <a:r>
              <a:rPr lang="es" sz="1350">
                <a:solidFill>
                  <a:srgbClr val="000000"/>
                </a:solidFill>
                <a:highlight>
                  <a:srgbClr val="FFFFFF"/>
                </a:highlight>
                <a:latin typeface="Courier New"/>
                <a:ea typeface="Courier New"/>
                <a:cs typeface="Courier New"/>
                <a:sym typeface="Courier New"/>
              </a:rPr>
              <a:t>     border-left: 3px double brown;</a:t>
            </a:r>
            <a:endParaRPr sz="1350">
              <a:solidFill>
                <a:srgbClr val="000000"/>
              </a:solidFill>
              <a:highlight>
                <a:srgbClr val="FFFFFF"/>
              </a:highlight>
              <a:latin typeface="Courier New"/>
              <a:ea typeface="Courier New"/>
              <a:cs typeface="Courier New"/>
              <a:sym typeface="Courier New"/>
            </a:endParaRPr>
          </a:p>
          <a:p>
            <a:pPr indent="0" lvl="0" marL="139700" marR="139700" rtl="0" algn="l">
              <a:lnSpc>
                <a:spcPct val="116666"/>
              </a:lnSpc>
              <a:spcBef>
                <a:spcPts val="1200"/>
              </a:spcBef>
              <a:spcAft>
                <a:spcPts val="1500"/>
              </a:spcAft>
              <a:buSzPct val="172043"/>
              <a:buNone/>
            </a:pPr>
            <a:r>
              <a:rPr lang="es" sz="1350">
                <a:solidFill>
                  <a:srgbClr val="000000"/>
                </a:solidFill>
                <a:highlight>
                  <a:srgbClr val="FFFFFF"/>
                </a:highlight>
                <a:latin typeface="Courier New"/>
                <a:ea typeface="Courier New"/>
                <a:cs typeface="Courier New"/>
                <a:sym typeface="Courier New"/>
              </a:rPr>
              <a:t> }</a:t>
            </a:r>
            <a:endParaRPr/>
          </a:p>
        </p:txBody>
      </p:sp>
      <p:pic>
        <p:nvPicPr>
          <p:cNvPr id="444" name="Google Shape;444;p58"/>
          <p:cNvPicPr preferRelativeResize="0"/>
          <p:nvPr/>
        </p:nvPicPr>
        <p:blipFill rotWithShape="1">
          <a:blip r:embed="rId3">
            <a:alphaModFix/>
          </a:blip>
          <a:srcRect b="0" l="0" r="0" t="0"/>
          <a:stretch/>
        </p:blipFill>
        <p:spPr>
          <a:xfrm>
            <a:off x="4572000" y="1444625"/>
            <a:ext cx="4169650" cy="21247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Ejercicio propuesto</a:t>
            </a:r>
            <a:endParaRPr/>
          </a:p>
        </p:txBody>
      </p:sp>
      <p:sp>
        <p:nvSpPr>
          <p:cNvPr id="450" name="Google Shape;450;p5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highlight>
                  <a:schemeClr val="lt1"/>
                </a:highlight>
              </a:rPr>
              <a:t>Pinta el siguiente dibujo haciendo uso de la propiedad border</a:t>
            </a:r>
            <a:endParaRPr/>
          </a:p>
        </p:txBody>
      </p:sp>
      <p:pic>
        <p:nvPicPr>
          <p:cNvPr id="451" name="Google Shape;451;p59"/>
          <p:cNvPicPr preferRelativeResize="0"/>
          <p:nvPr/>
        </p:nvPicPr>
        <p:blipFill rotWithShape="1">
          <a:blip r:embed="rId3">
            <a:alphaModFix/>
          </a:blip>
          <a:srcRect b="0" l="0" r="0" t="0"/>
          <a:stretch/>
        </p:blipFill>
        <p:spPr>
          <a:xfrm>
            <a:off x="7018338" y="654050"/>
            <a:ext cx="1533525" cy="41910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6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Ejercicio propuesto menú navegación vertical</a:t>
            </a:r>
            <a:endParaRPr/>
          </a:p>
        </p:txBody>
      </p:sp>
      <p:sp>
        <p:nvSpPr>
          <p:cNvPr id="457" name="Google Shape;457;p60"/>
          <p:cNvSpPr txBox="1"/>
          <p:nvPr>
            <p:ph idx="1" type="body"/>
          </p:nvPr>
        </p:nvSpPr>
        <p:spPr>
          <a:xfrm>
            <a:off x="311700" y="1152475"/>
            <a:ext cx="8520600" cy="3839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800"/>
              <a:buNone/>
            </a:pPr>
            <a:r>
              <a:rPr lang="es" sz="1100">
                <a:solidFill>
                  <a:srgbClr val="000000"/>
                </a:solidFill>
                <a:latin typeface="Arial"/>
                <a:ea typeface="Arial"/>
                <a:cs typeface="Arial"/>
                <a:sym typeface="Arial"/>
              </a:rPr>
              <a:t>Partiendo del siguiente código HTML y de la captura visual de un menú horizontal:</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es" sz="1100">
                <a:solidFill>
                  <a:srgbClr val="000000"/>
                </a:solidFill>
                <a:latin typeface="Arial"/>
                <a:ea typeface="Arial"/>
                <a:cs typeface="Arial"/>
                <a:sym typeface="Arial"/>
              </a:rPr>
              <a:t>&lt;ul class="menu"&gt;</a:t>
            </a:r>
            <a:endParaRPr sz="1100">
              <a:solidFill>
                <a:srgbClr val="000000"/>
              </a:solidFill>
              <a:latin typeface="Arial"/>
              <a:ea typeface="Arial"/>
              <a:cs typeface="Arial"/>
              <a:sym typeface="Arial"/>
            </a:endParaRPr>
          </a:p>
          <a:p>
            <a:pPr indent="0" lvl="0" marL="0" rtl="0" algn="l">
              <a:lnSpc>
                <a:spcPct val="100000"/>
              </a:lnSpc>
              <a:spcBef>
                <a:spcPts val="0"/>
              </a:spcBef>
              <a:spcAft>
                <a:spcPts val="0"/>
              </a:spcAft>
              <a:buSzPts val="1800"/>
              <a:buNone/>
            </a:pPr>
            <a:r>
              <a:rPr lang="es" sz="1100">
                <a:solidFill>
                  <a:srgbClr val="000000"/>
                </a:solidFill>
                <a:latin typeface="Arial"/>
                <a:ea typeface="Arial"/>
                <a:cs typeface="Arial"/>
                <a:sym typeface="Arial"/>
              </a:rPr>
              <a:t>&lt;li&gt;&lt;a href="#" title="Link 1"&gt;Link 1&lt;/a&gt;&lt;/li&gt;</a:t>
            </a:r>
            <a:endParaRPr sz="1100">
              <a:solidFill>
                <a:srgbClr val="000000"/>
              </a:solidFill>
              <a:latin typeface="Arial"/>
              <a:ea typeface="Arial"/>
              <a:cs typeface="Arial"/>
              <a:sym typeface="Arial"/>
            </a:endParaRPr>
          </a:p>
          <a:p>
            <a:pPr indent="0" lvl="0" marL="0" rtl="0" algn="l">
              <a:lnSpc>
                <a:spcPct val="100000"/>
              </a:lnSpc>
              <a:spcBef>
                <a:spcPts val="0"/>
              </a:spcBef>
              <a:spcAft>
                <a:spcPts val="0"/>
              </a:spcAft>
              <a:buSzPts val="1800"/>
              <a:buNone/>
            </a:pPr>
            <a:r>
              <a:rPr lang="es" sz="1100">
                <a:solidFill>
                  <a:srgbClr val="000000"/>
                </a:solidFill>
                <a:latin typeface="Arial"/>
                <a:ea typeface="Arial"/>
                <a:cs typeface="Arial"/>
                <a:sym typeface="Arial"/>
              </a:rPr>
              <a:t>&lt;li&gt;&lt;a href="#" title="Link 2"&gt;Link 2&lt;/a&gt;&lt;/li&gt;</a:t>
            </a:r>
            <a:endParaRPr sz="1100">
              <a:solidFill>
                <a:srgbClr val="000000"/>
              </a:solidFill>
              <a:latin typeface="Arial"/>
              <a:ea typeface="Arial"/>
              <a:cs typeface="Arial"/>
              <a:sym typeface="Arial"/>
            </a:endParaRPr>
          </a:p>
          <a:p>
            <a:pPr indent="0" lvl="0" marL="0" rtl="0" algn="l">
              <a:lnSpc>
                <a:spcPct val="100000"/>
              </a:lnSpc>
              <a:spcBef>
                <a:spcPts val="0"/>
              </a:spcBef>
              <a:spcAft>
                <a:spcPts val="0"/>
              </a:spcAft>
              <a:buSzPts val="1800"/>
              <a:buNone/>
            </a:pPr>
            <a:r>
              <a:rPr lang="es" sz="1100">
                <a:solidFill>
                  <a:srgbClr val="000000"/>
                </a:solidFill>
                <a:latin typeface="Arial"/>
                <a:ea typeface="Arial"/>
                <a:cs typeface="Arial"/>
                <a:sym typeface="Arial"/>
              </a:rPr>
              <a:t>&lt;li&gt;&lt;a href="#" title="Link 3"&gt;Link 3&lt;/a&gt;&lt;/li&gt;</a:t>
            </a:r>
            <a:endParaRPr sz="1100">
              <a:solidFill>
                <a:srgbClr val="000000"/>
              </a:solidFill>
              <a:latin typeface="Arial"/>
              <a:ea typeface="Arial"/>
              <a:cs typeface="Arial"/>
              <a:sym typeface="Arial"/>
            </a:endParaRPr>
          </a:p>
          <a:p>
            <a:pPr indent="0" lvl="0" marL="0" rtl="0" algn="l">
              <a:lnSpc>
                <a:spcPct val="100000"/>
              </a:lnSpc>
              <a:spcBef>
                <a:spcPts val="0"/>
              </a:spcBef>
              <a:spcAft>
                <a:spcPts val="0"/>
              </a:spcAft>
              <a:buSzPts val="1800"/>
              <a:buNone/>
            </a:pPr>
            <a:r>
              <a:rPr lang="es" sz="1100">
                <a:solidFill>
                  <a:srgbClr val="000000"/>
                </a:solidFill>
                <a:latin typeface="Arial"/>
                <a:ea typeface="Arial"/>
                <a:cs typeface="Arial"/>
                <a:sym typeface="Arial"/>
              </a:rPr>
              <a:t>&lt;li&gt;&lt;a href="#" title="Link 4"&gt;Link 4&lt;/a&gt;&lt;/li&gt;</a:t>
            </a:r>
            <a:endParaRPr sz="1100">
              <a:solidFill>
                <a:srgbClr val="000000"/>
              </a:solidFill>
              <a:latin typeface="Arial"/>
              <a:ea typeface="Arial"/>
              <a:cs typeface="Arial"/>
              <a:sym typeface="Arial"/>
            </a:endParaRPr>
          </a:p>
          <a:p>
            <a:pPr indent="0" lvl="0" marL="0" rtl="0" algn="l">
              <a:lnSpc>
                <a:spcPct val="100000"/>
              </a:lnSpc>
              <a:spcBef>
                <a:spcPts val="0"/>
              </a:spcBef>
              <a:spcAft>
                <a:spcPts val="0"/>
              </a:spcAft>
              <a:buSzPts val="1800"/>
              <a:buNone/>
            </a:pPr>
            <a:r>
              <a:rPr lang="es" sz="1100">
                <a:solidFill>
                  <a:srgbClr val="000000"/>
                </a:solidFill>
                <a:latin typeface="Arial"/>
                <a:ea typeface="Arial"/>
                <a:cs typeface="Arial"/>
                <a:sym typeface="Arial"/>
              </a:rPr>
              <a:t>&lt;li&gt;&lt;a href="#" title="Link 5"&gt;Link 5&lt;/a&gt;&lt;/li&gt;</a:t>
            </a:r>
            <a:endParaRPr sz="1100">
              <a:solidFill>
                <a:srgbClr val="000000"/>
              </a:solidFill>
              <a:latin typeface="Arial"/>
              <a:ea typeface="Arial"/>
              <a:cs typeface="Arial"/>
              <a:sym typeface="Arial"/>
            </a:endParaRPr>
          </a:p>
          <a:p>
            <a:pPr indent="0" lvl="0" marL="0" rtl="0" algn="l">
              <a:lnSpc>
                <a:spcPct val="100000"/>
              </a:lnSpc>
              <a:spcBef>
                <a:spcPts val="0"/>
              </a:spcBef>
              <a:spcAft>
                <a:spcPts val="0"/>
              </a:spcAft>
              <a:buSzPts val="1800"/>
              <a:buNone/>
            </a:pPr>
            <a:r>
              <a:rPr lang="es" sz="1100">
                <a:solidFill>
                  <a:srgbClr val="000000"/>
                </a:solidFill>
                <a:latin typeface="Arial"/>
                <a:ea typeface="Arial"/>
                <a:cs typeface="Arial"/>
                <a:sym typeface="Arial"/>
              </a:rPr>
              <a:t>&lt;/ul&gt;</a:t>
            </a:r>
            <a:endParaRPr sz="11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AutoNum type="arabicPeriod"/>
            </a:pPr>
            <a:r>
              <a:rPr lang="es" sz="1100">
                <a:solidFill>
                  <a:srgbClr val="000000"/>
                </a:solidFill>
                <a:latin typeface="Arial"/>
                <a:ea typeface="Arial"/>
                <a:cs typeface="Arial"/>
                <a:sym typeface="Arial"/>
              </a:rPr>
              <a:t>Establece que todos los elementos dentro de la página utilicen la fuente Arial.</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AutoNum type="arabicPeriod"/>
            </a:pPr>
            <a:r>
              <a:rPr lang="es" sz="1100">
                <a:solidFill>
                  <a:srgbClr val="000000"/>
                </a:solidFill>
                <a:latin typeface="Arial"/>
                <a:ea typeface="Arial"/>
                <a:cs typeface="Arial"/>
                <a:sym typeface="Arial"/>
              </a:rPr>
              <a:t>Dale a la lista (</a:t>
            </a:r>
            <a:r>
              <a:rPr lang="es" sz="1100">
                <a:solidFill>
                  <a:srgbClr val="188038"/>
                </a:solidFill>
                <a:latin typeface="Roboto Mono"/>
                <a:ea typeface="Roboto Mono"/>
                <a:cs typeface="Roboto Mono"/>
                <a:sym typeface="Roboto Mono"/>
              </a:rPr>
              <a:t>ul</a:t>
            </a:r>
            <a:r>
              <a:rPr lang="es" sz="1100">
                <a:solidFill>
                  <a:srgbClr val="000000"/>
                </a:solidFill>
                <a:latin typeface="Arial"/>
                <a:ea typeface="Arial"/>
                <a:cs typeface="Arial"/>
                <a:sym typeface="Arial"/>
              </a:rPr>
              <a:t>) con la clase «menu» un ancho de 140px, elimina las viñetas de lista, establece los márgenes y relleno a 0 y agrega un borde de 1px sólido con el color #FFC83D.</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AutoNum type="arabicPeriod"/>
            </a:pPr>
            <a:r>
              <a:rPr lang="es" sz="1100">
                <a:solidFill>
                  <a:srgbClr val="000000"/>
                </a:solidFill>
                <a:latin typeface="Arial"/>
                <a:ea typeface="Arial"/>
                <a:cs typeface="Arial"/>
                <a:sym typeface="Arial"/>
              </a:rPr>
              <a:t>Cada elemento de la lista (</a:t>
            </a:r>
            <a:r>
              <a:rPr lang="es" sz="1100">
                <a:solidFill>
                  <a:srgbClr val="188038"/>
                </a:solidFill>
                <a:latin typeface="Roboto Mono"/>
                <a:ea typeface="Roboto Mono"/>
                <a:cs typeface="Roboto Mono"/>
                <a:sym typeface="Roboto Mono"/>
              </a:rPr>
              <a:t>li</a:t>
            </a:r>
            <a:r>
              <a:rPr lang="es" sz="1100">
                <a:solidFill>
                  <a:srgbClr val="000000"/>
                </a:solidFill>
                <a:latin typeface="Arial"/>
                <a:ea typeface="Arial"/>
                <a:cs typeface="Arial"/>
                <a:sym typeface="Arial"/>
              </a:rPr>
              <a:t>) debe tener un borde inferior de 1px sólido con el color #FFC83D. El último elemento de la lista no debe tener un borde inferior.</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AutoNum type="arabicPeriod"/>
            </a:pPr>
            <a:r>
              <a:rPr lang="es" sz="1100">
                <a:solidFill>
                  <a:srgbClr val="000000"/>
                </a:solidFill>
                <a:latin typeface="Arial"/>
                <a:ea typeface="Arial"/>
                <a:cs typeface="Arial"/>
                <a:sym typeface="Arial"/>
              </a:rPr>
              <a:t>Los enlaces (</a:t>
            </a:r>
            <a:r>
              <a:rPr lang="es" sz="1100">
                <a:solidFill>
                  <a:srgbClr val="188038"/>
                </a:solidFill>
                <a:latin typeface="Roboto Mono"/>
                <a:ea typeface="Roboto Mono"/>
                <a:cs typeface="Roboto Mono"/>
                <a:sym typeface="Roboto Mono"/>
              </a:rPr>
              <a:t>&lt;a&gt;</a:t>
            </a:r>
            <a:r>
              <a:rPr lang="es" sz="1100">
                <a:solidFill>
                  <a:srgbClr val="000000"/>
                </a:solidFill>
                <a:latin typeface="Arial"/>
                <a:ea typeface="Arial"/>
                <a:cs typeface="Arial"/>
                <a:sym typeface="Arial"/>
              </a:rPr>
              <a:t>) dentro de los elementos de la lista deben ocupar todo el ancho disponible, centrar su texto, no mostrar subrayado y tener un color de texto de #333. Además, deben tener un relleno de 5px y un fondo de color #E5F3FE.</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AutoNum type="arabicPeriod"/>
            </a:pPr>
            <a:r>
              <a:rPr lang="es" sz="1100">
                <a:solidFill>
                  <a:srgbClr val="000000"/>
                </a:solidFill>
                <a:latin typeface="Arial"/>
                <a:ea typeface="Arial"/>
                <a:cs typeface="Arial"/>
                <a:sym typeface="Arial"/>
              </a:rPr>
              <a:t>Agrega un emoji «👉» antes del texto de cada enlace utilizando pseudo-elementos.</a:t>
            </a:r>
            <a:endParaRPr sz="1100">
              <a:solidFill>
                <a:srgbClr val="000000"/>
              </a:solidFill>
              <a:latin typeface="Arial"/>
              <a:ea typeface="Arial"/>
              <a:cs typeface="Arial"/>
              <a:sym typeface="Arial"/>
            </a:endParaRPr>
          </a:p>
        </p:txBody>
      </p:sp>
      <p:pic>
        <p:nvPicPr>
          <p:cNvPr descr="menu vertical" id="458" name="Google Shape;458;p60"/>
          <p:cNvPicPr preferRelativeResize="0"/>
          <p:nvPr/>
        </p:nvPicPr>
        <p:blipFill rotWithShape="1">
          <a:blip r:embed="rId3">
            <a:alphaModFix/>
          </a:blip>
          <a:srcRect b="0" l="0" r="0" t="0"/>
          <a:stretch/>
        </p:blipFill>
        <p:spPr>
          <a:xfrm>
            <a:off x="6789575" y="1152475"/>
            <a:ext cx="1637500" cy="18608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10. Tamaño: width, height, etc.</a:t>
            </a:r>
            <a:endParaRPr/>
          </a:p>
        </p:txBody>
      </p:sp>
      <p:sp>
        <p:nvSpPr>
          <p:cNvPr id="464" name="Google Shape;464;p6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465" name="Google Shape;465;p61"/>
          <p:cNvPicPr preferRelativeResize="0"/>
          <p:nvPr/>
        </p:nvPicPr>
        <p:blipFill rotWithShape="1">
          <a:blip r:embed="rId3">
            <a:alphaModFix/>
          </a:blip>
          <a:srcRect b="0" l="0" r="0" t="0"/>
          <a:stretch/>
        </p:blipFill>
        <p:spPr>
          <a:xfrm>
            <a:off x="1341438" y="1268413"/>
            <a:ext cx="6562725" cy="364807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6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10. Tamaño: width, height, etc.</a:t>
            </a:r>
            <a:endParaRPr/>
          </a:p>
          <a:p>
            <a:pPr indent="0" lvl="0" marL="0" rtl="0" algn="l">
              <a:lnSpc>
                <a:spcPct val="100000"/>
              </a:lnSpc>
              <a:spcBef>
                <a:spcPts val="0"/>
              </a:spcBef>
              <a:spcAft>
                <a:spcPts val="0"/>
              </a:spcAft>
              <a:buSzPct val="111111"/>
              <a:buNone/>
            </a:pPr>
            <a:r>
              <a:t/>
            </a:r>
            <a:endParaRPr/>
          </a:p>
        </p:txBody>
      </p:sp>
      <p:sp>
        <p:nvSpPr>
          <p:cNvPr id="471" name="Google Shape;471;p6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350">
                <a:solidFill>
                  <a:srgbClr val="000000"/>
                </a:solidFill>
                <a:highlight>
                  <a:srgbClr val="FFFFFF"/>
                </a:highlight>
                <a:latin typeface="Roboto"/>
                <a:ea typeface="Roboto"/>
                <a:cs typeface="Roboto"/>
                <a:sym typeface="Roboto"/>
              </a:rPr>
              <a:t>Las </a:t>
            </a:r>
            <a:r>
              <a:rPr b="1" lang="es" sz="1350">
                <a:solidFill>
                  <a:srgbClr val="000000"/>
                </a:solidFill>
                <a:highlight>
                  <a:srgbClr val="FFFFFF"/>
                </a:highlight>
                <a:latin typeface="Roboto"/>
                <a:ea typeface="Roboto"/>
                <a:cs typeface="Roboto"/>
                <a:sym typeface="Roboto"/>
              </a:rPr>
              <a:t>propiedades CSS width y height</a:t>
            </a:r>
            <a:r>
              <a:rPr lang="es" sz="1350">
                <a:solidFill>
                  <a:srgbClr val="000000"/>
                </a:solidFill>
                <a:highlight>
                  <a:srgbClr val="FFFFFF"/>
                </a:highlight>
                <a:latin typeface="Roboto"/>
                <a:ea typeface="Roboto"/>
                <a:cs typeface="Roboto"/>
                <a:sym typeface="Roboto"/>
              </a:rPr>
              <a:t> se usan para</a:t>
            </a:r>
            <a:r>
              <a:rPr b="1" lang="es" sz="1350">
                <a:solidFill>
                  <a:srgbClr val="000000"/>
                </a:solidFill>
                <a:highlight>
                  <a:srgbClr val="FFFFFF"/>
                </a:highlight>
                <a:latin typeface="Roboto"/>
                <a:ea typeface="Roboto"/>
                <a:cs typeface="Roboto"/>
                <a:sym typeface="Roboto"/>
              </a:rPr>
              <a:t> establecer el ancho y el alto de un elemento</a:t>
            </a:r>
            <a:r>
              <a:rPr lang="es" sz="1350">
                <a:solidFill>
                  <a:srgbClr val="000000"/>
                </a:solidFill>
                <a:highlight>
                  <a:srgbClr val="FFFFFF"/>
                </a:highlight>
                <a:latin typeface="Roboto"/>
                <a:ea typeface="Roboto"/>
                <a:cs typeface="Roboto"/>
                <a:sym typeface="Roboto"/>
              </a:rPr>
              <a:t>. Por defecto, estas propiedades se refieren al área de contenido del elemento, es decir, el espacio que ocupa el texto, las imágenes u otros elementos dentro del elemento. El área de contenido </a:t>
            </a:r>
            <a:r>
              <a:rPr b="1" lang="es" sz="1350">
                <a:solidFill>
                  <a:srgbClr val="000000"/>
                </a:solidFill>
                <a:highlight>
                  <a:srgbClr val="FFFFFF"/>
                </a:highlight>
                <a:latin typeface="Roboto"/>
                <a:ea typeface="Roboto"/>
                <a:cs typeface="Roboto"/>
                <a:sym typeface="Roboto"/>
              </a:rPr>
              <a:t>no incluye el padding (relleno), el border (borde) ni el margin (margen) del elemento</a:t>
            </a:r>
            <a:r>
              <a:rPr lang="es" sz="1350">
                <a:solidFill>
                  <a:srgbClr val="000000"/>
                </a:solidFill>
                <a:highlight>
                  <a:srgbClr val="FFFFFF"/>
                </a:highlight>
                <a:latin typeface="Roboto"/>
                <a:ea typeface="Roboto"/>
                <a:cs typeface="Roboto"/>
                <a:sym typeface="Roboto"/>
              </a:rPr>
              <a:t>.</a:t>
            </a:r>
            <a:endParaRPr sz="1350">
              <a:solidFill>
                <a:srgbClr val="000000"/>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highlight>
                  <a:srgbClr val="FFFFFF"/>
                </a:highlight>
                <a:latin typeface="Roboto"/>
                <a:ea typeface="Roboto"/>
                <a:cs typeface="Roboto"/>
                <a:sym typeface="Roboto"/>
              </a:rPr>
              <a:t>Sin embargo, podemos cambiar este comportamiento con la propiedad CSS </a:t>
            </a:r>
            <a:r>
              <a:rPr lang="es" sz="1350">
                <a:solidFill>
                  <a:srgbClr val="E7618B"/>
                </a:solidFill>
                <a:highlight>
                  <a:srgbClr val="FFFFFF"/>
                </a:highlight>
                <a:uFill>
                  <a:noFill/>
                </a:uFill>
                <a:latin typeface="Roboto"/>
                <a:ea typeface="Roboto"/>
                <a:cs typeface="Roboto"/>
                <a:sym typeface="Roboto"/>
                <a:hlinkClick r:id="rId3">
                  <a:extLst>
                    <a:ext uri="{A12FA001-AC4F-418D-AE19-62706E023703}">
                      <ahyp:hlinkClr val="tx"/>
                    </a:ext>
                  </a:extLst>
                </a:hlinkClick>
              </a:rPr>
              <a:t>box-sizing</a:t>
            </a:r>
            <a:r>
              <a:rPr lang="es" sz="1350">
                <a:solidFill>
                  <a:srgbClr val="000000"/>
                </a:solidFill>
                <a:highlight>
                  <a:srgbClr val="FFFFFF"/>
                </a:highlight>
                <a:latin typeface="Roboto"/>
                <a:ea typeface="Roboto"/>
                <a:cs typeface="Roboto"/>
                <a:sym typeface="Roboto"/>
              </a:rPr>
              <a:t>, que nos permite definir qué partes del elemento se incluyen en el cálculo del ancho y el alto. Esto lo veremos en la siguiente unidadl.</a:t>
            </a:r>
            <a:endParaRPr sz="1350">
              <a:solidFill>
                <a:srgbClr val="000000"/>
              </a:solidFill>
              <a:highlight>
                <a:srgbClr val="FFFFFF"/>
              </a:highlight>
              <a:latin typeface="Roboto"/>
              <a:ea typeface="Roboto"/>
              <a:cs typeface="Roboto"/>
              <a:sym typeface="Roboto"/>
            </a:endParaRPr>
          </a:p>
          <a:p>
            <a:pPr indent="0" lvl="0" marL="0" rtl="0" algn="l">
              <a:lnSpc>
                <a:spcPct val="115000"/>
              </a:lnSpc>
              <a:spcBef>
                <a:spcPts val="1100"/>
              </a:spcBef>
              <a:spcAft>
                <a:spcPts val="1200"/>
              </a:spcAft>
              <a:buSzPts val="1800"/>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6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10. Tamaño: width, height, etc.</a:t>
            </a:r>
            <a:endParaRPr/>
          </a:p>
          <a:p>
            <a:pPr indent="0" lvl="0" marL="0" rtl="0" algn="l">
              <a:lnSpc>
                <a:spcPct val="100000"/>
              </a:lnSpc>
              <a:spcBef>
                <a:spcPts val="0"/>
              </a:spcBef>
              <a:spcAft>
                <a:spcPts val="0"/>
              </a:spcAft>
              <a:buSzPct val="111111"/>
              <a:buNone/>
            </a:pPr>
            <a:r>
              <a:t/>
            </a:r>
            <a:endParaRPr/>
          </a:p>
        </p:txBody>
      </p:sp>
      <p:sp>
        <p:nvSpPr>
          <p:cNvPr id="477" name="Google Shape;477;p63"/>
          <p:cNvSpPr txBox="1"/>
          <p:nvPr>
            <p:ph idx="1" type="body"/>
          </p:nvPr>
        </p:nvSpPr>
        <p:spPr>
          <a:xfrm>
            <a:off x="311700" y="1152475"/>
            <a:ext cx="8520600" cy="3911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37500"/>
              </a:lnSpc>
              <a:spcBef>
                <a:spcPts val="0"/>
              </a:spcBef>
              <a:spcAft>
                <a:spcPts val="0"/>
              </a:spcAft>
              <a:buSzPts val="1800"/>
              <a:buNone/>
            </a:pPr>
            <a:r>
              <a:rPr b="1" lang="es" sz="3000">
                <a:solidFill>
                  <a:srgbClr val="232B46"/>
                </a:solidFill>
                <a:highlight>
                  <a:srgbClr val="FFFFFF"/>
                </a:highlight>
                <a:latin typeface="Roboto"/>
                <a:ea typeface="Roboto"/>
                <a:cs typeface="Roboto"/>
                <a:sym typeface="Roboto"/>
              </a:rPr>
              <a:t>Cómo usar las propiedades CSS width y height</a:t>
            </a:r>
            <a:endParaRPr b="1" sz="3000">
              <a:solidFill>
                <a:srgbClr val="232B46"/>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highlight>
                  <a:srgbClr val="FFFFFF"/>
                </a:highlight>
                <a:latin typeface="Roboto"/>
                <a:ea typeface="Roboto"/>
                <a:cs typeface="Roboto"/>
                <a:sym typeface="Roboto"/>
              </a:rPr>
              <a:t>Veamos algunos ejemplos de uso de width y height con diferentes unidades:</a:t>
            </a:r>
            <a:endParaRPr sz="1350">
              <a:solidFill>
                <a:srgbClr val="000000"/>
              </a:solidFill>
              <a:highlight>
                <a:srgbClr val="FFFFFF"/>
              </a:highlight>
              <a:latin typeface="Roboto"/>
              <a:ea typeface="Roboto"/>
              <a:cs typeface="Roboto"/>
              <a:sym typeface="Roboto"/>
            </a:endParaRPr>
          </a:p>
          <a:p>
            <a:pPr indent="-314325" lvl="0" marL="749300" rtl="0" algn="l">
              <a:lnSpc>
                <a:spcPct val="115000"/>
              </a:lnSpc>
              <a:spcBef>
                <a:spcPts val="1100"/>
              </a:spcBef>
              <a:spcAft>
                <a:spcPts val="0"/>
              </a:spcAft>
              <a:buClr>
                <a:srgbClr val="2C3862"/>
              </a:buClr>
              <a:buSzPts val="1350"/>
              <a:buFont typeface="Roboto"/>
              <a:buChar char="●"/>
            </a:pPr>
            <a:r>
              <a:rPr lang="es" sz="1350">
                <a:solidFill>
                  <a:srgbClr val="2C3862"/>
                </a:solidFill>
                <a:highlight>
                  <a:srgbClr val="FFFFFF"/>
                </a:highlight>
                <a:latin typeface="Roboto"/>
                <a:ea typeface="Roboto"/>
                <a:cs typeface="Roboto"/>
                <a:sym typeface="Roboto"/>
              </a:rPr>
              <a:t>Para darle un ancho y un alto </a:t>
            </a:r>
            <a:r>
              <a:rPr b="1" lang="es" sz="1350">
                <a:solidFill>
                  <a:srgbClr val="2C3862"/>
                </a:solidFill>
                <a:highlight>
                  <a:srgbClr val="FFFFFF"/>
                </a:highlight>
                <a:latin typeface="Roboto"/>
                <a:ea typeface="Roboto"/>
                <a:cs typeface="Roboto"/>
                <a:sym typeface="Roboto"/>
              </a:rPr>
              <a:t>fijo </a:t>
            </a:r>
            <a:r>
              <a:rPr lang="es" sz="1350">
                <a:solidFill>
                  <a:srgbClr val="2C3862"/>
                </a:solidFill>
                <a:highlight>
                  <a:srgbClr val="FFFFFF"/>
                </a:highlight>
                <a:latin typeface="Roboto"/>
                <a:ea typeface="Roboto"/>
                <a:cs typeface="Roboto"/>
                <a:sym typeface="Roboto"/>
              </a:rPr>
              <a:t>a un elemento, podemos usar píxeles como unidad. Por ejemplo, si queremos que un elemento tenga un ancho de 200px y un alto de 100px, podemos usar este código</a:t>
            </a:r>
            <a:endParaRPr sz="1350">
              <a:solidFill>
                <a:srgbClr val="2C3862"/>
              </a:solidFill>
              <a:highlight>
                <a:srgbClr val="FFFFFF"/>
              </a:highlight>
              <a:latin typeface="Roboto"/>
              <a:ea typeface="Roboto"/>
              <a:cs typeface="Roboto"/>
              <a:sym typeface="Roboto"/>
            </a:endParaRPr>
          </a:p>
          <a:p>
            <a:pPr indent="0" lvl="0" marL="0" rtl="0" algn="l">
              <a:lnSpc>
                <a:spcPct val="115000"/>
              </a:lnSpc>
              <a:spcBef>
                <a:spcPts val="1900"/>
              </a:spcBef>
              <a:spcAft>
                <a:spcPts val="0"/>
              </a:spcAft>
              <a:buSzPts val="1800"/>
              <a:buNone/>
            </a:pPr>
            <a:r>
              <a:t/>
            </a:r>
            <a:endParaRPr sz="1350">
              <a:solidFill>
                <a:srgbClr val="2C3862"/>
              </a:solidFill>
              <a:highlight>
                <a:srgbClr val="FFFFFF"/>
              </a:highlight>
              <a:latin typeface="Roboto"/>
              <a:ea typeface="Roboto"/>
              <a:cs typeface="Roboto"/>
              <a:sym typeface="Roboto"/>
            </a:endParaRPr>
          </a:p>
          <a:p>
            <a:pPr indent="-314325" lvl="0" marL="749300" rtl="0" algn="l">
              <a:lnSpc>
                <a:spcPct val="115000"/>
              </a:lnSpc>
              <a:spcBef>
                <a:spcPts val="1900"/>
              </a:spcBef>
              <a:spcAft>
                <a:spcPts val="0"/>
              </a:spcAft>
              <a:buClr>
                <a:srgbClr val="2C3862"/>
              </a:buClr>
              <a:buSzPts val="1350"/>
              <a:buFont typeface="Roboto"/>
              <a:buChar char="●"/>
            </a:pPr>
            <a:r>
              <a:rPr lang="es" sz="1350">
                <a:solidFill>
                  <a:srgbClr val="2C3862"/>
                </a:solidFill>
                <a:highlight>
                  <a:srgbClr val="FFFFFF"/>
                </a:highlight>
                <a:latin typeface="Roboto"/>
                <a:ea typeface="Roboto"/>
                <a:cs typeface="Roboto"/>
                <a:sym typeface="Roboto"/>
              </a:rPr>
              <a:t>Para darle un ancho y un alto </a:t>
            </a:r>
            <a:r>
              <a:rPr b="1" lang="es" sz="1350">
                <a:solidFill>
                  <a:srgbClr val="2C3862"/>
                </a:solidFill>
                <a:highlight>
                  <a:srgbClr val="FFFFFF"/>
                </a:highlight>
                <a:latin typeface="Roboto"/>
                <a:ea typeface="Roboto"/>
                <a:cs typeface="Roboto"/>
                <a:sym typeface="Roboto"/>
              </a:rPr>
              <a:t>relativo </a:t>
            </a:r>
            <a:r>
              <a:rPr lang="es" sz="1350">
                <a:solidFill>
                  <a:srgbClr val="2C3862"/>
                </a:solidFill>
                <a:highlight>
                  <a:srgbClr val="FFFFFF"/>
                </a:highlight>
                <a:latin typeface="Roboto"/>
                <a:ea typeface="Roboto"/>
                <a:cs typeface="Roboto"/>
                <a:sym typeface="Roboto"/>
              </a:rPr>
              <a:t>al elemento contenedor, podemos usar porcentajes como unidad. Por ejemplo, si queremos que un elemento ocupe el 50% del ancho y el 25% del alto del elemento padre, podemos usar este código:</a:t>
            </a:r>
            <a:endParaRPr sz="1350">
              <a:solidFill>
                <a:srgbClr val="2C3862"/>
              </a:solidFill>
              <a:highlight>
                <a:srgbClr val="FFFFFF"/>
              </a:highlight>
              <a:latin typeface="Roboto"/>
              <a:ea typeface="Roboto"/>
              <a:cs typeface="Roboto"/>
              <a:sym typeface="Roboto"/>
            </a:endParaRPr>
          </a:p>
          <a:p>
            <a:pPr indent="0" lvl="0" marL="241300" marR="50800" rtl="0" algn="l">
              <a:lnSpc>
                <a:spcPct val="170000"/>
              </a:lnSpc>
              <a:spcBef>
                <a:spcPts val="1900"/>
              </a:spcBef>
              <a:spcAft>
                <a:spcPts val="1500"/>
              </a:spcAft>
              <a:buSzPts val="1800"/>
              <a:buNone/>
            </a:pPr>
            <a:r>
              <a:t/>
            </a:r>
            <a:endParaRPr/>
          </a:p>
        </p:txBody>
      </p:sp>
      <p:pic>
        <p:nvPicPr>
          <p:cNvPr id="478" name="Google Shape;478;p63"/>
          <p:cNvPicPr preferRelativeResize="0"/>
          <p:nvPr/>
        </p:nvPicPr>
        <p:blipFill rotWithShape="1">
          <a:blip r:embed="rId3">
            <a:alphaModFix/>
          </a:blip>
          <a:srcRect b="0" l="0" r="0" t="0"/>
          <a:stretch/>
        </p:blipFill>
        <p:spPr>
          <a:xfrm>
            <a:off x="1811338" y="2774950"/>
            <a:ext cx="1381125" cy="838200"/>
          </a:xfrm>
          <a:prstGeom prst="rect">
            <a:avLst/>
          </a:prstGeom>
          <a:noFill/>
          <a:ln>
            <a:noFill/>
          </a:ln>
        </p:spPr>
      </p:pic>
      <p:pic>
        <p:nvPicPr>
          <p:cNvPr id="479" name="Google Shape;479;p63"/>
          <p:cNvPicPr preferRelativeResize="0"/>
          <p:nvPr/>
        </p:nvPicPr>
        <p:blipFill rotWithShape="1">
          <a:blip r:embed="rId4">
            <a:alphaModFix/>
          </a:blip>
          <a:srcRect b="0" l="0" r="0" t="0"/>
          <a:stretch/>
        </p:blipFill>
        <p:spPr>
          <a:xfrm>
            <a:off x="4572000" y="4173538"/>
            <a:ext cx="1257300" cy="73342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6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10. Tamaño: width, height, etc.</a:t>
            </a:r>
            <a:endParaRPr/>
          </a:p>
          <a:p>
            <a:pPr indent="0" lvl="0" marL="0" rtl="0" algn="l">
              <a:lnSpc>
                <a:spcPct val="100000"/>
              </a:lnSpc>
              <a:spcBef>
                <a:spcPts val="0"/>
              </a:spcBef>
              <a:spcAft>
                <a:spcPts val="0"/>
              </a:spcAft>
              <a:buSzPct val="111111"/>
              <a:buNone/>
            </a:pPr>
            <a:r>
              <a:t/>
            </a:r>
            <a:endParaRPr/>
          </a:p>
        </p:txBody>
      </p:sp>
      <p:sp>
        <p:nvSpPr>
          <p:cNvPr id="485" name="Google Shape;485;p64"/>
          <p:cNvSpPr txBox="1"/>
          <p:nvPr>
            <p:ph idx="1" type="body"/>
          </p:nvPr>
        </p:nvSpPr>
        <p:spPr>
          <a:xfrm>
            <a:off x="311700" y="1152475"/>
            <a:ext cx="8520600" cy="3911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3000">
                <a:solidFill>
                  <a:srgbClr val="232B46"/>
                </a:solidFill>
                <a:highlight>
                  <a:srgbClr val="FFFFFF"/>
                </a:highlight>
                <a:latin typeface="Roboto"/>
                <a:ea typeface="Roboto"/>
                <a:cs typeface="Roboto"/>
                <a:sym typeface="Roboto"/>
              </a:rPr>
              <a:t>¿Qué son las propiedades CSS max-width y max-height?</a:t>
            </a:r>
            <a:endParaRPr b="1" sz="3000">
              <a:solidFill>
                <a:srgbClr val="232B46"/>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highlight>
                  <a:srgbClr val="FFFFFF"/>
                </a:highlight>
                <a:latin typeface="Roboto"/>
                <a:ea typeface="Roboto"/>
                <a:cs typeface="Roboto"/>
                <a:sym typeface="Roboto"/>
              </a:rPr>
              <a:t>Las propiedades CSS </a:t>
            </a:r>
            <a:r>
              <a:rPr b="1" lang="es" sz="1350">
                <a:solidFill>
                  <a:srgbClr val="000000"/>
                </a:solidFill>
                <a:highlight>
                  <a:srgbClr val="FFFFFF"/>
                </a:highlight>
                <a:latin typeface="Roboto"/>
                <a:ea typeface="Roboto"/>
                <a:cs typeface="Roboto"/>
                <a:sym typeface="Roboto"/>
              </a:rPr>
              <a:t>max-width</a:t>
            </a:r>
            <a:r>
              <a:rPr lang="es" sz="1350">
                <a:solidFill>
                  <a:srgbClr val="000000"/>
                </a:solidFill>
                <a:highlight>
                  <a:srgbClr val="FFFFFF"/>
                </a:highlight>
                <a:latin typeface="Roboto"/>
                <a:ea typeface="Roboto"/>
                <a:cs typeface="Roboto"/>
                <a:sym typeface="Roboto"/>
              </a:rPr>
              <a:t> y </a:t>
            </a:r>
            <a:r>
              <a:rPr b="1" lang="es" sz="1350">
                <a:solidFill>
                  <a:srgbClr val="000000"/>
                </a:solidFill>
                <a:highlight>
                  <a:srgbClr val="FFFFFF"/>
                </a:highlight>
                <a:latin typeface="Roboto"/>
                <a:ea typeface="Roboto"/>
                <a:cs typeface="Roboto"/>
                <a:sym typeface="Roboto"/>
              </a:rPr>
              <a:t>max-height</a:t>
            </a:r>
            <a:r>
              <a:rPr lang="es" sz="1350">
                <a:solidFill>
                  <a:srgbClr val="000000"/>
                </a:solidFill>
                <a:highlight>
                  <a:srgbClr val="FFFFFF"/>
                </a:highlight>
                <a:latin typeface="Roboto"/>
                <a:ea typeface="Roboto"/>
                <a:cs typeface="Roboto"/>
                <a:sym typeface="Roboto"/>
              </a:rPr>
              <a:t> se usan para establecer el ancho y el alto máximo de un elemento. Estas propiedades nos permiten limitar el tamaño de un elemento para que no supere cierto valor, incluso si le damos un ancho o un alto mayor con las propiedades </a:t>
            </a:r>
            <a:r>
              <a:rPr b="1" lang="es" sz="1350">
                <a:solidFill>
                  <a:srgbClr val="000000"/>
                </a:solidFill>
                <a:highlight>
                  <a:srgbClr val="FFFFFF"/>
                </a:highlight>
                <a:latin typeface="Roboto"/>
                <a:ea typeface="Roboto"/>
                <a:cs typeface="Roboto"/>
                <a:sym typeface="Roboto"/>
              </a:rPr>
              <a:t>width</a:t>
            </a:r>
            <a:r>
              <a:rPr lang="es" sz="1350">
                <a:solidFill>
                  <a:srgbClr val="000000"/>
                </a:solidFill>
                <a:highlight>
                  <a:srgbClr val="FFFFFF"/>
                </a:highlight>
                <a:latin typeface="Roboto"/>
                <a:ea typeface="Roboto"/>
                <a:cs typeface="Roboto"/>
                <a:sym typeface="Roboto"/>
              </a:rPr>
              <a:t> o </a:t>
            </a:r>
            <a:r>
              <a:rPr b="1" lang="es" sz="1350">
                <a:solidFill>
                  <a:srgbClr val="000000"/>
                </a:solidFill>
                <a:highlight>
                  <a:srgbClr val="FFFFFF"/>
                </a:highlight>
                <a:latin typeface="Roboto"/>
                <a:ea typeface="Roboto"/>
                <a:cs typeface="Roboto"/>
                <a:sym typeface="Roboto"/>
              </a:rPr>
              <a:t>height</a:t>
            </a:r>
            <a:r>
              <a:rPr lang="es" sz="1350">
                <a:solidFill>
                  <a:srgbClr val="000000"/>
                </a:solidFill>
                <a:highlight>
                  <a:srgbClr val="FFFFFF"/>
                </a:highlight>
                <a:latin typeface="Roboto"/>
                <a:ea typeface="Roboto"/>
                <a:cs typeface="Roboto"/>
                <a:sym typeface="Roboto"/>
              </a:rPr>
              <a:t>.</a:t>
            </a:r>
            <a:endParaRPr sz="1350">
              <a:solidFill>
                <a:srgbClr val="000000"/>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highlight>
                  <a:srgbClr val="FFFFFF"/>
                </a:highlight>
                <a:latin typeface="Roboto"/>
                <a:ea typeface="Roboto"/>
                <a:cs typeface="Roboto"/>
                <a:sym typeface="Roboto"/>
              </a:rPr>
              <a:t>Esto puede ser muy útil p</a:t>
            </a:r>
            <a:r>
              <a:rPr lang="es" sz="1350" u="sng">
                <a:solidFill>
                  <a:srgbClr val="000000"/>
                </a:solidFill>
                <a:highlight>
                  <a:srgbClr val="FFFFFF"/>
                </a:highlight>
                <a:latin typeface="Roboto"/>
                <a:ea typeface="Roboto"/>
                <a:cs typeface="Roboto"/>
                <a:sym typeface="Roboto"/>
              </a:rPr>
              <a:t>ara crear diseños responsivos</a:t>
            </a:r>
            <a:r>
              <a:rPr lang="es" sz="1350">
                <a:solidFill>
                  <a:srgbClr val="000000"/>
                </a:solidFill>
                <a:highlight>
                  <a:srgbClr val="FFFFFF"/>
                </a:highlight>
                <a:latin typeface="Roboto"/>
                <a:ea typeface="Roboto"/>
                <a:cs typeface="Roboto"/>
                <a:sym typeface="Roboto"/>
              </a:rPr>
              <a:t> que se adapten a diferentes tamaños de pantalla. </a:t>
            </a:r>
            <a:endParaRPr sz="1350">
              <a:solidFill>
                <a:srgbClr val="000000"/>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highlight>
                  <a:srgbClr val="FFFFFF"/>
                </a:highlight>
                <a:latin typeface="Roboto"/>
                <a:ea typeface="Roboto"/>
                <a:cs typeface="Roboto"/>
                <a:sym typeface="Roboto"/>
              </a:rPr>
              <a:t>Por ejemplo, podemos usar </a:t>
            </a:r>
            <a:r>
              <a:rPr b="1" lang="es" sz="1350">
                <a:solidFill>
                  <a:srgbClr val="000000"/>
                </a:solidFill>
                <a:highlight>
                  <a:srgbClr val="FFFFFF"/>
                </a:highlight>
                <a:latin typeface="Roboto"/>
                <a:ea typeface="Roboto"/>
                <a:cs typeface="Roboto"/>
                <a:sym typeface="Roboto"/>
              </a:rPr>
              <a:t>max-width</a:t>
            </a:r>
            <a:r>
              <a:rPr lang="es" sz="1350">
                <a:solidFill>
                  <a:srgbClr val="000000"/>
                </a:solidFill>
                <a:highlight>
                  <a:srgbClr val="FFFFFF"/>
                </a:highlight>
                <a:latin typeface="Roboto"/>
                <a:ea typeface="Roboto"/>
                <a:cs typeface="Roboto"/>
                <a:sym typeface="Roboto"/>
              </a:rPr>
              <a:t> para evitar que una imagen se salga del contenedor o que se distorsione al cambiar la resolución. </a:t>
            </a:r>
            <a:endParaRPr sz="1350">
              <a:solidFill>
                <a:srgbClr val="000000"/>
              </a:solidFill>
              <a:highlight>
                <a:srgbClr val="FFFFFF"/>
              </a:highlight>
              <a:latin typeface="Roboto"/>
              <a:ea typeface="Roboto"/>
              <a:cs typeface="Roboto"/>
              <a:sym typeface="Roboto"/>
            </a:endParaRPr>
          </a:p>
          <a:p>
            <a:pPr indent="0" lvl="0" marL="0" rtl="0" algn="l">
              <a:lnSpc>
                <a:spcPct val="115000"/>
              </a:lnSpc>
              <a:spcBef>
                <a:spcPts val="1100"/>
              </a:spcBef>
              <a:spcAft>
                <a:spcPts val="1100"/>
              </a:spcAft>
              <a:buSzPts val="1800"/>
              <a:buNone/>
            </a:pPr>
            <a:r>
              <a:rPr lang="es" sz="1350">
                <a:solidFill>
                  <a:srgbClr val="000000"/>
                </a:solidFill>
                <a:highlight>
                  <a:srgbClr val="FFFFFF"/>
                </a:highlight>
                <a:latin typeface="Roboto"/>
                <a:ea typeface="Roboto"/>
                <a:cs typeface="Roboto"/>
                <a:sym typeface="Roboto"/>
              </a:rPr>
              <a:t>También podemos usar </a:t>
            </a:r>
            <a:r>
              <a:rPr b="1" lang="es" sz="1350">
                <a:solidFill>
                  <a:srgbClr val="000000"/>
                </a:solidFill>
                <a:highlight>
                  <a:srgbClr val="FFFFFF"/>
                </a:highlight>
                <a:latin typeface="Roboto"/>
                <a:ea typeface="Roboto"/>
                <a:cs typeface="Roboto"/>
                <a:sym typeface="Roboto"/>
              </a:rPr>
              <a:t>max-height</a:t>
            </a:r>
            <a:r>
              <a:rPr lang="es" sz="1350">
                <a:solidFill>
                  <a:srgbClr val="000000"/>
                </a:solidFill>
                <a:highlight>
                  <a:srgbClr val="FFFFFF"/>
                </a:highlight>
                <a:latin typeface="Roboto"/>
                <a:ea typeface="Roboto"/>
                <a:cs typeface="Roboto"/>
                <a:sym typeface="Roboto"/>
              </a:rPr>
              <a:t> para controlar la altura de un elemento que tenga contenido variable, como un menú desplegable o una caja de texto.</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6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10. Tamaño: width, height, etc.</a:t>
            </a:r>
            <a:endParaRPr/>
          </a:p>
          <a:p>
            <a:pPr indent="0" lvl="0" marL="0" rtl="0" algn="l">
              <a:lnSpc>
                <a:spcPct val="100000"/>
              </a:lnSpc>
              <a:spcBef>
                <a:spcPts val="0"/>
              </a:spcBef>
              <a:spcAft>
                <a:spcPts val="0"/>
              </a:spcAft>
              <a:buSzPct val="111111"/>
              <a:buNone/>
            </a:pPr>
            <a:r>
              <a:t/>
            </a:r>
            <a:endParaRPr/>
          </a:p>
        </p:txBody>
      </p:sp>
      <p:sp>
        <p:nvSpPr>
          <p:cNvPr id="491" name="Google Shape;491;p65"/>
          <p:cNvSpPr txBox="1"/>
          <p:nvPr>
            <p:ph idx="1" type="body"/>
          </p:nvPr>
        </p:nvSpPr>
        <p:spPr>
          <a:xfrm>
            <a:off x="311700" y="1152475"/>
            <a:ext cx="8520600" cy="3911400"/>
          </a:xfrm>
          <a:prstGeom prst="rect">
            <a:avLst/>
          </a:prstGeom>
          <a:noFill/>
          <a:ln>
            <a:noFill/>
          </a:ln>
        </p:spPr>
        <p:txBody>
          <a:bodyPr anchorCtr="0" anchor="t" bIns="91425" lIns="91425" spcFirstLastPara="1" rIns="91425" wrap="square" tIns="91425">
            <a:normAutofit/>
          </a:bodyPr>
          <a:lstStyle/>
          <a:p>
            <a:pPr indent="0" lvl="0" marL="0" rtl="0" algn="l">
              <a:lnSpc>
                <a:spcPct val="137500"/>
              </a:lnSpc>
              <a:spcBef>
                <a:spcPts val="0"/>
              </a:spcBef>
              <a:spcAft>
                <a:spcPts val="0"/>
              </a:spcAft>
              <a:buSzPts val="1800"/>
              <a:buNone/>
            </a:pPr>
            <a:r>
              <a:rPr b="1" lang="es" sz="3000">
                <a:solidFill>
                  <a:srgbClr val="232B46"/>
                </a:solidFill>
                <a:highlight>
                  <a:srgbClr val="FFFFFF"/>
                </a:highlight>
                <a:latin typeface="Roboto"/>
                <a:ea typeface="Roboto"/>
                <a:cs typeface="Roboto"/>
                <a:sym typeface="Roboto"/>
              </a:rPr>
              <a:t>¿Qué son las propiedades CSS min-width y min-height?</a:t>
            </a:r>
            <a:endParaRPr b="1" sz="3000">
              <a:solidFill>
                <a:srgbClr val="232B46"/>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highlight>
                  <a:srgbClr val="FFFFFF"/>
                </a:highlight>
                <a:latin typeface="Roboto"/>
                <a:ea typeface="Roboto"/>
                <a:cs typeface="Roboto"/>
                <a:sym typeface="Roboto"/>
              </a:rPr>
              <a:t>Las propiedades CSS</a:t>
            </a:r>
            <a:r>
              <a:rPr b="1" lang="es" sz="1350">
                <a:solidFill>
                  <a:srgbClr val="000000"/>
                </a:solidFill>
                <a:highlight>
                  <a:srgbClr val="FFFFFF"/>
                </a:highlight>
                <a:latin typeface="Roboto"/>
                <a:ea typeface="Roboto"/>
                <a:cs typeface="Roboto"/>
                <a:sym typeface="Roboto"/>
              </a:rPr>
              <a:t> min-width</a:t>
            </a:r>
            <a:r>
              <a:rPr lang="es" sz="1350">
                <a:solidFill>
                  <a:srgbClr val="000000"/>
                </a:solidFill>
                <a:highlight>
                  <a:srgbClr val="FFFFFF"/>
                </a:highlight>
                <a:latin typeface="Roboto"/>
                <a:ea typeface="Roboto"/>
                <a:cs typeface="Roboto"/>
                <a:sym typeface="Roboto"/>
              </a:rPr>
              <a:t> y</a:t>
            </a:r>
            <a:r>
              <a:rPr b="1" lang="es" sz="1350">
                <a:solidFill>
                  <a:srgbClr val="000000"/>
                </a:solidFill>
                <a:highlight>
                  <a:srgbClr val="FFFFFF"/>
                </a:highlight>
                <a:latin typeface="Roboto"/>
                <a:ea typeface="Roboto"/>
                <a:cs typeface="Roboto"/>
                <a:sym typeface="Roboto"/>
              </a:rPr>
              <a:t> min-height</a:t>
            </a:r>
            <a:r>
              <a:rPr lang="es" sz="1350">
                <a:solidFill>
                  <a:srgbClr val="000000"/>
                </a:solidFill>
                <a:highlight>
                  <a:srgbClr val="FFFFFF"/>
                </a:highlight>
                <a:latin typeface="Roboto"/>
                <a:ea typeface="Roboto"/>
                <a:cs typeface="Roboto"/>
                <a:sym typeface="Roboto"/>
              </a:rPr>
              <a:t> se utilizan para establecer la anchura y la altura mínima de un elemento, respectivamente. Estas propiedades impiden que el elemento se reduzca a un ancho o alto menor que el valor especificado.</a:t>
            </a:r>
            <a:endParaRPr sz="1350">
              <a:solidFill>
                <a:srgbClr val="000000"/>
              </a:solidFill>
              <a:highlight>
                <a:srgbClr val="FFFFFF"/>
              </a:highlight>
              <a:latin typeface="Roboto"/>
              <a:ea typeface="Roboto"/>
              <a:cs typeface="Roboto"/>
              <a:sym typeface="Roboto"/>
            </a:endParaRPr>
          </a:p>
          <a:p>
            <a:pPr indent="0" lvl="0" marL="0" rtl="0" algn="l">
              <a:lnSpc>
                <a:spcPct val="115000"/>
              </a:lnSpc>
              <a:spcBef>
                <a:spcPts val="1100"/>
              </a:spcBef>
              <a:spcAft>
                <a:spcPts val="1100"/>
              </a:spcAft>
              <a:buSzPts val="1800"/>
              <a:buNone/>
            </a:pPr>
            <a:r>
              <a:rPr lang="es" sz="1350">
                <a:solidFill>
                  <a:srgbClr val="000000"/>
                </a:solidFill>
                <a:highlight>
                  <a:srgbClr val="FFFFFF"/>
                </a:highlight>
                <a:latin typeface="Roboto"/>
                <a:ea typeface="Roboto"/>
                <a:cs typeface="Roboto"/>
                <a:sym typeface="Roboto"/>
              </a:rPr>
              <a:t>Las propiedades min-width y min-height se pueden utilizar para garantizar que un elemento tenga un tamaño mínimo, independientemente del tamaño del contenido que contenga. Por ejemplo, se pueden utilizar para garantizar que un elemento siempre tenga un tamaño mínimo de visualización, incluso en pantallas pequeñas.</a:t>
            </a:r>
            <a:endParaRPr b="1" sz="3000">
              <a:solidFill>
                <a:srgbClr val="232B46"/>
              </a:solidFill>
              <a:highlight>
                <a:srgbClr val="FFFFFF"/>
              </a:highlight>
              <a:latin typeface="Roboto"/>
              <a:ea typeface="Roboto"/>
              <a:cs typeface="Roboto"/>
              <a:sym typeface="Roboto"/>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6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10. Tamaño: width, height, etc.</a:t>
            </a:r>
            <a:endParaRPr/>
          </a:p>
          <a:p>
            <a:pPr indent="0" lvl="0" marL="0" rtl="0" algn="l">
              <a:lnSpc>
                <a:spcPct val="100000"/>
              </a:lnSpc>
              <a:spcBef>
                <a:spcPts val="0"/>
              </a:spcBef>
              <a:spcAft>
                <a:spcPts val="0"/>
              </a:spcAft>
              <a:buSzPct val="111111"/>
              <a:buNone/>
            </a:pPr>
            <a:r>
              <a:t/>
            </a:r>
            <a:endParaRPr/>
          </a:p>
        </p:txBody>
      </p:sp>
      <p:sp>
        <p:nvSpPr>
          <p:cNvPr id="497" name="Google Shape;497;p66"/>
          <p:cNvSpPr txBox="1"/>
          <p:nvPr>
            <p:ph idx="1" type="body"/>
          </p:nvPr>
        </p:nvSpPr>
        <p:spPr>
          <a:xfrm>
            <a:off x="311700" y="1152475"/>
            <a:ext cx="6453300" cy="3911400"/>
          </a:xfrm>
          <a:prstGeom prst="rect">
            <a:avLst/>
          </a:prstGeom>
          <a:noFill/>
          <a:ln>
            <a:noFill/>
          </a:ln>
        </p:spPr>
        <p:txBody>
          <a:bodyPr anchorCtr="0" anchor="t" bIns="91425" lIns="91425" spcFirstLastPara="1" rIns="91425" wrap="square" tIns="91425">
            <a:normAutofit/>
          </a:bodyPr>
          <a:lstStyle/>
          <a:p>
            <a:pPr indent="0" lvl="0" marL="0" rtl="0" algn="l">
              <a:lnSpc>
                <a:spcPct val="137500"/>
              </a:lnSpc>
              <a:spcBef>
                <a:spcPts val="0"/>
              </a:spcBef>
              <a:spcAft>
                <a:spcPts val="0"/>
              </a:spcAft>
              <a:buSzPts val="1800"/>
              <a:buNone/>
            </a:pPr>
            <a:r>
              <a:rPr b="1" lang="es" sz="3000">
                <a:solidFill>
                  <a:srgbClr val="232B46"/>
                </a:solidFill>
                <a:highlight>
                  <a:srgbClr val="FFFFFF"/>
                </a:highlight>
                <a:latin typeface="Roboto"/>
                <a:ea typeface="Roboto"/>
                <a:cs typeface="Roboto"/>
                <a:sym typeface="Roboto"/>
              </a:rPr>
              <a:t>Cómo usar max-width, min-width, max-height y min-height </a:t>
            </a:r>
            <a:endParaRPr b="1" sz="3000">
              <a:solidFill>
                <a:srgbClr val="232B46"/>
              </a:solidFill>
              <a:highlight>
                <a:srgbClr val="FFFFFF"/>
              </a:highlight>
              <a:latin typeface="Roboto"/>
              <a:ea typeface="Roboto"/>
              <a:cs typeface="Roboto"/>
              <a:sym typeface="Roboto"/>
            </a:endParaRPr>
          </a:p>
          <a:p>
            <a:pPr indent="-314325" lvl="0" marL="457200" rtl="0" algn="l">
              <a:lnSpc>
                <a:spcPct val="115000"/>
              </a:lnSpc>
              <a:spcBef>
                <a:spcPts val="1100"/>
              </a:spcBef>
              <a:spcAft>
                <a:spcPts val="0"/>
              </a:spcAft>
              <a:buClr>
                <a:srgbClr val="2C3862"/>
              </a:buClr>
              <a:buSzPts val="1350"/>
              <a:buFont typeface="Roboto"/>
              <a:buChar char="●"/>
            </a:pPr>
            <a:r>
              <a:rPr lang="es" sz="1350">
                <a:solidFill>
                  <a:srgbClr val="2C3862"/>
                </a:solidFill>
                <a:highlight>
                  <a:srgbClr val="FFFFFF"/>
                </a:highlight>
                <a:latin typeface="Roboto"/>
                <a:ea typeface="Roboto"/>
                <a:cs typeface="Roboto"/>
                <a:sym typeface="Roboto"/>
              </a:rPr>
              <a:t>Para darle un ancho y un alto máximo a un elemento en píxeles, podemos usar esta unidad como valor. </a:t>
            </a:r>
            <a:endParaRPr sz="1350">
              <a:solidFill>
                <a:srgbClr val="000000"/>
              </a:solidFill>
              <a:highlight>
                <a:srgbClr val="FFFFFF"/>
              </a:highlight>
              <a:latin typeface="Roboto"/>
              <a:ea typeface="Roboto"/>
              <a:cs typeface="Roboto"/>
              <a:sym typeface="Roboto"/>
            </a:endParaRPr>
          </a:p>
          <a:p>
            <a:pPr indent="-314325" lvl="0" marL="457200" rtl="0" algn="l">
              <a:lnSpc>
                <a:spcPct val="115000"/>
              </a:lnSpc>
              <a:spcBef>
                <a:spcPts val="0"/>
              </a:spcBef>
              <a:spcAft>
                <a:spcPts val="0"/>
              </a:spcAft>
              <a:buClr>
                <a:srgbClr val="2C3862"/>
              </a:buClr>
              <a:buSzPts val="1350"/>
              <a:buFont typeface="Roboto"/>
              <a:buChar char="●"/>
            </a:pPr>
            <a:r>
              <a:rPr lang="es" sz="1350">
                <a:solidFill>
                  <a:srgbClr val="2C3862"/>
                </a:solidFill>
                <a:highlight>
                  <a:srgbClr val="FFFFFF"/>
                </a:highlight>
                <a:latin typeface="Roboto"/>
                <a:ea typeface="Roboto"/>
                <a:cs typeface="Roboto"/>
                <a:sym typeface="Roboto"/>
              </a:rPr>
              <a:t>Para darle un ancho y un alto máximo a un elemento en píxeles, podemos usar esta unidad como valor. Por ejemplo, si queremos que una imagen no supere los 300px de ancho ni los 200px de alto, podemos usar este código:</a:t>
            </a:r>
            <a:endParaRPr sz="1350">
              <a:solidFill>
                <a:srgbClr val="2C3862"/>
              </a:solidFill>
              <a:highlight>
                <a:srgbClr val="FFFFFF"/>
              </a:highlight>
              <a:latin typeface="Roboto"/>
              <a:ea typeface="Roboto"/>
              <a:cs typeface="Roboto"/>
              <a:sym typeface="Roboto"/>
            </a:endParaRPr>
          </a:p>
          <a:p>
            <a:pPr indent="-314325" lvl="0" marL="457200" rtl="0" algn="l">
              <a:lnSpc>
                <a:spcPct val="115000"/>
              </a:lnSpc>
              <a:spcBef>
                <a:spcPts val="0"/>
              </a:spcBef>
              <a:spcAft>
                <a:spcPts val="0"/>
              </a:spcAft>
              <a:buClr>
                <a:srgbClr val="000000"/>
              </a:buClr>
              <a:buSzPts val="1350"/>
              <a:buFont typeface="Roboto"/>
              <a:buChar char="●"/>
            </a:pPr>
            <a:r>
              <a:rPr lang="es" sz="1350">
                <a:solidFill>
                  <a:srgbClr val="000000"/>
                </a:solidFill>
                <a:highlight>
                  <a:srgbClr val="FFFFFF"/>
                </a:highlight>
                <a:latin typeface="Roboto"/>
                <a:ea typeface="Roboto"/>
                <a:cs typeface="Roboto"/>
                <a:sym typeface="Roboto"/>
              </a:rPr>
              <a:t>El siguiente código establece el ancho máximo del elemento </a:t>
            </a:r>
            <a:r>
              <a:rPr lang="es" sz="1350">
                <a:solidFill>
                  <a:srgbClr val="2991D6"/>
                </a:solidFill>
                <a:highlight>
                  <a:srgbClr val="FFFFFF"/>
                </a:highlight>
                <a:latin typeface="Courier New"/>
                <a:ea typeface="Courier New"/>
                <a:cs typeface="Courier New"/>
                <a:sym typeface="Courier New"/>
              </a:rPr>
              <a:t>div</a:t>
            </a:r>
            <a:r>
              <a:rPr lang="es" sz="1350">
                <a:solidFill>
                  <a:srgbClr val="000000"/>
                </a:solidFill>
                <a:highlight>
                  <a:srgbClr val="FFFFFF"/>
                </a:highlight>
                <a:latin typeface="Roboto"/>
                <a:ea typeface="Roboto"/>
                <a:cs typeface="Roboto"/>
                <a:sym typeface="Roboto"/>
              </a:rPr>
              <a:t> a 300 píxeles:</a:t>
            </a:r>
            <a:endParaRPr sz="1350">
              <a:solidFill>
                <a:srgbClr val="000000"/>
              </a:solidFill>
              <a:highlight>
                <a:srgbClr val="FFFFFF"/>
              </a:highlight>
              <a:latin typeface="Roboto"/>
              <a:ea typeface="Roboto"/>
              <a:cs typeface="Roboto"/>
              <a:sym typeface="Roboto"/>
            </a:endParaRPr>
          </a:p>
          <a:p>
            <a:pPr indent="-314325" lvl="0" marL="457200" rtl="0" algn="l">
              <a:lnSpc>
                <a:spcPct val="115000"/>
              </a:lnSpc>
              <a:spcBef>
                <a:spcPts val="0"/>
              </a:spcBef>
              <a:spcAft>
                <a:spcPts val="0"/>
              </a:spcAft>
              <a:buClr>
                <a:srgbClr val="000000"/>
              </a:buClr>
              <a:buSzPts val="1350"/>
              <a:buFont typeface="Roboto"/>
              <a:buChar char="●"/>
            </a:pPr>
            <a:r>
              <a:rPr lang="es" sz="1350">
                <a:solidFill>
                  <a:srgbClr val="000000"/>
                </a:solidFill>
                <a:highlight>
                  <a:srgbClr val="FFFFFF"/>
                </a:highlight>
                <a:latin typeface="Roboto"/>
                <a:ea typeface="Roboto"/>
                <a:cs typeface="Roboto"/>
                <a:sym typeface="Roboto"/>
              </a:rPr>
              <a:t>El siguiente código establece el alto mínimo del elemento </a:t>
            </a:r>
            <a:r>
              <a:rPr lang="es" sz="1350">
                <a:solidFill>
                  <a:srgbClr val="2991D6"/>
                </a:solidFill>
                <a:highlight>
                  <a:srgbClr val="FFFFFF"/>
                </a:highlight>
                <a:latin typeface="Courier New"/>
                <a:ea typeface="Courier New"/>
                <a:cs typeface="Courier New"/>
                <a:sym typeface="Courier New"/>
              </a:rPr>
              <a:t>div</a:t>
            </a:r>
            <a:r>
              <a:rPr lang="es" sz="1350">
                <a:solidFill>
                  <a:srgbClr val="000000"/>
                </a:solidFill>
                <a:highlight>
                  <a:srgbClr val="FFFFFF"/>
                </a:highlight>
                <a:latin typeface="Roboto"/>
                <a:ea typeface="Roboto"/>
                <a:cs typeface="Roboto"/>
                <a:sym typeface="Roboto"/>
              </a:rPr>
              <a:t> a 100 píxeles:</a:t>
            </a:r>
            <a:endParaRPr sz="1350">
              <a:solidFill>
                <a:srgbClr val="000000"/>
              </a:solidFill>
              <a:highlight>
                <a:srgbClr val="FFFFFF"/>
              </a:highlight>
              <a:latin typeface="Roboto"/>
              <a:ea typeface="Roboto"/>
              <a:cs typeface="Roboto"/>
              <a:sym typeface="Roboto"/>
            </a:endParaRPr>
          </a:p>
        </p:txBody>
      </p:sp>
      <p:pic>
        <p:nvPicPr>
          <p:cNvPr id="498" name="Google Shape;498;p66"/>
          <p:cNvPicPr preferRelativeResize="0"/>
          <p:nvPr/>
        </p:nvPicPr>
        <p:blipFill rotWithShape="1">
          <a:blip r:embed="rId3">
            <a:alphaModFix/>
          </a:blip>
          <a:srcRect b="0" l="0" r="0" t="0"/>
          <a:stretch/>
        </p:blipFill>
        <p:spPr>
          <a:xfrm>
            <a:off x="6917413" y="1838325"/>
            <a:ext cx="1571625" cy="733425"/>
          </a:xfrm>
          <a:prstGeom prst="rect">
            <a:avLst/>
          </a:prstGeom>
          <a:noFill/>
          <a:ln>
            <a:noFill/>
          </a:ln>
        </p:spPr>
      </p:pic>
      <p:pic>
        <p:nvPicPr>
          <p:cNvPr id="499" name="Google Shape;499;p66"/>
          <p:cNvPicPr preferRelativeResize="0"/>
          <p:nvPr/>
        </p:nvPicPr>
        <p:blipFill rotWithShape="1">
          <a:blip r:embed="rId4">
            <a:alphaModFix/>
          </a:blip>
          <a:srcRect b="0" l="0" r="0" t="0"/>
          <a:stretch/>
        </p:blipFill>
        <p:spPr>
          <a:xfrm>
            <a:off x="6998363" y="2703363"/>
            <a:ext cx="1409700" cy="809625"/>
          </a:xfrm>
          <a:prstGeom prst="rect">
            <a:avLst/>
          </a:prstGeom>
          <a:noFill/>
          <a:ln>
            <a:noFill/>
          </a:ln>
        </p:spPr>
      </p:pic>
      <p:pic>
        <p:nvPicPr>
          <p:cNvPr id="500" name="Google Shape;500;p66"/>
          <p:cNvPicPr preferRelativeResize="0"/>
          <p:nvPr/>
        </p:nvPicPr>
        <p:blipFill rotWithShape="1">
          <a:blip r:embed="rId5">
            <a:alphaModFix/>
          </a:blip>
          <a:srcRect b="0" l="0" r="0" t="0"/>
          <a:stretch/>
        </p:blipFill>
        <p:spPr>
          <a:xfrm>
            <a:off x="6917413" y="3538675"/>
            <a:ext cx="1495425" cy="561975"/>
          </a:xfrm>
          <a:prstGeom prst="rect">
            <a:avLst/>
          </a:prstGeom>
          <a:noFill/>
          <a:ln>
            <a:noFill/>
          </a:ln>
        </p:spPr>
      </p:pic>
      <p:pic>
        <p:nvPicPr>
          <p:cNvPr id="501" name="Google Shape;501;p66"/>
          <p:cNvPicPr preferRelativeResize="0"/>
          <p:nvPr/>
        </p:nvPicPr>
        <p:blipFill rotWithShape="1">
          <a:blip r:embed="rId6">
            <a:alphaModFix/>
          </a:blip>
          <a:srcRect b="0" l="0" r="0" t="0"/>
          <a:stretch/>
        </p:blipFill>
        <p:spPr>
          <a:xfrm>
            <a:off x="6884063" y="4202250"/>
            <a:ext cx="1562100" cy="50482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6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11. Propiedades de las tablas</a:t>
            </a:r>
            <a:endParaRPr/>
          </a:p>
          <a:p>
            <a:pPr indent="0" lvl="0" marL="0" rtl="0" algn="l">
              <a:lnSpc>
                <a:spcPct val="100000"/>
              </a:lnSpc>
              <a:spcBef>
                <a:spcPts val="0"/>
              </a:spcBef>
              <a:spcAft>
                <a:spcPts val="0"/>
              </a:spcAft>
              <a:buSzPct val="111111"/>
              <a:buNone/>
            </a:pPr>
            <a:r>
              <a:t/>
            </a:r>
            <a:endParaRPr/>
          </a:p>
        </p:txBody>
      </p:sp>
      <p:sp>
        <p:nvSpPr>
          <p:cNvPr id="507" name="Google Shape;507;p6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37500"/>
              </a:lnSpc>
              <a:spcBef>
                <a:spcPts val="0"/>
              </a:spcBef>
              <a:spcAft>
                <a:spcPts val="0"/>
              </a:spcAft>
              <a:buSzPts val="1800"/>
              <a:buNone/>
            </a:pPr>
            <a:r>
              <a:rPr b="1" lang="es" sz="3000">
                <a:solidFill>
                  <a:srgbClr val="232B46"/>
                </a:solidFill>
                <a:highlight>
                  <a:srgbClr val="FFFFFF"/>
                </a:highlight>
                <a:latin typeface="Roboto"/>
                <a:ea typeface="Roboto"/>
                <a:cs typeface="Roboto"/>
                <a:sym typeface="Roboto"/>
              </a:rPr>
              <a:t>11.1. Caption-side</a:t>
            </a:r>
            <a:endParaRPr b="1" sz="3000">
              <a:solidFill>
                <a:srgbClr val="232B46"/>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highlight>
                  <a:srgbClr val="FFFFFF"/>
                </a:highlight>
                <a:latin typeface="Roboto"/>
                <a:ea typeface="Roboto"/>
                <a:cs typeface="Roboto"/>
                <a:sym typeface="Roboto"/>
              </a:rPr>
              <a:t>La propiedad </a:t>
            </a:r>
            <a:r>
              <a:rPr lang="es" sz="1350">
                <a:solidFill>
                  <a:srgbClr val="2991D6"/>
                </a:solidFill>
                <a:highlight>
                  <a:srgbClr val="FFFFFF"/>
                </a:highlight>
                <a:latin typeface="Courier New"/>
                <a:ea typeface="Courier New"/>
                <a:cs typeface="Courier New"/>
                <a:sym typeface="Courier New"/>
              </a:rPr>
              <a:t>caption-side</a:t>
            </a:r>
            <a:r>
              <a:rPr lang="es" sz="1350">
                <a:solidFill>
                  <a:srgbClr val="000000"/>
                </a:solidFill>
                <a:highlight>
                  <a:srgbClr val="FFFFFF"/>
                </a:highlight>
                <a:latin typeface="Roboto"/>
                <a:ea typeface="Roboto"/>
                <a:cs typeface="Roboto"/>
                <a:sym typeface="Roboto"/>
              </a:rPr>
              <a:t> se utiliza para controlar la ubicación del título (caption) en una tabla HTML. Cuenta con los siguientes valores:</a:t>
            </a:r>
            <a:endParaRPr sz="1350">
              <a:solidFill>
                <a:srgbClr val="000000"/>
              </a:solidFill>
              <a:highlight>
                <a:srgbClr val="FFFFFF"/>
              </a:highlight>
              <a:latin typeface="Roboto"/>
              <a:ea typeface="Roboto"/>
              <a:cs typeface="Roboto"/>
              <a:sym typeface="Roboto"/>
            </a:endParaRPr>
          </a:p>
          <a:p>
            <a:pPr indent="-314325" lvl="0" marL="749300" rtl="0" algn="l">
              <a:lnSpc>
                <a:spcPct val="115000"/>
              </a:lnSpc>
              <a:spcBef>
                <a:spcPts val="1100"/>
              </a:spcBef>
              <a:spcAft>
                <a:spcPts val="0"/>
              </a:spcAft>
              <a:buClr>
                <a:srgbClr val="2C3862"/>
              </a:buClr>
              <a:buSzPts val="1350"/>
              <a:buFont typeface="Roboto"/>
              <a:buAutoNum type="arabicPeriod"/>
            </a:pPr>
            <a:r>
              <a:rPr lang="es" sz="1350">
                <a:solidFill>
                  <a:srgbClr val="2991D6"/>
                </a:solidFill>
                <a:highlight>
                  <a:srgbClr val="FFFFFF"/>
                </a:highlight>
                <a:latin typeface="Courier New"/>
                <a:ea typeface="Courier New"/>
                <a:cs typeface="Courier New"/>
                <a:sym typeface="Courier New"/>
              </a:rPr>
              <a:t>top</a:t>
            </a:r>
            <a:r>
              <a:rPr lang="es" sz="1350">
                <a:solidFill>
                  <a:srgbClr val="2C3862"/>
                </a:solidFill>
                <a:highlight>
                  <a:srgbClr val="FFFFFF"/>
                </a:highlight>
                <a:latin typeface="Roboto"/>
                <a:ea typeface="Roboto"/>
                <a:cs typeface="Roboto"/>
                <a:sym typeface="Roboto"/>
              </a:rPr>
              <a:t> (valor predeterminado): Esto coloca el título en la parte superior de la tabla, encima del contenido de la tabla.</a:t>
            </a:r>
            <a:endParaRPr sz="1350">
              <a:solidFill>
                <a:srgbClr val="2C3862"/>
              </a:solidFill>
              <a:highlight>
                <a:srgbClr val="FFFFFF"/>
              </a:highlight>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AutoNum type="arabicPeriod"/>
            </a:pPr>
            <a:r>
              <a:rPr lang="es" sz="1350">
                <a:solidFill>
                  <a:srgbClr val="2991D6"/>
                </a:solidFill>
                <a:highlight>
                  <a:srgbClr val="FFFFFF"/>
                </a:highlight>
                <a:latin typeface="Courier New"/>
                <a:ea typeface="Courier New"/>
                <a:cs typeface="Courier New"/>
                <a:sym typeface="Courier New"/>
              </a:rPr>
              <a:t>bottom</a:t>
            </a:r>
            <a:r>
              <a:rPr lang="es" sz="1350">
                <a:solidFill>
                  <a:srgbClr val="2C3862"/>
                </a:solidFill>
                <a:highlight>
                  <a:srgbClr val="FFFFFF"/>
                </a:highlight>
                <a:latin typeface="Roboto"/>
                <a:ea typeface="Roboto"/>
                <a:cs typeface="Roboto"/>
                <a:sym typeface="Roboto"/>
              </a:rPr>
              <a:t>: Esto coloca el título en la parte inferior de la tabla, debajo del contenido de la tabla</a:t>
            </a:r>
            <a:endParaRPr sz="1350">
              <a:solidFill>
                <a:srgbClr val="2C3862"/>
              </a:solidFill>
              <a:highlight>
                <a:srgbClr val="FFFFFF"/>
              </a:highlight>
              <a:latin typeface="Roboto"/>
              <a:ea typeface="Roboto"/>
              <a:cs typeface="Roboto"/>
              <a:sym typeface="Roboto"/>
            </a:endParaRPr>
          </a:p>
          <a:p>
            <a:pPr indent="0" lvl="0" marL="0" rtl="0" algn="l">
              <a:lnSpc>
                <a:spcPct val="115000"/>
              </a:lnSpc>
              <a:spcBef>
                <a:spcPts val="1900"/>
              </a:spcBef>
              <a:spcAft>
                <a:spcPts val="0"/>
              </a:spcAft>
              <a:buSzPts val="1800"/>
              <a:buNone/>
            </a:pPr>
            <a:r>
              <a:rPr lang="es" sz="1350" u="sng">
                <a:solidFill>
                  <a:schemeClr val="hlink"/>
                </a:solidFill>
                <a:highlight>
                  <a:srgbClr val="FFFFFF"/>
                </a:highlight>
                <a:latin typeface="Roboto"/>
                <a:ea typeface="Roboto"/>
                <a:cs typeface="Roboto"/>
                <a:sym typeface="Roboto"/>
                <a:hlinkClick r:id="rId3"/>
              </a:rPr>
              <a:t>https://codepen.io/Eniun/pen/ZdVWpM</a:t>
            </a:r>
            <a:r>
              <a:rPr lang="es" sz="1350">
                <a:solidFill>
                  <a:srgbClr val="2C3862"/>
                </a:solidFill>
                <a:highlight>
                  <a:srgbClr val="FFFFFF"/>
                </a:highlight>
                <a:latin typeface="Roboto"/>
                <a:ea typeface="Roboto"/>
                <a:cs typeface="Roboto"/>
                <a:sym typeface="Roboto"/>
              </a:rPr>
              <a:t> .</a:t>
            </a:r>
            <a:endParaRPr sz="1350">
              <a:solidFill>
                <a:srgbClr val="2C3862"/>
              </a:solidFill>
              <a:highlight>
                <a:srgbClr val="FFFFFF"/>
              </a:highlight>
              <a:latin typeface="Roboto"/>
              <a:ea typeface="Roboto"/>
              <a:cs typeface="Roboto"/>
              <a:sym typeface="Roboto"/>
            </a:endParaRPr>
          </a:p>
          <a:p>
            <a:pPr indent="0" lvl="0" marL="0" rtl="0" algn="l">
              <a:lnSpc>
                <a:spcPct val="115000"/>
              </a:lnSpc>
              <a:spcBef>
                <a:spcPts val="1900"/>
              </a:spcBef>
              <a:spcAft>
                <a:spcPts val="1200"/>
              </a:spcAft>
              <a:buSzPts val="1800"/>
              <a:buNone/>
            </a:pPr>
            <a:r>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6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11. Propiedades de las tablas</a:t>
            </a:r>
            <a:endParaRPr/>
          </a:p>
          <a:p>
            <a:pPr indent="0" lvl="0" marL="0" rtl="0" algn="l">
              <a:lnSpc>
                <a:spcPct val="100000"/>
              </a:lnSpc>
              <a:spcBef>
                <a:spcPts val="0"/>
              </a:spcBef>
              <a:spcAft>
                <a:spcPts val="0"/>
              </a:spcAft>
              <a:buSzPct val="111111"/>
              <a:buNone/>
            </a:pPr>
            <a:r>
              <a:t/>
            </a:r>
            <a:endParaRPr/>
          </a:p>
        </p:txBody>
      </p:sp>
      <p:sp>
        <p:nvSpPr>
          <p:cNvPr id="513" name="Google Shape;513;p68"/>
          <p:cNvSpPr txBox="1"/>
          <p:nvPr>
            <p:ph idx="1" type="body"/>
          </p:nvPr>
        </p:nvSpPr>
        <p:spPr>
          <a:xfrm>
            <a:off x="311700" y="1145950"/>
            <a:ext cx="8520600" cy="3869400"/>
          </a:xfrm>
          <a:prstGeom prst="rect">
            <a:avLst/>
          </a:prstGeom>
          <a:noFill/>
          <a:ln>
            <a:noFill/>
          </a:ln>
        </p:spPr>
        <p:txBody>
          <a:bodyPr anchorCtr="0" anchor="t" bIns="91425" lIns="91425" spcFirstLastPara="1" rIns="91425" wrap="square" tIns="91425">
            <a:normAutofit/>
          </a:bodyPr>
          <a:lstStyle/>
          <a:p>
            <a:pPr indent="0" lvl="0" marL="0" rtl="0" algn="l">
              <a:lnSpc>
                <a:spcPct val="137500"/>
              </a:lnSpc>
              <a:spcBef>
                <a:spcPts val="0"/>
              </a:spcBef>
              <a:spcAft>
                <a:spcPts val="0"/>
              </a:spcAft>
              <a:buSzPts val="1800"/>
              <a:buNone/>
            </a:pPr>
            <a:r>
              <a:rPr b="1" lang="es" sz="3000">
                <a:solidFill>
                  <a:srgbClr val="232B46"/>
                </a:solidFill>
                <a:highlight>
                  <a:srgbClr val="FFFFFF"/>
                </a:highlight>
                <a:latin typeface="Roboto"/>
                <a:ea typeface="Roboto"/>
                <a:cs typeface="Roboto"/>
                <a:sym typeface="Roboto"/>
              </a:rPr>
              <a:t>11.2. Table-layout</a:t>
            </a:r>
            <a:endParaRPr b="1" sz="3000">
              <a:solidFill>
                <a:srgbClr val="232B46"/>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highlight>
                  <a:srgbClr val="FFFFFF"/>
                </a:highlight>
                <a:latin typeface="Roboto"/>
                <a:ea typeface="Roboto"/>
                <a:cs typeface="Roboto"/>
                <a:sym typeface="Roboto"/>
              </a:rPr>
              <a:t>La propiedad </a:t>
            </a:r>
            <a:r>
              <a:rPr lang="es" sz="1350">
                <a:solidFill>
                  <a:srgbClr val="2991D6"/>
                </a:solidFill>
                <a:highlight>
                  <a:srgbClr val="FFFFFF"/>
                </a:highlight>
                <a:latin typeface="Courier New"/>
                <a:ea typeface="Courier New"/>
                <a:cs typeface="Courier New"/>
                <a:sym typeface="Courier New"/>
              </a:rPr>
              <a:t>table-layout</a:t>
            </a:r>
            <a:r>
              <a:rPr lang="es" sz="1350">
                <a:solidFill>
                  <a:srgbClr val="000000"/>
                </a:solidFill>
                <a:highlight>
                  <a:srgbClr val="FFFFFF"/>
                </a:highlight>
                <a:latin typeface="Roboto"/>
                <a:ea typeface="Roboto"/>
                <a:cs typeface="Roboto"/>
                <a:sym typeface="Roboto"/>
              </a:rPr>
              <a:t> se utiliza para controlar cómo se distribuye el espacio y se ajusta el ancho de las columnas en una tabla HTML. Cuenta con los siguientes valores:</a:t>
            </a:r>
            <a:endParaRPr sz="1350">
              <a:solidFill>
                <a:srgbClr val="000000"/>
              </a:solidFill>
              <a:highlight>
                <a:srgbClr val="FFFFFF"/>
              </a:highlight>
              <a:latin typeface="Roboto"/>
              <a:ea typeface="Roboto"/>
              <a:cs typeface="Roboto"/>
              <a:sym typeface="Roboto"/>
            </a:endParaRPr>
          </a:p>
          <a:p>
            <a:pPr indent="-314325" lvl="0" marL="749300" rtl="0" algn="l">
              <a:lnSpc>
                <a:spcPct val="115000"/>
              </a:lnSpc>
              <a:spcBef>
                <a:spcPts val="1100"/>
              </a:spcBef>
              <a:spcAft>
                <a:spcPts val="0"/>
              </a:spcAft>
              <a:buClr>
                <a:srgbClr val="2C3862"/>
              </a:buClr>
              <a:buSzPts val="1350"/>
              <a:buFont typeface="Roboto"/>
              <a:buAutoNum type="arabicPeriod"/>
            </a:pPr>
            <a:r>
              <a:rPr lang="es" sz="1350">
                <a:solidFill>
                  <a:srgbClr val="2991D6"/>
                </a:solidFill>
                <a:highlight>
                  <a:srgbClr val="FFFFFF"/>
                </a:highlight>
                <a:latin typeface="Courier New"/>
                <a:ea typeface="Courier New"/>
                <a:cs typeface="Courier New"/>
                <a:sym typeface="Courier New"/>
              </a:rPr>
              <a:t>auto</a:t>
            </a:r>
            <a:r>
              <a:rPr lang="es" sz="1350">
                <a:solidFill>
                  <a:srgbClr val="2C3862"/>
                </a:solidFill>
                <a:highlight>
                  <a:srgbClr val="FFFFFF"/>
                </a:highlight>
                <a:latin typeface="Roboto"/>
                <a:ea typeface="Roboto"/>
                <a:cs typeface="Roboto"/>
                <a:sym typeface="Roboto"/>
              </a:rPr>
              <a:t> (valor predeterminado): Cuando </a:t>
            </a:r>
            <a:r>
              <a:rPr lang="es" sz="1350">
                <a:solidFill>
                  <a:srgbClr val="2991D6"/>
                </a:solidFill>
                <a:highlight>
                  <a:srgbClr val="FFFFFF"/>
                </a:highlight>
                <a:latin typeface="Courier New"/>
                <a:ea typeface="Courier New"/>
                <a:cs typeface="Courier New"/>
                <a:sym typeface="Courier New"/>
              </a:rPr>
              <a:t>table-layout</a:t>
            </a:r>
            <a:r>
              <a:rPr lang="es" sz="1350">
                <a:solidFill>
                  <a:srgbClr val="2C3862"/>
                </a:solidFill>
                <a:highlight>
                  <a:srgbClr val="FFFFFF"/>
                </a:highlight>
                <a:latin typeface="Roboto"/>
                <a:ea typeface="Roboto"/>
                <a:cs typeface="Roboto"/>
                <a:sym typeface="Roboto"/>
              </a:rPr>
              <a:t> se establece en «auto», el navegador calculará automáticamente el ancho de las columnas </a:t>
            </a:r>
            <a:r>
              <a:rPr b="1" lang="es" sz="1350">
                <a:solidFill>
                  <a:srgbClr val="2C3862"/>
                </a:solidFill>
                <a:highlight>
                  <a:srgbClr val="FFFFFF"/>
                </a:highlight>
                <a:latin typeface="Roboto"/>
                <a:ea typeface="Roboto"/>
                <a:cs typeface="Roboto"/>
                <a:sym typeface="Roboto"/>
              </a:rPr>
              <a:t>en función del contenido de las celdas</a:t>
            </a:r>
            <a:r>
              <a:rPr lang="es" sz="1350">
                <a:solidFill>
                  <a:srgbClr val="2C3862"/>
                </a:solidFill>
                <a:highlight>
                  <a:srgbClr val="FFFFFF"/>
                </a:highlight>
                <a:latin typeface="Roboto"/>
                <a:ea typeface="Roboto"/>
                <a:cs typeface="Roboto"/>
                <a:sym typeface="Roboto"/>
              </a:rPr>
              <a:t>. Esto significa que las columnas se ajustarán automáticamente según el contenido.</a:t>
            </a:r>
            <a:endParaRPr sz="1350">
              <a:solidFill>
                <a:srgbClr val="2C3862"/>
              </a:solidFill>
              <a:highlight>
                <a:srgbClr val="FFFFFF"/>
              </a:highlight>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AutoNum type="arabicPeriod"/>
            </a:pPr>
            <a:r>
              <a:rPr lang="es" sz="1350">
                <a:solidFill>
                  <a:srgbClr val="2991D6"/>
                </a:solidFill>
                <a:highlight>
                  <a:srgbClr val="FFFFFF"/>
                </a:highlight>
                <a:latin typeface="Courier New"/>
                <a:ea typeface="Courier New"/>
                <a:cs typeface="Courier New"/>
                <a:sym typeface="Courier New"/>
              </a:rPr>
              <a:t>fixed</a:t>
            </a:r>
            <a:r>
              <a:rPr lang="es" sz="1350">
                <a:solidFill>
                  <a:srgbClr val="2C3862"/>
                </a:solidFill>
                <a:highlight>
                  <a:srgbClr val="FFFFFF"/>
                </a:highlight>
                <a:latin typeface="Roboto"/>
                <a:ea typeface="Roboto"/>
                <a:cs typeface="Roboto"/>
                <a:sym typeface="Roboto"/>
              </a:rPr>
              <a:t>: Cuando </a:t>
            </a:r>
            <a:r>
              <a:rPr lang="es" sz="1350">
                <a:solidFill>
                  <a:srgbClr val="2991D6"/>
                </a:solidFill>
                <a:highlight>
                  <a:srgbClr val="FFFFFF"/>
                </a:highlight>
                <a:latin typeface="Courier New"/>
                <a:ea typeface="Courier New"/>
                <a:cs typeface="Courier New"/>
                <a:sym typeface="Courier New"/>
              </a:rPr>
              <a:t>table-layout</a:t>
            </a:r>
            <a:r>
              <a:rPr lang="es" sz="1350">
                <a:solidFill>
                  <a:srgbClr val="2C3862"/>
                </a:solidFill>
                <a:highlight>
                  <a:srgbClr val="FFFFFF"/>
                </a:highlight>
                <a:latin typeface="Roboto"/>
                <a:ea typeface="Roboto"/>
                <a:cs typeface="Roboto"/>
                <a:sym typeface="Roboto"/>
              </a:rPr>
              <a:t> se establece en «fixed», el ancho de las columnas se fija y se especifica explícitamente mediante CSS. Las columnas tendrán un ancho uniforme o el ancho que se especifique para cada columna, independientemente del contenido de las celdas. Esto puede ser útil cuando se desea un diseño de tabla con columnas de ancho uniforme.</a:t>
            </a:r>
            <a:endParaRPr sz="1350">
              <a:solidFill>
                <a:srgbClr val="2C3862"/>
              </a:solidFill>
              <a:highlight>
                <a:srgbClr val="FFFFFF"/>
              </a:highlight>
              <a:latin typeface="Roboto"/>
              <a:ea typeface="Roboto"/>
              <a:cs typeface="Roboto"/>
              <a:sym typeface="Roboto"/>
            </a:endParaRPr>
          </a:p>
          <a:p>
            <a:pPr indent="0" lvl="0" marL="457200" rtl="0" algn="l">
              <a:lnSpc>
                <a:spcPct val="115000"/>
              </a:lnSpc>
              <a:spcBef>
                <a:spcPts val="1900"/>
              </a:spcBef>
              <a:spcAft>
                <a:spcPts val="1900"/>
              </a:spcAft>
              <a:buSzPts val="1800"/>
              <a:buNone/>
            </a:pPr>
            <a:r>
              <a:rPr lang="es" sz="1350" u="sng">
                <a:solidFill>
                  <a:schemeClr val="hlink"/>
                </a:solidFill>
                <a:highlight>
                  <a:srgbClr val="FFFFFF"/>
                </a:highlight>
                <a:latin typeface="Roboto"/>
                <a:ea typeface="Roboto"/>
                <a:cs typeface="Roboto"/>
                <a:sym typeface="Roboto"/>
                <a:hlinkClick r:id="rId3"/>
              </a:rPr>
              <a:t>https://codepen.io/Eniun/pen/QXzNxx</a:t>
            </a:r>
            <a:r>
              <a:rPr lang="es" sz="1350">
                <a:solidFill>
                  <a:srgbClr val="2C3862"/>
                </a:solidFill>
                <a:highlight>
                  <a:srgbClr val="FFFFFF"/>
                </a:highlight>
                <a:latin typeface="Roboto"/>
                <a:ea typeface="Roboto"/>
                <a:cs typeface="Roboto"/>
                <a:sym typeface="Roboto"/>
              </a:rPr>
              <a:t> </a:t>
            </a:r>
            <a:endParaRPr sz="1350">
              <a:solidFill>
                <a:srgbClr val="2C3862"/>
              </a:solidFill>
              <a:highlight>
                <a:srgbClr val="FFFFFF"/>
              </a:highlight>
              <a:latin typeface="Roboto"/>
              <a:ea typeface="Roboto"/>
              <a:cs typeface="Roboto"/>
              <a:sym typeface="Roboto"/>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6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11. Propiedades de las tablas</a:t>
            </a:r>
            <a:endParaRPr/>
          </a:p>
          <a:p>
            <a:pPr indent="0" lvl="0" marL="0" rtl="0" algn="l">
              <a:lnSpc>
                <a:spcPct val="100000"/>
              </a:lnSpc>
              <a:spcBef>
                <a:spcPts val="0"/>
              </a:spcBef>
              <a:spcAft>
                <a:spcPts val="0"/>
              </a:spcAft>
              <a:buSzPct val="111111"/>
              <a:buNone/>
            </a:pPr>
            <a:r>
              <a:t/>
            </a:r>
            <a:endParaRPr/>
          </a:p>
        </p:txBody>
      </p:sp>
      <p:sp>
        <p:nvSpPr>
          <p:cNvPr id="519" name="Google Shape;519;p69"/>
          <p:cNvSpPr txBox="1"/>
          <p:nvPr>
            <p:ph idx="1" type="body"/>
          </p:nvPr>
        </p:nvSpPr>
        <p:spPr>
          <a:xfrm>
            <a:off x="311700" y="1145950"/>
            <a:ext cx="8520600" cy="3869400"/>
          </a:xfrm>
          <a:prstGeom prst="rect">
            <a:avLst/>
          </a:prstGeom>
          <a:noFill/>
          <a:ln>
            <a:noFill/>
          </a:ln>
        </p:spPr>
        <p:txBody>
          <a:bodyPr anchorCtr="0" anchor="t" bIns="91425" lIns="91425" spcFirstLastPara="1" rIns="91425" wrap="square" tIns="91425">
            <a:normAutofit/>
          </a:bodyPr>
          <a:lstStyle/>
          <a:p>
            <a:pPr indent="0" lvl="0" marL="0" rtl="0" algn="l">
              <a:lnSpc>
                <a:spcPct val="137500"/>
              </a:lnSpc>
              <a:spcBef>
                <a:spcPts val="0"/>
              </a:spcBef>
              <a:spcAft>
                <a:spcPts val="0"/>
              </a:spcAft>
              <a:buSzPts val="1800"/>
              <a:buNone/>
            </a:pPr>
            <a:r>
              <a:rPr b="1" lang="es" sz="3000">
                <a:solidFill>
                  <a:srgbClr val="232B46"/>
                </a:solidFill>
                <a:highlight>
                  <a:srgbClr val="FFFFFF"/>
                </a:highlight>
                <a:latin typeface="Roboto"/>
                <a:ea typeface="Roboto"/>
                <a:cs typeface="Roboto"/>
                <a:sym typeface="Roboto"/>
              </a:rPr>
              <a:t>11.3. Border-collapse</a:t>
            </a:r>
            <a:endParaRPr b="1" sz="3000">
              <a:solidFill>
                <a:srgbClr val="232B46"/>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highlight>
                  <a:srgbClr val="FFFFFF"/>
                </a:highlight>
                <a:latin typeface="Roboto"/>
                <a:ea typeface="Roboto"/>
                <a:cs typeface="Roboto"/>
                <a:sym typeface="Roboto"/>
              </a:rPr>
              <a:t>La propiedad </a:t>
            </a:r>
            <a:r>
              <a:rPr lang="es" sz="1350">
                <a:solidFill>
                  <a:srgbClr val="2991D6"/>
                </a:solidFill>
                <a:highlight>
                  <a:srgbClr val="FFFFFF"/>
                </a:highlight>
                <a:latin typeface="Courier New"/>
                <a:ea typeface="Courier New"/>
                <a:cs typeface="Courier New"/>
                <a:sym typeface="Courier New"/>
              </a:rPr>
              <a:t>border-collapse</a:t>
            </a:r>
            <a:r>
              <a:rPr lang="es" sz="1350">
                <a:solidFill>
                  <a:srgbClr val="000000"/>
                </a:solidFill>
                <a:highlight>
                  <a:srgbClr val="FFFFFF"/>
                </a:highlight>
                <a:latin typeface="Roboto"/>
                <a:ea typeface="Roboto"/>
                <a:cs typeface="Roboto"/>
                <a:sym typeface="Roboto"/>
              </a:rPr>
              <a:t> se utiliza en tablas HTML para controlar cómo se comportan los bordes de las celdas adyacentes en una tabla. Esta propiedad tiene dos valores:</a:t>
            </a:r>
            <a:endParaRPr sz="1350">
              <a:solidFill>
                <a:srgbClr val="000000"/>
              </a:solidFill>
              <a:highlight>
                <a:srgbClr val="FFFFFF"/>
              </a:highlight>
              <a:latin typeface="Roboto"/>
              <a:ea typeface="Roboto"/>
              <a:cs typeface="Roboto"/>
              <a:sym typeface="Roboto"/>
            </a:endParaRPr>
          </a:p>
          <a:p>
            <a:pPr indent="-314325" lvl="0" marL="749300" rtl="0" algn="l">
              <a:lnSpc>
                <a:spcPct val="115000"/>
              </a:lnSpc>
              <a:spcBef>
                <a:spcPts val="1100"/>
              </a:spcBef>
              <a:spcAft>
                <a:spcPts val="0"/>
              </a:spcAft>
              <a:buClr>
                <a:srgbClr val="2C3862"/>
              </a:buClr>
              <a:buSzPts val="1350"/>
              <a:buFont typeface="Roboto"/>
              <a:buAutoNum type="arabicPeriod"/>
            </a:pPr>
            <a:r>
              <a:rPr lang="es" sz="1350">
                <a:solidFill>
                  <a:srgbClr val="2991D6"/>
                </a:solidFill>
                <a:highlight>
                  <a:srgbClr val="FFFFFF"/>
                </a:highlight>
                <a:latin typeface="Courier New"/>
                <a:ea typeface="Courier New"/>
                <a:cs typeface="Courier New"/>
                <a:sym typeface="Courier New"/>
              </a:rPr>
              <a:t>separate</a:t>
            </a:r>
            <a:r>
              <a:rPr lang="es" sz="1350">
                <a:solidFill>
                  <a:srgbClr val="2C3862"/>
                </a:solidFill>
                <a:highlight>
                  <a:srgbClr val="FFFFFF"/>
                </a:highlight>
                <a:latin typeface="Roboto"/>
                <a:ea typeface="Roboto"/>
                <a:cs typeface="Roboto"/>
                <a:sym typeface="Roboto"/>
              </a:rPr>
              <a:t> (valor predeterminado): Los bordes de las celdas de la tabla se separan entre sí. Cada celda tiene sus propios bordes individuales, y no se combinan ni comparten con las celdas adyacentes. Esto significa que hay un espacio entre las celdas donde se encuentran sus bordes.</a:t>
            </a:r>
            <a:endParaRPr sz="1350">
              <a:solidFill>
                <a:srgbClr val="2C3862"/>
              </a:solidFill>
              <a:highlight>
                <a:srgbClr val="FFFFFF"/>
              </a:highlight>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AutoNum type="arabicPeriod"/>
            </a:pPr>
            <a:r>
              <a:rPr lang="es" sz="1350">
                <a:solidFill>
                  <a:srgbClr val="2991D6"/>
                </a:solidFill>
                <a:highlight>
                  <a:srgbClr val="FFFFFF"/>
                </a:highlight>
                <a:latin typeface="Courier New"/>
                <a:ea typeface="Courier New"/>
                <a:cs typeface="Courier New"/>
                <a:sym typeface="Courier New"/>
              </a:rPr>
              <a:t>collapse</a:t>
            </a:r>
            <a:r>
              <a:rPr lang="es" sz="1350">
                <a:solidFill>
                  <a:srgbClr val="2C3862"/>
                </a:solidFill>
                <a:highlight>
                  <a:srgbClr val="FFFFFF"/>
                </a:highlight>
                <a:latin typeface="Roboto"/>
                <a:ea typeface="Roboto"/>
                <a:cs typeface="Roboto"/>
                <a:sym typeface="Roboto"/>
              </a:rPr>
              <a:t>: Los bordes de las celdas de la tabla se combinan y se presentan como un solo borde común entre las celdas adyacentes. En este caso, no hay espacio entre las celdas, y los bordes de las celdas se fusionan, creando un aspecto más compacto.</a:t>
            </a:r>
            <a:endParaRPr sz="1350">
              <a:solidFill>
                <a:srgbClr val="2C3862"/>
              </a:solidFill>
              <a:highlight>
                <a:srgbClr val="FFFFFF"/>
              </a:highlight>
              <a:latin typeface="Roboto"/>
              <a:ea typeface="Roboto"/>
              <a:cs typeface="Roboto"/>
              <a:sym typeface="Roboto"/>
            </a:endParaRPr>
          </a:p>
          <a:p>
            <a:pPr indent="0" lvl="0" marL="457200" rtl="0" algn="l">
              <a:lnSpc>
                <a:spcPct val="115000"/>
              </a:lnSpc>
              <a:spcBef>
                <a:spcPts val="1900"/>
              </a:spcBef>
              <a:spcAft>
                <a:spcPts val="1900"/>
              </a:spcAft>
              <a:buSzPts val="1800"/>
              <a:buNone/>
            </a:pPr>
            <a:r>
              <a:rPr lang="es" sz="1350" u="sng">
                <a:solidFill>
                  <a:schemeClr val="hlink"/>
                </a:solidFill>
                <a:highlight>
                  <a:srgbClr val="FFFFFF"/>
                </a:highlight>
                <a:latin typeface="Roboto"/>
                <a:ea typeface="Roboto"/>
                <a:cs typeface="Roboto"/>
                <a:sym typeface="Roboto"/>
                <a:hlinkClick r:id="rId3"/>
              </a:rPr>
              <a:t>https://codepen.io/Eniun/pen/qzLNNq</a:t>
            </a:r>
            <a:r>
              <a:rPr lang="es" sz="1350">
                <a:solidFill>
                  <a:srgbClr val="2C3862"/>
                </a:solidFill>
                <a:highlight>
                  <a:srgbClr val="FFFFFF"/>
                </a:highlight>
                <a:latin typeface="Roboto"/>
                <a:ea typeface="Roboto"/>
                <a:cs typeface="Roboto"/>
                <a:sym typeface="Roboto"/>
              </a:rPr>
              <a:t> </a:t>
            </a:r>
            <a:endParaRPr sz="1350">
              <a:solidFill>
                <a:srgbClr val="2C3862"/>
              </a:solidFill>
              <a:highlight>
                <a:srgbClr val="FFFFFF"/>
              </a:highlight>
              <a:latin typeface="Roboto"/>
              <a:ea typeface="Roboto"/>
              <a:cs typeface="Roboto"/>
              <a:sym typeface="Roboto"/>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7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11. Propiedades de las tablas</a:t>
            </a:r>
            <a:endParaRPr/>
          </a:p>
          <a:p>
            <a:pPr indent="0" lvl="0" marL="0" rtl="0" algn="l">
              <a:lnSpc>
                <a:spcPct val="100000"/>
              </a:lnSpc>
              <a:spcBef>
                <a:spcPts val="0"/>
              </a:spcBef>
              <a:spcAft>
                <a:spcPts val="0"/>
              </a:spcAft>
              <a:buSzPct val="111111"/>
              <a:buNone/>
            </a:pPr>
            <a:r>
              <a:t/>
            </a:r>
            <a:endParaRPr/>
          </a:p>
        </p:txBody>
      </p:sp>
      <p:sp>
        <p:nvSpPr>
          <p:cNvPr id="525" name="Google Shape;525;p70"/>
          <p:cNvSpPr txBox="1"/>
          <p:nvPr>
            <p:ph idx="1" type="body"/>
          </p:nvPr>
        </p:nvSpPr>
        <p:spPr>
          <a:xfrm>
            <a:off x="311700" y="1145950"/>
            <a:ext cx="8520600" cy="3869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37500"/>
              </a:lnSpc>
              <a:spcBef>
                <a:spcPts val="0"/>
              </a:spcBef>
              <a:spcAft>
                <a:spcPts val="0"/>
              </a:spcAft>
              <a:buSzPts val="1800"/>
              <a:buNone/>
            </a:pPr>
            <a:r>
              <a:rPr b="1" lang="es" sz="3000">
                <a:solidFill>
                  <a:srgbClr val="232B46"/>
                </a:solidFill>
                <a:highlight>
                  <a:srgbClr val="FFFFFF"/>
                </a:highlight>
                <a:latin typeface="Roboto"/>
                <a:ea typeface="Roboto"/>
                <a:cs typeface="Roboto"/>
                <a:sym typeface="Roboto"/>
              </a:rPr>
              <a:t>11.4. Border-spacing</a:t>
            </a:r>
            <a:endParaRPr b="1" sz="3000">
              <a:solidFill>
                <a:srgbClr val="232B46"/>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highlight>
                  <a:srgbClr val="FFFFFF"/>
                </a:highlight>
                <a:latin typeface="Roboto"/>
                <a:ea typeface="Roboto"/>
                <a:cs typeface="Roboto"/>
                <a:sym typeface="Roboto"/>
              </a:rPr>
              <a:t>La propiedad </a:t>
            </a:r>
            <a:r>
              <a:rPr lang="es" sz="1350">
                <a:solidFill>
                  <a:srgbClr val="2991D6"/>
                </a:solidFill>
                <a:highlight>
                  <a:srgbClr val="FFFFFF"/>
                </a:highlight>
                <a:latin typeface="Courier New"/>
                <a:ea typeface="Courier New"/>
                <a:cs typeface="Courier New"/>
                <a:sym typeface="Courier New"/>
              </a:rPr>
              <a:t>border-spacing</a:t>
            </a:r>
            <a:r>
              <a:rPr lang="es" sz="1350">
                <a:solidFill>
                  <a:srgbClr val="000000"/>
                </a:solidFill>
                <a:highlight>
                  <a:srgbClr val="FFFFFF"/>
                </a:highlight>
                <a:latin typeface="Roboto"/>
                <a:ea typeface="Roboto"/>
                <a:cs typeface="Roboto"/>
                <a:sym typeface="Roboto"/>
              </a:rPr>
              <a:t> se utiliza en tablas HTML para controlar la separación entre las celdas de la tabla cuando la propiedad </a:t>
            </a:r>
            <a:r>
              <a:rPr lang="es" sz="1350">
                <a:solidFill>
                  <a:srgbClr val="2991D6"/>
                </a:solidFill>
                <a:highlight>
                  <a:srgbClr val="FFFFFF"/>
                </a:highlight>
                <a:latin typeface="Courier New"/>
                <a:ea typeface="Courier New"/>
                <a:cs typeface="Courier New"/>
                <a:sym typeface="Courier New"/>
              </a:rPr>
              <a:t>border-collapse</a:t>
            </a:r>
            <a:r>
              <a:rPr lang="es" sz="1350">
                <a:solidFill>
                  <a:srgbClr val="000000"/>
                </a:solidFill>
                <a:highlight>
                  <a:srgbClr val="FFFFFF"/>
                </a:highlight>
                <a:latin typeface="Roboto"/>
                <a:ea typeface="Roboto"/>
                <a:cs typeface="Roboto"/>
                <a:sym typeface="Roboto"/>
              </a:rPr>
              <a:t> se establece en «</a:t>
            </a:r>
            <a:r>
              <a:rPr b="1" lang="es" sz="1350">
                <a:solidFill>
                  <a:srgbClr val="000000"/>
                </a:solidFill>
                <a:highlight>
                  <a:srgbClr val="FFFFFF"/>
                </a:highlight>
                <a:latin typeface="Roboto"/>
                <a:ea typeface="Roboto"/>
                <a:cs typeface="Roboto"/>
                <a:sym typeface="Roboto"/>
              </a:rPr>
              <a:t>separate</a:t>
            </a:r>
            <a:r>
              <a:rPr lang="es" sz="1350">
                <a:solidFill>
                  <a:srgbClr val="000000"/>
                </a:solidFill>
                <a:highlight>
                  <a:srgbClr val="FFFFFF"/>
                </a:highlight>
                <a:latin typeface="Roboto"/>
                <a:ea typeface="Roboto"/>
                <a:cs typeface="Roboto"/>
                <a:sym typeface="Roboto"/>
              </a:rPr>
              <a:t>» (que es su valor predeterminado). </a:t>
            </a:r>
            <a:r>
              <a:rPr lang="es" sz="1350">
                <a:solidFill>
                  <a:srgbClr val="2991D6"/>
                </a:solidFill>
                <a:highlight>
                  <a:srgbClr val="FFFFFF"/>
                </a:highlight>
                <a:latin typeface="Courier New"/>
                <a:ea typeface="Courier New"/>
                <a:cs typeface="Courier New"/>
                <a:sym typeface="Courier New"/>
              </a:rPr>
              <a:t>border-spacing</a:t>
            </a:r>
            <a:r>
              <a:rPr lang="es" sz="1350">
                <a:solidFill>
                  <a:srgbClr val="000000"/>
                </a:solidFill>
                <a:highlight>
                  <a:srgbClr val="FFFFFF"/>
                </a:highlight>
                <a:latin typeface="Roboto"/>
                <a:ea typeface="Roboto"/>
                <a:cs typeface="Roboto"/>
                <a:sym typeface="Roboto"/>
              </a:rPr>
              <a:t> permite definir el espacio horizontal y vertical entre las celdas adyacentes de una tabla, creando un espacio uniforme alrededor de cada celda.</a:t>
            </a:r>
            <a:endParaRPr sz="1350">
              <a:solidFill>
                <a:srgbClr val="000000"/>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highlight>
                  <a:srgbClr val="FFFFFF"/>
                </a:highlight>
                <a:latin typeface="Roboto"/>
                <a:ea typeface="Roboto"/>
                <a:cs typeface="Roboto"/>
                <a:sym typeface="Roboto"/>
              </a:rPr>
              <a:t>La propiedad </a:t>
            </a:r>
            <a:r>
              <a:rPr lang="es" sz="1350">
                <a:solidFill>
                  <a:srgbClr val="2991D6"/>
                </a:solidFill>
                <a:highlight>
                  <a:srgbClr val="FFFFFF"/>
                </a:highlight>
                <a:latin typeface="Courier New"/>
                <a:ea typeface="Courier New"/>
                <a:cs typeface="Courier New"/>
                <a:sym typeface="Courier New"/>
              </a:rPr>
              <a:t>border-spacing</a:t>
            </a:r>
            <a:r>
              <a:rPr lang="es" sz="1350">
                <a:solidFill>
                  <a:srgbClr val="000000"/>
                </a:solidFill>
                <a:highlight>
                  <a:srgbClr val="FFFFFF"/>
                </a:highlight>
                <a:latin typeface="Roboto"/>
                <a:ea typeface="Roboto"/>
                <a:cs typeface="Roboto"/>
                <a:sym typeface="Roboto"/>
              </a:rPr>
              <a:t> se establece utilizando dos valores, separados por un espacio:</a:t>
            </a:r>
            <a:endParaRPr sz="1350">
              <a:solidFill>
                <a:srgbClr val="000000"/>
              </a:solidFill>
              <a:highlight>
                <a:srgbClr val="FFFFFF"/>
              </a:highlight>
              <a:latin typeface="Roboto"/>
              <a:ea typeface="Roboto"/>
              <a:cs typeface="Roboto"/>
              <a:sym typeface="Roboto"/>
            </a:endParaRPr>
          </a:p>
          <a:p>
            <a:pPr indent="-314325" lvl="0" marL="749300" rtl="0" algn="l">
              <a:lnSpc>
                <a:spcPct val="115000"/>
              </a:lnSpc>
              <a:spcBef>
                <a:spcPts val="1100"/>
              </a:spcBef>
              <a:spcAft>
                <a:spcPts val="0"/>
              </a:spcAft>
              <a:buClr>
                <a:srgbClr val="2C3862"/>
              </a:buClr>
              <a:buSzPts val="1350"/>
              <a:buFont typeface="Roboto"/>
              <a:buChar char="●"/>
            </a:pPr>
            <a:r>
              <a:rPr lang="es" sz="1350">
                <a:solidFill>
                  <a:srgbClr val="2C3862"/>
                </a:solidFill>
                <a:highlight>
                  <a:srgbClr val="FFFFFF"/>
                </a:highlight>
                <a:latin typeface="Roboto"/>
                <a:ea typeface="Roboto"/>
                <a:cs typeface="Roboto"/>
                <a:sym typeface="Roboto"/>
              </a:rPr>
              <a:t>El primer valor define la separación horizontal entre las celdas.</a:t>
            </a:r>
            <a:endParaRPr sz="1350">
              <a:solidFill>
                <a:srgbClr val="2C3862"/>
              </a:solidFill>
              <a:highlight>
                <a:srgbClr val="FFFFFF"/>
              </a:highlight>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Char char="●"/>
            </a:pPr>
            <a:r>
              <a:rPr lang="es" sz="1350">
                <a:solidFill>
                  <a:srgbClr val="2C3862"/>
                </a:solidFill>
                <a:highlight>
                  <a:srgbClr val="FFFFFF"/>
                </a:highlight>
                <a:latin typeface="Roboto"/>
                <a:ea typeface="Roboto"/>
                <a:cs typeface="Roboto"/>
                <a:sym typeface="Roboto"/>
              </a:rPr>
              <a:t>El segundo valor define la separación vertical entre las celdas.</a:t>
            </a:r>
            <a:endParaRPr sz="1350">
              <a:solidFill>
                <a:srgbClr val="2C3862"/>
              </a:solidFill>
              <a:highlight>
                <a:srgbClr val="FFFFFF"/>
              </a:highlight>
              <a:latin typeface="Roboto"/>
              <a:ea typeface="Roboto"/>
              <a:cs typeface="Roboto"/>
              <a:sym typeface="Roboto"/>
            </a:endParaRPr>
          </a:p>
          <a:p>
            <a:pPr indent="0" lvl="0" marL="0" rtl="0" algn="l">
              <a:lnSpc>
                <a:spcPct val="115000"/>
              </a:lnSpc>
              <a:spcBef>
                <a:spcPts val="1900"/>
              </a:spcBef>
              <a:spcAft>
                <a:spcPts val="0"/>
              </a:spcAft>
              <a:buSzPts val="1800"/>
              <a:buNone/>
            </a:pPr>
            <a:r>
              <a:rPr lang="es" sz="1350">
                <a:solidFill>
                  <a:srgbClr val="000000"/>
                </a:solidFill>
                <a:highlight>
                  <a:srgbClr val="FFFFFF"/>
                </a:highlight>
                <a:latin typeface="Roboto"/>
                <a:ea typeface="Roboto"/>
                <a:cs typeface="Roboto"/>
                <a:sym typeface="Roboto"/>
              </a:rPr>
              <a:t>Ambos valores se pueden especificar en unidades de longitud (píxeles, em, rem, etc.) o como porcentaje del ancho del contenedor de la tabla.</a:t>
            </a:r>
            <a:endParaRPr sz="1350">
              <a:solidFill>
                <a:srgbClr val="000000"/>
              </a:solidFill>
              <a:highlight>
                <a:srgbClr val="FFFFFF"/>
              </a:highlight>
              <a:latin typeface="Roboto"/>
              <a:ea typeface="Roboto"/>
              <a:cs typeface="Roboto"/>
              <a:sym typeface="Roboto"/>
            </a:endParaRPr>
          </a:p>
          <a:p>
            <a:pPr indent="0" lvl="0" marL="0" rtl="0" algn="l">
              <a:lnSpc>
                <a:spcPct val="115000"/>
              </a:lnSpc>
              <a:spcBef>
                <a:spcPts val="1100"/>
              </a:spcBef>
              <a:spcAft>
                <a:spcPts val="1100"/>
              </a:spcAft>
              <a:buSzPts val="1800"/>
              <a:buNone/>
            </a:pPr>
            <a:r>
              <a:rPr lang="es" sz="1350" u="sng">
                <a:solidFill>
                  <a:schemeClr val="hlink"/>
                </a:solidFill>
                <a:highlight>
                  <a:srgbClr val="FFFFFF"/>
                </a:highlight>
                <a:latin typeface="Roboto"/>
                <a:ea typeface="Roboto"/>
                <a:cs typeface="Roboto"/>
                <a:sym typeface="Roboto"/>
                <a:hlinkClick r:id="rId3"/>
              </a:rPr>
              <a:t>https://codepen.io/Eniun/pen/bPOpyK</a:t>
            </a:r>
            <a:r>
              <a:rPr lang="es" sz="1350">
                <a:solidFill>
                  <a:srgbClr val="000000"/>
                </a:solidFill>
                <a:highlight>
                  <a:srgbClr val="FFFFFF"/>
                </a:highlight>
                <a:latin typeface="Roboto"/>
                <a:ea typeface="Roboto"/>
                <a:cs typeface="Roboto"/>
                <a:sym typeface="Roboto"/>
              </a:rPr>
              <a:t> </a:t>
            </a:r>
            <a:endParaRPr sz="1350">
              <a:solidFill>
                <a:srgbClr val="000000"/>
              </a:solidFill>
              <a:highlight>
                <a:srgbClr val="FFFFFF"/>
              </a:highlight>
              <a:latin typeface="Roboto"/>
              <a:ea typeface="Roboto"/>
              <a:cs typeface="Roboto"/>
              <a:sym typeface="Roboto"/>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7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11. Propiedades de las tablas</a:t>
            </a:r>
            <a:endParaRPr/>
          </a:p>
          <a:p>
            <a:pPr indent="0" lvl="0" marL="0" rtl="0" algn="l">
              <a:lnSpc>
                <a:spcPct val="100000"/>
              </a:lnSpc>
              <a:spcBef>
                <a:spcPts val="0"/>
              </a:spcBef>
              <a:spcAft>
                <a:spcPts val="0"/>
              </a:spcAft>
              <a:buSzPct val="111111"/>
              <a:buNone/>
            </a:pPr>
            <a:r>
              <a:t/>
            </a:r>
            <a:endParaRPr/>
          </a:p>
        </p:txBody>
      </p:sp>
      <p:sp>
        <p:nvSpPr>
          <p:cNvPr id="531" name="Google Shape;531;p7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37500"/>
              </a:lnSpc>
              <a:spcBef>
                <a:spcPts val="0"/>
              </a:spcBef>
              <a:spcAft>
                <a:spcPts val="0"/>
              </a:spcAft>
              <a:buSzPct val="64864"/>
              <a:buNone/>
            </a:pPr>
            <a:r>
              <a:rPr b="1" lang="es" sz="3000">
                <a:solidFill>
                  <a:srgbClr val="232B46"/>
                </a:solidFill>
                <a:highlight>
                  <a:srgbClr val="FFFFFF"/>
                </a:highlight>
                <a:latin typeface="Roboto"/>
                <a:ea typeface="Roboto"/>
                <a:cs typeface="Roboto"/>
                <a:sym typeface="Roboto"/>
              </a:rPr>
              <a:t>11.5. Empty-cells</a:t>
            </a:r>
            <a:endParaRPr b="1" sz="3000">
              <a:solidFill>
                <a:srgbClr val="232B46"/>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SzPct val="144144"/>
              <a:buNone/>
            </a:pPr>
            <a:r>
              <a:rPr lang="es" sz="1350">
                <a:solidFill>
                  <a:srgbClr val="000000"/>
                </a:solidFill>
                <a:highlight>
                  <a:srgbClr val="FFFFFF"/>
                </a:highlight>
                <a:latin typeface="Roboto"/>
                <a:ea typeface="Roboto"/>
                <a:cs typeface="Roboto"/>
                <a:sym typeface="Roboto"/>
              </a:rPr>
              <a:t>La propiedad </a:t>
            </a:r>
            <a:r>
              <a:rPr lang="es" sz="1350">
                <a:solidFill>
                  <a:srgbClr val="2991D6"/>
                </a:solidFill>
                <a:highlight>
                  <a:srgbClr val="FFFFFF"/>
                </a:highlight>
                <a:latin typeface="Courier New"/>
                <a:ea typeface="Courier New"/>
                <a:cs typeface="Courier New"/>
                <a:sym typeface="Courier New"/>
              </a:rPr>
              <a:t>empty-cells</a:t>
            </a:r>
            <a:r>
              <a:rPr lang="es" sz="1350">
                <a:solidFill>
                  <a:srgbClr val="000000"/>
                </a:solidFill>
                <a:highlight>
                  <a:srgbClr val="FFFFFF"/>
                </a:highlight>
                <a:latin typeface="Roboto"/>
                <a:ea typeface="Roboto"/>
                <a:cs typeface="Roboto"/>
                <a:sym typeface="Roboto"/>
              </a:rPr>
              <a:t> se utiliza para controlar la visualización de celdas vacías en una tabla HTML. Cuando aplicas esta propiedad a una tabla, puedes especificar si deseas mostrar o ocultar las celdas que no contienen contenido o están vacías.</a:t>
            </a:r>
            <a:endParaRPr sz="1350">
              <a:solidFill>
                <a:srgbClr val="000000"/>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SzPct val="144144"/>
              <a:buNone/>
            </a:pPr>
            <a:r>
              <a:rPr lang="es" sz="1350">
                <a:solidFill>
                  <a:srgbClr val="000000"/>
                </a:solidFill>
                <a:highlight>
                  <a:srgbClr val="FFFFFF"/>
                </a:highlight>
                <a:latin typeface="Roboto"/>
                <a:ea typeface="Roboto"/>
                <a:cs typeface="Roboto"/>
                <a:sym typeface="Roboto"/>
              </a:rPr>
              <a:t>La propiedad </a:t>
            </a:r>
            <a:r>
              <a:rPr lang="es" sz="1350">
                <a:solidFill>
                  <a:srgbClr val="2991D6"/>
                </a:solidFill>
                <a:highlight>
                  <a:srgbClr val="FFFFFF"/>
                </a:highlight>
                <a:latin typeface="Courier New"/>
                <a:ea typeface="Courier New"/>
                <a:cs typeface="Courier New"/>
                <a:sym typeface="Courier New"/>
              </a:rPr>
              <a:t>empty-cells</a:t>
            </a:r>
            <a:r>
              <a:rPr lang="es" sz="1350">
                <a:solidFill>
                  <a:srgbClr val="000000"/>
                </a:solidFill>
                <a:highlight>
                  <a:srgbClr val="FFFFFF"/>
                </a:highlight>
                <a:latin typeface="Roboto"/>
                <a:ea typeface="Roboto"/>
                <a:cs typeface="Roboto"/>
                <a:sym typeface="Roboto"/>
              </a:rPr>
              <a:t> admite dos valores:</a:t>
            </a:r>
            <a:endParaRPr sz="1350">
              <a:solidFill>
                <a:srgbClr val="000000"/>
              </a:solidFill>
              <a:highlight>
                <a:srgbClr val="FFFFFF"/>
              </a:highlight>
              <a:latin typeface="Roboto"/>
              <a:ea typeface="Roboto"/>
              <a:cs typeface="Roboto"/>
              <a:sym typeface="Roboto"/>
            </a:endParaRPr>
          </a:p>
          <a:p>
            <a:pPr indent="-307942" lvl="0" marL="749300" rtl="0" algn="l">
              <a:lnSpc>
                <a:spcPct val="115000"/>
              </a:lnSpc>
              <a:spcBef>
                <a:spcPts val="1100"/>
              </a:spcBef>
              <a:spcAft>
                <a:spcPts val="0"/>
              </a:spcAft>
              <a:buClr>
                <a:srgbClr val="2C3862"/>
              </a:buClr>
              <a:buSzPct val="100000"/>
              <a:buFont typeface="Roboto"/>
              <a:buAutoNum type="arabicPeriod"/>
            </a:pPr>
            <a:r>
              <a:rPr lang="es" sz="1350">
                <a:solidFill>
                  <a:srgbClr val="2991D6"/>
                </a:solidFill>
                <a:highlight>
                  <a:srgbClr val="FFFFFF"/>
                </a:highlight>
                <a:latin typeface="Courier New"/>
                <a:ea typeface="Courier New"/>
                <a:cs typeface="Courier New"/>
                <a:sym typeface="Courier New"/>
              </a:rPr>
              <a:t>show</a:t>
            </a:r>
            <a:r>
              <a:rPr lang="es" sz="1350">
                <a:solidFill>
                  <a:srgbClr val="2C3862"/>
                </a:solidFill>
                <a:highlight>
                  <a:srgbClr val="FFFFFF"/>
                </a:highlight>
                <a:latin typeface="Roboto"/>
                <a:ea typeface="Roboto"/>
                <a:cs typeface="Roboto"/>
                <a:sym typeface="Roboto"/>
              </a:rPr>
              <a:t> (valor predeterminado): Cuando se establece </a:t>
            </a:r>
            <a:r>
              <a:rPr lang="es" sz="1350">
                <a:solidFill>
                  <a:srgbClr val="2991D6"/>
                </a:solidFill>
                <a:highlight>
                  <a:srgbClr val="FFFFFF"/>
                </a:highlight>
                <a:latin typeface="Courier New"/>
                <a:ea typeface="Courier New"/>
                <a:cs typeface="Courier New"/>
                <a:sym typeface="Courier New"/>
              </a:rPr>
              <a:t>empty-cells: show</a:t>
            </a:r>
            <a:r>
              <a:rPr lang="es" sz="1350">
                <a:solidFill>
                  <a:srgbClr val="2C3862"/>
                </a:solidFill>
                <a:highlight>
                  <a:srgbClr val="FFFFFF"/>
                </a:highlight>
                <a:latin typeface="Roboto"/>
                <a:ea typeface="Roboto"/>
                <a:cs typeface="Roboto"/>
                <a:sym typeface="Roboto"/>
              </a:rPr>
              <a:t>, se muestra el contorno de las celdas vacías en la tabla. Esto significa que las celdas sin contenido visible, como espacios en blanco o celdas completamente vacías, mostrarán los bordes y el fondo de la celda, incluso si no tienen contenido.</a:t>
            </a:r>
            <a:endParaRPr sz="1350">
              <a:solidFill>
                <a:srgbClr val="2C3862"/>
              </a:solidFill>
              <a:highlight>
                <a:srgbClr val="FFFFFF"/>
              </a:highlight>
              <a:latin typeface="Roboto"/>
              <a:ea typeface="Roboto"/>
              <a:cs typeface="Roboto"/>
              <a:sym typeface="Roboto"/>
            </a:endParaRPr>
          </a:p>
          <a:p>
            <a:pPr indent="-307942" lvl="0" marL="749300" rtl="0" algn="l">
              <a:lnSpc>
                <a:spcPct val="115000"/>
              </a:lnSpc>
              <a:spcBef>
                <a:spcPts val="0"/>
              </a:spcBef>
              <a:spcAft>
                <a:spcPts val="0"/>
              </a:spcAft>
              <a:buClr>
                <a:srgbClr val="2C3862"/>
              </a:buClr>
              <a:buSzPct val="100000"/>
              <a:buFont typeface="Roboto"/>
              <a:buAutoNum type="arabicPeriod"/>
            </a:pPr>
            <a:r>
              <a:rPr lang="es" sz="1350">
                <a:solidFill>
                  <a:srgbClr val="2991D6"/>
                </a:solidFill>
                <a:highlight>
                  <a:srgbClr val="FFFFFF"/>
                </a:highlight>
                <a:latin typeface="Courier New"/>
                <a:ea typeface="Courier New"/>
                <a:cs typeface="Courier New"/>
                <a:sym typeface="Courier New"/>
              </a:rPr>
              <a:t>hide</a:t>
            </a:r>
            <a:r>
              <a:rPr lang="es" sz="1350">
                <a:solidFill>
                  <a:srgbClr val="2C3862"/>
                </a:solidFill>
                <a:highlight>
                  <a:srgbClr val="FFFFFF"/>
                </a:highlight>
                <a:latin typeface="Roboto"/>
                <a:ea typeface="Roboto"/>
                <a:cs typeface="Roboto"/>
                <a:sym typeface="Roboto"/>
              </a:rPr>
              <a:t>: Al establecer </a:t>
            </a:r>
            <a:r>
              <a:rPr lang="es" sz="1350">
                <a:solidFill>
                  <a:srgbClr val="2991D6"/>
                </a:solidFill>
                <a:highlight>
                  <a:srgbClr val="FFFFFF"/>
                </a:highlight>
                <a:latin typeface="Courier New"/>
                <a:ea typeface="Courier New"/>
                <a:cs typeface="Courier New"/>
                <a:sym typeface="Courier New"/>
              </a:rPr>
              <a:t>empty-cells: hide</a:t>
            </a:r>
            <a:r>
              <a:rPr lang="es" sz="1350">
                <a:solidFill>
                  <a:srgbClr val="2C3862"/>
                </a:solidFill>
                <a:highlight>
                  <a:srgbClr val="FFFFFF"/>
                </a:highlight>
                <a:latin typeface="Roboto"/>
                <a:ea typeface="Roboto"/>
                <a:cs typeface="Roboto"/>
                <a:sym typeface="Roboto"/>
              </a:rPr>
              <a:t>, se ocultan las celdas vacías en la tabla. Las celdas que no contienen contenido visible no mostrarán bordes ni fondo, lo que hace que las celdas vacías sean invisibles.</a:t>
            </a:r>
            <a:endParaRPr sz="1350">
              <a:solidFill>
                <a:srgbClr val="2C3862"/>
              </a:solidFill>
              <a:highlight>
                <a:srgbClr val="FFFFFF"/>
              </a:highlight>
              <a:latin typeface="Roboto"/>
              <a:ea typeface="Roboto"/>
              <a:cs typeface="Roboto"/>
              <a:sym typeface="Roboto"/>
            </a:endParaRPr>
          </a:p>
          <a:p>
            <a:pPr indent="0" lvl="0" marL="0" rtl="0" algn="l">
              <a:lnSpc>
                <a:spcPct val="115000"/>
              </a:lnSpc>
              <a:spcBef>
                <a:spcPts val="1900"/>
              </a:spcBef>
              <a:spcAft>
                <a:spcPts val="1200"/>
              </a:spcAft>
              <a:buSzPct val="108108"/>
              <a:buNone/>
            </a:pPr>
            <a:r>
              <a:rPr lang="es" u="sng">
                <a:solidFill>
                  <a:schemeClr val="hlink"/>
                </a:solidFill>
                <a:hlinkClick r:id="rId3"/>
              </a:rPr>
              <a:t>https://codepen.io/Eniun/pen/agPZWm</a:t>
            </a:r>
            <a:r>
              <a:rPr lang="es"/>
              <a:t>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7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11. Propiedades de las tablas</a:t>
            </a:r>
            <a:endParaRPr/>
          </a:p>
        </p:txBody>
      </p:sp>
      <p:sp>
        <p:nvSpPr>
          <p:cNvPr id="537" name="Google Shape;537;p7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538" name="Google Shape;538;p72"/>
          <p:cNvPicPr preferRelativeResize="0"/>
          <p:nvPr/>
        </p:nvPicPr>
        <p:blipFill rotWithShape="1">
          <a:blip r:embed="rId3">
            <a:alphaModFix/>
          </a:blip>
          <a:srcRect b="0" l="0" r="0" t="0"/>
          <a:stretch/>
        </p:blipFill>
        <p:spPr>
          <a:xfrm>
            <a:off x="257875" y="1457425"/>
            <a:ext cx="8628250" cy="280650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7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12. Posición y comportamiento de contenedores</a:t>
            </a:r>
            <a:endParaRPr/>
          </a:p>
        </p:txBody>
      </p:sp>
      <p:sp>
        <p:nvSpPr>
          <p:cNvPr id="544" name="Google Shape;544;p73"/>
          <p:cNvSpPr txBox="1"/>
          <p:nvPr>
            <p:ph idx="1" type="body"/>
          </p:nvPr>
        </p:nvSpPr>
        <p:spPr>
          <a:xfrm>
            <a:off x="311700" y="1321375"/>
            <a:ext cx="8520600" cy="3247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545" name="Google Shape;545;p73"/>
          <p:cNvPicPr preferRelativeResize="0"/>
          <p:nvPr/>
        </p:nvPicPr>
        <p:blipFill rotWithShape="1">
          <a:blip r:embed="rId3">
            <a:alphaModFix/>
          </a:blip>
          <a:srcRect b="0" l="0" r="0" t="0"/>
          <a:stretch/>
        </p:blipFill>
        <p:spPr>
          <a:xfrm>
            <a:off x="1866069" y="1438275"/>
            <a:ext cx="5411868" cy="360305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7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12. Posición y comportamiento de contenedores</a:t>
            </a:r>
            <a:endParaRPr/>
          </a:p>
          <a:p>
            <a:pPr indent="0" lvl="0" marL="0" rtl="0" algn="l">
              <a:lnSpc>
                <a:spcPct val="100000"/>
              </a:lnSpc>
              <a:spcBef>
                <a:spcPts val="0"/>
              </a:spcBef>
              <a:spcAft>
                <a:spcPts val="0"/>
              </a:spcAft>
              <a:buSzPct val="111111"/>
              <a:buNone/>
            </a:pPr>
            <a:r>
              <a:t/>
            </a:r>
            <a:endParaRPr/>
          </a:p>
        </p:txBody>
      </p:sp>
      <p:sp>
        <p:nvSpPr>
          <p:cNvPr id="551" name="Google Shape;551;p74"/>
          <p:cNvSpPr txBox="1"/>
          <p:nvPr>
            <p:ph idx="1" type="body"/>
          </p:nvPr>
        </p:nvSpPr>
        <p:spPr>
          <a:xfrm>
            <a:off x="311700" y="1152475"/>
            <a:ext cx="8520600" cy="3990900"/>
          </a:xfrm>
          <a:prstGeom prst="rect">
            <a:avLst/>
          </a:prstGeom>
          <a:noFill/>
          <a:ln>
            <a:noFill/>
          </a:ln>
        </p:spPr>
        <p:txBody>
          <a:bodyPr anchorCtr="0" anchor="t" bIns="91425" lIns="91425" spcFirstLastPara="1" rIns="91425" wrap="square" tIns="91425">
            <a:normAutofit/>
          </a:bodyPr>
          <a:lstStyle/>
          <a:p>
            <a:pPr indent="0" lvl="0" marL="0" rtl="0" algn="l">
              <a:lnSpc>
                <a:spcPct val="137500"/>
              </a:lnSpc>
              <a:spcBef>
                <a:spcPts val="0"/>
              </a:spcBef>
              <a:spcAft>
                <a:spcPts val="0"/>
              </a:spcAft>
              <a:buSzPts val="1800"/>
              <a:buNone/>
            </a:pPr>
            <a:r>
              <a:rPr b="1" lang="es" sz="3000">
                <a:solidFill>
                  <a:srgbClr val="232B46"/>
                </a:solidFill>
                <a:highlight>
                  <a:srgbClr val="FFFFFF"/>
                </a:highlight>
                <a:latin typeface="Roboto"/>
                <a:ea typeface="Roboto"/>
                <a:cs typeface="Roboto"/>
                <a:sym typeface="Roboto"/>
              </a:rPr>
              <a:t>12.1. Display</a:t>
            </a:r>
            <a:endParaRPr b="1" sz="3000">
              <a:solidFill>
                <a:srgbClr val="232B46"/>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highlight>
                  <a:srgbClr val="FFFFFF"/>
                </a:highlight>
                <a:latin typeface="Roboto"/>
                <a:ea typeface="Roboto"/>
                <a:cs typeface="Roboto"/>
                <a:sym typeface="Roboto"/>
              </a:rPr>
              <a:t>Valores: </a:t>
            </a:r>
            <a:r>
              <a:rPr b="1" lang="es" sz="1350">
                <a:solidFill>
                  <a:srgbClr val="000000"/>
                </a:solidFill>
                <a:highlight>
                  <a:srgbClr val="FFFFFF"/>
                </a:highlight>
                <a:latin typeface="Roboto"/>
                <a:ea typeface="Roboto"/>
                <a:cs typeface="Roboto"/>
                <a:sym typeface="Roboto"/>
              </a:rPr>
              <a:t>none | inline | block | inline-block</a:t>
            </a:r>
            <a:endParaRPr b="1" sz="1350">
              <a:solidFill>
                <a:srgbClr val="000000"/>
              </a:solidFill>
              <a:highlight>
                <a:srgbClr val="FFFFFF"/>
              </a:highlight>
              <a:latin typeface="Roboto"/>
              <a:ea typeface="Roboto"/>
              <a:cs typeface="Roboto"/>
              <a:sym typeface="Roboto"/>
            </a:endParaRPr>
          </a:p>
          <a:p>
            <a:pPr indent="-314325" lvl="0" marL="749300" rtl="0" algn="l">
              <a:lnSpc>
                <a:spcPct val="115000"/>
              </a:lnSpc>
              <a:spcBef>
                <a:spcPts val="1100"/>
              </a:spcBef>
              <a:spcAft>
                <a:spcPts val="0"/>
              </a:spcAft>
              <a:buClr>
                <a:srgbClr val="2C3862"/>
              </a:buClr>
              <a:buSzPts val="1350"/>
              <a:buFont typeface="Roboto"/>
              <a:buChar char="●"/>
            </a:pPr>
            <a:r>
              <a:rPr b="1" lang="es" sz="1350">
                <a:solidFill>
                  <a:srgbClr val="2C3862"/>
                </a:solidFill>
                <a:highlight>
                  <a:srgbClr val="FFFFFF"/>
                </a:highlight>
                <a:latin typeface="Roboto"/>
                <a:ea typeface="Roboto"/>
                <a:cs typeface="Roboto"/>
                <a:sym typeface="Roboto"/>
              </a:rPr>
              <a:t>none:</a:t>
            </a:r>
            <a:r>
              <a:rPr lang="es" sz="1350">
                <a:solidFill>
                  <a:srgbClr val="2C3862"/>
                </a:solidFill>
                <a:highlight>
                  <a:srgbClr val="FFFFFF"/>
                </a:highlight>
                <a:latin typeface="Roboto"/>
                <a:ea typeface="Roboto"/>
                <a:cs typeface="Roboto"/>
                <a:sym typeface="Roboto"/>
              </a:rPr>
              <a:t> los elementos se ocultan y no se muestra el espacio reservado.</a:t>
            </a:r>
            <a:endParaRPr sz="1350">
              <a:solidFill>
                <a:srgbClr val="2C3862"/>
              </a:solidFill>
              <a:highlight>
                <a:srgbClr val="FFFFFF"/>
              </a:highlight>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Char char="●"/>
            </a:pPr>
            <a:r>
              <a:rPr b="1" lang="es" sz="1350">
                <a:solidFill>
                  <a:srgbClr val="2C3862"/>
                </a:solidFill>
                <a:highlight>
                  <a:srgbClr val="FFFFFF"/>
                </a:highlight>
                <a:latin typeface="Roboto"/>
                <a:ea typeface="Roboto"/>
                <a:cs typeface="Roboto"/>
                <a:sym typeface="Roboto"/>
              </a:rPr>
              <a:t>inline:</a:t>
            </a:r>
            <a:r>
              <a:rPr lang="es" sz="1350">
                <a:solidFill>
                  <a:srgbClr val="2C3862"/>
                </a:solidFill>
                <a:highlight>
                  <a:srgbClr val="FFFFFF"/>
                </a:highlight>
                <a:latin typeface="Roboto"/>
                <a:ea typeface="Roboto"/>
                <a:cs typeface="Roboto"/>
                <a:sym typeface="Roboto"/>
              </a:rPr>
              <a:t> los elementos se muestran en la misma línea (respetando el flujo) y no se aceptan las propiedades width, height ni márgenes verticales.</a:t>
            </a:r>
            <a:endParaRPr sz="1350">
              <a:solidFill>
                <a:srgbClr val="2C3862"/>
              </a:solidFill>
              <a:highlight>
                <a:srgbClr val="FFFFFF"/>
              </a:highlight>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Char char="●"/>
            </a:pPr>
            <a:r>
              <a:rPr b="1" lang="es" sz="1350">
                <a:solidFill>
                  <a:srgbClr val="2C3862"/>
                </a:solidFill>
                <a:highlight>
                  <a:srgbClr val="FFFFFF"/>
                </a:highlight>
                <a:latin typeface="Roboto"/>
                <a:ea typeface="Roboto"/>
                <a:cs typeface="Roboto"/>
                <a:sym typeface="Roboto"/>
              </a:rPr>
              <a:t>block:</a:t>
            </a:r>
            <a:r>
              <a:rPr lang="es" sz="1350">
                <a:solidFill>
                  <a:srgbClr val="2C3862"/>
                </a:solidFill>
                <a:highlight>
                  <a:srgbClr val="FFFFFF"/>
                </a:highlight>
                <a:latin typeface="Roboto"/>
                <a:ea typeface="Roboto"/>
                <a:cs typeface="Roboto"/>
                <a:sym typeface="Roboto"/>
              </a:rPr>
              <a:t> los elementos se muestran en líneas independientes y se aceptan las propiedades width, height y márgenes verticales.</a:t>
            </a:r>
            <a:endParaRPr sz="1350">
              <a:solidFill>
                <a:srgbClr val="2C3862"/>
              </a:solidFill>
              <a:highlight>
                <a:srgbClr val="FFFFFF"/>
              </a:highlight>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Char char="●"/>
            </a:pPr>
            <a:r>
              <a:rPr b="1" lang="es" sz="1350">
                <a:solidFill>
                  <a:srgbClr val="2C3862"/>
                </a:solidFill>
                <a:highlight>
                  <a:srgbClr val="FFFFFF"/>
                </a:highlight>
                <a:latin typeface="Roboto"/>
                <a:ea typeface="Roboto"/>
                <a:cs typeface="Roboto"/>
                <a:sym typeface="Roboto"/>
              </a:rPr>
              <a:t>inline-block:</a:t>
            </a:r>
            <a:r>
              <a:rPr lang="es" sz="1350">
                <a:solidFill>
                  <a:srgbClr val="2C3862"/>
                </a:solidFill>
                <a:highlight>
                  <a:srgbClr val="FFFFFF"/>
                </a:highlight>
                <a:latin typeface="Roboto"/>
                <a:ea typeface="Roboto"/>
                <a:cs typeface="Roboto"/>
                <a:sym typeface="Roboto"/>
              </a:rPr>
              <a:t> su comportamiento es una mezcla entre los dos anteriores, los elementos se muestran en la misma línea (respetando el flujo) y se aceptan las propiedades width, height y márgenes verticales.</a:t>
            </a:r>
            <a:endParaRPr sz="1350">
              <a:solidFill>
                <a:srgbClr val="2C3862"/>
              </a:solidFill>
              <a:highlight>
                <a:srgbClr val="FFFFFF"/>
              </a:highlight>
              <a:latin typeface="Roboto"/>
              <a:ea typeface="Roboto"/>
              <a:cs typeface="Roboto"/>
              <a:sym typeface="Roboto"/>
            </a:endParaRPr>
          </a:p>
          <a:p>
            <a:pPr indent="0" lvl="0" marL="0" rtl="0" algn="l">
              <a:lnSpc>
                <a:spcPct val="115000"/>
              </a:lnSpc>
              <a:spcBef>
                <a:spcPts val="1900"/>
              </a:spcBef>
              <a:spcAft>
                <a:spcPts val="1200"/>
              </a:spcAft>
              <a:buSzPts val="1800"/>
              <a:buNone/>
            </a:pPr>
            <a:r>
              <a:rPr lang="es" u="sng">
                <a:solidFill>
                  <a:schemeClr val="hlink"/>
                </a:solidFill>
                <a:hlinkClick r:id="rId3"/>
              </a:rPr>
              <a:t>https://codepen.io/Eniun/pen/VJRVJb</a:t>
            </a:r>
            <a:r>
              <a:rPr lang="es"/>
              <a:t>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7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12. Posición y comportamiento de contenedores</a:t>
            </a:r>
            <a:endParaRPr/>
          </a:p>
          <a:p>
            <a:pPr indent="0" lvl="0" marL="0" rtl="0" algn="l">
              <a:lnSpc>
                <a:spcPct val="100000"/>
              </a:lnSpc>
              <a:spcBef>
                <a:spcPts val="0"/>
              </a:spcBef>
              <a:spcAft>
                <a:spcPts val="0"/>
              </a:spcAft>
              <a:buSzPct val="111111"/>
              <a:buNone/>
            </a:pPr>
            <a:r>
              <a:t/>
            </a:r>
            <a:endParaRPr/>
          </a:p>
        </p:txBody>
      </p:sp>
      <p:sp>
        <p:nvSpPr>
          <p:cNvPr id="557" name="Google Shape;557;p75"/>
          <p:cNvSpPr txBox="1"/>
          <p:nvPr>
            <p:ph idx="1" type="body"/>
          </p:nvPr>
        </p:nvSpPr>
        <p:spPr>
          <a:xfrm>
            <a:off x="311700" y="1152475"/>
            <a:ext cx="8520600" cy="39909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37500"/>
              </a:lnSpc>
              <a:spcBef>
                <a:spcPts val="0"/>
              </a:spcBef>
              <a:spcAft>
                <a:spcPts val="0"/>
              </a:spcAft>
              <a:buSzPts val="1800"/>
              <a:buNone/>
            </a:pPr>
            <a:r>
              <a:rPr b="1" lang="es" sz="3000">
                <a:solidFill>
                  <a:srgbClr val="232B46"/>
                </a:solidFill>
                <a:highlight>
                  <a:srgbClr val="FFFFFF"/>
                </a:highlight>
                <a:latin typeface="Roboto"/>
                <a:ea typeface="Roboto"/>
                <a:cs typeface="Roboto"/>
                <a:sym typeface="Roboto"/>
              </a:rPr>
              <a:t>12.2. Position</a:t>
            </a:r>
            <a:endParaRPr b="1" sz="3000">
              <a:solidFill>
                <a:srgbClr val="232B46"/>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highlight>
                  <a:srgbClr val="FFFFFF"/>
                </a:highlight>
                <a:latin typeface="Roboto"/>
                <a:ea typeface="Roboto"/>
                <a:cs typeface="Roboto"/>
                <a:sym typeface="Roboto"/>
              </a:rPr>
              <a:t>Valores:</a:t>
            </a:r>
            <a:r>
              <a:rPr b="1" lang="es" sz="1350">
                <a:solidFill>
                  <a:srgbClr val="000000"/>
                </a:solidFill>
                <a:highlight>
                  <a:srgbClr val="FFFFFF"/>
                </a:highlight>
                <a:latin typeface="Roboto"/>
                <a:ea typeface="Roboto"/>
                <a:cs typeface="Roboto"/>
                <a:sym typeface="Roboto"/>
              </a:rPr>
              <a:t> static | relative | absolute | fixed</a:t>
            </a:r>
            <a:endParaRPr b="1" sz="1350">
              <a:solidFill>
                <a:srgbClr val="000000"/>
              </a:solidFill>
              <a:highlight>
                <a:srgbClr val="FFFFFF"/>
              </a:highlight>
              <a:latin typeface="Roboto"/>
              <a:ea typeface="Roboto"/>
              <a:cs typeface="Roboto"/>
              <a:sym typeface="Roboto"/>
            </a:endParaRPr>
          </a:p>
          <a:p>
            <a:pPr indent="-314325" lvl="0" marL="749300" rtl="0" algn="l">
              <a:lnSpc>
                <a:spcPct val="115000"/>
              </a:lnSpc>
              <a:spcBef>
                <a:spcPts val="1100"/>
              </a:spcBef>
              <a:spcAft>
                <a:spcPts val="0"/>
              </a:spcAft>
              <a:buClr>
                <a:srgbClr val="2C3862"/>
              </a:buClr>
              <a:buSzPts val="1350"/>
              <a:buFont typeface="Roboto"/>
              <a:buChar char="●"/>
            </a:pPr>
            <a:r>
              <a:rPr b="1" lang="es" sz="1350">
                <a:solidFill>
                  <a:srgbClr val="2C3862"/>
                </a:solidFill>
                <a:highlight>
                  <a:srgbClr val="FFFFFF"/>
                </a:highlight>
                <a:latin typeface="Roboto"/>
                <a:ea typeface="Roboto"/>
                <a:cs typeface="Roboto"/>
                <a:sym typeface="Roboto"/>
              </a:rPr>
              <a:t>static: </a:t>
            </a:r>
            <a:r>
              <a:rPr lang="es" sz="1350">
                <a:solidFill>
                  <a:srgbClr val="2C3862"/>
                </a:solidFill>
                <a:highlight>
                  <a:srgbClr val="FFFFFF"/>
                </a:highlight>
                <a:latin typeface="Roboto"/>
                <a:ea typeface="Roboto"/>
                <a:cs typeface="Roboto"/>
                <a:sym typeface="Roboto"/>
              </a:rPr>
              <a:t>los elementos se posicionan de acuerdo al flujo normal de la página. Es la </a:t>
            </a:r>
            <a:r>
              <a:rPr b="1" lang="es" sz="1350">
                <a:solidFill>
                  <a:srgbClr val="2C3862"/>
                </a:solidFill>
                <a:highlight>
                  <a:srgbClr val="FFFFFF"/>
                </a:highlight>
                <a:latin typeface="Roboto"/>
                <a:ea typeface="Roboto"/>
                <a:cs typeface="Roboto"/>
                <a:sym typeface="Roboto"/>
              </a:rPr>
              <a:t>posición natural de los elementos</a:t>
            </a:r>
            <a:r>
              <a:rPr lang="es" sz="1350">
                <a:solidFill>
                  <a:srgbClr val="2C3862"/>
                </a:solidFill>
                <a:highlight>
                  <a:srgbClr val="FFFFFF"/>
                </a:highlight>
                <a:latin typeface="Roboto"/>
                <a:ea typeface="Roboto"/>
                <a:cs typeface="Roboto"/>
                <a:sym typeface="Roboto"/>
              </a:rPr>
              <a:t>. No son afectados por las propiedades top, bottom, left y right.</a:t>
            </a:r>
            <a:endParaRPr sz="1350">
              <a:solidFill>
                <a:srgbClr val="2C3862"/>
              </a:solidFill>
              <a:highlight>
                <a:srgbClr val="FFFFFF"/>
              </a:highlight>
              <a:latin typeface="Roboto"/>
              <a:ea typeface="Roboto"/>
              <a:cs typeface="Roboto"/>
              <a:sym typeface="Roboto"/>
            </a:endParaRPr>
          </a:p>
          <a:p>
            <a:pPr indent="-314325" lvl="1" marL="914400" rtl="0" algn="l">
              <a:lnSpc>
                <a:spcPct val="115000"/>
              </a:lnSpc>
              <a:spcBef>
                <a:spcPts val="0"/>
              </a:spcBef>
              <a:spcAft>
                <a:spcPts val="0"/>
              </a:spcAft>
              <a:buClr>
                <a:srgbClr val="2C3862"/>
              </a:buClr>
              <a:buSzPts val="1350"/>
              <a:buFont typeface="Roboto"/>
              <a:buChar char="○"/>
            </a:pPr>
            <a:r>
              <a:rPr lang="es" sz="1350" u="sng">
                <a:solidFill>
                  <a:schemeClr val="hlink"/>
                </a:solidFill>
                <a:highlight>
                  <a:srgbClr val="FFFFFF"/>
                </a:highlight>
                <a:latin typeface="Roboto"/>
                <a:ea typeface="Roboto"/>
                <a:cs typeface="Roboto"/>
                <a:sym typeface="Roboto"/>
                <a:hlinkClick r:id="rId3"/>
              </a:rPr>
              <a:t>https://codepen.io/Eniun/pen/agxQJM</a:t>
            </a:r>
            <a:r>
              <a:rPr lang="es" sz="1350">
                <a:solidFill>
                  <a:srgbClr val="2C3862"/>
                </a:solidFill>
                <a:highlight>
                  <a:srgbClr val="FFFFFF"/>
                </a:highlight>
                <a:latin typeface="Roboto"/>
                <a:ea typeface="Roboto"/>
                <a:cs typeface="Roboto"/>
                <a:sym typeface="Roboto"/>
              </a:rPr>
              <a:t> </a:t>
            </a:r>
            <a:endParaRPr sz="1350">
              <a:solidFill>
                <a:srgbClr val="2C3862"/>
              </a:solidFill>
              <a:highlight>
                <a:srgbClr val="FFFFFF"/>
              </a:highlight>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Char char="●"/>
            </a:pPr>
            <a:r>
              <a:rPr b="1" lang="es" sz="1350">
                <a:solidFill>
                  <a:srgbClr val="2C3862"/>
                </a:solidFill>
                <a:highlight>
                  <a:srgbClr val="FFFFFF"/>
                </a:highlight>
                <a:latin typeface="Roboto"/>
                <a:ea typeface="Roboto"/>
                <a:cs typeface="Roboto"/>
                <a:sym typeface="Roboto"/>
              </a:rPr>
              <a:t>relative:</a:t>
            </a:r>
            <a:r>
              <a:rPr lang="es" sz="1350">
                <a:solidFill>
                  <a:srgbClr val="2C3862"/>
                </a:solidFill>
                <a:highlight>
                  <a:srgbClr val="FFFFFF"/>
                </a:highlight>
                <a:latin typeface="Roboto"/>
                <a:ea typeface="Roboto"/>
                <a:cs typeface="Roboto"/>
                <a:sym typeface="Roboto"/>
              </a:rPr>
              <a:t> los elementos se posicionan de forma relativa a su posición normal.</a:t>
            </a:r>
            <a:endParaRPr sz="1350">
              <a:solidFill>
                <a:srgbClr val="2C3862"/>
              </a:solidFill>
              <a:highlight>
                <a:srgbClr val="FFFFFF"/>
              </a:highlight>
              <a:latin typeface="Roboto"/>
              <a:ea typeface="Roboto"/>
              <a:cs typeface="Roboto"/>
              <a:sym typeface="Roboto"/>
            </a:endParaRPr>
          </a:p>
          <a:p>
            <a:pPr indent="-314325" lvl="1" marL="914400" rtl="0" algn="l">
              <a:lnSpc>
                <a:spcPct val="115000"/>
              </a:lnSpc>
              <a:spcBef>
                <a:spcPts val="0"/>
              </a:spcBef>
              <a:spcAft>
                <a:spcPts val="0"/>
              </a:spcAft>
              <a:buClr>
                <a:srgbClr val="2C3862"/>
              </a:buClr>
              <a:buSzPts val="1350"/>
              <a:buFont typeface="Roboto"/>
              <a:buChar char="○"/>
            </a:pPr>
            <a:r>
              <a:rPr lang="es" sz="1350" u="sng">
                <a:solidFill>
                  <a:schemeClr val="hlink"/>
                </a:solidFill>
                <a:highlight>
                  <a:srgbClr val="FFFFFF"/>
                </a:highlight>
                <a:latin typeface="Roboto"/>
                <a:ea typeface="Roboto"/>
                <a:cs typeface="Roboto"/>
                <a:sym typeface="Roboto"/>
                <a:hlinkClick r:id="rId4"/>
              </a:rPr>
              <a:t>https://codepen.io/Eniun/pen/vqMQjK</a:t>
            </a:r>
            <a:r>
              <a:rPr lang="es" sz="1350">
                <a:solidFill>
                  <a:srgbClr val="2C3862"/>
                </a:solidFill>
                <a:highlight>
                  <a:srgbClr val="FFFFFF"/>
                </a:highlight>
                <a:latin typeface="Roboto"/>
                <a:ea typeface="Roboto"/>
                <a:cs typeface="Roboto"/>
                <a:sym typeface="Roboto"/>
              </a:rPr>
              <a:t> </a:t>
            </a:r>
            <a:endParaRPr sz="1350">
              <a:solidFill>
                <a:srgbClr val="2C3862"/>
              </a:solidFill>
              <a:highlight>
                <a:srgbClr val="FFFFFF"/>
              </a:highlight>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Char char="●"/>
            </a:pPr>
            <a:r>
              <a:rPr b="1" lang="es" sz="1350">
                <a:solidFill>
                  <a:srgbClr val="2C3862"/>
                </a:solidFill>
                <a:highlight>
                  <a:srgbClr val="FFFFFF"/>
                </a:highlight>
                <a:latin typeface="Roboto"/>
                <a:ea typeface="Roboto"/>
                <a:cs typeface="Roboto"/>
                <a:sym typeface="Roboto"/>
              </a:rPr>
              <a:t>fixed:</a:t>
            </a:r>
            <a:r>
              <a:rPr lang="es" sz="1350">
                <a:solidFill>
                  <a:srgbClr val="2C3862"/>
                </a:solidFill>
                <a:highlight>
                  <a:srgbClr val="FFFFFF"/>
                </a:highlight>
                <a:latin typeface="Roboto"/>
                <a:ea typeface="Roboto"/>
                <a:cs typeface="Roboto"/>
                <a:sym typeface="Roboto"/>
              </a:rPr>
              <a:t> los elementos se posicionan de forma relativa a la ventana del navegador. Su posición permanece fija aunque se desplace la ventana.</a:t>
            </a:r>
            <a:endParaRPr sz="1350">
              <a:solidFill>
                <a:srgbClr val="2C3862"/>
              </a:solidFill>
              <a:highlight>
                <a:srgbClr val="FFFFFF"/>
              </a:highlight>
              <a:latin typeface="Roboto"/>
              <a:ea typeface="Roboto"/>
              <a:cs typeface="Roboto"/>
              <a:sym typeface="Roboto"/>
            </a:endParaRPr>
          </a:p>
          <a:p>
            <a:pPr indent="-314325" lvl="1" marL="914400" rtl="0" algn="l">
              <a:lnSpc>
                <a:spcPct val="115000"/>
              </a:lnSpc>
              <a:spcBef>
                <a:spcPts val="0"/>
              </a:spcBef>
              <a:spcAft>
                <a:spcPts val="0"/>
              </a:spcAft>
              <a:buClr>
                <a:srgbClr val="2C3862"/>
              </a:buClr>
              <a:buSzPts val="1350"/>
              <a:buFont typeface="Roboto"/>
              <a:buChar char="○"/>
            </a:pPr>
            <a:r>
              <a:rPr lang="es" sz="1350" u="sng">
                <a:solidFill>
                  <a:schemeClr val="hlink"/>
                </a:solidFill>
                <a:highlight>
                  <a:srgbClr val="FFFFFF"/>
                </a:highlight>
                <a:latin typeface="Roboto"/>
                <a:ea typeface="Roboto"/>
                <a:cs typeface="Roboto"/>
                <a:sym typeface="Roboto"/>
                <a:hlinkClick r:id="rId5"/>
              </a:rPr>
              <a:t>https://codepen.io/Eniun/pen/zVXyGY</a:t>
            </a:r>
            <a:r>
              <a:rPr lang="es" sz="1350">
                <a:solidFill>
                  <a:srgbClr val="2C3862"/>
                </a:solidFill>
                <a:highlight>
                  <a:srgbClr val="FFFFFF"/>
                </a:highlight>
                <a:latin typeface="Roboto"/>
                <a:ea typeface="Roboto"/>
                <a:cs typeface="Roboto"/>
                <a:sym typeface="Roboto"/>
              </a:rPr>
              <a:t> </a:t>
            </a:r>
            <a:endParaRPr sz="1350">
              <a:solidFill>
                <a:srgbClr val="2C3862"/>
              </a:solidFill>
              <a:highlight>
                <a:srgbClr val="FFFFFF"/>
              </a:highlight>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Char char="●"/>
            </a:pPr>
            <a:r>
              <a:rPr b="1" lang="es" sz="1350">
                <a:solidFill>
                  <a:srgbClr val="2C3862"/>
                </a:solidFill>
                <a:highlight>
                  <a:srgbClr val="FFFFFF"/>
                </a:highlight>
                <a:latin typeface="Roboto"/>
                <a:ea typeface="Roboto"/>
                <a:cs typeface="Roboto"/>
                <a:sym typeface="Roboto"/>
              </a:rPr>
              <a:t>absolute:</a:t>
            </a:r>
            <a:r>
              <a:rPr lang="es" sz="1350">
                <a:solidFill>
                  <a:srgbClr val="2C3862"/>
                </a:solidFill>
                <a:highlight>
                  <a:srgbClr val="FFFFFF"/>
                </a:highlight>
                <a:latin typeface="Roboto"/>
                <a:ea typeface="Roboto"/>
                <a:cs typeface="Roboto"/>
                <a:sym typeface="Roboto"/>
              </a:rPr>
              <a:t> los elementos se posicionan de forma relativa al primer elemento padre que tenga una posición distinta a static.</a:t>
            </a:r>
            <a:endParaRPr sz="1350">
              <a:solidFill>
                <a:srgbClr val="2C3862"/>
              </a:solidFill>
              <a:highlight>
                <a:srgbClr val="FFFFFF"/>
              </a:highlight>
              <a:latin typeface="Roboto"/>
              <a:ea typeface="Roboto"/>
              <a:cs typeface="Roboto"/>
              <a:sym typeface="Roboto"/>
            </a:endParaRPr>
          </a:p>
          <a:p>
            <a:pPr indent="-314325" lvl="1" marL="914400" rtl="0" algn="l">
              <a:lnSpc>
                <a:spcPct val="115000"/>
              </a:lnSpc>
              <a:spcBef>
                <a:spcPts val="0"/>
              </a:spcBef>
              <a:spcAft>
                <a:spcPts val="0"/>
              </a:spcAft>
              <a:buClr>
                <a:srgbClr val="2C3862"/>
              </a:buClr>
              <a:buSzPts val="1350"/>
              <a:buFont typeface="Roboto"/>
              <a:buChar char="○"/>
            </a:pPr>
            <a:r>
              <a:rPr lang="es" sz="1350" u="sng">
                <a:solidFill>
                  <a:schemeClr val="hlink"/>
                </a:solidFill>
                <a:highlight>
                  <a:srgbClr val="FFFFFF"/>
                </a:highlight>
                <a:latin typeface="Roboto"/>
                <a:ea typeface="Roboto"/>
                <a:cs typeface="Roboto"/>
                <a:sym typeface="Roboto"/>
                <a:hlinkClick r:id="rId6"/>
              </a:rPr>
              <a:t>https://codepen.io/Eniun/pen/PrgxMO</a:t>
            </a:r>
            <a:r>
              <a:rPr lang="es" sz="1350">
                <a:solidFill>
                  <a:srgbClr val="2C3862"/>
                </a:solidFill>
                <a:highlight>
                  <a:srgbClr val="FFFFFF"/>
                </a:highlight>
                <a:latin typeface="Roboto"/>
                <a:ea typeface="Roboto"/>
                <a:cs typeface="Roboto"/>
                <a:sym typeface="Roboto"/>
              </a:rPr>
              <a:t> </a:t>
            </a:r>
            <a:endParaRPr sz="1350">
              <a:solidFill>
                <a:srgbClr val="2C3862"/>
              </a:solidFill>
              <a:highlight>
                <a:srgbClr val="FFFFFF"/>
              </a:highlight>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Char char="●"/>
            </a:pPr>
            <a:r>
              <a:rPr b="1" lang="es" sz="1350">
                <a:solidFill>
                  <a:srgbClr val="2C3862"/>
                </a:solidFill>
                <a:highlight>
                  <a:srgbClr val="FFFFFF"/>
                </a:highlight>
                <a:latin typeface="Roboto"/>
                <a:ea typeface="Roboto"/>
                <a:cs typeface="Roboto"/>
                <a:sym typeface="Roboto"/>
              </a:rPr>
              <a:t>sticky</a:t>
            </a:r>
            <a:r>
              <a:rPr lang="es" sz="1350">
                <a:solidFill>
                  <a:srgbClr val="2C3862"/>
                </a:solidFill>
                <a:highlight>
                  <a:srgbClr val="FFFFFF"/>
                </a:highlight>
                <a:latin typeface="Roboto"/>
                <a:ea typeface="Roboto"/>
                <a:cs typeface="Roboto"/>
                <a:sym typeface="Roboto"/>
              </a:rPr>
              <a:t>: los elementos son posicionados de forma relativa hasta que su bloque contenedor alcanza un límite establecido.</a:t>
            </a:r>
            <a:endParaRPr sz="1350">
              <a:solidFill>
                <a:srgbClr val="2C3862"/>
              </a:solidFill>
              <a:highlight>
                <a:srgbClr val="FFFFFF"/>
              </a:highlight>
              <a:latin typeface="Roboto"/>
              <a:ea typeface="Roboto"/>
              <a:cs typeface="Roboto"/>
              <a:sym typeface="Roboto"/>
            </a:endParaRPr>
          </a:p>
          <a:p>
            <a:pPr indent="-314325" lvl="1" marL="914400" rtl="0" algn="l">
              <a:lnSpc>
                <a:spcPct val="115000"/>
              </a:lnSpc>
              <a:spcBef>
                <a:spcPts val="0"/>
              </a:spcBef>
              <a:spcAft>
                <a:spcPts val="0"/>
              </a:spcAft>
              <a:buClr>
                <a:srgbClr val="2C3862"/>
              </a:buClr>
              <a:buSzPts val="1350"/>
              <a:buFont typeface="Roboto"/>
              <a:buChar char="○"/>
            </a:pPr>
            <a:r>
              <a:rPr lang="es" sz="1350" u="sng">
                <a:solidFill>
                  <a:schemeClr val="hlink"/>
                </a:solidFill>
                <a:highlight>
                  <a:srgbClr val="FFFFFF"/>
                </a:highlight>
                <a:latin typeface="Roboto"/>
                <a:ea typeface="Roboto"/>
                <a:cs typeface="Roboto"/>
                <a:sym typeface="Roboto"/>
                <a:hlinkClick r:id="rId7"/>
              </a:rPr>
              <a:t>https://codepen.io/Eniun/pen/porjmLM</a:t>
            </a:r>
            <a:r>
              <a:rPr lang="es" sz="1350">
                <a:solidFill>
                  <a:srgbClr val="2C3862"/>
                </a:solidFill>
                <a:highlight>
                  <a:srgbClr val="FFFFFF"/>
                </a:highlight>
                <a:latin typeface="Roboto"/>
                <a:ea typeface="Roboto"/>
                <a:cs typeface="Roboto"/>
                <a:sym typeface="Roboto"/>
              </a:rPr>
              <a:t> </a:t>
            </a:r>
            <a:endParaRPr sz="1350">
              <a:solidFill>
                <a:srgbClr val="2C3862"/>
              </a:solidFill>
              <a:highlight>
                <a:srgbClr val="FFFFFF"/>
              </a:highlight>
              <a:latin typeface="Roboto"/>
              <a:ea typeface="Roboto"/>
              <a:cs typeface="Roboto"/>
              <a:sym typeface="Roboto"/>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12. Posición y comportamiento de contenedores</a:t>
            </a:r>
            <a:endParaRPr/>
          </a:p>
          <a:p>
            <a:pPr indent="0" lvl="0" marL="0" rtl="0" algn="l">
              <a:lnSpc>
                <a:spcPct val="100000"/>
              </a:lnSpc>
              <a:spcBef>
                <a:spcPts val="0"/>
              </a:spcBef>
              <a:spcAft>
                <a:spcPts val="0"/>
              </a:spcAft>
              <a:buSzPct val="111111"/>
              <a:buNone/>
            </a:pPr>
            <a:r>
              <a:t/>
            </a:r>
            <a:endParaRPr/>
          </a:p>
        </p:txBody>
      </p:sp>
      <p:sp>
        <p:nvSpPr>
          <p:cNvPr id="563" name="Google Shape;563;p7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37500"/>
              </a:lnSpc>
              <a:spcBef>
                <a:spcPts val="0"/>
              </a:spcBef>
              <a:spcAft>
                <a:spcPts val="0"/>
              </a:spcAft>
              <a:buSzPts val="1800"/>
              <a:buNone/>
            </a:pPr>
            <a:r>
              <a:rPr b="1" lang="es" sz="3000">
                <a:solidFill>
                  <a:srgbClr val="232B46"/>
                </a:solidFill>
                <a:highlight>
                  <a:srgbClr val="FFFFFF"/>
                </a:highlight>
                <a:latin typeface="Roboto"/>
                <a:ea typeface="Roboto"/>
                <a:cs typeface="Roboto"/>
                <a:sym typeface="Roboto"/>
              </a:rPr>
              <a:t>12.3. Float</a:t>
            </a:r>
            <a:endParaRPr b="1" sz="3000">
              <a:solidFill>
                <a:srgbClr val="232B46"/>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highlight>
                  <a:srgbClr val="FFFFFF"/>
                </a:highlight>
                <a:latin typeface="Roboto"/>
                <a:ea typeface="Roboto"/>
                <a:cs typeface="Roboto"/>
                <a:sym typeface="Roboto"/>
              </a:rPr>
              <a:t>Valores</a:t>
            </a:r>
            <a:r>
              <a:rPr b="1" lang="es" sz="1350">
                <a:solidFill>
                  <a:srgbClr val="000000"/>
                </a:solidFill>
                <a:highlight>
                  <a:srgbClr val="FFFFFF"/>
                </a:highlight>
                <a:latin typeface="Roboto"/>
                <a:ea typeface="Roboto"/>
                <a:cs typeface="Roboto"/>
                <a:sym typeface="Roboto"/>
              </a:rPr>
              <a:t>: left | right | none</a:t>
            </a:r>
            <a:endParaRPr b="1" sz="1350">
              <a:solidFill>
                <a:srgbClr val="000000"/>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highlight>
                  <a:srgbClr val="FFFFFF"/>
                </a:highlight>
                <a:latin typeface="Roboto"/>
                <a:ea typeface="Roboto"/>
                <a:cs typeface="Roboto"/>
                <a:sym typeface="Roboto"/>
              </a:rPr>
              <a:t>Cuando a un elemento HTML se le aplica un estilo con la propiedad float, el elemento sale del flujo normal y aparece posicionado a la izquierda o a la derecha de su contenedor, donde el resto de elementos de la página se posicionarán alrededor.</a:t>
            </a:r>
            <a:endParaRPr sz="1350">
              <a:solidFill>
                <a:srgbClr val="000000"/>
              </a:solidFill>
              <a:highlight>
                <a:srgbClr val="FFFFFF"/>
              </a:highlight>
              <a:latin typeface="Roboto"/>
              <a:ea typeface="Roboto"/>
              <a:cs typeface="Roboto"/>
              <a:sym typeface="Roboto"/>
            </a:endParaRPr>
          </a:p>
          <a:p>
            <a:pPr indent="0" lvl="0" marL="0" rtl="0" algn="l">
              <a:lnSpc>
                <a:spcPct val="115000"/>
              </a:lnSpc>
              <a:spcBef>
                <a:spcPts val="1100"/>
              </a:spcBef>
              <a:spcAft>
                <a:spcPts val="1200"/>
              </a:spcAft>
              <a:buSzPts val="1800"/>
              <a:buNone/>
            </a:pPr>
            <a:r>
              <a:rPr lang="es" u="sng">
                <a:solidFill>
                  <a:schemeClr val="hlink"/>
                </a:solidFill>
                <a:hlinkClick r:id="rId3"/>
              </a:rPr>
              <a:t>https://codepen.io/Eniun/pen/wvvrEed</a:t>
            </a:r>
            <a:r>
              <a:rPr lang="es"/>
              <a:t>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7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12. Posición y comportamiento de contenedores</a:t>
            </a:r>
            <a:endParaRPr/>
          </a:p>
          <a:p>
            <a:pPr indent="0" lvl="0" marL="0" rtl="0" algn="l">
              <a:lnSpc>
                <a:spcPct val="100000"/>
              </a:lnSpc>
              <a:spcBef>
                <a:spcPts val="0"/>
              </a:spcBef>
              <a:spcAft>
                <a:spcPts val="0"/>
              </a:spcAft>
              <a:buSzPct val="111111"/>
              <a:buNone/>
            </a:pPr>
            <a:r>
              <a:t/>
            </a:r>
            <a:endParaRPr/>
          </a:p>
        </p:txBody>
      </p:sp>
      <p:sp>
        <p:nvSpPr>
          <p:cNvPr id="569" name="Google Shape;569;p7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SzPts val="1800"/>
              <a:buNone/>
            </a:pPr>
            <a:r>
              <a:rPr b="1" lang="es" sz="3000">
                <a:solidFill>
                  <a:srgbClr val="000000"/>
                </a:solidFill>
                <a:latin typeface="Roboto"/>
                <a:ea typeface="Roboto"/>
                <a:cs typeface="Roboto"/>
                <a:sym typeface="Roboto"/>
              </a:rPr>
              <a:t>12.4. Clear</a:t>
            </a:r>
            <a:endParaRPr b="1" sz="3000">
              <a:solidFill>
                <a:srgbClr val="000000"/>
              </a:solidFill>
              <a:latin typeface="Roboto"/>
              <a:ea typeface="Roboto"/>
              <a:cs typeface="Roboto"/>
              <a:sym typeface="Roboto"/>
            </a:endParaRPr>
          </a:p>
          <a:p>
            <a:pPr indent="0" lvl="0" marL="0" rtl="0" algn="l">
              <a:lnSpc>
                <a:spcPct val="115000"/>
              </a:lnSpc>
              <a:spcBef>
                <a:spcPts val="1200"/>
              </a:spcBef>
              <a:spcAft>
                <a:spcPts val="0"/>
              </a:spcAft>
              <a:buSzPts val="1800"/>
              <a:buNone/>
            </a:pPr>
            <a:r>
              <a:rPr lang="es" sz="1400">
                <a:solidFill>
                  <a:srgbClr val="000000"/>
                </a:solidFill>
                <a:latin typeface="Arial"/>
                <a:ea typeface="Arial"/>
                <a:cs typeface="Arial"/>
                <a:sym typeface="Arial"/>
              </a:rPr>
              <a:t>Valores: </a:t>
            </a:r>
            <a:r>
              <a:rPr b="1" lang="es" sz="1400">
                <a:solidFill>
                  <a:srgbClr val="000000"/>
                </a:solidFill>
                <a:latin typeface="Arial"/>
                <a:ea typeface="Arial"/>
                <a:cs typeface="Arial"/>
                <a:sym typeface="Arial"/>
              </a:rPr>
              <a:t>none | left | right | both</a:t>
            </a:r>
            <a:endParaRPr b="1" sz="14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rPr lang="es" sz="1400">
                <a:solidFill>
                  <a:srgbClr val="000000"/>
                </a:solidFill>
                <a:latin typeface="Arial"/>
                <a:ea typeface="Arial"/>
                <a:cs typeface="Arial"/>
                <a:sym typeface="Arial"/>
              </a:rPr>
              <a:t>La propiedad </a:t>
            </a:r>
            <a:r>
              <a:rPr lang="es" sz="1400">
                <a:solidFill>
                  <a:srgbClr val="188038"/>
                </a:solidFill>
                <a:latin typeface="Roboto Mono"/>
                <a:ea typeface="Roboto Mono"/>
                <a:cs typeface="Roboto Mono"/>
                <a:sym typeface="Roboto Mono"/>
              </a:rPr>
              <a:t>clear</a:t>
            </a:r>
            <a:r>
              <a:rPr lang="es" sz="1400">
                <a:solidFill>
                  <a:srgbClr val="000000"/>
                </a:solidFill>
                <a:latin typeface="Arial"/>
                <a:ea typeface="Arial"/>
                <a:cs typeface="Arial"/>
                <a:sym typeface="Arial"/>
              </a:rPr>
              <a:t> establece si un elemento debe estar al lado de los elementos flotantes que lo preceden o si debe situarse bajo de ellos. Se suele utilizar para restaurar el flujo normal del documento y así los elementos dejan de flotar hacia la izquierda, la derecha o ambos lados.</a:t>
            </a:r>
            <a:endParaRPr b="1" sz="3300">
              <a:solidFill>
                <a:srgbClr val="232B46"/>
              </a:solidFill>
              <a:highlight>
                <a:srgbClr val="FFFFFF"/>
              </a:highlight>
              <a:latin typeface="Roboto"/>
              <a:ea typeface="Roboto"/>
              <a:cs typeface="Roboto"/>
              <a:sym typeface="Roboto"/>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7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12. Posición y comportamiento de contenedores</a:t>
            </a:r>
            <a:endParaRPr/>
          </a:p>
          <a:p>
            <a:pPr indent="0" lvl="0" marL="0" rtl="0" algn="l">
              <a:lnSpc>
                <a:spcPct val="100000"/>
              </a:lnSpc>
              <a:spcBef>
                <a:spcPts val="0"/>
              </a:spcBef>
              <a:spcAft>
                <a:spcPts val="0"/>
              </a:spcAft>
              <a:buSzPct val="111111"/>
              <a:buNone/>
            </a:pPr>
            <a:r>
              <a:t/>
            </a:r>
            <a:endParaRPr/>
          </a:p>
        </p:txBody>
      </p:sp>
      <p:sp>
        <p:nvSpPr>
          <p:cNvPr id="575" name="Google Shape;575;p7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SzPts val="1800"/>
              <a:buNone/>
            </a:pPr>
            <a:r>
              <a:rPr b="1" lang="es" sz="3000">
                <a:solidFill>
                  <a:srgbClr val="000000"/>
                </a:solidFill>
                <a:latin typeface="Roboto"/>
                <a:ea typeface="Roboto"/>
                <a:cs typeface="Roboto"/>
                <a:sym typeface="Roboto"/>
              </a:rPr>
              <a:t>12.5. Z-index</a:t>
            </a:r>
            <a:endParaRPr b="1" sz="3000">
              <a:solidFill>
                <a:srgbClr val="000000"/>
              </a:solidFill>
              <a:latin typeface="Roboto"/>
              <a:ea typeface="Roboto"/>
              <a:cs typeface="Roboto"/>
              <a:sym typeface="Roboto"/>
            </a:endParaRPr>
          </a:p>
          <a:p>
            <a:pPr indent="0" lvl="0" marL="0" rtl="0" algn="l">
              <a:lnSpc>
                <a:spcPct val="115000"/>
              </a:lnSpc>
              <a:spcBef>
                <a:spcPts val="1200"/>
              </a:spcBef>
              <a:spcAft>
                <a:spcPts val="0"/>
              </a:spcAft>
              <a:buSzPts val="1800"/>
              <a:buNone/>
            </a:pPr>
            <a:r>
              <a:rPr lang="es" sz="1500">
                <a:solidFill>
                  <a:srgbClr val="000000"/>
                </a:solidFill>
                <a:latin typeface="Arial"/>
                <a:ea typeface="Arial"/>
                <a:cs typeface="Arial"/>
                <a:sym typeface="Arial"/>
              </a:rPr>
              <a:t>Valores</a:t>
            </a:r>
            <a:r>
              <a:rPr b="1" lang="es" sz="1500">
                <a:solidFill>
                  <a:srgbClr val="000000"/>
                </a:solidFill>
                <a:latin typeface="Arial"/>
                <a:ea typeface="Arial"/>
                <a:cs typeface="Arial"/>
                <a:sym typeface="Arial"/>
              </a:rPr>
              <a:t>: auto | número entero</a:t>
            </a:r>
            <a:endParaRPr b="1" sz="15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es" sz="1500">
                <a:solidFill>
                  <a:srgbClr val="000000"/>
                </a:solidFill>
                <a:latin typeface="Arial"/>
                <a:ea typeface="Arial"/>
                <a:cs typeface="Arial"/>
                <a:sym typeface="Arial"/>
              </a:rPr>
              <a:t>Mediante el atributo </a:t>
            </a:r>
            <a:r>
              <a:rPr lang="es" sz="1500">
                <a:solidFill>
                  <a:srgbClr val="188038"/>
                </a:solidFill>
                <a:latin typeface="Roboto Mono"/>
                <a:ea typeface="Roboto Mono"/>
                <a:cs typeface="Roboto Mono"/>
                <a:sym typeface="Roboto Mono"/>
              </a:rPr>
              <a:t>z-index</a:t>
            </a:r>
            <a:r>
              <a:rPr lang="es" sz="1500">
                <a:solidFill>
                  <a:srgbClr val="000000"/>
                </a:solidFill>
                <a:latin typeface="Arial"/>
                <a:ea typeface="Arial"/>
                <a:cs typeface="Arial"/>
                <a:sym typeface="Arial"/>
              </a:rPr>
              <a:t> podemos organizar cada uno de los elementos del contenido de una página web. Como se puede apreciar en la imagen, cuando varios elementos se superponen, </a:t>
            </a:r>
            <a:r>
              <a:rPr b="1" lang="es" sz="1500">
                <a:solidFill>
                  <a:srgbClr val="000000"/>
                </a:solidFill>
                <a:latin typeface="Arial"/>
                <a:ea typeface="Arial"/>
                <a:cs typeface="Arial"/>
                <a:sym typeface="Arial"/>
              </a:rPr>
              <a:t>los elementos con mayor valor z-index se sitúan por encima de los que tienen menor valor</a:t>
            </a:r>
            <a:r>
              <a:rPr lang="es"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es" sz="1500" u="sng">
                <a:solidFill>
                  <a:schemeClr val="hlink"/>
                </a:solidFill>
                <a:latin typeface="Arial"/>
                <a:ea typeface="Arial"/>
                <a:cs typeface="Arial"/>
                <a:sym typeface="Arial"/>
                <a:hlinkClick r:id="rId3"/>
              </a:rPr>
              <a:t>https://codepen.io/Eniun/pen/zVXyzv</a:t>
            </a:r>
            <a:r>
              <a:rPr lang="es" sz="1500">
                <a:solidFill>
                  <a:srgbClr val="000000"/>
                </a:solidFill>
                <a:latin typeface="Arial"/>
                <a:ea typeface="Arial"/>
                <a:cs typeface="Arial"/>
                <a:sym typeface="Arial"/>
              </a:rPr>
              <a:t> </a:t>
            </a:r>
            <a:endParaRPr sz="15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sz="1400">
              <a:solidFill>
                <a:srgbClr val="000000"/>
              </a:solidFill>
              <a:latin typeface="Arial"/>
              <a:ea typeface="Arial"/>
              <a:cs typeface="Arial"/>
              <a:sym typeface="Arial"/>
            </a:endParaRPr>
          </a:p>
        </p:txBody>
      </p:sp>
      <p:pic>
        <p:nvPicPr>
          <p:cNvPr id="576" name="Google Shape;576;p78"/>
          <p:cNvPicPr preferRelativeResize="0"/>
          <p:nvPr/>
        </p:nvPicPr>
        <p:blipFill rotWithShape="1">
          <a:blip r:embed="rId4">
            <a:alphaModFix/>
          </a:blip>
          <a:srcRect b="0" l="0" r="0" t="0"/>
          <a:stretch/>
        </p:blipFill>
        <p:spPr>
          <a:xfrm>
            <a:off x="5790725" y="3327200"/>
            <a:ext cx="2500149" cy="1757075"/>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7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12. Posición y comportamiento de contenedores</a:t>
            </a:r>
            <a:endParaRPr/>
          </a:p>
          <a:p>
            <a:pPr indent="0" lvl="0" marL="0" rtl="0" algn="l">
              <a:lnSpc>
                <a:spcPct val="100000"/>
              </a:lnSpc>
              <a:spcBef>
                <a:spcPts val="0"/>
              </a:spcBef>
              <a:spcAft>
                <a:spcPts val="0"/>
              </a:spcAft>
              <a:buSzPct val="111111"/>
              <a:buNone/>
            </a:pPr>
            <a:r>
              <a:t/>
            </a:r>
            <a:endParaRPr/>
          </a:p>
        </p:txBody>
      </p:sp>
      <p:sp>
        <p:nvSpPr>
          <p:cNvPr id="582" name="Google Shape;582;p79"/>
          <p:cNvSpPr txBox="1"/>
          <p:nvPr>
            <p:ph idx="1" type="body"/>
          </p:nvPr>
        </p:nvSpPr>
        <p:spPr>
          <a:xfrm>
            <a:off x="311700" y="1152475"/>
            <a:ext cx="8520600" cy="38331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1800"/>
              </a:spcBef>
              <a:spcAft>
                <a:spcPts val="0"/>
              </a:spcAft>
              <a:buSzPct val="64864"/>
              <a:buNone/>
            </a:pPr>
            <a:r>
              <a:rPr b="1" lang="es" sz="3000">
                <a:solidFill>
                  <a:srgbClr val="000000"/>
                </a:solidFill>
                <a:latin typeface="Roboto"/>
                <a:ea typeface="Roboto"/>
                <a:cs typeface="Roboto"/>
                <a:sym typeface="Roboto"/>
              </a:rPr>
              <a:t>12.6. Box-sizing</a:t>
            </a:r>
            <a:endParaRPr b="1" sz="3000">
              <a:solidFill>
                <a:srgbClr val="000000"/>
              </a:solidFill>
              <a:latin typeface="Roboto"/>
              <a:ea typeface="Roboto"/>
              <a:cs typeface="Roboto"/>
              <a:sym typeface="Roboto"/>
            </a:endParaRPr>
          </a:p>
          <a:p>
            <a:pPr indent="0" lvl="0" marL="0" rtl="0" algn="l">
              <a:lnSpc>
                <a:spcPct val="115000"/>
              </a:lnSpc>
              <a:spcBef>
                <a:spcPts val="400"/>
              </a:spcBef>
              <a:spcAft>
                <a:spcPts val="0"/>
              </a:spcAft>
              <a:buSzPct val="144144"/>
              <a:buNone/>
            </a:pPr>
            <a:r>
              <a:rPr lang="es" sz="1350">
                <a:solidFill>
                  <a:srgbClr val="000000"/>
                </a:solidFill>
                <a:latin typeface="Roboto"/>
                <a:ea typeface="Roboto"/>
                <a:cs typeface="Roboto"/>
                <a:sym typeface="Roboto"/>
              </a:rPr>
              <a:t>Por defecto en el </a:t>
            </a:r>
            <a:r>
              <a:rPr lang="es" sz="1350">
                <a:solidFill>
                  <a:srgbClr val="E7618B"/>
                </a:solidFill>
                <a:uFill>
                  <a:noFill/>
                </a:uFill>
                <a:latin typeface="Roboto"/>
                <a:ea typeface="Roboto"/>
                <a:cs typeface="Roboto"/>
                <a:sym typeface="Roboto"/>
                <a:hlinkClick r:id="rId3">
                  <a:extLst>
                    <a:ext uri="{A12FA001-AC4F-418D-AE19-62706E023703}">
                      <ahyp:hlinkClr val="tx"/>
                    </a:ext>
                  </a:extLst>
                </a:hlinkClick>
              </a:rPr>
              <a:t>modelo de cajas de CSS</a:t>
            </a:r>
            <a:r>
              <a:rPr lang="es" sz="1350">
                <a:solidFill>
                  <a:srgbClr val="000000"/>
                </a:solidFill>
                <a:latin typeface="Roboto"/>
                <a:ea typeface="Roboto"/>
                <a:cs typeface="Roboto"/>
                <a:sym typeface="Roboto"/>
              </a:rPr>
              <a:t>, el ancho y alto asignado a un elemento es aplicado solo al contenido de la caja del elemento. Si el elemento tiene algún borde (border) o relleno (padding), este es entonces añadido al ancho y alto del tamaño de la caja o contenedor. Esto significa que cuando se define el ancho y alto, se tiene que ajustar el valor para permitir cualquier borde o relleno que se pueda añadir.</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0"/>
              </a:spcAft>
              <a:buSzPct val="144144"/>
              <a:buNone/>
            </a:pPr>
            <a:r>
              <a:rPr lang="es" sz="1350">
                <a:solidFill>
                  <a:srgbClr val="000000"/>
                </a:solidFill>
                <a:latin typeface="Roboto"/>
                <a:ea typeface="Roboto"/>
                <a:cs typeface="Roboto"/>
                <a:sym typeface="Roboto"/>
              </a:rPr>
              <a:t>Valores: </a:t>
            </a:r>
            <a:r>
              <a:rPr b="1" lang="es" sz="1350">
                <a:solidFill>
                  <a:srgbClr val="000000"/>
                </a:solidFill>
                <a:latin typeface="Roboto"/>
                <a:ea typeface="Roboto"/>
                <a:cs typeface="Roboto"/>
                <a:sym typeface="Roboto"/>
              </a:rPr>
              <a:t>content-box | border-box</a:t>
            </a:r>
            <a:endParaRPr b="1" sz="1350">
              <a:solidFill>
                <a:srgbClr val="000000"/>
              </a:solidFill>
              <a:latin typeface="Roboto"/>
              <a:ea typeface="Roboto"/>
              <a:cs typeface="Roboto"/>
              <a:sym typeface="Roboto"/>
            </a:endParaRPr>
          </a:p>
          <a:p>
            <a:pPr indent="-307942" lvl="0" marL="749300" rtl="0" algn="l">
              <a:lnSpc>
                <a:spcPct val="115000"/>
              </a:lnSpc>
              <a:spcBef>
                <a:spcPts val="1100"/>
              </a:spcBef>
              <a:spcAft>
                <a:spcPts val="0"/>
              </a:spcAft>
              <a:buClr>
                <a:srgbClr val="2C3862"/>
              </a:buClr>
              <a:buSzPct val="100000"/>
              <a:buFont typeface="Roboto"/>
              <a:buChar char="●"/>
            </a:pPr>
            <a:r>
              <a:rPr lang="es" sz="1350">
                <a:solidFill>
                  <a:srgbClr val="2991D6"/>
                </a:solidFill>
                <a:highlight>
                  <a:srgbClr val="FFFFFF"/>
                </a:highlight>
                <a:latin typeface="Courier New"/>
                <a:ea typeface="Courier New"/>
                <a:cs typeface="Courier New"/>
                <a:sym typeface="Courier New"/>
              </a:rPr>
              <a:t>content-box</a:t>
            </a:r>
            <a:r>
              <a:rPr lang="es" sz="1350">
                <a:solidFill>
                  <a:srgbClr val="2C3862"/>
                </a:solidFill>
                <a:latin typeface="Roboto"/>
                <a:ea typeface="Roboto"/>
                <a:cs typeface="Roboto"/>
                <a:sym typeface="Roboto"/>
              </a:rPr>
              <a:t> es el comportamiento CSS por defecto para el tamaño de la caja (box-sizing). Si se define el ancho de un elemento en 100 pixeles, la caja del contenido del elemento tendrá 100 pixeles de ancho, y el ancho de cualquier borde o relleno será añadido al ancho final desplegado.</a:t>
            </a:r>
            <a:endParaRPr sz="1350">
              <a:solidFill>
                <a:srgbClr val="2C3862"/>
              </a:solidFill>
              <a:latin typeface="Roboto"/>
              <a:ea typeface="Roboto"/>
              <a:cs typeface="Roboto"/>
              <a:sym typeface="Roboto"/>
            </a:endParaRPr>
          </a:p>
          <a:p>
            <a:pPr indent="-307942" lvl="0" marL="749300" rtl="0" algn="l">
              <a:lnSpc>
                <a:spcPct val="115000"/>
              </a:lnSpc>
              <a:spcBef>
                <a:spcPts val="0"/>
              </a:spcBef>
              <a:spcAft>
                <a:spcPts val="0"/>
              </a:spcAft>
              <a:buClr>
                <a:srgbClr val="2C3862"/>
              </a:buClr>
              <a:buSzPct val="100000"/>
              <a:buFont typeface="Roboto"/>
              <a:buChar char="●"/>
            </a:pPr>
            <a:r>
              <a:rPr lang="es" sz="1350">
                <a:solidFill>
                  <a:srgbClr val="2991D6"/>
                </a:solidFill>
                <a:highlight>
                  <a:srgbClr val="FFFFFF"/>
                </a:highlight>
                <a:latin typeface="Courier New"/>
                <a:ea typeface="Courier New"/>
                <a:cs typeface="Courier New"/>
                <a:sym typeface="Courier New"/>
              </a:rPr>
              <a:t>border-box</a:t>
            </a:r>
            <a:r>
              <a:rPr lang="es" sz="1350">
                <a:solidFill>
                  <a:srgbClr val="2C3862"/>
                </a:solidFill>
                <a:latin typeface="Roboto"/>
                <a:ea typeface="Roboto"/>
                <a:cs typeface="Roboto"/>
                <a:sym typeface="Roboto"/>
              </a:rPr>
              <a:t> toma en cuenta cualquier valor que se especifique de borde o de relleno para el ancho o alto de un elemento. Es decir, si se define un elemento con un ancho de 100 pixeles. Esos 100 pixeles incluirán cualquier borde o relleno que se añada, y la caja de contenido se encogerá para absorber ese ancho extra. Esta propiedad es especialmente útil para redimensionar cualquier elemento.</a:t>
            </a:r>
            <a:endParaRPr sz="1350">
              <a:solidFill>
                <a:srgbClr val="2C3862"/>
              </a:solidFill>
              <a:latin typeface="Roboto"/>
              <a:ea typeface="Roboto"/>
              <a:cs typeface="Roboto"/>
              <a:sym typeface="Roboto"/>
            </a:endParaRPr>
          </a:p>
          <a:p>
            <a:pPr indent="0" lvl="0" marL="0" rtl="0" algn="l">
              <a:lnSpc>
                <a:spcPct val="115000"/>
              </a:lnSpc>
              <a:spcBef>
                <a:spcPts val="1900"/>
              </a:spcBef>
              <a:spcAft>
                <a:spcPts val="1900"/>
              </a:spcAft>
              <a:buSzPct val="144144"/>
              <a:buNone/>
            </a:pPr>
            <a:r>
              <a:rPr lang="es" sz="1350" u="sng">
                <a:solidFill>
                  <a:schemeClr val="hlink"/>
                </a:solidFill>
                <a:latin typeface="Roboto"/>
                <a:ea typeface="Roboto"/>
                <a:cs typeface="Roboto"/>
                <a:sym typeface="Roboto"/>
                <a:hlinkClick r:id="rId4"/>
              </a:rPr>
              <a:t>https://codepen.io/Eniun/pen/mddBGWV</a:t>
            </a:r>
            <a:r>
              <a:rPr lang="es" sz="1350">
                <a:solidFill>
                  <a:srgbClr val="2C3862"/>
                </a:solidFill>
                <a:latin typeface="Roboto"/>
                <a:ea typeface="Roboto"/>
                <a:cs typeface="Roboto"/>
                <a:sym typeface="Roboto"/>
              </a:rPr>
              <a:t> </a:t>
            </a:r>
            <a:endParaRPr sz="1350">
              <a:solidFill>
                <a:srgbClr val="2C3862"/>
              </a:solidFill>
              <a:latin typeface="Roboto"/>
              <a:ea typeface="Roboto"/>
              <a:cs typeface="Roboto"/>
              <a:sym typeface="Roboto"/>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8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12. Posición y comportamiento de contenedores</a:t>
            </a:r>
            <a:endParaRPr/>
          </a:p>
          <a:p>
            <a:pPr indent="0" lvl="0" marL="0" rtl="0" algn="l">
              <a:lnSpc>
                <a:spcPct val="100000"/>
              </a:lnSpc>
              <a:spcBef>
                <a:spcPts val="0"/>
              </a:spcBef>
              <a:spcAft>
                <a:spcPts val="0"/>
              </a:spcAft>
              <a:buSzPct val="111111"/>
              <a:buNone/>
            </a:pPr>
            <a:r>
              <a:t/>
            </a:r>
            <a:endParaRPr/>
          </a:p>
        </p:txBody>
      </p:sp>
      <p:sp>
        <p:nvSpPr>
          <p:cNvPr id="588" name="Google Shape;588;p80"/>
          <p:cNvSpPr txBox="1"/>
          <p:nvPr>
            <p:ph idx="1" type="body"/>
          </p:nvPr>
        </p:nvSpPr>
        <p:spPr>
          <a:xfrm>
            <a:off x="311700" y="1152475"/>
            <a:ext cx="8520600" cy="3833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SzPts val="1800"/>
              <a:buNone/>
            </a:pPr>
            <a:r>
              <a:rPr b="1" lang="es" sz="3000">
                <a:solidFill>
                  <a:srgbClr val="000000"/>
                </a:solidFill>
                <a:latin typeface="Roboto"/>
                <a:ea typeface="Roboto"/>
                <a:cs typeface="Roboto"/>
                <a:sym typeface="Roboto"/>
              </a:rPr>
              <a:t>12.7. Visibility</a:t>
            </a:r>
            <a:endParaRPr b="1" sz="3000">
              <a:solidFill>
                <a:srgbClr val="000000"/>
              </a:solidFill>
              <a:latin typeface="Roboto"/>
              <a:ea typeface="Roboto"/>
              <a:cs typeface="Roboto"/>
              <a:sym typeface="Roboto"/>
            </a:endParaRPr>
          </a:p>
          <a:p>
            <a:pPr indent="-314325" lvl="0" marL="457200" rtl="0" algn="l">
              <a:lnSpc>
                <a:spcPct val="115000"/>
              </a:lnSpc>
              <a:spcBef>
                <a:spcPts val="400"/>
              </a:spcBef>
              <a:spcAft>
                <a:spcPts val="0"/>
              </a:spcAft>
              <a:buClr>
                <a:srgbClr val="2C3862"/>
              </a:buClr>
              <a:buSzPts val="1350"/>
              <a:buFont typeface="Roboto"/>
              <a:buChar char="●"/>
            </a:pPr>
            <a:r>
              <a:rPr lang="es" sz="1350">
                <a:solidFill>
                  <a:srgbClr val="000000"/>
                </a:solidFill>
                <a:latin typeface="Roboto"/>
                <a:ea typeface="Roboto"/>
                <a:cs typeface="Roboto"/>
                <a:sym typeface="Roboto"/>
              </a:rPr>
              <a:t>La propiedad </a:t>
            </a:r>
            <a:r>
              <a:rPr lang="es" sz="1350">
                <a:solidFill>
                  <a:srgbClr val="2991D6"/>
                </a:solidFill>
                <a:highlight>
                  <a:srgbClr val="FFFFFF"/>
                </a:highlight>
                <a:latin typeface="Courier New"/>
                <a:ea typeface="Courier New"/>
                <a:cs typeface="Courier New"/>
                <a:sym typeface="Courier New"/>
              </a:rPr>
              <a:t>visibility</a:t>
            </a:r>
            <a:r>
              <a:rPr lang="es" sz="1350">
                <a:solidFill>
                  <a:srgbClr val="000000"/>
                </a:solidFill>
                <a:latin typeface="Roboto"/>
                <a:ea typeface="Roboto"/>
                <a:cs typeface="Roboto"/>
                <a:sym typeface="Roboto"/>
              </a:rPr>
              <a:t> indica si un elemento es visible o permanece oculto (ocupando el mismo espacio).</a:t>
            </a:r>
            <a:endParaRPr sz="1350">
              <a:solidFill>
                <a:srgbClr val="000000"/>
              </a:solidFill>
              <a:latin typeface="Roboto"/>
              <a:ea typeface="Roboto"/>
              <a:cs typeface="Roboto"/>
              <a:sym typeface="Roboto"/>
            </a:endParaRPr>
          </a:p>
          <a:p>
            <a:pPr indent="-314325" lvl="0" marL="457200" rtl="0" algn="l">
              <a:lnSpc>
                <a:spcPct val="115000"/>
              </a:lnSpc>
              <a:spcBef>
                <a:spcPts val="0"/>
              </a:spcBef>
              <a:spcAft>
                <a:spcPts val="0"/>
              </a:spcAft>
              <a:buClr>
                <a:srgbClr val="2C3862"/>
              </a:buClr>
              <a:buSzPts val="1350"/>
              <a:buFont typeface="Roboto"/>
              <a:buChar char="●"/>
            </a:pPr>
            <a:r>
              <a:rPr lang="es" sz="1350">
                <a:solidFill>
                  <a:srgbClr val="000000"/>
                </a:solidFill>
                <a:latin typeface="Roboto"/>
                <a:ea typeface="Roboto"/>
                <a:cs typeface="Roboto"/>
                <a:sym typeface="Roboto"/>
              </a:rPr>
              <a:t>Valores: </a:t>
            </a:r>
            <a:r>
              <a:rPr b="1" lang="es" sz="1350">
                <a:solidFill>
                  <a:srgbClr val="000000"/>
                </a:solidFill>
                <a:latin typeface="Roboto"/>
                <a:ea typeface="Roboto"/>
                <a:cs typeface="Roboto"/>
                <a:sym typeface="Roboto"/>
              </a:rPr>
              <a:t>visible | hidden</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1900"/>
              </a:spcAft>
              <a:buSzPts val="1800"/>
              <a:buNone/>
            </a:pPr>
            <a:r>
              <a:rPr lang="es" sz="1350" u="sng">
                <a:solidFill>
                  <a:schemeClr val="hlink"/>
                </a:solidFill>
                <a:latin typeface="Roboto"/>
                <a:ea typeface="Roboto"/>
                <a:cs typeface="Roboto"/>
                <a:sym typeface="Roboto"/>
                <a:hlinkClick r:id="rId3"/>
              </a:rPr>
              <a:t>https://codepen.io/CybMeta/pen/xGwoyd</a:t>
            </a:r>
            <a:r>
              <a:rPr lang="es" sz="1350">
                <a:solidFill>
                  <a:srgbClr val="2C3862"/>
                </a:solidFill>
                <a:latin typeface="Roboto"/>
                <a:ea typeface="Roboto"/>
                <a:cs typeface="Roboto"/>
                <a:sym typeface="Roboto"/>
              </a:rPr>
              <a:t> </a:t>
            </a:r>
            <a:endParaRPr sz="1350">
              <a:solidFill>
                <a:srgbClr val="2C3862"/>
              </a:solidFill>
              <a:latin typeface="Roboto"/>
              <a:ea typeface="Roboto"/>
              <a:cs typeface="Roboto"/>
              <a:sym typeface="Roboto"/>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8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13. Pseudo-clases y pseudo-elementos</a:t>
            </a:r>
            <a:endParaRPr/>
          </a:p>
        </p:txBody>
      </p:sp>
      <p:sp>
        <p:nvSpPr>
          <p:cNvPr id="594" name="Google Shape;594;p81"/>
          <p:cNvSpPr txBox="1"/>
          <p:nvPr>
            <p:ph idx="1" type="body"/>
          </p:nvPr>
        </p:nvSpPr>
        <p:spPr>
          <a:xfrm>
            <a:off x="311700" y="101772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37500"/>
              </a:lnSpc>
              <a:spcBef>
                <a:spcPts val="0"/>
              </a:spcBef>
              <a:spcAft>
                <a:spcPts val="1100"/>
              </a:spcAft>
              <a:buSzPts val="1800"/>
              <a:buNone/>
            </a:pPr>
            <a:r>
              <a:rPr b="1" lang="es" sz="2500">
                <a:solidFill>
                  <a:srgbClr val="232B46"/>
                </a:solidFill>
                <a:latin typeface="Roboto"/>
                <a:ea typeface="Roboto"/>
                <a:cs typeface="Roboto"/>
                <a:sym typeface="Roboto"/>
              </a:rPr>
              <a:t>13.1. Pseudo-clases para selección de hijos o hermanos</a:t>
            </a:r>
            <a:endParaRPr sz="1300"/>
          </a:p>
        </p:txBody>
      </p:sp>
      <p:pic>
        <p:nvPicPr>
          <p:cNvPr id="595" name="Google Shape;595;p81"/>
          <p:cNvPicPr preferRelativeResize="0"/>
          <p:nvPr/>
        </p:nvPicPr>
        <p:blipFill rotWithShape="1">
          <a:blip r:embed="rId3">
            <a:alphaModFix/>
          </a:blip>
          <a:srcRect b="0" l="0" r="0" t="0"/>
          <a:stretch/>
        </p:blipFill>
        <p:spPr>
          <a:xfrm>
            <a:off x="1882062" y="1482625"/>
            <a:ext cx="5379875" cy="366087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8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13. Pseudo-clases y pseudo-elementos</a:t>
            </a:r>
            <a:endParaRPr/>
          </a:p>
        </p:txBody>
      </p:sp>
      <p:sp>
        <p:nvSpPr>
          <p:cNvPr id="601" name="Google Shape;601;p82"/>
          <p:cNvSpPr txBox="1"/>
          <p:nvPr>
            <p:ph idx="1" type="body"/>
          </p:nvPr>
        </p:nvSpPr>
        <p:spPr>
          <a:xfrm>
            <a:off x="311700" y="101772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37500"/>
              </a:lnSpc>
              <a:spcBef>
                <a:spcPts val="0"/>
              </a:spcBef>
              <a:spcAft>
                <a:spcPts val="0"/>
              </a:spcAft>
              <a:buSzPts val="1800"/>
              <a:buNone/>
            </a:pPr>
            <a:r>
              <a:rPr b="1" lang="es" sz="2500">
                <a:solidFill>
                  <a:srgbClr val="232B46"/>
                </a:solidFill>
                <a:latin typeface="Roboto"/>
                <a:ea typeface="Roboto"/>
                <a:cs typeface="Roboto"/>
                <a:sym typeface="Roboto"/>
              </a:rPr>
              <a:t>13.1. Pseudo-clases para selección de hijos o hermanos</a:t>
            </a:r>
            <a:endParaRPr b="1" sz="2500">
              <a:solidFill>
                <a:srgbClr val="232B46"/>
              </a:solidFill>
              <a:latin typeface="Roboto"/>
              <a:ea typeface="Roboto"/>
              <a:cs typeface="Roboto"/>
              <a:sym typeface="Roboto"/>
            </a:endParaRPr>
          </a:p>
          <a:p>
            <a:pPr indent="-298450" lvl="0" marL="457200" rtl="0" algn="l">
              <a:lnSpc>
                <a:spcPct val="137500"/>
              </a:lnSpc>
              <a:spcBef>
                <a:spcPts val="1100"/>
              </a:spcBef>
              <a:spcAft>
                <a:spcPts val="0"/>
              </a:spcAft>
              <a:buClr>
                <a:srgbClr val="000000"/>
              </a:buClr>
              <a:buSzPts val="1100"/>
              <a:buFont typeface="Roboto"/>
              <a:buChar char="●"/>
            </a:pPr>
            <a:r>
              <a:rPr lang="es" sz="1100">
                <a:solidFill>
                  <a:srgbClr val="000000"/>
                </a:solidFill>
                <a:latin typeface="Roboto"/>
                <a:ea typeface="Roboto"/>
                <a:cs typeface="Roboto"/>
                <a:sym typeface="Roboto"/>
              </a:rPr>
              <a:t>Ejemplo pseudoclases first-child, last-child y only-child:</a:t>
            </a:r>
            <a:endParaRPr sz="1100">
              <a:solidFill>
                <a:srgbClr val="000000"/>
              </a:solidFill>
              <a:latin typeface="Roboto"/>
              <a:ea typeface="Roboto"/>
              <a:cs typeface="Roboto"/>
              <a:sym typeface="Roboto"/>
            </a:endParaRPr>
          </a:p>
          <a:p>
            <a:pPr indent="-298450" lvl="1" marL="914400" rtl="0" algn="l">
              <a:lnSpc>
                <a:spcPct val="137500"/>
              </a:lnSpc>
              <a:spcBef>
                <a:spcPts val="0"/>
              </a:spcBef>
              <a:spcAft>
                <a:spcPts val="0"/>
              </a:spcAft>
              <a:buClr>
                <a:srgbClr val="000000"/>
              </a:buClr>
              <a:buSzPts val="1100"/>
              <a:buFont typeface="Roboto"/>
              <a:buChar char="○"/>
            </a:pPr>
            <a:r>
              <a:rPr lang="es" sz="1100" u="sng">
                <a:solidFill>
                  <a:schemeClr val="hlink"/>
                </a:solidFill>
                <a:latin typeface="Roboto"/>
                <a:ea typeface="Roboto"/>
                <a:cs typeface="Roboto"/>
                <a:sym typeface="Roboto"/>
                <a:hlinkClick r:id="rId3"/>
              </a:rPr>
              <a:t>https://codepen.io/Eniun/pen/xxLwVML</a:t>
            </a:r>
            <a:endParaRPr sz="1100">
              <a:solidFill>
                <a:srgbClr val="000000"/>
              </a:solidFill>
              <a:latin typeface="Roboto"/>
              <a:ea typeface="Roboto"/>
              <a:cs typeface="Roboto"/>
              <a:sym typeface="Roboto"/>
            </a:endParaRPr>
          </a:p>
          <a:p>
            <a:pPr indent="-298450" lvl="0" marL="457200" rtl="0" algn="l">
              <a:lnSpc>
                <a:spcPct val="115000"/>
              </a:lnSpc>
              <a:spcBef>
                <a:spcPts val="0"/>
              </a:spcBef>
              <a:spcAft>
                <a:spcPts val="0"/>
              </a:spcAft>
              <a:buClr>
                <a:srgbClr val="000000"/>
              </a:buClr>
              <a:buSzPts val="1100"/>
              <a:buFont typeface="Roboto"/>
              <a:buChar char="●"/>
            </a:pPr>
            <a:r>
              <a:rPr lang="es" sz="1100">
                <a:solidFill>
                  <a:srgbClr val="000000"/>
                </a:solidFill>
                <a:latin typeface="Roboto"/>
                <a:ea typeface="Roboto"/>
                <a:cs typeface="Roboto"/>
                <a:sym typeface="Roboto"/>
              </a:rPr>
              <a:t> Ejemplo pseudo-clase nth-child:</a:t>
            </a:r>
            <a:endParaRPr sz="1100">
              <a:solidFill>
                <a:srgbClr val="000000"/>
              </a:solidFill>
              <a:latin typeface="Roboto"/>
              <a:ea typeface="Roboto"/>
              <a:cs typeface="Roboto"/>
              <a:sym typeface="Roboto"/>
            </a:endParaRPr>
          </a:p>
          <a:p>
            <a:pPr indent="-298450" lvl="1" marL="914400" rtl="0" algn="l">
              <a:lnSpc>
                <a:spcPct val="115000"/>
              </a:lnSpc>
              <a:spcBef>
                <a:spcPts val="0"/>
              </a:spcBef>
              <a:spcAft>
                <a:spcPts val="0"/>
              </a:spcAft>
              <a:buClr>
                <a:srgbClr val="000000"/>
              </a:buClr>
              <a:buSzPts val="1100"/>
              <a:buFont typeface="Roboto"/>
              <a:buChar char="○"/>
            </a:pPr>
            <a:r>
              <a:rPr lang="es" sz="1100" u="sng">
                <a:solidFill>
                  <a:schemeClr val="hlink"/>
                </a:solidFill>
                <a:latin typeface="Roboto"/>
                <a:ea typeface="Roboto"/>
                <a:cs typeface="Roboto"/>
                <a:sym typeface="Roboto"/>
                <a:hlinkClick r:id="rId4"/>
              </a:rPr>
              <a:t>https://codepen.io/Eniun/pen/qBdyWrR</a:t>
            </a:r>
            <a:r>
              <a:rPr lang="es" sz="1100">
                <a:solidFill>
                  <a:srgbClr val="000000"/>
                </a:solidFill>
                <a:latin typeface="Roboto"/>
                <a:ea typeface="Roboto"/>
                <a:cs typeface="Roboto"/>
                <a:sym typeface="Roboto"/>
              </a:rPr>
              <a:t> </a:t>
            </a:r>
            <a:endParaRPr sz="1100">
              <a:solidFill>
                <a:srgbClr val="000000"/>
              </a:solidFill>
              <a:latin typeface="Roboto"/>
              <a:ea typeface="Roboto"/>
              <a:cs typeface="Roboto"/>
              <a:sym typeface="Roboto"/>
            </a:endParaRPr>
          </a:p>
          <a:p>
            <a:pPr indent="-298450" lvl="0" marL="457200" rtl="0" algn="l">
              <a:lnSpc>
                <a:spcPct val="115000"/>
              </a:lnSpc>
              <a:spcBef>
                <a:spcPts val="0"/>
              </a:spcBef>
              <a:spcAft>
                <a:spcPts val="0"/>
              </a:spcAft>
              <a:buClr>
                <a:srgbClr val="000000"/>
              </a:buClr>
              <a:buSzPts val="1100"/>
              <a:buFont typeface="Roboto"/>
              <a:buChar char="●"/>
            </a:pPr>
            <a:r>
              <a:rPr lang="es" sz="1100">
                <a:solidFill>
                  <a:srgbClr val="000000"/>
                </a:solidFill>
                <a:latin typeface="Roboto"/>
                <a:ea typeface="Roboto"/>
                <a:cs typeface="Roboto"/>
                <a:sym typeface="Roboto"/>
              </a:rPr>
              <a:t> Ejemplo odd (impar) y even (par):</a:t>
            </a:r>
            <a:endParaRPr sz="1100">
              <a:solidFill>
                <a:srgbClr val="000000"/>
              </a:solidFill>
              <a:latin typeface="Roboto"/>
              <a:ea typeface="Roboto"/>
              <a:cs typeface="Roboto"/>
              <a:sym typeface="Roboto"/>
            </a:endParaRPr>
          </a:p>
          <a:p>
            <a:pPr indent="-298450" lvl="1" marL="914400" rtl="0" algn="l">
              <a:lnSpc>
                <a:spcPct val="115000"/>
              </a:lnSpc>
              <a:spcBef>
                <a:spcPts val="0"/>
              </a:spcBef>
              <a:spcAft>
                <a:spcPts val="0"/>
              </a:spcAft>
              <a:buClr>
                <a:srgbClr val="000000"/>
              </a:buClr>
              <a:buSzPts val="1100"/>
              <a:buFont typeface="Roboto"/>
              <a:buChar char="○"/>
            </a:pPr>
            <a:r>
              <a:rPr lang="es" sz="1100" u="sng">
                <a:solidFill>
                  <a:schemeClr val="hlink"/>
                </a:solidFill>
                <a:latin typeface="Roboto"/>
                <a:ea typeface="Roboto"/>
                <a:cs typeface="Roboto"/>
                <a:sym typeface="Roboto"/>
                <a:hlinkClick r:id="rId5"/>
              </a:rPr>
              <a:t>https://codepen.io/Eniun/pen/VwmzdWr</a:t>
            </a:r>
            <a:r>
              <a:rPr lang="es" sz="1100">
                <a:solidFill>
                  <a:srgbClr val="000000"/>
                </a:solidFill>
                <a:latin typeface="Roboto"/>
                <a:ea typeface="Roboto"/>
                <a:cs typeface="Roboto"/>
                <a:sym typeface="Roboto"/>
              </a:rPr>
              <a:t>  </a:t>
            </a:r>
            <a:endParaRPr sz="1100">
              <a:solidFill>
                <a:srgbClr val="000000"/>
              </a:solidFill>
              <a:latin typeface="Roboto"/>
              <a:ea typeface="Roboto"/>
              <a:cs typeface="Roboto"/>
              <a:sym typeface="Roboto"/>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8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13. Pseudo-clases y pseudo-elementos</a:t>
            </a:r>
            <a:endParaRPr/>
          </a:p>
          <a:p>
            <a:pPr indent="0" lvl="0" marL="0" rtl="0" algn="l">
              <a:lnSpc>
                <a:spcPct val="100000"/>
              </a:lnSpc>
              <a:spcBef>
                <a:spcPts val="0"/>
              </a:spcBef>
              <a:spcAft>
                <a:spcPts val="0"/>
              </a:spcAft>
              <a:buSzPct val="111111"/>
              <a:buNone/>
            </a:pPr>
            <a:r>
              <a:t/>
            </a:r>
            <a:endParaRPr/>
          </a:p>
        </p:txBody>
      </p:sp>
      <p:sp>
        <p:nvSpPr>
          <p:cNvPr id="607" name="Google Shape;607;p8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solidFill>
                  <a:srgbClr val="000000"/>
                </a:solidFill>
                <a:latin typeface="Roboto"/>
                <a:ea typeface="Roboto"/>
                <a:cs typeface="Roboto"/>
                <a:sym typeface="Roboto"/>
              </a:rPr>
              <a:t>Ejercicio propuesto</a:t>
            </a:r>
            <a:endParaRPr>
              <a:solidFill>
                <a:srgbClr val="000000"/>
              </a:solidFill>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latin typeface="Roboto"/>
                <a:ea typeface="Roboto"/>
                <a:cs typeface="Roboto"/>
                <a:sym typeface="Roboto"/>
              </a:rPr>
              <a:t>Utiliza las siguientes pseudo-clases y comprueba los resultados:</a:t>
            </a:r>
            <a:endParaRPr sz="1350">
              <a:solidFill>
                <a:srgbClr val="000000"/>
              </a:solidFill>
              <a:latin typeface="Roboto"/>
              <a:ea typeface="Roboto"/>
              <a:cs typeface="Roboto"/>
              <a:sym typeface="Roboto"/>
            </a:endParaRPr>
          </a:p>
          <a:p>
            <a:pPr indent="-314325" lvl="0" marL="749300" rtl="0" algn="l">
              <a:lnSpc>
                <a:spcPct val="115000"/>
              </a:lnSpc>
              <a:spcBef>
                <a:spcPts val="1100"/>
              </a:spcBef>
              <a:spcAft>
                <a:spcPts val="0"/>
              </a:spcAft>
              <a:buClr>
                <a:srgbClr val="2C3862"/>
              </a:buClr>
              <a:buSzPts val="1350"/>
              <a:buFont typeface="Roboto"/>
              <a:buChar char="●"/>
            </a:pPr>
            <a:r>
              <a:rPr lang="es" sz="1350">
                <a:solidFill>
                  <a:srgbClr val="2991D6"/>
                </a:solidFill>
                <a:highlight>
                  <a:srgbClr val="FFFFFF"/>
                </a:highlight>
                <a:latin typeface="Courier New"/>
                <a:ea typeface="Courier New"/>
                <a:cs typeface="Courier New"/>
                <a:sym typeface="Courier New"/>
              </a:rPr>
              <a:t>tr:nth-child(odd)</a:t>
            </a:r>
            <a:r>
              <a:rPr lang="es" sz="1350">
                <a:solidFill>
                  <a:srgbClr val="2C3862"/>
                </a:solidFill>
                <a:latin typeface="Roboto"/>
                <a:ea typeface="Roboto"/>
                <a:cs typeface="Roboto"/>
                <a:sym typeface="Roboto"/>
              </a:rPr>
              <a:t> o </a:t>
            </a:r>
            <a:r>
              <a:rPr lang="es" sz="1350">
                <a:solidFill>
                  <a:srgbClr val="2991D6"/>
                </a:solidFill>
                <a:highlight>
                  <a:srgbClr val="FFFFFF"/>
                </a:highlight>
                <a:latin typeface="Courier New"/>
                <a:ea typeface="Courier New"/>
                <a:cs typeface="Courier New"/>
                <a:sym typeface="Courier New"/>
              </a:rPr>
              <a:t>tr:nth-child(2n+1)</a:t>
            </a:r>
            <a:r>
              <a:rPr lang="es" sz="1350">
                <a:solidFill>
                  <a:srgbClr val="2C3862"/>
                </a:solidFill>
                <a:latin typeface="Roboto"/>
                <a:ea typeface="Roboto"/>
                <a:cs typeface="Roboto"/>
                <a:sym typeface="Roboto"/>
              </a:rPr>
              <a:t>Selecciona las filas impares de una tabla.</a:t>
            </a:r>
            <a:endParaRPr sz="1350">
              <a:solidFill>
                <a:srgbClr val="2C3862"/>
              </a:solidFill>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Char char="●"/>
            </a:pPr>
            <a:r>
              <a:rPr lang="es" sz="1350">
                <a:solidFill>
                  <a:srgbClr val="2991D6"/>
                </a:solidFill>
                <a:highlight>
                  <a:srgbClr val="FFFFFF"/>
                </a:highlight>
                <a:latin typeface="Courier New"/>
                <a:ea typeface="Courier New"/>
                <a:cs typeface="Courier New"/>
                <a:sym typeface="Courier New"/>
              </a:rPr>
              <a:t>tr:nth-child(even)</a:t>
            </a:r>
            <a:r>
              <a:rPr lang="es" sz="1350">
                <a:solidFill>
                  <a:srgbClr val="2C3862"/>
                </a:solidFill>
                <a:latin typeface="Roboto"/>
                <a:ea typeface="Roboto"/>
                <a:cs typeface="Roboto"/>
                <a:sym typeface="Roboto"/>
              </a:rPr>
              <a:t> o </a:t>
            </a:r>
            <a:r>
              <a:rPr lang="es" sz="1350">
                <a:solidFill>
                  <a:srgbClr val="2991D6"/>
                </a:solidFill>
                <a:highlight>
                  <a:srgbClr val="FFFFFF"/>
                </a:highlight>
                <a:latin typeface="Courier New"/>
                <a:ea typeface="Courier New"/>
                <a:cs typeface="Courier New"/>
                <a:sym typeface="Courier New"/>
              </a:rPr>
              <a:t>tr:nth-child(2n)</a:t>
            </a:r>
            <a:r>
              <a:rPr lang="es" sz="1350">
                <a:solidFill>
                  <a:srgbClr val="2C3862"/>
                </a:solidFill>
                <a:latin typeface="Roboto"/>
                <a:ea typeface="Roboto"/>
                <a:cs typeface="Roboto"/>
                <a:sym typeface="Roboto"/>
              </a:rPr>
              <a:t>Selecciona las filas pares de una tabla.</a:t>
            </a:r>
            <a:endParaRPr sz="1350">
              <a:solidFill>
                <a:srgbClr val="2C3862"/>
              </a:solidFill>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Char char="●"/>
            </a:pPr>
            <a:r>
              <a:rPr lang="es" sz="1350">
                <a:solidFill>
                  <a:srgbClr val="2991D6"/>
                </a:solidFill>
                <a:highlight>
                  <a:srgbClr val="FFFFFF"/>
                </a:highlight>
                <a:latin typeface="Courier New"/>
                <a:ea typeface="Courier New"/>
                <a:cs typeface="Courier New"/>
                <a:sym typeface="Courier New"/>
              </a:rPr>
              <a:t>:nth-child(7)</a:t>
            </a:r>
            <a:r>
              <a:rPr lang="es" sz="1350">
                <a:solidFill>
                  <a:srgbClr val="2C3862"/>
                </a:solidFill>
                <a:latin typeface="Roboto"/>
                <a:ea typeface="Roboto"/>
                <a:cs typeface="Roboto"/>
                <a:sym typeface="Roboto"/>
              </a:rPr>
              <a:t>Selecciona el séptimo elemento.</a:t>
            </a:r>
            <a:endParaRPr sz="1350">
              <a:solidFill>
                <a:srgbClr val="2C3862"/>
              </a:solidFill>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Char char="●"/>
            </a:pPr>
            <a:r>
              <a:rPr lang="es" sz="1350">
                <a:solidFill>
                  <a:srgbClr val="2991D6"/>
                </a:solidFill>
                <a:highlight>
                  <a:srgbClr val="FFFFFF"/>
                </a:highlight>
                <a:latin typeface="Courier New"/>
                <a:ea typeface="Courier New"/>
                <a:cs typeface="Courier New"/>
                <a:sym typeface="Courier New"/>
              </a:rPr>
              <a:t>:nth-child(6n)</a:t>
            </a:r>
            <a:r>
              <a:rPr lang="es" sz="1350">
                <a:solidFill>
                  <a:srgbClr val="2C3862"/>
                </a:solidFill>
                <a:latin typeface="Roboto"/>
                <a:ea typeface="Roboto"/>
                <a:cs typeface="Roboto"/>
                <a:sym typeface="Roboto"/>
              </a:rPr>
              <a:t>Selecciona los elementos 6, 12, 18, etc.</a:t>
            </a:r>
            <a:endParaRPr sz="1350">
              <a:solidFill>
                <a:srgbClr val="2C3862"/>
              </a:solidFill>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Char char="●"/>
            </a:pPr>
            <a:r>
              <a:rPr lang="es" sz="1350">
                <a:solidFill>
                  <a:srgbClr val="2991D6"/>
                </a:solidFill>
                <a:highlight>
                  <a:srgbClr val="FFFFFF"/>
                </a:highlight>
                <a:latin typeface="Courier New"/>
                <a:ea typeface="Courier New"/>
                <a:cs typeface="Courier New"/>
                <a:sym typeface="Courier New"/>
              </a:rPr>
              <a:t>:nth-child(3n+4)</a:t>
            </a:r>
            <a:r>
              <a:rPr lang="es" sz="1350">
                <a:solidFill>
                  <a:srgbClr val="2C3862"/>
                </a:solidFill>
                <a:latin typeface="Roboto"/>
                <a:ea typeface="Roboto"/>
                <a:cs typeface="Roboto"/>
                <a:sym typeface="Roboto"/>
              </a:rPr>
              <a:t>Selecciona los elementos 4, 7, 10, 13, etc.</a:t>
            </a:r>
            <a:endParaRPr sz="1350">
              <a:solidFill>
                <a:srgbClr val="2C3862"/>
              </a:solidFill>
              <a:latin typeface="Roboto"/>
              <a:ea typeface="Roboto"/>
              <a:cs typeface="Roboto"/>
              <a:sym typeface="Roboto"/>
            </a:endParaRPr>
          </a:p>
          <a:p>
            <a:pPr indent="0" lvl="0" marL="0" rtl="0" algn="l">
              <a:lnSpc>
                <a:spcPct val="115000"/>
              </a:lnSpc>
              <a:spcBef>
                <a:spcPts val="1900"/>
              </a:spcBef>
              <a:spcAft>
                <a:spcPts val="1200"/>
              </a:spcAft>
              <a:buSzPts val="1800"/>
              <a:buNone/>
            </a:pPr>
            <a:r>
              <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8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13. Pseudo-clases y pseudo-elementos</a:t>
            </a:r>
            <a:endParaRPr/>
          </a:p>
        </p:txBody>
      </p:sp>
      <p:sp>
        <p:nvSpPr>
          <p:cNvPr id="613" name="Google Shape;613;p84"/>
          <p:cNvSpPr txBox="1"/>
          <p:nvPr>
            <p:ph idx="1" type="body"/>
          </p:nvPr>
        </p:nvSpPr>
        <p:spPr>
          <a:xfrm>
            <a:off x="311700" y="101772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37500"/>
              </a:lnSpc>
              <a:spcBef>
                <a:spcPts val="0"/>
              </a:spcBef>
              <a:spcAft>
                <a:spcPts val="0"/>
              </a:spcAft>
              <a:buSzPts val="1800"/>
              <a:buNone/>
            </a:pPr>
            <a:r>
              <a:rPr b="1" lang="es" sz="2600">
                <a:solidFill>
                  <a:srgbClr val="232B46"/>
                </a:solidFill>
                <a:latin typeface="Roboto"/>
                <a:ea typeface="Roboto"/>
                <a:cs typeface="Roboto"/>
                <a:sym typeface="Roboto"/>
              </a:rPr>
              <a:t>13.2. Pseudo-clases para los estados de un elemento</a:t>
            </a:r>
            <a:endParaRPr b="1" sz="2600">
              <a:solidFill>
                <a:srgbClr val="232B46"/>
              </a:solidFill>
              <a:latin typeface="Roboto"/>
              <a:ea typeface="Roboto"/>
              <a:cs typeface="Roboto"/>
              <a:sym typeface="Roboto"/>
            </a:endParaRPr>
          </a:p>
          <a:p>
            <a:pPr indent="0" lvl="0" marL="0" rtl="0" algn="l">
              <a:lnSpc>
                <a:spcPct val="115000"/>
              </a:lnSpc>
              <a:spcBef>
                <a:spcPts val="1100"/>
              </a:spcBef>
              <a:spcAft>
                <a:spcPts val="0"/>
              </a:spcAft>
              <a:buSzPts val="1800"/>
              <a:buNone/>
            </a:pPr>
            <a:r>
              <a:rPr lang="es" sz="1400">
                <a:solidFill>
                  <a:srgbClr val="232B46"/>
                </a:solidFill>
                <a:latin typeface="Roboto"/>
                <a:ea typeface="Roboto"/>
                <a:cs typeface="Roboto"/>
                <a:sym typeface="Roboto"/>
              </a:rPr>
              <a:t>Podemos utilizar diferentes pseudo-clases para definir las propiedades de ciertos elementos con diferentes estados. Uno de los usos más comunes es en los enlaces &lt;a&gt; aunque se pueden aplicar en otros elementos.</a:t>
            </a:r>
            <a:endParaRPr sz="900">
              <a:solidFill>
                <a:srgbClr val="232B46"/>
              </a:solidFill>
              <a:latin typeface="Roboto"/>
              <a:ea typeface="Roboto"/>
              <a:cs typeface="Roboto"/>
              <a:sym typeface="Roboto"/>
            </a:endParaRPr>
          </a:p>
          <a:p>
            <a:pPr indent="0" lvl="0" marL="0" rtl="0" algn="l">
              <a:lnSpc>
                <a:spcPct val="137500"/>
              </a:lnSpc>
              <a:spcBef>
                <a:spcPts val="1100"/>
              </a:spcBef>
              <a:spcAft>
                <a:spcPts val="1100"/>
              </a:spcAft>
              <a:buSzPts val="1800"/>
              <a:buNone/>
            </a:pPr>
            <a:r>
              <a:rPr b="1" lang="es" sz="1600" u="sng">
                <a:solidFill>
                  <a:schemeClr val="hlink"/>
                </a:solidFill>
                <a:latin typeface="Roboto"/>
                <a:ea typeface="Roboto"/>
                <a:cs typeface="Roboto"/>
                <a:sym typeface="Roboto"/>
                <a:hlinkClick r:id="rId3"/>
              </a:rPr>
              <a:t>https://codepen.io/Eniun/pen/PoqBoKY</a:t>
            </a:r>
            <a:r>
              <a:rPr b="1" lang="es" sz="1600">
                <a:solidFill>
                  <a:srgbClr val="232B46"/>
                </a:solidFill>
                <a:latin typeface="Roboto"/>
                <a:ea typeface="Roboto"/>
                <a:cs typeface="Roboto"/>
                <a:sym typeface="Roboto"/>
              </a:rPr>
              <a:t> </a:t>
            </a:r>
            <a:endParaRPr b="1" sz="1600">
              <a:solidFill>
                <a:srgbClr val="232B46"/>
              </a:solidFill>
              <a:latin typeface="Roboto"/>
              <a:ea typeface="Roboto"/>
              <a:cs typeface="Roboto"/>
              <a:sym typeface="Roboto"/>
            </a:endParaRPr>
          </a:p>
        </p:txBody>
      </p:sp>
      <p:pic>
        <p:nvPicPr>
          <p:cNvPr id="614" name="Google Shape;614;p84"/>
          <p:cNvPicPr preferRelativeResize="0"/>
          <p:nvPr/>
        </p:nvPicPr>
        <p:blipFill rotWithShape="1">
          <a:blip r:embed="rId4">
            <a:alphaModFix/>
          </a:blip>
          <a:srcRect b="0" l="0" r="0" t="0"/>
          <a:stretch/>
        </p:blipFill>
        <p:spPr>
          <a:xfrm>
            <a:off x="1730516" y="2996275"/>
            <a:ext cx="6037083" cy="206320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8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13. Pseudo-clases y pseudo-elementos</a:t>
            </a:r>
            <a:endParaRPr/>
          </a:p>
        </p:txBody>
      </p:sp>
      <p:sp>
        <p:nvSpPr>
          <p:cNvPr id="620" name="Google Shape;620;p85"/>
          <p:cNvSpPr txBox="1"/>
          <p:nvPr>
            <p:ph idx="1" type="body"/>
          </p:nvPr>
        </p:nvSpPr>
        <p:spPr>
          <a:xfrm>
            <a:off x="311700" y="101772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37500"/>
              </a:lnSpc>
              <a:spcBef>
                <a:spcPts val="0"/>
              </a:spcBef>
              <a:spcAft>
                <a:spcPts val="0"/>
              </a:spcAft>
              <a:buSzPts val="1800"/>
              <a:buNone/>
            </a:pPr>
            <a:r>
              <a:rPr b="1" lang="es" sz="2600">
                <a:solidFill>
                  <a:srgbClr val="232B46"/>
                </a:solidFill>
                <a:latin typeface="Roboto"/>
                <a:ea typeface="Roboto"/>
                <a:cs typeface="Roboto"/>
                <a:sym typeface="Roboto"/>
              </a:rPr>
              <a:t>13.3. Pseudo-elementos</a:t>
            </a:r>
            <a:endParaRPr b="1" sz="2600">
              <a:solidFill>
                <a:srgbClr val="232B46"/>
              </a:solidFill>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highlight>
                  <a:srgbClr val="FFFFFF"/>
                </a:highlight>
                <a:latin typeface="Roboto"/>
                <a:ea typeface="Roboto"/>
                <a:cs typeface="Roboto"/>
                <a:sym typeface="Roboto"/>
              </a:rPr>
              <a:t>A diferencia de las pseudo-clases, los pseudo-elementos no describen un estado sino que permiten añadir estilos a una parte específica del documento. Por ejemplo, el pseudo-elemento :first-line selecciona la primera línea del elemento indicado por el selector.</a:t>
            </a:r>
            <a:endParaRPr sz="1350">
              <a:solidFill>
                <a:srgbClr val="000000"/>
              </a:solidFill>
              <a:highlight>
                <a:srgbClr val="FFFFFF"/>
              </a:highlight>
              <a:latin typeface="Roboto"/>
              <a:ea typeface="Roboto"/>
              <a:cs typeface="Roboto"/>
              <a:sym typeface="Roboto"/>
            </a:endParaRPr>
          </a:p>
          <a:p>
            <a:pPr indent="0" lvl="0" marL="0" rtl="0" algn="l">
              <a:lnSpc>
                <a:spcPct val="115000"/>
              </a:lnSpc>
              <a:spcBef>
                <a:spcPts val="1100"/>
              </a:spcBef>
              <a:spcAft>
                <a:spcPts val="0"/>
              </a:spcAft>
              <a:buSzPts val="1800"/>
              <a:buNone/>
            </a:pPr>
            <a:r>
              <a:rPr lang="es" sz="1350" u="sng">
                <a:solidFill>
                  <a:schemeClr val="hlink"/>
                </a:solidFill>
                <a:highlight>
                  <a:srgbClr val="FFFFFF"/>
                </a:highlight>
                <a:latin typeface="Roboto"/>
                <a:ea typeface="Roboto"/>
                <a:cs typeface="Roboto"/>
                <a:sym typeface="Roboto"/>
                <a:hlinkClick r:id="rId3"/>
              </a:rPr>
              <a:t>https://codepen.io/Eniun/pen/QWbBWaK</a:t>
            </a:r>
            <a:r>
              <a:rPr lang="es" sz="1350">
                <a:solidFill>
                  <a:srgbClr val="000000"/>
                </a:solidFill>
                <a:highlight>
                  <a:srgbClr val="FFFFFF"/>
                </a:highlight>
                <a:latin typeface="Roboto"/>
                <a:ea typeface="Roboto"/>
                <a:cs typeface="Roboto"/>
                <a:sym typeface="Roboto"/>
              </a:rPr>
              <a:t> </a:t>
            </a:r>
            <a:endParaRPr sz="1350">
              <a:solidFill>
                <a:srgbClr val="000000"/>
              </a:solidFill>
              <a:highlight>
                <a:srgbClr val="FFFFFF"/>
              </a:highlight>
              <a:latin typeface="Roboto"/>
              <a:ea typeface="Roboto"/>
              <a:cs typeface="Roboto"/>
              <a:sym typeface="Roboto"/>
            </a:endParaRPr>
          </a:p>
          <a:p>
            <a:pPr indent="0" lvl="0" marL="0" rtl="0" algn="l">
              <a:lnSpc>
                <a:spcPct val="137500"/>
              </a:lnSpc>
              <a:spcBef>
                <a:spcPts val="1100"/>
              </a:spcBef>
              <a:spcAft>
                <a:spcPts val="1100"/>
              </a:spcAft>
              <a:buSzPts val="1800"/>
              <a:buNone/>
            </a:pPr>
            <a:r>
              <a:t/>
            </a:r>
            <a:endParaRPr b="1" sz="1600">
              <a:solidFill>
                <a:srgbClr val="232B46"/>
              </a:solidFill>
              <a:latin typeface="Roboto"/>
              <a:ea typeface="Roboto"/>
              <a:cs typeface="Roboto"/>
              <a:sym typeface="Roboto"/>
            </a:endParaRPr>
          </a:p>
        </p:txBody>
      </p:sp>
      <p:pic>
        <p:nvPicPr>
          <p:cNvPr id="621" name="Google Shape;621;p85"/>
          <p:cNvPicPr preferRelativeResize="0"/>
          <p:nvPr/>
        </p:nvPicPr>
        <p:blipFill rotWithShape="1">
          <a:blip r:embed="rId4">
            <a:alphaModFix/>
          </a:blip>
          <a:srcRect b="0" l="0" r="0" t="0"/>
          <a:stretch/>
        </p:blipFill>
        <p:spPr>
          <a:xfrm>
            <a:off x="1365050" y="2888500"/>
            <a:ext cx="6896500" cy="2255001"/>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86"/>
          <p:cNvSpPr txBox="1"/>
          <p:nvPr>
            <p:ph type="title"/>
          </p:nvPr>
        </p:nvSpPr>
        <p:spPr>
          <a:xfrm>
            <a:off x="311700" y="445025"/>
            <a:ext cx="88323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s" sz="2600"/>
              <a:t>14. Ejercicio propuesto menú navegación horizontal</a:t>
            </a:r>
            <a:endParaRPr sz="2600"/>
          </a:p>
        </p:txBody>
      </p:sp>
      <p:sp>
        <p:nvSpPr>
          <p:cNvPr id="627" name="Google Shape;627;p86"/>
          <p:cNvSpPr txBox="1"/>
          <p:nvPr>
            <p:ph idx="1" type="body"/>
          </p:nvPr>
        </p:nvSpPr>
        <p:spPr>
          <a:xfrm>
            <a:off x="311700" y="1152475"/>
            <a:ext cx="8520600" cy="38397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1200"/>
              </a:spcBef>
              <a:spcAft>
                <a:spcPts val="0"/>
              </a:spcAft>
              <a:buSzPct val="176904"/>
              <a:buNone/>
            </a:pPr>
            <a:r>
              <a:rPr lang="es" sz="1100">
                <a:solidFill>
                  <a:srgbClr val="000000"/>
                </a:solidFill>
                <a:latin typeface="Arial"/>
                <a:ea typeface="Arial"/>
                <a:cs typeface="Arial"/>
                <a:sym typeface="Arial"/>
              </a:rPr>
              <a:t>Diseña y crea un menú de navegación horizontal utilizando HTML y CSS. El menú debe contener cuatro enlaces y aplicar estilos específicos.</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ct val="176904"/>
              <a:buNone/>
            </a:pPr>
            <a:r>
              <a:rPr b="1" lang="es" sz="1100">
                <a:solidFill>
                  <a:srgbClr val="000000"/>
                </a:solidFill>
                <a:latin typeface="Arial"/>
                <a:ea typeface="Arial"/>
                <a:cs typeface="Arial"/>
                <a:sym typeface="Arial"/>
              </a:rPr>
              <a:t>Apariencia:</a:t>
            </a:r>
            <a:endParaRPr b="1" sz="1100">
              <a:solidFill>
                <a:srgbClr val="000000"/>
              </a:solidFill>
              <a:latin typeface="Arial"/>
              <a:ea typeface="Arial"/>
              <a:cs typeface="Arial"/>
              <a:sym typeface="Arial"/>
            </a:endParaRPr>
          </a:p>
          <a:p>
            <a:pPr indent="0" lvl="0" marL="0" rtl="0" algn="l">
              <a:lnSpc>
                <a:spcPct val="115000"/>
              </a:lnSpc>
              <a:spcBef>
                <a:spcPts val="1200"/>
              </a:spcBef>
              <a:spcAft>
                <a:spcPts val="0"/>
              </a:spcAft>
              <a:buSzPct val="176904"/>
              <a:buNone/>
            </a:pPr>
            <a:r>
              <a:rPr lang="es" sz="1100">
                <a:solidFill>
                  <a:srgbClr val="000000"/>
                </a:solidFill>
                <a:latin typeface="Arial"/>
                <a:ea typeface="Arial"/>
                <a:cs typeface="Arial"/>
                <a:sym typeface="Arial"/>
              </a:rPr>
              <a:t>&lt;header&gt;</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ct val="176904"/>
              <a:buNone/>
            </a:pPr>
            <a:r>
              <a:rPr lang="es" sz="1100">
                <a:solidFill>
                  <a:srgbClr val="000000"/>
                </a:solidFill>
                <a:latin typeface="Arial"/>
                <a:ea typeface="Arial"/>
                <a:cs typeface="Arial"/>
                <a:sym typeface="Arial"/>
              </a:rPr>
              <a:t>  &lt;nav&gt;</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ct val="176904"/>
              <a:buNone/>
            </a:pPr>
            <a:r>
              <a:rPr lang="es" sz="1100">
                <a:solidFill>
                  <a:srgbClr val="000000"/>
                </a:solidFill>
                <a:latin typeface="Arial"/>
                <a:ea typeface="Arial"/>
                <a:cs typeface="Arial"/>
                <a:sym typeface="Arial"/>
              </a:rPr>
              <a:t>    &lt;ul&gt;</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ct val="176904"/>
              <a:buNone/>
            </a:pPr>
            <a:r>
              <a:rPr lang="es" sz="1100">
                <a:solidFill>
                  <a:srgbClr val="000000"/>
                </a:solidFill>
                <a:latin typeface="Arial"/>
                <a:ea typeface="Arial"/>
                <a:cs typeface="Arial"/>
                <a:sym typeface="Arial"/>
              </a:rPr>
              <a:t>      &lt;li&gt;&lt;a href="#"&gt;Inicio&lt;/a&gt;&lt;/li&gt;</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ct val="176904"/>
              <a:buNone/>
            </a:pPr>
            <a:r>
              <a:rPr lang="es" sz="1100">
                <a:solidFill>
                  <a:srgbClr val="000000"/>
                </a:solidFill>
                <a:latin typeface="Arial"/>
                <a:ea typeface="Arial"/>
                <a:cs typeface="Arial"/>
                <a:sym typeface="Arial"/>
              </a:rPr>
              <a:t>      &lt;li&gt;&lt;a href="#"&gt;Servicios&lt;/a&gt;&lt;/li&gt;</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ct val="176904"/>
              <a:buNone/>
            </a:pPr>
            <a:r>
              <a:rPr lang="es" sz="1100">
                <a:solidFill>
                  <a:srgbClr val="000000"/>
                </a:solidFill>
                <a:latin typeface="Arial"/>
                <a:ea typeface="Arial"/>
                <a:cs typeface="Arial"/>
                <a:sym typeface="Arial"/>
              </a:rPr>
              <a:t>      &lt;li&gt;&lt;a href="#"&gt;Nosotros&lt;/a&gt;&lt;/li&gt;</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ct val="176904"/>
              <a:buNone/>
            </a:pPr>
            <a:r>
              <a:rPr lang="es" sz="1100">
                <a:solidFill>
                  <a:srgbClr val="000000"/>
                </a:solidFill>
                <a:latin typeface="Arial"/>
                <a:ea typeface="Arial"/>
                <a:cs typeface="Arial"/>
                <a:sym typeface="Arial"/>
              </a:rPr>
              <a:t>      &lt;li&gt;&lt;a href="#"&gt;Contacto&lt;/a&gt;&lt;/li&gt;</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ct val="176904"/>
              <a:buNone/>
            </a:pPr>
            <a:r>
              <a:rPr lang="es" sz="1100">
                <a:solidFill>
                  <a:srgbClr val="000000"/>
                </a:solidFill>
                <a:latin typeface="Arial"/>
                <a:ea typeface="Arial"/>
                <a:cs typeface="Arial"/>
                <a:sym typeface="Arial"/>
              </a:rPr>
              <a:t>    &lt;/ul&gt;</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ct val="176904"/>
              <a:buNone/>
            </a:pPr>
            <a:r>
              <a:rPr lang="es" sz="1100">
                <a:solidFill>
                  <a:srgbClr val="000000"/>
                </a:solidFill>
                <a:latin typeface="Arial"/>
                <a:ea typeface="Arial"/>
                <a:cs typeface="Arial"/>
                <a:sym typeface="Arial"/>
              </a:rPr>
              <a:t>  &lt;/nav&gt;</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SzPct val="176904"/>
              <a:buNone/>
            </a:pPr>
            <a:r>
              <a:rPr lang="es" sz="1100">
                <a:solidFill>
                  <a:srgbClr val="000000"/>
                </a:solidFill>
                <a:latin typeface="Arial"/>
                <a:ea typeface="Arial"/>
                <a:cs typeface="Arial"/>
                <a:sym typeface="Arial"/>
              </a:rPr>
              <a:t>&lt;/header&gt;</a:t>
            </a:r>
            <a:endParaRPr sz="1100">
              <a:solidFill>
                <a:srgbClr val="000000"/>
              </a:solidFill>
              <a:latin typeface="Arial"/>
              <a:ea typeface="Arial"/>
              <a:cs typeface="Arial"/>
              <a:sym typeface="Arial"/>
            </a:endParaRPr>
          </a:p>
        </p:txBody>
      </p:sp>
      <p:pic>
        <p:nvPicPr>
          <p:cNvPr descr="Menú" id="628" name="Google Shape;628;p86"/>
          <p:cNvPicPr preferRelativeResize="0"/>
          <p:nvPr/>
        </p:nvPicPr>
        <p:blipFill rotWithShape="1">
          <a:blip r:embed="rId3">
            <a:alphaModFix/>
          </a:blip>
          <a:srcRect b="0" l="0" r="0" t="0"/>
          <a:stretch/>
        </p:blipFill>
        <p:spPr>
          <a:xfrm>
            <a:off x="2077200" y="1454025"/>
            <a:ext cx="4257675" cy="409575"/>
          </a:xfrm>
          <a:prstGeom prst="rect">
            <a:avLst/>
          </a:prstGeom>
          <a:noFill/>
          <a:ln>
            <a:noFill/>
          </a:ln>
        </p:spPr>
      </p:pic>
      <p:sp>
        <p:nvSpPr>
          <p:cNvPr id="629" name="Google Shape;629;p86"/>
          <p:cNvSpPr txBox="1"/>
          <p:nvPr/>
        </p:nvSpPr>
        <p:spPr>
          <a:xfrm>
            <a:off x="2571750" y="4591975"/>
            <a:ext cx="556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sng" cap="none" strike="noStrike">
                <a:solidFill>
                  <a:srgbClr val="2D47E6"/>
                </a:solidFill>
                <a:latin typeface="Arial"/>
                <a:ea typeface="Arial"/>
                <a:cs typeface="Arial"/>
                <a:sym typeface="Arial"/>
                <a:hlinkClick r:id="rId4">
                  <a:extLst>
                    <a:ext uri="{A12FA001-AC4F-418D-AE19-62706E023703}">
                      <ahyp:hlinkClr val="tx"/>
                    </a:ext>
                  </a:extLst>
                </a:hlinkClick>
              </a:rPr>
              <a:t>https://codepen.io/Eniun/pen/QWJYLMq</a:t>
            </a:r>
            <a:r>
              <a:rPr b="0" i="0" lang="es" sz="1400" u="none" cap="none" strike="noStrike">
                <a:solidFill>
                  <a:srgbClr val="2D47E6"/>
                </a:solidFill>
                <a:latin typeface="Arial"/>
                <a:ea typeface="Arial"/>
                <a:cs typeface="Arial"/>
                <a:sym typeface="Arial"/>
              </a:rPr>
              <a:t> </a:t>
            </a:r>
            <a:endParaRPr b="0" i="0" sz="1400" u="none" cap="none" strike="noStrike">
              <a:solidFill>
                <a:srgbClr val="2D47E6"/>
              </a:solidFill>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87"/>
          <p:cNvSpPr txBox="1"/>
          <p:nvPr>
            <p:ph type="title"/>
          </p:nvPr>
        </p:nvSpPr>
        <p:spPr>
          <a:xfrm>
            <a:off x="311700" y="445025"/>
            <a:ext cx="88323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s" sz="2600"/>
              <a:t>14. Ejercicio propuesto menú navegación horizontal</a:t>
            </a:r>
            <a:endParaRPr sz="2600"/>
          </a:p>
        </p:txBody>
      </p:sp>
      <p:sp>
        <p:nvSpPr>
          <p:cNvPr id="635" name="Google Shape;635;p87"/>
          <p:cNvSpPr txBox="1"/>
          <p:nvPr>
            <p:ph idx="1" type="body"/>
          </p:nvPr>
        </p:nvSpPr>
        <p:spPr>
          <a:xfrm>
            <a:off x="311700" y="1152475"/>
            <a:ext cx="8520600" cy="38397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1200"/>
              </a:spcBef>
              <a:spcAft>
                <a:spcPts val="0"/>
              </a:spcAft>
              <a:buSzPct val="176904"/>
              <a:buNone/>
            </a:pPr>
            <a:r>
              <a:rPr lang="es" sz="1100">
                <a:solidFill>
                  <a:srgbClr val="000000"/>
                </a:solidFill>
                <a:latin typeface="Arial"/>
                <a:ea typeface="Arial"/>
                <a:cs typeface="Arial"/>
                <a:sym typeface="Arial"/>
              </a:rPr>
              <a:t>Diseña y crea un menú de navegación horizontal utilizando HTML y CSS. El menú debe contener cuatro enlaces y aplicar estilos específicos.</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ct val="176904"/>
              <a:buNone/>
            </a:pPr>
            <a:r>
              <a:rPr b="1" lang="es" sz="1100">
                <a:solidFill>
                  <a:srgbClr val="000000"/>
                </a:solidFill>
                <a:latin typeface="Arial"/>
                <a:ea typeface="Arial"/>
                <a:cs typeface="Arial"/>
                <a:sym typeface="Arial"/>
              </a:rPr>
              <a:t>Apariencia:</a:t>
            </a:r>
            <a:endParaRPr b="1" sz="1100">
              <a:solidFill>
                <a:srgbClr val="000000"/>
              </a:solidFill>
              <a:latin typeface="Arial"/>
              <a:ea typeface="Arial"/>
              <a:cs typeface="Arial"/>
              <a:sym typeface="Arial"/>
            </a:endParaRPr>
          </a:p>
          <a:p>
            <a:pPr indent="0" lvl="0" marL="0" rtl="0" algn="l">
              <a:lnSpc>
                <a:spcPct val="115000"/>
              </a:lnSpc>
              <a:spcBef>
                <a:spcPts val="1200"/>
              </a:spcBef>
              <a:spcAft>
                <a:spcPts val="0"/>
              </a:spcAft>
              <a:buSzPct val="176904"/>
              <a:buNone/>
            </a:pPr>
            <a:r>
              <a:rPr lang="es" sz="1100">
                <a:solidFill>
                  <a:srgbClr val="000000"/>
                </a:solidFill>
                <a:latin typeface="Arial"/>
                <a:ea typeface="Arial"/>
                <a:cs typeface="Arial"/>
                <a:sym typeface="Arial"/>
              </a:rPr>
              <a:t> &lt;header&gt;</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ct val="176904"/>
              <a:buNone/>
            </a:pPr>
            <a:r>
              <a:rPr lang="es" sz="1100">
                <a:solidFill>
                  <a:srgbClr val="000000"/>
                </a:solidFill>
                <a:latin typeface="Arial"/>
                <a:ea typeface="Arial"/>
                <a:cs typeface="Arial"/>
                <a:sym typeface="Arial"/>
              </a:rPr>
              <a:t>   &lt;nav&gt;</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ct val="176904"/>
              <a:buNone/>
            </a:pPr>
            <a:r>
              <a:rPr lang="es" sz="1100">
                <a:solidFill>
                  <a:srgbClr val="000000"/>
                </a:solidFill>
                <a:latin typeface="Arial"/>
                <a:ea typeface="Arial"/>
                <a:cs typeface="Arial"/>
                <a:sym typeface="Arial"/>
              </a:rPr>
              <a:t>      &lt;a href="index.html"&gt;&lt;img src="https://www.eniun.com/wp-content/uploads/ENIUN@1x.png" alt="Eniun logo" width="74" height="33"&gt;&lt;/a&gt;</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ct val="176904"/>
              <a:buNone/>
            </a:pPr>
            <a:r>
              <a:rPr lang="es" sz="1100">
                <a:solidFill>
                  <a:srgbClr val="000000"/>
                </a:solidFill>
                <a:latin typeface="Arial"/>
                <a:ea typeface="Arial"/>
                <a:cs typeface="Arial"/>
                <a:sym typeface="Arial"/>
              </a:rPr>
              <a:t>      &lt;ul&gt;</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ct val="176904"/>
              <a:buNone/>
            </a:pPr>
            <a:r>
              <a:rPr lang="es" sz="1100">
                <a:solidFill>
                  <a:srgbClr val="000000"/>
                </a:solidFill>
                <a:latin typeface="Arial"/>
                <a:ea typeface="Arial"/>
                <a:cs typeface="Arial"/>
                <a:sym typeface="Arial"/>
              </a:rPr>
              <a:t>          &lt;li&gt;&lt;a href="#"&gt;Inicio&lt;/a&gt;&lt;/li&gt;</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ct val="176904"/>
              <a:buNone/>
            </a:pPr>
            <a:r>
              <a:rPr lang="es" sz="1100">
                <a:solidFill>
                  <a:srgbClr val="000000"/>
                </a:solidFill>
                <a:latin typeface="Arial"/>
                <a:ea typeface="Arial"/>
                <a:cs typeface="Arial"/>
                <a:sym typeface="Arial"/>
              </a:rPr>
              <a:t>          &lt;li&gt;&lt;a href="#"&gt;Servicios&lt;/a&gt;&lt;/li&gt;</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ct val="176904"/>
              <a:buNone/>
            </a:pPr>
            <a:r>
              <a:rPr lang="es" sz="1100">
                <a:solidFill>
                  <a:srgbClr val="000000"/>
                </a:solidFill>
                <a:latin typeface="Arial"/>
                <a:ea typeface="Arial"/>
                <a:cs typeface="Arial"/>
                <a:sym typeface="Arial"/>
              </a:rPr>
              <a:t>          &lt;li&gt;&lt;a href="#"&gt;Contacto&lt;/a&gt;&lt;/li&gt;</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ct val="176904"/>
              <a:buNone/>
            </a:pPr>
            <a:r>
              <a:rPr lang="es" sz="1100">
                <a:solidFill>
                  <a:srgbClr val="000000"/>
                </a:solidFill>
                <a:latin typeface="Arial"/>
                <a:ea typeface="Arial"/>
                <a:cs typeface="Arial"/>
                <a:sym typeface="Arial"/>
              </a:rPr>
              <a:t>      &lt;/ul&gt;</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ct val="176904"/>
              <a:buNone/>
            </a:pPr>
            <a:r>
              <a:rPr lang="es" sz="1100">
                <a:solidFill>
                  <a:srgbClr val="000000"/>
                </a:solidFill>
                <a:latin typeface="Arial"/>
                <a:ea typeface="Arial"/>
                <a:cs typeface="Arial"/>
                <a:sym typeface="Arial"/>
              </a:rPr>
              <a:t>   &lt;/nav&gt;</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SzPct val="176904"/>
              <a:buNone/>
            </a:pPr>
            <a:r>
              <a:rPr lang="es" sz="1100">
                <a:solidFill>
                  <a:srgbClr val="000000"/>
                </a:solidFill>
                <a:latin typeface="Arial"/>
                <a:ea typeface="Arial"/>
                <a:cs typeface="Arial"/>
                <a:sym typeface="Arial"/>
              </a:rPr>
              <a:t>&lt;/header&gt;</a:t>
            </a:r>
            <a:endParaRPr sz="1100">
              <a:solidFill>
                <a:srgbClr val="000000"/>
              </a:solidFill>
              <a:latin typeface="Arial"/>
              <a:ea typeface="Arial"/>
              <a:cs typeface="Arial"/>
              <a:sym typeface="Arial"/>
            </a:endParaRPr>
          </a:p>
        </p:txBody>
      </p:sp>
      <p:pic>
        <p:nvPicPr>
          <p:cNvPr id="636" name="Google Shape;636;p87"/>
          <p:cNvPicPr preferRelativeResize="0"/>
          <p:nvPr/>
        </p:nvPicPr>
        <p:blipFill rotWithShape="1">
          <a:blip r:embed="rId3">
            <a:alphaModFix/>
          </a:blip>
          <a:srcRect b="0" l="0" r="0" t="0"/>
          <a:stretch/>
        </p:blipFill>
        <p:spPr>
          <a:xfrm>
            <a:off x="2625700" y="1504925"/>
            <a:ext cx="5869076" cy="908450"/>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8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15. Propiedad overflow, excedente de contenido</a:t>
            </a:r>
            <a:endParaRPr/>
          </a:p>
        </p:txBody>
      </p:sp>
      <p:sp>
        <p:nvSpPr>
          <p:cNvPr id="642" name="Google Shape;642;p88"/>
          <p:cNvSpPr txBox="1"/>
          <p:nvPr>
            <p:ph idx="1" type="body"/>
          </p:nvPr>
        </p:nvSpPr>
        <p:spPr>
          <a:xfrm>
            <a:off x="311700" y="1259375"/>
            <a:ext cx="8520600" cy="37959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l">
              <a:lnSpc>
                <a:spcPct val="137500"/>
              </a:lnSpc>
              <a:spcBef>
                <a:spcPts val="0"/>
              </a:spcBef>
              <a:spcAft>
                <a:spcPts val="0"/>
              </a:spcAft>
              <a:buSzPct val="70588"/>
              <a:buNone/>
            </a:pPr>
            <a:r>
              <a:rPr b="1" lang="es" sz="3000">
                <a:solidFill>
                  <a:srgbClr val="232B46"/>
                </a:solidFill>
                <a:latin typeface="Roboto"/>
                <a:ea typeface="Roboto"/>
                <a:cs typeface="Roboto"/>
                <a:sym typeface="Roboto"/>
              </a:rPr>
              <a:t>15.1. Valores de </a:t>
            </a:r>
            <a:r>
              <a:rPr b="1" i="1" lang="es" sz="3000">
                <a:solidFill>
                  <a:srgbClr val="232B46"/>
                </a:solidFill>
                <a:latin typeface="Roboto"/>
                <a:ea typeface="Roboto"/>
                <a:cs typeface="Roboto"/>
                <a:sym typeface="Roboto"/>
              </a:rPr>
              <a:t>overflow</a:t>
            </a:r>
            <a:endParaRPr b="1" i="1" sz="3000">
              <a:solidFill>
                <a:srgbClr val="232B46"/>
              </a:solidFill>
              <a:latin typeface="Roboto"/>
              <a:ea typeface="Roboto"/>
              <a:cs typeface="Roboto"/>
              <a:sym typeface="Roboto"/>
            </a:endParaRPr>
          </a:p>
          <a:p>
            <a:pPr indent="0" lvl="0" marL="0" rtl="0" algn="l">
              <a:lnSpc>
                <a:spcPct val="115000"/>
              </a:lnSpc>
              <a:spcBef>
                <a:spcPts val="1100"/>
              </a:spcBef>
              <a:spcAft>
                <a:spcPts val="0"/>
              </a:spcAft>
              <a:buSzPct val="156862"/>
              <a:buNone/>
            </a:pPr>
            <a:r>
              <a:rPr lang="es" sz="1350">
                <a:solidFill>
                  <a:srgbClr val="000000"/>
                </a:solidFill>
                <a:latin typeface="Roboto"/>
                <a:ea typeface="Roboto"/>
                <a:cs typeface="Roboto"/>
                <a:sym typeface="Roboto"/>
              </a:rPr>
              <a:t>La propiedad </a:t>
            </a:r>
            <a:r>
              <a:rPr i="1" lang="es" sz="1350">
                <a:solidFill>
                  <a:srgbClr val="000000"/>
                </a:solidFill>
                <a:latin typeface="Roboto"/>
                <a:ea typeface="Roboto"/>
                <a:cs typeface="Roboto"/>
                <a:sym typeface="Roboto"/>
              </a:rPr>
              <a:t>overflow </a:t>
            </a:r>
            <a:r>
              <a:rPr lang="es" sz="1350">
                <a:solidFill>
                  <a:srgbClr val="000000"/>
                </a:solidFill>
                <a:latin typeface="Roboto"/>
                <a:ea typeface="Roboto"/>
                <a:cs typeface="Roboto"/>
                <a:sym typeface="Roboto"/>
              </a:rPr>
              <a:t>solo funciona sobre elementos de tipo bloque con una altura definida. Sus valores son los siguientes:</a:t>
            </a:r>
            <a:endParaRPr sz="1350">
              <a:solidFill>
                <a:srgbClr val="000000"/>
              </a:solidFill>
              <a:latin typeface="Roboto"/>
              <a:ea typeface="Roboto"/>
              <a:cs typeface="Roboto"/>
              <a:sym typeface="Roboto"/>
            </a:endParaRPr>
          </a:p>
          <a:p>
            <a:pPr indent="0" lvl="0" marL="139700" marR="139700" rtl="0" algn="l">
              <a:lnSpc>
                <a:spcPct val="116666"/>
              </a:lnSpc>
              <a:spcBef>
                <a:spcPts val="1100"/>
              </a:spcBef>
              <a:spcAft>
                <a:spcPts val="0"/>
              </a:spcAft>
              <a:buSzPct val="156862"/>
              <a:buNone/>
            </a:pPr>
            <a:r>
              <a:rPr b="1" lang="es" sz="1350">
                <a:solidFill>
                  <a:srgbClr val="000000"/>
                </a:solidFill>
                <a:latin typeface="Courier New"/>
                <a:ea typeface="Courier New"/>
                <a:cs typeface="Courier New"/>
                <a:sym typeface="Courier New"/>
              </a:rPr>
              <a:t>overflow: visible|hidden|scroll|auto;</a:t>
            </a:r>
            <a:endParaRPr b="1" sz="1350">
              <a:solidFill>
                <a:srgbClr val="000000"/>
              </a:solidFill>
              <a:latin typeface="Courier New"/>
              <a:ea typeface="Courier New"/>
              <a:cs typeface="Courier New"/>
              <a:sym typeface="Courier New"/>
            </a:endParaRPr>
          </a:p>
          <a:p>
            <a:pPr indent="-301497" lvl="0" marL="749300" rtl="0" algn="l">
              <a:lnSpc>
                <a:spcPct val="115000"/>
              </a:lnSpc>
              <a:spcBef>
                <a:spcPts val="1500"/>
              </a:spcBef>
              <a:spcAft>
                <a:spcPts val="0"/>
              </a:spcAft>
              <a:buClr>
                <a:srgbClr val="2C3862"/>
              </a:buClr>
              <a:buSzPct val="100000"/>
              <a:buFont typeface="Roboto"/>
              <a:buChar char="●"/>
            </a:pPr>
            <a:r>
              <a:rPr b="1" lang="es" sz="1350">
                <a:solidFill>
                  <a:srgbClr val="2C3862"/>
                </a:solidFill>
                <a:latin typeface="Roboto"/>
                <a:ea typeface="Roboto"/>
                <a:cs typeface="Roboto"/>
                <a:sym typeface="Roboto"/>
              </a:rPr>
              <a:t>Overflow: visible (default).</a:t>
            </a:r>
            <a:r>
              <a:rPr lang="es" sz="1350">
                <a:solidFill>
                  <a:srgbClr val="2C3862"/>
                </a:solidFill>
                <a:latin typeface="Roboto"/>
                <a:ea typeface="Roboto"/>
                <a:cs typeface="Roboto"/>
                <a:sym typeface="Roboto"/>
              </a:rPr>
              <a:t> Por defecto la propiedad </a:t>
            </a:r>
            <a:r>
              <a:rPr i="1" lang="es" sz="1350">
                <a:solidFill>
                  <a:srgbClr val="2C3862"/>
                </a:solidFill>
                <a:latin typeface="Roboto"/>
                <a:ea typeface="Roboto"/>
                <a:cs typeface="Roboto"/>
                <a:sym typeface="Roboto"/>
              </a:rPr>
              <a:t>overflow </a:t>
            </a:r>
            <a:r>
              <a:rPr lang="es" sz="1350">
                <a:solidFill>
                  <a:srgbClr val="2C3862"/>
                </a:solidFill>
                <a:latin typeface="Roboto"/>
                <a:ea typeface="Roboto"/>
                <a:cs typeface="Roboto"/>
                <a:sym typeface="Roboto"/>
              </a:rPr>
              <a:t>es visible y lo que hace es que los contenidos se salgan del elemento y sean completamente visibles.</a:t>
            </a:r>
            <a:endParaRPr sz="1350">
              <a:solidFill>
                <a:srgbClr val="2C3862"/>
              </a:solidFill>
              <a:latin typeface="Roboto"/>
              <a:ea typeface="Roboto"/>
              <a:cs typeface="Roboto"/>
              <a:sym typeface="Roboto"/>
            </a:endParaRPr>
          </a:p>
          <a:p>
            <a:pPr indent="-301497" lvl="0" marL="749300" rtl="0" algn="l">
              <a:lnSpc>
                <a:spcPct val="115000"/>
              </a:lnSpc>
              <a:spcBef>
                <a:spcPts val="0"/>
              </a:spcBef>
              <a:spcAft>
                <a:spcPts val="0"/>
              </a:spcAft>
              <a:buClr>
                <a:srgbClr val="2C3862"/>
              </a:buClr>
              <a:buSzPct val="100000"/>
              <a:buFont typeface="Roboto"/>
              <a:buChar char="●"/>
            </a:pPr>
            <a:r>
              <a:rPr b="1" lang="es" sz="1350">
                <a:solidFill>
                  <a:srgbClr val="2C3862"/>
                </a:solidFill>
                <a:latin typeface="Roboto"/>
                <a:ea typeface="Roboto"/>
                <a:cs typeface="Roboto"/>
                <a:sym typeface="Roboto"/>
              </a:rPr>
              <a:t>Overflow: hidden.</a:t>
            </a:r>
            <a:r>
              <a:rPr lang="es" sz="1350">
                <a:solidFill>
                  <a:srgbClr val="2C3862"/>
                </a:solidFill>
                <a:latin typeface="Roboto"/>
                <a:ea typeface="Roboto"/>
                <a:cs typeface="Roboto"/>
                <a:sym typeface="Roboto"/>
              </a:rPr>
              <a:t> Los contenidos que se salen del contenedor padre se ocultan y no se muestran barras de </a:t>
            </a:r>
            <a:r>
              <a:rPr i="1" lang="es" sz="1350">
                <a:solidFill>
                  <a:srgbClr val="2C3862"/>
                </a:solidFill>
                <a:latin typeface="Roboto"/>
                <a:ea typeface="Roboto"/>
                <a:cs typeface="Roboto"/>
                <a:sym typeface="Roboto"/>
              </a:rPr>
              <a:t>scroll</a:t>
            </a:r>
            <a:r>
              <a:rPr lang="es" sz="1350">
                <a:solidFill>
                  <a:srgbClr val="2C3862"/>
                </a:solidFill>
                <a:latin typeface="Roboto"/>
                <a:ea typeface="Roboto"/>
                <a:cs typeface="Roboto"/>
                <a:sym typeface="Roboto"/>
              </a:rPr>
              <a:t>. De esta forma se puede controlar el tamaño del elemento y su contenido.</a:t>
            </a:r>
            <a:endParaRPr sz="1350">
              <a:solidFill>
                <a:srgbClr val="2C3862"/>
              </a:solidFill>
              <a:latin typeface="Roboto"/>
              <a:ea typeface="Roboto"/>
              <a:cs typeface="Roboto"/>
              <a:sym typeface="Roboto"/>
            </a:endParaRPr>
          </a:p>
          <a:p>
            <a:pPr indent="-301497" lvl="0" marL="749300" rtl="0" algn="l">
              <a:lnSpc>
                <a:spcPct val="115000"/>
              </a:lnSpc>
              <a:spcBef>
                <a:spcPts val="0"/>
              </a:spcBef>
              <a:spcAft>
                <a:spcPts val="0"/>
              </a:spcAft>
              <a:buClr>
                <a:srgbClr val="2C3862"/>
              </a:buClr>
              <a:buSzPct val="100000"/>
              <a:buFont typeface="Roboto"/>
              <a:buChar char="●"/>
            </a:pPr>
            <a:r>
              <a:rPr b="1" lang="es" sz="1350">
                <a:solidFill>
                  <a:srgbClr val="2C3862"/>
                </a:solidFill>
                <a:latin typeface="Roboto"/>
                <a:ea typeface="Roboto"/>
                <a:cs typeface="Roboto"/>
                <a:sym typeface="Roboto"/>
              </a:rPr>
              <a:t>Overflow: scroll</a:t>
            </a:r>
            <a:r>
              <a:rPr lang="es" sz="1350">
                <a:solidFill>
                  <a:srgbClr val="2C3862"/>
                </a:solidFill>
                <a:latin typeface="Roboto"/>
                <a:ea typeface="Roboto"/>
                <a:cs typeface="Roboto"/>
                <a:sym typeface="Roboto"/>
              </a:rPr>
              <a:t>. Se muestra una barra de </a:t>
            </a:r>
            <a:r>
              <a:rPr i="1" lang="es" sz="1350">
                <a:solidFill>
                  <a:srgbClr val="2C3862"/>
                </a:solidFill>
                <a:latin typeface="Roboto"/>
                <a:ea typeface="Roboto"/>
                <a:cs typeface="Roboto"/>
                <a:sym typeface="Roboto"/>
              </a:rPr>
              <a:t>scroll </a:t>
            </a:r>
            <a:r>
              <a:rPr lang="es" sz="1350">
                <a:solidFill>
                  <a:srgbClr val="2C3862"/>
                </a:solidFill>
                <a:latin typeface="Roboto"/>
                <a:ea typeface="Roboto"/>
                <a:cs typeface="Roboto"/>
                <a:sym typeface="Roboto"/>
              </a:rPr>
              <a:t>(horizontal y vertical) cuando los contenidos no caben en el contenedor o caja.</a:t>
            </a:r>
            <a:endParaRPr sz="1350">
              <a:solidFill>
                <a:srgbClr val="2C3862"/>
              </a:solidFill>
              <a:latin typeface="Roboto"/>
              <a:ea typeface="Roboto"/>
              <a:cs typeface="Roboto"/>
              <a:sym typeface="Roboto"/>
            </a:endParaRPr>
          </a:p>
          <a:p>
            <a:pPr indent="-301497" lvl="0" marL="749300" rtl="0" algn="l">
              <a:lnSpc>
                <a:spcPct val="115000"/>
              </a:lnSpc>
              <a:spcBef>
                <a:spcPts val="0"/>
              </a:spcBef>
              <a:spcAft>
                <a:spcPts val="0"/>
              </a:spcAft>
              <a:buClr>
                <a:srgbClr val="2C3862"/>
              </a:buClr>
              <a:buSzPct val="100000"/>
              <a:buFont typeface="Roboto"/>
              <a:buChar char="●"/>
            </a:pPr>
            <a:r>
              <a:rPr b="1" lang="es" sz="1350">
                <a:solidFill>
                  <a:srgbClr val="2C3862"/>
                </a:solidFill>
                <a:latin typeface="Roboto"/>
                <a:ea typeface="Roboto"/>
                <a:cs typeface="Roboto"/>
                <a:sym typeface="Roboto"/>
              </a:rPr>
              <a:t>Overflow: auto</a:t>
            </a:r>
            <a:r>
              <a:rPr lang="es" sz="1350">
                <a:solidFill>
                  <a:srgbClr val="2C3862"/>
                </a:solidFill>
                <a:latin typeface="Roboto"/>
                <a:ea typeface="Roboto"/>
                <a:cs typeface="Roboto"/>
                <a:sym typeface="Roboto"/>
              </a:rPr>
              <a:t>. El navegador es el que decide si se muestran las barras de </a:t>
            </a:r>
            <a:r>
              <a:rPr i="1" lang="es" sz="1350">
                <a:solidFill>
                  <a:srgbClr val="2C3862"/>
                </a:solidFill>
                <a:latin typeface="Roboto"/>
                <a:ea typeface="Roboto"/>
                <a:cs typeface="Roboto"/>
                <a:sym typeface="Roboto"/>
              </a:rPr>
              <a:t>scroll </a:t>
            </a:r>
            <a:r>
              <a:rPr lang="es" sz="1350">
                <a:solidFill>
                  <a:srgbClr val="2C3862"/>
                </a:solidFill>
                <a:latin typeface="Roboto"/>
                <a:ea typeface="Roboto"/>
                <a:cs typeface="Roboto"/>
                <a:sym typeface="Roboto"/>
              </a:rPr>
              <a:t>o si se extiende el contenedor. En cualquier caso, gracias a este valor nunca se permite que el contenido desborde al contenedor. Este valor es muy interesante ya que si el contenido se sale por un lado (horizontal o vertical), sólo se muestra la barra de </a:t>
            </a:r>
            <a:r>
              <a:rPr i="1" lang="es" sz="1350">
                <a:solidFill>
                  <a:srgbClr val="2C3862"/>
                </a:solidFill>
                <a:latin typeface="Roboto"/>
                <a:ea typeface="Roboto"/>
                <a:cs typeface="Roboto"/>
                <a:sym typeface="Roboto"/>
              </a:rPr>
              <a:t>scroll </a:t>
            </a:r>
            <a:r>
              <a:rPr lang="es" sz="1350">
                <a:solidFill>
                  <a:srgbClr val="2C3862"/>
                </a:solidFill>
                <a:latin typeface="Roboto"/>
                <a:ea typeface="Roboto"/>
                <a:cs typeface="Roboto"/>
                <a:sym typeface="Roboto"/>
              </a:rPr>
              <a:t>de ese lado.</a:t>
            </a:r>
            <a:endParaRPr sz="1350">
              <a:solidFill>
                <a:srgbClr val="2C3862"/>
              </a:solidFill>
              <a:latin typeface="Roboto"/>
              <a:ea typeface="Roboto"/>
              <a:cs typeface="Roboto"/>
              <a:sym typeface="Roboto"/>
            </a:endParaRPr>
          </a:p>
          <a:p>
            <a:pPr indent="0" lvl="0" marL="457200" rtl="0" algn="l">
              <a:lnSpc>
                <a:spcPct val="115000"/>
              </a:lnSpc>
              <a:spcBef>
                <a:spcPts val="1900"/>
              </a:spcBef>
              <a:spcAft>
                <a:spcPts val="1900"/>
              </a:spcAft>
              <a:buSzPct val="156862"/>
              <a:buNone/>
            </a:pPr>
            <a:r>
              <a:rPr lang="es" sz="1350" u="sng">
                <a:solidFill>
                  <a:schemeClr val="hlink"/>
                </a:solidFill>
                <a:latin typeface="Roboto"/>
                <a:ea typeface="Roboto"/>
                <a:cs typeface="Roboto"/>
                <a:sym typeface="Roboto"/>
                <a:hlinkClick r:id="rId3"/>
              </a:rPr>
              <a:t>https://codepen.io/Eniun/pen/poorvzK</a:t>
            </a:r>
            <a:r>
              <a:rPr lang="es" sz="1350">
                <a:solidFill>
                  <a:srgbClr val="2C3862"/>
                </a:solidFill>
                <a:latin typeface="Roboto"/>
                <a:ea typeface="Roboto"/>
                <a:cs typeface="Roboto"/>
                <a:sym typeface="Roboto"/>
              </a:rPr>
              <a:t> </a:t>
            </a:r>
            <a:endParaRPr sz="1350">
              <a:solidFill>
                <a:srgbClr val="2C3862"/>
              </a:solidFill>
              <a:latin typeface="Roboto"/>
              <a:ea typeface="Roboto"/>
              <a:cs typeface="Roboto"/>
              <a:sym typeface="Roboto"/>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8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15. Propiedad overflow, excedente de contenido</a:t>
            </a:r>
            <a:endParaRPr/>
          </a:p>
          <a:p>
            <a:pPr indent="0" lvl="0" marL="0" rtl="0" algn="l">
              <a:lnSpc>
                <a:spcPct val="100000"/>
              </a:lnSpc>
              <a:spcBef>
                <a:spcPts val="0"/>
              </a:spcBef>
              <a:spcAft>
                <a:spcPts val="0"/>
              </a:spcAft>
              <a:buSzPct val="111111"/>
              <a:buNone/>
            </a:pPr>
            <a:r>
              <a:t/>
            </a:r>
            <a:endParaRPr/>
          </a:p>
        </p:txBody>
      </p:sp>
      <p:sp>
        <p:nvSpPr>
          <p:cNvPr id="648" name="Google Shape;648;p89"/>
          <p:cNvSpPr txBox="1"/>
          <p:nvPr>
            <p:ph idx="1" type="body"/>
          </p:nvPr>
        </p:nvSpPr>
        <p:spPr>
          <a:xfrm>
            <a:off x="311700" y="1152475"/>
            <a:ext cx="8520600" cy="39030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37500"/>
              </a:lnSpc>
              <a:spcBef>
                <a:spcPts val="0"/>
              </a:spcBef>
              <a:spcAft>
                <a:spcPts val="0"/>
              </a:spcAft>
              <a:buSzPts val="1800"/>
              <a:buNone/>
            </a:pPr>
            <a:r>
              <a:rPr b="1" lang="es" sz="3000">
                <a:solidFill>
                  <a:srgbClr val="232B46"/>
                </a:solidFill>
                <a:latin typeface="Roboto"/>
                <a:ea typeface="Roboto"/>
                <a:cs typeface="Roboto"/>
                <a:sym typeface="Roboto"/>
              </a:rPr>
              <a:t>15.2. overflow-x y overflow-y</a:t>
            </a:r>
            <a:endParaRPr b="1" sz="3000">
              <a:solidFill>
                <a:srgbClr val="232B46"/>
              </a:solidFill>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latin typeface="Roboto"/>
                <a:ea typeface="Roboto"/>
                <a:cs typeface="Roboto"/>
                <a:sym typeface="Roboto"/>
              </a:rPr>
              <a:t>Las propiedades CSS overflow-x y overflow-y se utilizan para controlar el comportamiento de desbordamiento (overflow) en las dimensiones horizontal (eje x) y vertical (eje y) de un contenedor. Veamos los valores que admiten estas propiedades y algunos ejemplos de uso.</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0"/>
              </a:spcAft>
              <a:buSzPts val="1800"/>
              <a:buNone/>
            </a:pPr>
            <a:r>
              <a:t/>
            </a:r>
            <a:endParaRPr sz="1100">
              <a:solidFill>
                <a:srgbClr val="000000"/>
              </a:solidFill>
              <a:latin typeface="Arial"/>
              <a:ea typeface="Arial"/>
              <a:cs typeface="Arial"/>
              <a:sym typeface="Arial"/>
            </a:endParaRPr>
          </a:p>
          <a:p>
            <a:pPr indent="0" lvl="0" marL="139700" marR="139700" rtl="0" algn="l">
              <a:lnSpc>
                <a:spcPct val="116666"/>
              </a:lnSpc>
              <a:spcBef>
                <a:spcPts val="1100"/>
              </a:spcBef>
              <a:spcAft>
                <a:spcPts val="0"/>
              </a:spcAft>
              <a:buSzPts val="1800"/>
              <a:buNone/>
            </a:pPr>
            <a:r>
              <a:rPr b="1" lang="es" sz="1350">
                <a:solidFill>
                  <a:srgbClr val="000000"/>
                </a:solidFill>
                <a:latin typeface="Courier New"/>
                <a:ea typeface="Courier New"/>
                <a:cs typeface="Courier New"/>
                <a:sym typeface="Courier New"/>
              </a:rPr>
              <a:t>overflow-x /-y: visible|hidden|scroll|auto;</a:t>
            </a:r>
            <a:endParaRPr b="1" sz="1350">
              <a:solidFill>
                <a:srgbClr val="000000"/>
              </a:solidFill>
              <a:latin typeface="Courier New"/>
              <a:ea typeface="Courier New"/>
              <a:cs typeface="Courier New"/>
              <a:sym typeface="Courier New"/>
            </a:endParaRPr>
          </a:p>
          <a:p>
            <a:pPr indent="-314325" lvl="0" marL="749300" rtl="0" algn="l">
              <a:lnSpc>
                <a:spcPct val="115000"/>
              </a:lnSpc>
              <a:spcBef>
                <a:spcPts val="1500"/>
              </a:spcBef>
              <a:spcAft>
                <a:spcPts val="0"/>
              </a:spcAft>
              <a:buClr>
                <a:srgbClr val="2C3862"/>
              </a:buClr>
              <a:buSzPts val="1350"/>
              <a:buFont typeface="Roboto"/>
              <a:buChar char="●"/>
            </a:pPr>
            <a:r>
              <a:rPr b="1" lang="es" sz="1350">
                <a:solidFill>
                  <a:srgbClr val="2C3862"/>
                </a:solidFill>
                <a:latin typeface="Roboto"/>
                <a:ea typeface="Roboto"/>
                <a:cs typeface="Roboto"/>
                <a:sym typeface="Roboto"/>
              </a:rPr>
              <a:t>visible</a:t>
            </a:r>
            <a:r>
              <a:rPr lang="es" sz="1350">
                <a:solidFill>
                  <a:srgbClr val="2C3862"/>
                </a:solidFill>
                <a:latin typeface="Roboto"/>
                <a:ea typeface="Roboto"/>
                <a:cs typeface="Roboto"/>
                <a:sym typeface="Roboto"/>
              </a:rPr>
              <a:t>: Es el valor por defecto. El contenido desbordado se muestra fuera del contenedor sin recortarse.</a:t>
            </a:r>
            <a:endParaRPr sz="1350">
              <a:solidFill>
                <a:srgbClr val="2C3862"/>
              </a:solidFill>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Char char="●"/>
            </a:pPr>
            <a:r>
              <a:rPr b="1" lang="es" sz="1350">
                <a:solidFill>
                  <a:srgbClr val="2C3862"/>
                </a:solidFill>
                <a:latin typeface="Roboto"/>
                <a:ea typeface="Roboto"/>
                <a:cs typeface="Roboto"/>
                <a:sym typeface="Roboto"/>
              </a:rPr>
              <a:t>hidden</a:t>
            </a:r>
            <a:r>
              <a:rPr lang="es" sz="1350">
                <a:solidFill>
                  <a:srgbClr val="2C3862"/>
                </a:solidFill>
                <a:latin typeface="Roboto"/>
                <a:ea typeface="Roboto"/>
                <a:cs typeface="Roboto"/>
                <a:sym typeface="Roboto"/>
              </a:rPr>
              <a:t>: El contenido desbordado se oculta, y no es visible fuera del contenedor.</a:t>
            </a:r>
            <a:endParaRPr sz="1350">
              <a:solidFill>
                <a:srgbClr val="2C3862"/>
              </a:solidFill>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Char char="●"/>
            </a:pPr>
            <a:r>
              <a:rPr b="1" lang="es" sz="1350">
                <a:solidFill>
                  <a:srgbClr val="2C3862"/>
                </a:solidFill>
                <a:latin typeface="Roboto"/>
                <a:ea typeface="Roboto"/>
                <a:cs typeface="Roboto"/>
                <a:sym typeface="Roboto"/>
              </a:rPr>
              <a:t>scroll</a:t>
            </a:r>
            <a:r>
              <a:rPr lang="es" sz="1350">
                <a:solidFill>
                  <a:srgbClr val="2C3862"/>
                </a:solidFill>
                <a:latin typeface="Roboto"/>
                <a:ea typeface="Roboto"/>
                <a:cs typeface="Roboto"/>
                <a:sym typeface="Roboto"/>
              </a:rPr>
              <a:t>: Agrega barras de desplazamiento en el eje x, permitiendo al usuario desplazarse para ver el contenido oculto.</a:t>
            </a:r>
            <a:endParaRPr sz="1350">
              <a:solidFill>
                <a:srgbClr val="2C3862"/>
              </a:solidFill>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Char char="●"/>
            </a:pPr>
            <a:r>
              <a:rPr b="1" lang="es" sz="1350">
                <a:solidFill>
                  <a:srgbClr val="2C3862"/>
                </a:solidFill>
                <a:latin typeface="Roboto"/>
                <a:ea typeface="Roboto"/>
                <a:cs typeface="Roboto"/>
                <a:sym typeface="Roboto"/>
              </a:rPr>
              <a:t>auto</a:t>
            </a:r>
            <a:r>
              <a:rPr lang="es" sz="1350">
                <a:solidFill>
                  <a:srgbClr val="2C3862"/>
                </a:solidFill>
                <a:latin typeface="Roboto"/>
                <a:ea typeface="Roboto"/>
                <a:cs typeface="Roboto"/>
                <a:sym typeface="Roboto"/>
              </a:rPr>
              <a:t>: Similar a scroll, agrega barras de desplazamiento solo si es necesario. Si no hay desbordamiento, no se mostrarán las barras.</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9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16. Espacio entre elementos inline-block</a:t>
            </a:r>
            <a:endParaRPr/>
          </a:p>
        </p:txBody>
      </p:sp>
      <p:sp>
        <p:nvSpPr>
          <p:cNvPr id="654" name="Google Shape;654;p90"/>
          <p:cNvSpPr txBox="1"/>
          <p:nvPr>
            <p:ph idx="1" type="body"/>
          </p:nvPr>
        </p:nvSpPr>
        <p:spPr>
          <a:xfrm>
            <a:off x="311700" y="1152475"/>
            <a:ext cx="8520600" cy="39909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 sz="1350">
                <a:solidFill>
                  <a:srgbClr val="000000"/>
                </a:solidFill>
                <a:latin typeface="Roboto"/>
                <a:ea typeface="Roboto"/>
                <a:cs typeface="Roboto"/>
                <a:sym typeface="Roboto"/>
              </a:rPr>
              <a:t>Los elementos en línea-bloque, como divs con la propiedad </a:t>
            </a:r>
            <a:r>
              <a:rPr lang="es" sz="1350">
                <a:solidFill>
                  <a:srgbClr val="2991D6"/>
                </a:solidFill>
                <a:highlight>
                  <a:srgbClr val="FFFFFF"/>
                </a:highlight>
                <a:latin typeface="Courier New"/>
                <a:ea typeface="Courier New"/>
                <a:cs typeface="Courier New"/>
                <a:sym typeface="Courier New"/>
              </a:rPr>
              <a:t>display: inline-block;</a:t>
            </a:r>
            <a:r>
              <a:rPr lang="es" sz="1350">
                <a:solidFill>
                  <a:srgbClr val="000000"/>
                </a:solidFill>
                <a:latin typeface="Roboto"/>
                <a:ea typeface="Roboto"/>
                <a:cs typeface="Roboto"/>
                <a:sym typeface="Roboto"/>
              </a:rPr>
              <a:t>, pueden presentar un espacio adicional entre ellos. Este espacio puede causar que los elementos se visualicen en líneas separadas en lugar de estar uno al lado del otro.</a:t>
            </a:r>
            <a:endParaRPr sz="1350">
              <a:solidFill>
                <a:srgbClr val="000000"/>
              </a:solidFill>
              <a:latin typeface="Roboto"/>
              <a:ea typeface="Roboto"/>
              <a:cs typeface="Roboto"/>
              <a:sym typeface="Roboto"/>
            </a:endParaRPr>
          </a:p>
          <a:p>
            <a:pPr indent="-276225" lvl="0" marL="457200" rtl="0" algn="l">
              <a:lnSpc>
                <a:spcPct val="127358"/>
              </a:lnSpc>
              <a:spcBef>
                <a:spcPts val="1100"/>
              </a:spcBef>
              <a:spcAft>
                <a:spcPts val="0"/>
              </a:spcAft>
              <a:buClr>
                <a:srgbClr val="000000"/>
              </a:buClr>
              <a:buSzPts val="750"/>
              <a:buFont typeface="Roboto"/>
              <a:buChar char="●"/>
            </a:pPr>
            <a:r>
              <a:rPr b="1" lang="es" sz="2050">
                <a:solidFill>
                  <a:srgbClr val="232B46"/>
                </a:solidFill>
                <a:latin typeface="Roboto"/>
                <a:ea typeface="Roboto"/>
                <a:cs typeface="Roboto"/>
                <a:sym typeface="Roboto"/>
              </a:rPr>
              <a:t>1. Solución con comentarios en el código HTML (No recomendada)</a:t>
            </a:r>
            <a:endParaRPr b="1" sz="2050">
              <a:solidFill>
                <a:srgbClr val="232B46"/>
              </a:solidFill>
              <a:latin typeface="Roboto"/>
              <a:ea typeface="Roboto"/>
              <a:cs typeface="Roboto"/>
              <a:sym typeface="Roboto"/>
            </a:endParaRPr>
          </a:p>
          <a:p>
            <a:pPr indent="-314325" lvl="1" marL="914400" rtl="0" algn="l">
              <a:lnSpc>
                <a:spcPct val="127358"/>
              </a:lnSpc>
              <a:spcBef>
                <a:spcPts val="0"/>
              </a:spcBef>
              <a:spcAft>
                <a:spcPts val="0"/>
              </a:spcAft>
              <a:buClr>
                <a:srgbClr val="000000"/>
              </a:buClr>
              <a:buSzPts val="1350"/>
              <a:buFont typeface="Roboto"/>
              <a:buChar char="○"/>
            </a:pPr>
            <a:r>
              <a:rPr lang="es" sz="1100" u="sng">
                <a:solidFill>
                  <a:schemeClr val="hlink"/>
                </a:solidFill>
                <a:latin typeface="Arial"/>
                <a:ea typeface="Arial"/>
                <a:cs typeface="Arial"/>
                <a:sym typeface="Arial"/>
                <a:hlinkClick r:id="rId3"/>
              </a:rPr>
              <a:t>https://codepen.io/Eniun/pen/poGdarW</a:t>
            </a:r>
            <a:r>
              <a:rPr lang="es"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298450" lvl="0" marL="457200" rtl="0" algn="l">
              <a:lnSpc>
                <a:spcPct val="127358"/>
              </a:lnSpc>
              <a:spcBef>
                <a:spcPts val="0"/>
              </a:spcBef>
              <a:spcAft>
                <a:spcPts val="0"/>
              </a:spcAft>
              <a:buClr>
                <a:srgbClr val="000000"/>
              </a:buClr>
              <a:buSzPts val="1100"/>
              <a:buFont typeface="Arial"/>
              <a:buChar char="●"/>
            </a:pPr>
            <a:r>
              <a:rPr b="1" lang="es" sz="2050">
                <a:solidFill>
                  <a:srgbClr val="232B46"/>
                </a:solidFill>
                <a:latin typeface="Roboto"/>
                <a:ea typeface="Roboto"/>
                <a:cs typeface="Roboto"/>
                <a:sym typeface="Roboto"/>
              </a:rPr>
              <a:t>2. Solución modificando el tamaño de fuente en el código CSS (No recomendada)</a:t>
            </a:r>
            <a:endParaRPr b="1" sz="2650">
              <a:solidFill>
                <a:srgbClr val="232B46"/>
              </a:solidFill>
              <a:latin typeface="Roboto"/>
              <a:ea typeface="Roboto"/>
              <a:cs typeface="Roboto"/>
              <a:sym typeface="Roboto"/>
            </a:endParaRPr>
          </a:p>
          <a:p>
            <a:pPr indent="-298450" lvl="1" marL="914400" rtl="0" algn="l">
              <a:lnSpc>
                <a:spcPct val="115000"/>
              </a:lnSpc>
              <a:spcBef>
                <a:spcPts val="0"/>
              </a:spcBef>
              <a:spcAft>
                <a:spcPts val="0"/>
              </a:spcAft>
              <a:buClr>
                <a:srgbClr val="000000"/>
              </a:buClr>
              <a:buSzPts val="1100"/>
              <a:buFont typeface="Arial"/>
              <a:buChar char="○"/>
            </a:pPr>
            <a:r>
              <a:rPr lang="es" sz="1100" u="sng">
                <a:solidFill>
                  <a:schemeClr val="hlink"/>
                </a:solidFill>
                <a:latin typeface="Arial"/>
                <a:ea typeface="Arial"/>
                <a:cs typeface="Arial"/>
                <a:sym typeface="Arial"/>
                <a:hlinkClick r:id="rId4"/>
              </a:rPr>
              <a:t>https://codepen.io/Eniun/pen/JjxyqpP</a:t>
            </a:r>
            <a:r>
              <a:rPr lang="es"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298450" lvl="0" marL="457200" rtl="0" algn="l">
              <a:lnSpc>
                <a:spcPct val="127358"/>
              </a:lnSpc>
              <a:spcBef>
                <a:spcPts val="0"/>
              </a:spcBef>
              <a:spcAft>
                <a:spcPts val="0"/>
              </a:spcAft>
              <a:buClr>
                <a:srgbClr val="000000"/>
              </a:buClr>
              <a:buSzPts val="1100"/>
              <a:buFont typeface="Arial"/>
              <a:buChar char="●"/>
            </a:pPr>
            <a:r>
              <a:rPr b="1" lang="es" sz="2050">
                <a:solidFill>
                  <a:srgbClr val="232B46"/>
                </a:solidFill>
                <a:latin typeface="Roboto"/>
                <a:ea typeface="Roboto"/>
                <a:cs typeface="Roboto"/>
                <a:sym typeface="Roboto"/>
              </a:rPr>
              <a:t>3. Solución al problema usando flotantes</a:t>
            </a:r>
            <a:endParaRPr b="1" sz="2050">
              <a:solidFill>
                <a:srgbClr val="232B46"/>
              </a:solidFill>
              <a:latin typeface="Roboto"/>
              <a:ea typeface="Roboto"/>
              <a:cs typeface="Roboto"/>
              <a:sym typeface="Roboto"/>
            </a:endParaRPr>
          </a:p>
          <a:p>
            <a:pPr indent="-298450" lvl="0" marL="457200" rtl="0" algn="l">
              <a:lnSpc>
                <a:spcPct val="127358"/>
              </a:lnSpc>
              <a:spcBef>
                <a:spcPts val="0"/>
              </a:spcBef>
              <a:spcAft>
                <a:spcPts val="0"/>
              </a:spcAft>
              <a:buClr>
                <a:srgbClr val="000000"/>
              </a:buClr>
              <a:buSzPts val="1100"/>
              <a:buFont typeface="Arial"/>
              <a:buChar char="●"/>
            </a:pPr>
            <a:r>
              <a:rPr b="1" lang="es" sz="2150">
                <a:solidFill>
                  <a:srgbClr val="232B46"/>
                </a:solidFill>
                <a:latin typeface="Roboto"/>
                <a:ea typeface="Roboto"/>
                <a:cs typeface="Roboto"/>
                <a:sym typeface="Roboto"/>
              </a:rPr>
              <a:t>4. Solución al problema usando Flexbox</a:t>
            </a:r>
            <a:endParaRPr b="1" sz="2150">
              <a:solidFill>
                <a:srgbClr val="232B46"/>
              </a:solidFill>
              <a:latin typeface="Roboto"/>
              <a:ea typeface="Roboto"/>
              <a:cs typeface="Roboto"/>
              <a:sym typeface="Roboto"/>
            </a:endParaRPr>
          </a:p>
          <a:p>
            <a:pPr indent="-314325" lvl="1" marL="914400" rtl="0" algn="l">
              <a:lnSpc>
                <a:spcPct val="127358"/>
              </a:lnSpc>
              <a:spcBef>
                <a:spcPts val="0"/>
              </a:spcBef>
              <a:spcAft>
                <a:spcPts val="0"/>
              </a:spcAft>
              <a:buClr>
                <a:srgbClr val="232B46"/>
              </a:buClr>
              <a:buSzPts val="1350"/>
              <a:buFont typeface="Roboto"/>
              <a:buChar char="○"/>
            </a:pPr>
            <a:r>
              <a:rPr b="1" lang="es" sz="1350" u="sng">
                <a:solidFill>
                  <a:schemeClr val="hlink"/>
                </a:solidFill>
                <a:latin typeface="Roboto"/>
                <a:ea typeface="Roboto"/>
                <a:cs typeface="Roboto"/>
                <a:sym typeface="Roboto"/>
                <a:hlinkClick r:id="rId5"/>
              </a:rPr>
              <a:t>https://codepen.io/Eniun/pen/jOdaZKG</a:t>
            </a:r>
            <a:r>
              <a:rPr b="1" lang="es" sz="1350">
                <a:solidFill>
                  <a:srgbClr val="232B46"/>
                </a:solidFill>
                <a:latin typeface="Roboto"/>
                <a:ea typeface="Roboto"/>
                <a:cs typeface="Roboto"/>
                <a:sym typeface="Roboto"/>
              </a:rPr>
              <a:t> </a:t>
            </a:r>
            <a:endParaRPr b="1" sz="1350">
              <a:solidFill>
                <a:srgbClr val="232B46"/>
              </a:solidFill>
              <a:latin typeface="Roboto"/>
              <a:ea typeface="Roboto"/>
              <a:cs typeface="Roboto"/>
              <a:sym typeface="Roboto"/>
            </a:endParaRPr>
          </a:p>
          <a:p>
            <a:pPr indent="-266700" lvl="0" marL="457200" rtl="0" algn="l">
              <a:lnSpc>
                <a:spcPct val="127358"/>
              </a:lnSpc>
              <a:spcBef>
                <a:spcPts val="0"/>
              </a:spcBef>
              <a:spcAft>
                <a:spcPts val="0"/>
              </a:spcAft>
              <a:buClr>
                <a:srgbClr val="000000"/>
              </a:buClr>
              <a:buSzPts val="600"/>
              <a:buFont typeface="Arial"/>
              <a:buChar char="●"/>
            </a:pPr>
            <a:r>
              <a:rPr b="1" lang="es" sz="2150">
                <a:solidFill>
                  <a:srgbClr val="232B46"/>
                </a:solidFill>
                <a:latin typeface="Roboto"/>
                <a:ea typeface="Roboto"/>
                <a:cs typeface="Roboto"/>
                <a:sym typeface="Roboto"/>
              </a:rPr>
              <a:t>5. Solución al usando CSS Grid</a:t>
            </a:r>
            <a:endParaRPr sz="600">
              <a:solidFill>
                <a:srgbClr val="000000"/>
              </a:solidFill>
              <a:latin typeface="Arial"/>
              <a:ea typeface="Arial"/>
              <a:cs typeface="Arial"/>
              <a:sym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9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17. Estilos en formularios CSS</a:t>
            </a:r>
            <a:endParaRPr/>
          </a:p>
        </p:txBody>
      </p:sp>
      <p:sp>
        <p:nvSpPr>
          <p:cNvPr id="660" name="Google Shape;660;p91"/>
          <p:cNvSpPr txBox="1"/>
          <p:nvPr>
            <p:ph idx="1" type="body"/>
          </p:nvPr>
        </p:nvSpPr>
        <p:spPr>
          <a:xfrm>
            <a:off x="311700" y="1152475"/>
            <a:ext cx="8520600" cy="43107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1800"/>
              </a:spcBef>
              <a:spcAft>
                <a:spcPts val="0"/>
              </a:spcAft>
              <a:buSzPts val="1800"/>
              <a:buNone/>
            </a:pPr>
            <a:r>
              <a:rPr b="1" lang="es" sz="1700">
                <a:solidFill>
                  <a:srgbClr val="000000"/>
                </a:solidFill>
                <a:latin typeface="Arial"/>
                <a:ea typeface="Arial"/>
                <a:cs typeface="Arial"/>
                <a:sym typeface="Arial"/>
              </a:rPr>
              <a:t>1. Propiedad </a:t>
            </a:r>
            <a:r>
              <a:rPr b="1" i="1" lang="es" sz="1700">
                <a:solidFill>
                  <a:srgbClr val="000000"/>
                </a:solidFill>
                <a:latin typeface="Arial"/>
                <a:ea typeface="Arial"/>
                <a:cs typeface="Arial"/>
                <a:sym typeface="Arial"/>
              </a:rPr>
              <a:t>box-sizing</a:t>
            </a:r>
            <a:endParaRPr b="1" i="1" sz="1700">
              <a:solidFill>
                <a:srgbClr val="000000"/>
              </a:solidFill>
              <a:latin typeface="Arial"/>
              <a:ea typeface="Arial"/>
              <a:cs typeface="Arial"/>
              <a:sym typeface="Arial"/>
            </a:endParaRPr>
          </a:p>
          <a:p>
            <a:pPr indent="0" lvl="0" marL="0" rtl="0" algn="l">
              <a:lnSpc>
                <a:spcPct val="115000"/>
              </a:lnSpc>
              <a:spcBef>
                <a:spcPts val="1800"/>
              </a:spcBef>
              <a:spcAft>
                <a:spcPts val="0"/>
              </a:spcAft>
              <a:buSzPts val="1800"/>
              <a:buNone/>
            </a:pPr>
            <a:r>
              <a:t/>
            </a:r>
            <a:endParaRPr b="1" i="1" sz="1700">
              <a:solidFill>
                <a:srgbClr val="000000"/>
              </a:solidFill>
              <a:latin typeface="Arial"/>
              <a:ea typeface="Arial"/>
              <a:cs typeface="Arial"/>
              <a:sym typeface="Arial"/>
            </a:endParaRPr>
          </a:p>
          <a:p>
            <a:pPr indent="0" lvl="0" marL="0" rtl="0" algn="l">
              <a:lnSpc>
                <a:spcPct val="115000"/>
              </a:lnSpc>
              <a:spcBef>
                <a:spcPts val="1800"/>
              </a:spcBef>
              <a:spcAft>
                <a:spcPts val="0"/>
              </a:spcAft>
              <a:buSzPts val="1800"/>
              <a:buNone/>
            </a:pPr>
            <a:r>
              <a:t/>
            </a:r>
            <a:endParaRPr b="1" i="1" sz="1700">
              <a:solidFill>
                <a:srgbClr val="000000"/>
              </a:solidFill>
              <a:latin typeface="Arial"/>
              <a:ea typeface="Arial"/>
              <a:cs typeface="Arial"/>
              <a:sym typeface="Arial"/>
            </a:endParaRPr>
          </a:p>
          <a:p>
            <a:pPr indent="0" lvl="0" marL="0" rtl="0" algn="l">
              <a:lnSpc>
                <a:spcPct val="115000"/>
              </a:lnSpc>
              <a:spcBef>
                <a:spcPts val="1800"/>
              </a:spcBef>
              <a:spcAft>
                <a:spcPts val="0"/>
              </a:spcAft>
              <a:buSzPts val="1800"/>
              <a:buNone/>
            </a:pPr>
            <a:r>
              <a:t/>
            </a:r>
            <a:endParaRPr b="1" i="1" sz="1700">
              <a:solidFill>
                <a:srgbClr val="000000"/>
              </a:solidFill>
              <a:latin typeface="Arial"/>
              <a:ea typeface="Arial"/>
              <a:cs typeface="Arial"/>
              <a:sym typeface="Arial"/>
            </a:endParaRPr>
          </a:p>
          <a:p>
            <a:pPr indent="0" lvl="0" marL="0" rtl="0" algn="l">
              <a:lnSpc>
                <a:spcPct val="115000"/>
              </a:lnSpc>
              <a:spcBef>
                <a:spcPts val="1800"/>
              </a:spcBef>
              <a:spcAft>
                <a:spcPts val="0"/>
              </a:spcAft>
              <a:buSzPts val="1800"/>
              <a:buNone/>
            </a:pPr>
            <a:r>
              <a:t/>
            </a:r>
            <a:endParaRPr b="1" i="1" sz="1700">
              <a:solidFill>
                <a:srgbClr val="000000"/>
              </a:solidFill>
              <a:latin typeface="Arial"/>
              <a:ea typeface="Arial"/>
              <a:cs typeface="Arial"/>
              <a:sym typeface="Arial"/>
            </a:endParaRPr>
          </a:p>
          <a:p>
            <a:pPr indent="0" lvl="0" marL="0" rtl="0" algn="l">
              <a:lnSpc>
                <a:spcPct val="115000"/>
              </a:lnSpc>
              <a:spcBef>
                <a:spcPts val="1800"/>
              </a:spcBef>
              <a:spcAft>
                <a:spcPts val="0"/>
              </a:spcAft>
              <a:buSzPts val="1800"/>
              <a:buNone/>
            </a:pPr>
            <a:r>
              <a:t/>
            </a:r>
            <a:endParaRPr b="1" i="1" sz="1700">
              <a:solidFill>
                <a:srgbClr val="000000"/>
              </a:solidFill>
              <a:latin typeface="Arial"/>
              <a:ea typeface="Arial"/>
              <a:cs typeface="Arial"/>
              <a:sym typeface="Arial"/>
            </a:endParaRPr>
          </a:p>
          <a:p>
            <a:pPr indent="0" lvl="0" marL="0" rtl="0" algn="l">
              <a:lnSpc>
                <a:spcPct val="115000"/>
              </a:lnSpc>
              <a:spcBef>
                <a:spcPts val="1800"/>
              </a:spcBef>
              <a:spcAft>
                <a:spcPts val="0"/>
              </a:spcAft>
              <a:buSzPts val="1800"/>
              <a:buNone/>
            </a:pPr>
            <a:r>
              <a:t/>
            </a:r>
            <a:endParaRPr b="1" i="1" sz="1700">
              <a:solidFill>
                <a:srgbClr val="000000"/>
              </a:solidFill>
              <a:latin typeface="Arial"/>
              <a:ea typeface="Arial"/>
              <a:cs typeface="Arial"/>
              <a:sym typeface="Arial"/>
            </a:endParaRPr>
          </a:p>
          <a:p>
            <a:pPr indent="0" lvl="0" marL="0" rtl="0" algn="l">
              <a:lnSpc>
                <a:spcPct val="115000"/>
              </a:lnSpc>
              <a:spcBef>
                <a:spcPts val="400"/>
              </a:spcBef>
              <a:spcAft>
                <a:spcPts val="0"/>
              </a:spcAft>
              <a:buSzPts val="1800"/>
              <a:buNone/>
            </a:pPr>
            <a:r>
              <a:rPr lang="es" u="sng">
                <a:solidFill>
                  <a:schemeClr val="accent5"/>
                </a:solidFill>
                <a:hlinkClick r:id="rId3">
                  <a:extLst>
                    <a:ext uri="{A12FA001-AC4F-418D-AE19-62706E023703}">
                      <ahyp:hlinkClr val="tx"/>
                    </a:ext>
                  </a:extLst>
                </a:hlinkClick>
              </a:rPr>
              <a:t>https://codepen.io/Eniun/pen/ZEZqxVP?editors=1100</a:t>
            </a:r>
            <a:endParaRPr b="1" i="1" sz="17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a:p>
        </p:txBody>
      </p:sp>
      <p:pic>
        <p:nvPicPr>
          <p:cNvPr id="661" name="Google Shape;661;p91"/>
          <p:cNvPicPr preferRelativeResize="0"/>
          <p:nvPr/>
        </p:nvPicPr>
        <p:blipFill rotWithShape="1">
          <a:blip r:embed="rId4">
            <a:alphaModFix/>
          </a:blip>
          <a:srcRect b="0" l="0" r="0" t="0"/>
          <a:stretch/>
        </p:blipFill>
        <p:spPr>
          <a:xfrm>
            <a:off x="455800" y="1689100"/>
            <a:ext cx="6362700" cy="234315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9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17. Estilos en formularios CSS</a:t>
            </a:r>
            <a:endParaRPr/>
          </a:p>
        </p:txBody>
      </p:sp>
      <p:sp>
        <p:nvSpPr>
          <p:cNvPr id="667" name="Google Shape;667;p92"/>
          <p:cNvSpPr txBox="1"/>
          <p:nvPr>
            <p:ph idx="1" type="body"/>
          </p:nvPr>
        </p:nvSpPr>
        <p:spPr>
          <a:xfrm>
            <a:off x="311700" y="1152475"/>
            <a:ext cx="8520600" cy="4310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SzPts val="1800"/>
              <a:buNone/>
            </a:pPr>
            <a:r>
              <a:rPr b="1" lang="es" sz="1700">
                <a:solidFill>
                  <a:srgbClr val="000000"/>
                </a:solidFill>
                <a:latin typeface="Arial"/>
                <a:ea typeface="Arial"/>
                <a:cs typeface="Arial"/>
                <a:sym typeface="Arial"/>
              </a:rPr>
              <a:t>2. Propiedad </a:t>
            </a:r>
            <a:r>
              <a:rPr b="1" i="1" lang="es" sz="1700">
                <a:solidFill>
                  <a:srgbClr val="000000"/>
                </a:solidFill>
                <a:latin typeface="Arial"/>
                <a:ea typeface="Arial"/>
                <a:cs typeface="Arial"/>
                <a:sym typeface="Arial"/>
              </a:rPr>
              <a:t>resize</a:t>
            </a:r>
            <a:endParaRPr b="1" i="1" sz="17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es" sz="1100">
                <a:solidFill>
                  <a:srgbClr val="000000"/>
                </a:solidFill>
                <a:latin typeface="Arial"/>
                <a:ea typeface="Arial"/>
                <a:cs typeface="Arial"/>
                <a:sym typeface="Arial"/>
              </a:rPr>
              <a:t>Por defecto, los elementos </a:t>
            </a:r>
            <a:r>
              <a:rPr lang="es" sz="1100">
                <a:solidFill>
                  <a:srgbClr val="188038"/>
                </a:solidFill>
                <a:latin typeface="Roboto Mono"/>
                <a:ea typeface="Roboto Mono"/>
                <a:cs typeface="Roboto Mono"/>
                <a:sym typeface="Roboto Mono"/>
              </a:rPr>
              <a:t>&lt;textarea&gt;</a:t>
            </a:r>
            <a:r>
              <a:rPr lang="es" sz="1100">
                <a:solidFill>
                  <a:srgbClr val="000000"/>
                </a:solidFill>
                <a:latin typeface="Arial"/>
                <a:ea typeface="Arial"/>
                <a:cs typeface="Arial"/>
                <a:sym typeface="Arial"/>
              </a:rPr>
              <a:t> permiten cambiar el tamaño por el usuario. Podemos anular este comportamiento utilizando la propiedad «</a:t>
            </a:r>
            <a:r>
              <a:rPr i="1" lang="es" sz="1100">
                <a:solidFill>
                  <a:srgbClr val="000000"/>
                </a:solidFill>
                <a:latin typeface="Arial"/>
                <a:ea typeface="Arial"/>
                <a:cs typeface="Arial"/>
                <a:sym typeface="Arial"/>
              </a:rPr>
              <a:t>resize:none</a:t>
            </a:r>
            <a:r>
              <a:rPr lang="e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rPr lang="es" sz="1100">
                <a:solidFill>
                  <a:srgbClr val="000000"/>
                </a:solidFill>
                <a:latin typeface="Arial"/>
                <a:ea typeface="Arial"/>
                <a:cs typeface="Arial"/>
                <a:sym typeface="Arial"/>
              </a:rPr>
              <a:t>Valores: </a:t>
            </a:r>
            <a:r>
              <a:rPr b="1" lang="es" sz="1100">
                <a:solidFill>
                  <a:srgbClr val="000000"/>
                </a:solidFill>
                <a:latin typeface="Arial"/>
                <a:ea typeface="Arial"/>
                <a:cs typeface="Arial"/>
                <a:sym typeface="Arial"/>
              </a:rPr>
              <a:t>none | both | horizontal | vertical</a:t>
            </a:r>
            <a:endParaRPr/>
          </a:p>
        </p:txBody>
      </p:sp>
      <p:pic>
        <p:nvPicPr>
          <p:cNvPr id="668" name="Google Shape;668;p92"/>
          <p:cNvPicPr preferRelativeResize="0"/>
          <p:nvPr/>
        </p:nvPicPr>
        <p:blipFill rotWithShape="1">
          <a:blip r:embed="rId3">
            <a:alphaModFix/>
          </a:blip>
          <a:srcRect b="0" l="0" r="0" t="0"/>
          <a:stretch/>
        </p:blipFill>
        <p:spPr>
          <a:xfrm>
            <a:off x="1159750" y="2571750"/>
            <a:ext cx="6362700" cy="234315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9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17. Estilos en formularios CSS</a:t>
            </a:r>
            <a:endParaRPr/>
          </a:p>
        </p:txBody>
      </p:sp>
      <p:sp>
        <p:nvSpPr>
          <p:cNvPr id="674" name="Google Shape;674;p93"/>
          <p:cNvSpPr txBox="1"/>
          <p:nvPr>
            <p:ph idx="1" type="body"/>
          </p:nvPr>
        </p:nvSpPr>
        <p:spPr>
          <a:xfrm>
            <a:off x="311700" y="1152475"/>
            <a:ext cx="8520600" cy="4310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SzPts val="1800"/>
              <a:buNone/>
            </a:pPr>
            <a:r>
              <a:rPr b="1" lang="es" sz="2000">
                <a:solidFill>
                  <a:srgbClr val="000000"/>
                </a:solidFill>
                <a:latin typeface="Arial"/>
                <a:ea typeface="Arial"/>
                <a:cs typeface="Arial"/>
                <a:sym typeface="Arial"/>
              </a:rPr>
              <a:t>3. Estilos en el input: pseudo-clase </a:t>
            </a:r>
            <a:r>
              <a:rPr b="1" lang="es" sz="2000">
                <a:solidFill>
                  <a:srgbClr val="188038"/>
                </a:solidFill>
                <a:latin typeface="Roboto Mono"/>
                <a:ea typeface="Roboto Mono"/>
                <a:cs typeface="Roboto Mono"/>
                <a:sym typeface="Roboto Mono"/>
              </a:rPr>
              <a:t>:focus</a:t>
            </a:r>
            <a:endParaRPr b="1" sz="2000">
              <a:solidFill>
                <a:srgbClr val="188038"/>
              </a:solidFill>
              <a:latin typeface="Roboto Mono"/>
              <a:ea typeface="Roboto Mono"/>
              <a:cs typeface="Roboto Mono"/>
              <a:sym typeface="Roboto Mono"/>
            </a:endParaRPr>
          </a:p>
          <a:p>
            <a:pPr indent="0" lvl="0" marL="0" rtl="0" algn="l">
              <a:lnSpc>
                <a:spcPct val="115000"/>
              </a:lnSpc>
              <a:spcBef>
                <a:spcPts val="1200"/>
              </a:spcBef>
              <a:spcAft>
                <a:spcPts val="0"/>
              </a:spcAft>
              <a:buSzPts val="1800"/>
              <a:buNone/>
            </a:pPr>
            <a:r>
              <a:rPr lang="es" sz="1400">
                <a:solidFill>
                  <a:srgbClr val="000000"/>
                </a:solidFill>
                <a:latin typeface="Arial"/>
                <a:ea typeface="Arial"/>
                <a:cs typeface="Arial"/>
                <a:sym typeface="Arial"/>
              </a:rPr>
              <a:t>Cuando un usuario interactúa con un input, ya sea para ingresar texto o seleccionar una opción, es importante proporcionar retroalimentación visual para mejorar la experiencia del usuario. Una forma de lograr esto es aplicando estilos específicos cuando el input está en estado </a:t>
            </a:r>
            <a:r>
              <a:rPr lang="es" sz="1400">
                <a:solidFill>
                  <a:srgbClr val="188038"/>
                </a:solidFill>
                <a:latin typeface="Roboto Mono"/>
                <a:ea typeface="Roboto Mono"/>
                <a:cs typeface="Roboto Mono"/>
                <a:sym typeface="Roboto Mono"/>
              </a:rPr>
              <a:t>:focus</a:t>
            </a:r>
            <a:r>
              <a:rPr lang="es"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rPr lang="es" sz="1400">
                <a:solidFill>
                  <a:srgbClr val="000000"/>
                </a:solidFill>
                <a:latin typeface="Arial"/>
                <a:ea typeface="Arial"/>
                <a:cs typeface="Arial"/>
                <a:sym typeface="Arial"/>
              </a:rPr>
              <a:t>El pseudo-clase </a:t>
            </a:r>
            <a:r>
              <a:rPr lang="es" sz="1400">
                <a:solidFill>
                  <a:srgbClr val="188038"/>
                </a:solidFill>
                <a:latin typeface="Roboto Mono"/>
                <a:ea typeface="Roboto Mono"/>
                <a:cs typeface="Roboto Mono"/>
                <a:sym typeface="Roboto Mono"/>
              </a:rPr>
              <a:t>:focus</a:t>
            </a:r>
            <a:r>
              <a:rPr lang="es" sz="1400">
                <a:solidFill>
                  <a:srgbClr val="000000"/>
                </a:solidFill>
                <a:latin typeface="Arial"/>
                <a:ea typeface="Arial"/>
                <a:cs typeface="Arial"/>
                <a:sym typeface="Arial"/>
              </a:rPr>
              <a:t> se utiliza para aplicar estilos a un elemento cuando recibe el foco de atención. Por ejemplo, cuando un usuario hace clic en un input, este entra en estado </a:t>
            </a:r>
            <a:r>
              <a:rPr lang="es" sz="1400">
                <a:solidFill>
                  <a:srgbClr val="188038"/>
                </a:solidFill>
                <a:latin typeface="Roboto Mono"/>
                <a:ea typeface="Roboto Mono"/>
                <a:cs typeface="Roboto Mono"/>
                <a:sym typeface="Roboto Mono"/>
              </a:rPr>
              <a:t>:focus</a:t>
            </a:r>
            <a:r>
              <a:rPr lang="es" sz="1400">
                <a:solidFill>
                  <a:srgbClr val="000000"/>
                </a:solidFill>
                <a:latin typeface="Arial"/>
                <a:ea typeface="Arial"/>
                <a:cs typeface="Arial"/>
                <a:sym typeface="Arial"/>
              </a:rPr>
              <a:t>. Veamos algunas técnicas comunes para estilizar inputs en estado </a:t>
            </a:r>
            <a:r>
              <a:rPr lang="es" sz="1400">
                <a:solidFill>
                  <a:srgbClr val="188038"/>
                </a:solidFill>
                <a:latin typeface="Roboto Mono"/>
                <a:ea typeface="Roboto Mono"/>
                <a:cs typeface="Roboto Mono"/>
                <a:sym typeface="Roboto Mono"/>
              </a:rPr>
              <a:t>:focus</a:t>
            </a:r>
            <a:r>
              <a:rPr lang="es" sz="1400">
                <a:solidFill>
                  <a:srgbClr val="000000"/>
                </a:solidFill>
                <a:latin typeface="Arial"/>
                <a:ea typeface="Arial"/>
                <a:cs typeface="Arial"/>
                <a:sym typeface="Arial"/>
              </a:rPr>
              <a:t>:</a:t>
            </a:r>
            <a:endParaRPr sz="2100"/>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9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17. Estilos en formularios CSS</a:t>
            </a:r>
            <a:endParaRPr/>
          </a:p>
        </p:txBody>
      </p:sp>
      <p:sp>
        <p:nvSpPr>
          <p:cNvPr id="680" name="Google Shape;680;p94"/>
          <p:cNvSpPr txBox="1"/>
          <p:nvPr>
            <p:ph idx="1" type="body"/>
          </p:nvPr>
        </p:nvSpPr>
        <p:spPr>
          <a:xfrm>
            <a:off x="311700" y="1152475"/>
            <a:ext cx="8520600" cy="3826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SzPts val="1800"/>
              <a:buNone/>
            </a:pPr>
            <a:r>
              <a:rPr b="1" lang="es" sz="2000">
                <a:solidFill>
                  <a:srgbClr val="000000"/>
                </a:solidFill>
                <a:latin typeface="Arial"/>
                <a:ea typeface="Arial"/>
                <a:cs typeface="Arial"/>
                <a:sym typeface="Arial"/>
              </a:rPr>
              <a:t>3. Estilos en el input: pseudo-clase </a:t>
            </a:r>
            <a:r>
              <a:rPr b="1" lang="es" sz="2000">
                <a:solidFill>
                  <a:srgbClr val="188038"/>
                </a:solidFill>
                <a:latin typeface="Roboto Mono"/>
                <a:ea typeface="Roboto Mono"/>
                <a:cs typeface="Roboto Mono"/>
                <a:sym typeface="Roboto Mono"/>
              </a:rPr>
              <a:t>:focus</a:t>
            </a:r>
            <a:endParaRPr b="1" sz="2000">
              <a:solidFill>
                <a:srgbClr val="188038"/>
              </a:solidFill>
              <a:latin typeface="Roboto Mono"/>
              <a:ea typeface="Roboto Mono"/>
              <a:cs typeface="Roboto Mono"/>
              <a:sym typeface="Roboto Mono"/>
            </a:endParaRPr>
          </a:p>
          <a:p>
            <a:pPr indent="0" lvl="0" marL="0" rtl="0" algn="l">
              <a:lnSpc>
                <a:spcPct val="115000"/>
              </a:lnSpc>
              <a:spcBef>
                <a:spcPts val="1400"/>
              </a:spcBef>
              <a:spcAft>
                <a:spcPts val="0"/>
              </a:spcAft>
              <a:buSzPts val="1800"/>
              <a:buNone/>
            </a:pPr>
            <a:r>
              <a:rPr b="1" lang="es" sz="1600">
                <a:solidFill>
                  <a:srgbClr val="000000"/>
                </a:solidFill>
                <a:latin typeface="Arial"/>
                <a:ea typeface="Arial"/>
                <a:cs typeface="Arial"/>
                <a:sym typeface="Arial"/>
              </a:rPr>
              <a:t>3.1. Eliminar el contorno predeterminado</a:t>
            </a:r>
            <a:endParaRPr b="1" sz="16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es" sz="1400">
                <a:solidFill>
                  <a:srgbClr val="000000"/>
                </a:solidFill>
                <a:latin typeface="Arial"/>
                <a:ea typeface="Arial"/>
                <a:cs typeface="Arial"/>
                <a:sym typeface="Arial"/>
              </a:rPr>
              <a:t>Por defecto, los navegadores suelen agregar un contorno alrededor del input cuando está en estado </a:t>
            </a:r>
            <a:r>
              <a:rPr lang="es" sz="1400">
                <a:solidFill>
                  <a:srgbClr val="188038"/>
                </a:solidFill>
                <a:latin typeface="Roboto Mono"/>
                <a:ea typeface="Roboto Mono"/>
                <a:cs typeface="Roboto Mono"/>
                <a:sym typeface="Roboto Mono"/>
              </a:rPr>
              <a:t>:focus</a:t>
            </a:r>
            <a:r>
              <a:rPr lang="es" sz="1400">
                <a:solidFill>
                  <a:srgbClr val="000000"/>
                </a:solidFill>
                <a:latin typeface="Arial"/>
                <a:ea typeface="Arial"/>
                <a:cs typeface="Arial"/>
                <a:sym typeface="Arial"/>
              </a:rPr>
              <a:t>. Este contorno puede no ajustarse al diseño de tu sitio web o aplicación. Para eliminarlo, puedes usar la propiedad </a:t>
            </a:r>
            <a:r>
              <a:rPr lang="es" sz="1400">
                <a:solidFill>
                  <a:srgbClr val="188038"/>
                </a:solidFill>
                <a:latin typeface="Roboto Mono"/>
                <a:ea typeface="Roboto Mono"/>
                <a:cs typeface="Roboto Mono"/>
                <a:sym typeface="Roboto Mono"/>
              </a:rPr>
              <a:t>outline</a:t>
            </a:r>
            <a:r>
              <a:rPr lang="es"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es" sz="1400">
                <a:solidFill>
                  <a:srgbClr val="000000"/>
                </a:solidFill>
                <a:latin typeface="Arial"/>
                <a:ea typeface="Arial"/>
                <a:cs typeface="Arial"/>
                <a:sym typeface="Arial"/>
              </a:rPr>
              <a:t>input:focus {</a:t>
            </a:r>
            <a:endParaRPr sz="1400">
              <a:solidFill>
                <a:srgbClr val="000000"/>
              </a:solidFill>
              <a:latin typeface="Arial"/>
              <a:ea typeface="Arial"/>
              <a:cs typeface="Arial"/>
              <a:sym typeface="Arial"/>
            </a:endParaRPr>
          </a:p>
          <a:p>
            <a:pPr indent="457200" lvl="0" marL="0" rtl="0" algn="l">
              <a:lnSpc>
                <a:spcPct val="115000"/>
              </a:lnSpc>
              <a:spcBef>
                <a:spcPts val="1200"/>
              </a:spcBef>
              <a:spcAft>
                <a:spcPts val="0"/>
              </a:spcAft>
              <a:buSzPts val="1800"/>
              <a:buNone/>
            </a:pPr>
            <a:r>
              <a:rPr lang="es" sz="1400">
                <a:solidFill>
                  <a:srgbClr val="000000"/>
                </a:solidFill>
                <a:latin typeface="Arial"/>
                <a:ea typeface="Arial"/>
                <a:cs typeface="Arial"/>
                <a:sym typeface="Arial"/>
              </a:rPr>
              <a:t>outline: none;</a:t>
            </a:r>
            <a:endParaRPr sz="14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es"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sz="1100">
              <a:solidFill>
                <a:srgbClr val="000000"/>
              </a:solidFill>
              <a:latin typeface="Arial"/>
              <a:ea typeface="Arial"/>
              <a:cs typeface="Arial"/>
              <a:sym typeface="Arial"/>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9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17. Estilos en formularios CSS</a:t>
            </a:r>
            <a:endParaRPr/>
          </a:p>
        </p:txBody>
      </p:sp>
      <p:sp>
        <p:nvSpPr>
          <p:cNvPr id="686" name="Google Shape;686;p95"/>
          <p:cNvSpPr txBox="1"/>
          <p:nvPr>
            <p:ph idx="1" type="body"/>
          </p:nvPr>
        </p:nvSpPr>
        <p:spPr>
          <a:xfrm>
            <a:off x="311700" y="1152475"/>
            <a:ext cx="8520600" cy="3826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SzPts val="1800"/>
              <a:buNone/>
            </a:pPr>
            <a:r>
              <a:rPr b="1" lang="es" sz="2000">
                <a:solidFill>
                  <a:srgbClr val="000000"/>
                </a:solidFill>
                <a:latin typeface="Arial"/>
                <a:ea typeface="Arial"/>
                <a:cs typeface="Arial"/>
                <a:sym typeface="Arial"/>
              </a:rPr>
              <a:t>3. Estilos en el input: pseudo-clase </a:t>
            </a:r>
            <a:r>
              <a:rPr b="1" lang="es" sz="2000">
                <a:solidFill>
                  <a:srgbClr val="188038"/>
                </a:solidFill>
                <a:latin typeface="Roboto Mono"/>
                <a:ea typeface="Roboto Mono"/>
                <a:cs typeface="Roboto Mono"/>
                <a:sym typeface="Roboto Mono"/>
              </a:rPr>
              <a:t>:focus</a:t>
            </a:r>
            <a:endParaRPr b="1" sz="2000">
              <a:solidFill>
                <a:srgbClr val="188038"/>
              </a:solidFill>
              <a:latin typeface="Roboto Mono"/>
              <a:ea typeface="Roboto Mono"/>
              <a:cs typeface="Roboto Mono"/>
              <a:sym typeface="Roboto Mono"/>
            </a:endParaRPr>
          </a:p>
          <a:p>
            <a:pPr indent="0" lvl="0" marL="0" rtl="0" algn="l">
              <a:lnSpc>
                <a:spcPct val="115000"/>
              </a:lnSpc>
              <a:spcBef>
                <a:spcPts val="1400"/>
              </a:spcBef>
              <a:spcAft>
                <a:spcPts val="0"/>
              </a:spcAft>
              <a:buSzPts val="1800"/>
              <a:buNone/>
            </a:pPr>
            <a:r>
              <a:rPr b="1" lang="es" sz="1600">
                <a:solidFill>
                  <a:srgbClr val="000000"/>
                </a:solidFill>
                <a:latin typeface="Arial"/>
                <a:ea typeface="Arial"/>
                <a:cs typeface="Arial"/>
                <a:sym typeface="Arial"/>
              </a:rPr>
              <a:t>3.2. Estilizar el fondo y el borde</a:t>
            </a:r>
            <a:endParaRPr b="1" sz="16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es" sz="1400">
                <a:solidFill>
                  <a:srgbClr val="000000"/>
                </a:solidFill>
                <a:latin typeface="Arial"/>
                <a:ea typeface="Arial"/>
                <a:cs typeface="Arial"/>
                <a:sym typeface="Arial"/>
              </a:rPr>
              <a:t>Puedes personalizar el fondo y el borde del input cuando está en estado </a:t>
            </a:r>
            <a:r>
              <a:rPr lang="es" sz="1400">
                <a:solidFill>
                  <a:srgbClr val="188038"/>
                </a:solidFill>
                <a:latin typeface="Roboto Mono"/>
                <a:ea typeface="Roboto Mono"/>
                <a:cs typeface="Roboto Mono"/>
                <a:sym typeface="Roboto Mono"/>
              </a:rPr>
              <a:t>:focus</a:t>
            </a:r>
            <a:r>
              <a:rPr lang="es" sz="1400">
                <a:solidFill>
                  <a:srgbClr val="000000"/>
                </a:solidFill>
                <a:latin typeface="Arial"/>
                <a:ea typeface="Arial"/>
                <a:cs typeface="Arial"/>
                <a:sym typeface="Arial"/>
              </a:rPr>
              <a:t> para resaltar su estado activo. Por ejemplo:</a:t>
            </a:r>
            <a:endParaRPr sz="14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es" sz="1400">
                <a:solidFill>
                  <a:srgbClr val="000000"/>
                </a:solidFill>
                <a:latin typeface="Arial"/>
                <a:ea typeface="Arial"/>
                <a:cs typeface="Arial"/>
                <a:sym typeface="Arial"/>
              </a:rPr>
              <a:t>input:focus {</a:t>
            </a:r>
            <a:endParaRPr sz="1400">
              <a:solidFill>
                <a:srgbClr val="000000"/>
              </a:solidFill>
              <a:latin typeface="Arial"/>
              <a:ea typeface="Arial"/>
              <a:cs typeface="Arial"/>
              <a:sym typeface="Arial"/>
            </a:endParaRPr>
          </a:p>
          <a:p>
            <a:pPr indent="0" lvl="0" marL="457200" rtl="0" algn="l">
              <a:lnSpc>
                <a:spcPct val="115000"/>
              </a:lnSpc>
              <a:spcBef>
                <a:spcPts val="1200"/>
              </a:spcBef>
              <a:spcAft>
                <a:spcPts val="0"/>
              </a:spcAft>
              <a:buSzPts val="1800"/>
              <a:buNone/>
            </a:pPr>
            <a:r>
              <a:rPr lang="es" sz="1400">
                <a:solidFill>
                  <a:srgbClr val="000000"/>
                </a:solidFill>
                <a:latin typeface="Arial"/>
                <a:ea typeface="Arial"/>
                <a:cs typeface="Arial"/>
                <a:sym typeface="Arial"/>
              </a:rPr>
              <a:t>background-color: #f0f0f0;</a:t>
            </a:r>
            <a:endParaRPr sz="1400">
              <a:solidFill>
                <a:srgbClr val="000000"/>
              </a:solidFill>
              <a:latin typeface="Arial"/>
              <a:ea typeface="Arial"/>
              <a:cs typeface="Arial"/>
              <a:sym typeface="Arial"/>
            </a:endParaRPr>
          </a:p>
          <a:p>
            <a:pPr indent="0" lvl="0" marL="457200" rtl="0" algn="l">
              <a:lnSpc>
                <a:spcPct val="115000"/>
              </a:lnSpc>
              <a:spcBef>
                <a:spcPts val="1200"/>
              </a:spcBef>
              <a:spcAft>
                <a:spcPts val="0"/>
              </a:spcAft>
              <a:buSzPts val="1800"/>
              <a:buNone/>
            </a:pPr>
            <a:r>
              <a:rPr lang="es" sz="1400">
                <a:solidFill>
                  <a:srgbClr val="000000"/>
                </a:solidFill>
                <a:latin typeface="Arial"/>
                <a:ea typeface="Arial"/>
                <a:cs typeface="Arial"/>
                <a:sym typeface="Arial"/>
              </a:rPr>
              <a:t>border: 1px solid #ccc;</a:t>
            </a:r>
            <a:endParaRPr sz="14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es" sz="1400">
                <a:solidFill>
                  <a:srgbClr val="000000"/>
                </a:solidFill>
                <a:latin typeface="Arial"/>
                <a:ea typeface="Arial"/>
                <a:cs typeface="Arial"/>
                <a:sym typeface="Arial"/>
              </a:rPr>
              <a:t>}</a:t>
            </a:r>
            <a:endParaRPr b="1" sz="16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sz="1100">
              <a:solidFill>
                <a:srgbClr val="000000"/>
              </a:solidFill>
              <a:latin typeface="Arial"/>
              <a:ea typeface="Arial"/>
              <a:cs typeface="Arial"/>
              <a:sym typeface="Arial"/>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9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17. Estilos en formularios CSS</a:t>
            </a:r>
            <a:endParaRPr/>
          </a:p>
        </p:txBody>
      </p:sp>
      <p:sp>
        <p:nvSpPr>
          <p:cNvPr id="692" name="Google Shape;692;p96"/>
          <p:cNvSpPr txBox="1"/>
          <p:nvPr>
            <p:ph idx="1" type="body"/>
          </p:nvPr>
        </p:nvSpPr>
        <p:spPr>
          <a:xfrm>
            <a:off x="311700" y="1152475"/>
            <a:ext cx="8520600" cy="40863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1800"/>
              </a:spcBef>
              <a:spcAft>
                <a:spcPts val="0"/>
              </a:spcAft>
              <a:buSzPct val="97297"/>
              <a:buNone/>
            </a:pPr>
            <a:r>
              <a:rPr b="1" lang="es" sz="2000">
                <a:solidFill>
                  <a:srgbClr val="000000"/>
                </a:solidFill>
                <a:latin typeface="Arial"/>
                <a:ea typeface="Arial"/>
                <a:cs typeface="Arial"/>
                <a:sym typeface="Arial"/>
              </a:rPr>
              <a:t>3. Estilos en el input: pseudo-clase </a:t>
            </a:r>
            <a:r>
              <a:rPr b="1" lang="es" sz="2000">
                <a:solidFill>
                  <a:srgbClr val="188038"/>
                </a:solidFill>
                <a:latin typeface="Roboto Mono"/>
                <a:ea typeface="Roboto Mono"/>
                <a:cs typeface="Roboto Mono"/>
                <a:sym typeface="Roboto Mono"/>
              </a:rPr>
              <a:t>:focus</a:t>
            </a:r>
            <a:endParaRPr b="1" sz="2000">
              <a:solidFill>
                <a:srgbClr val="188038"/>
              </a:solidFill>
              <a:latin typeface="Roboto Mono"/>
              <a:ea typeface="Roboto Mono"/>
              <a:cs typeface="Roboto Mono"/>
              <a:sym typeface="Roboto Mono"/>
            </a:endParaRPr>
          </a:p>
          <a:p>
            <a:pPr indent="0" lvl="0" marL="0" rtl="0" algn="l">
              <a:lnSpc>
                <a:spcPct val="115000"/>
              </a:lnSpc>
              <a:spcBef>
                <a:spcPts val="1400"/>
              </a:spcBef>
              <a:spcAft>
                <a:spcPts val="0"/>
              </a:spcAft>
              <a:buSzPct val="121621"/>
              <a:buNone/>
            </a:pPr>
            <a:r>
              <a:rPr b="1" lang="es" sz="1600">
                <a:solidFill>
                  <a:srgbClr val="000000"/>
                </a:solidFill>
                <a:latin typeface="Arial"/>
                <a:ea typeface="Arial"/>
                <a:cs typeface="Arial"/>
                <a:sym typeface="Arial"/>
              </a:rPr>
              <a:t>3.3. Animaciones y transiciones</a:t>
            </a:r>
            <a:endParaRPr b="1" sz="1600">
              <a:solidFill>
                <a:srgbClr val="000000"/>
              </a:solidFill>
              <a:latin typeface="Arial"/>
              <a:ea typeface="Arial"/>
              <a:cs typeface="Arial"/>
              <a:sym typeface="Arial"/>
            </a:endParaRPr>
          </a:p>
          <a:p>
            <a:pPr indent="0" lvl="0" marL="0" rtl="0" algn="l">
              <a:lnSpc>
                <a:spcPct val="115000"/>
              </a:lnSpc>
              <a:spcBef>
                <a:spcPts val="1200"/>
              </a:spcBef>
              <a:spcAft>
                <a:spcPts val="0"/>
              </a:spcAft>
              <a:buSzPct val="138996"/>
              <a:buNone/>
            </a:pPr>
            <a:r>
              <a:rPr lang="es" sz="1400">
                <a:solidFill>
                  <a:srgbClr val="000000"/>
                </a:solidFill>
                <a:latin typeface="Arial"/>
                <a:ea typeface="Arial"/>
                <a:cs typeface="Arial"/>
                <a:sym typeface="Arial"/>
              </a:rPr>
              <a:t>Agregar animaciones o</a:t>
            </a:r>
            <a:r>
              <a:rPr lang="es" sz="1400">
                <a:solidFill>
                  <a:srgbClr val="000000"/>
                </a:solidFill>
                <a:uFill>
                  <a:noFill/>
                </a:uFill>
                <a:latin typeface="Arial"/>
                <a:ea typeface="Arial"/>
                <a:cs typeface="Arial"/>
                <a:sym typeface="Arial"/>
                <a:hlinkClick r:id="rId3">
                  <a:extLst>
                    <a:ext uri="{A12FA001-AC4F-418D-AE19-62706E023703}">
                      <ahyp:hlinkClr val="tx"/>
                    </a:ext>
                  </a:extLst>
                </a:hlinkClick>
              </a:rPr>
              <a:t> </a:t>
            </a:r>
            <a:r>
              <a:rPr b="1" lang="es" sz="1400" u="sng">
                <a:solidFill>
                  <a:schemeClr val="hlink"/>
                </a:solidFill>
                <a:latin typeface="Arial"/>
                <a:ea typeface="Arial"/>
                <a:cs typeface="Arial"/>
                <a:sym typeface="Arial"/>
                <a:hlinkClick r:id="rId4"/>
              </a:rPr>
              <a:t>transiciones</a:t>
            </a:r>
            <a:r>
              <a:rPr lang="es" sz="1400">
                <a:solidFill>
                  <a:srgbClr val="000000"/>
                </a:solidFill>
                <a:latin typeface="Arial"/>
                <a:ea typeface="Arial"/>
                <a:cs typeface="Arial"/>
                <a:sym typeface="Arial"/>
              </a:rPr>
              <a:t> sutiles puede hacer que la interacción con los inputs sea más atractiva. Por ejemplo, puedes animar el cambio de color del borde cuando el input está en estado </a:t>
            </a:r>
            <a:r>
              <a:rPr lang="es" sz="1400">
                <a:solidFill>
                  <a:srgbClr val="188038"/>
                </a:solidFill>
                <a:latin typeface="Roboto Mono"/>
                <a:ea typeface="Roboto Mono"/>
                <a:cs typeface="Roboto Mono"/>
                <a:sym typeface="Roboto Mono"/>
              </a:rPr>
              <a:t>:focus</a:t>
            </a:r>
            <a:r>
              <a:rPr lang="es"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0" lvl="0" marL="0" rtl="0" algn="l">
              <a:lnSpc>
                <a:spcPct val="115000"/>
              </a:lnSpc>
              <a:spcBef>
                <a:spcPts val="1200"/>
              </a:spcBef>
              <a:spcAft>
                <a:spcPts val="0"/>
              </a:spcAft>
              <a:buSzPct val="138996"/>
              <a:buNone/>
            </a:pPr>
            <a:r>
              <a:rPr lang="es" sz="1400">
                <a:solidFill>
                  <a:srgbClr val="000000"/>
                </a:solidFill>
                <a:latin typeface="Arial"/>
                <a:ea typeface="Arial"/>
                <a:cs typeface="Arial"/>
                <a:sym typeface="Arial"/>
              </a:rPr>
              <a:t>input {</a:t>
            </a:r>
            <a:endParaRPr sz="1400">
              <a:solidFill>
                <a:srgbClr val="000000"/>
              </a:solidFill>
              <a:latin typeface="Arial"/>
              <a:ea typeface="Arial"/>
              <a:cs typeface="Arial"/>
              <a:sym typeface="Arial"/>
            </a:endParaRPr>
          </a:p>
          <a:p>
            <a:pPr indent="457200" lvl="0" marL="0" rtl="0" algn="l">
              <a:lnSpc>
                <a:spcPct val="115000"/>
              </a:lnSpc>
              <a:spcBef>
                <a:spcPts val="1200"/>
              </a:spcBef>
              <a:spcAft>
                <a:spcPts val="0"/>
              </a:spcAft>
              <a:buSzPct val="138996"/>
              <a:buNone/>
            </a:pPr>
            <a:r>
              <a:rPr lang="es" sz="1400">
                <a:solidFill>
                  <a:srgbClr val="000000"/>
                </a:solidFill>
                <a:latin typeface="Arial"/>
                <a:ea typeface="Arial"/>
                <a:cs typeface="Arial"/>
                <a:sym typeface="Arial"/>
              </a:rPr>
              <a:t>transition: border-color 0.3s ease;</a:t>
            </a:r>
            <a:endParaRPr sz="1400">
              <a:solidFill>
                <a:srgbClr val="000000"/>
              </a:solidFill>
              <a:latin typeface="Arial"/>
              <a:ea typeface="Arial"/>
              <a:cs typeface="Arial"/>
              <a:sym typeface="Arial"/>
            </a:endParaRPr>
          </a:p>
          <a:p>
            <a:pPr indent="0" lvl="0" marL="0" rtl="0" algn="l">
              <a:lnSpc>
                <a:spcPct val="115000"/>
              </a:lnSpc>
              <a:spcBef>
                <a:spcPts val="1200"/>
              </a:spcBef>
              <a:spcAft>
                <a:spcPts val="0"/>
              </a:spcAft>
              <a:buSzPct val="138996"/>
              <a:buNone/>
            </a:pPr>
            <a:r>
              <a:rPr lang="es"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0" lvl="0" marL="0" rtl="0" algn="l">
              <a:lnSpc>
                <a:spcPct val="115000"/>
              </a:lnSpc>
              <a:spcBef>
                <a:spcPts val="1200"/>
              </a:spcBef>
              <a:spcAft>
                <a:spcPts val="0"/>
              </a:spcAft>
              <a:buSzPct val="138996"/>
              <a:buNone/>
            </a:pPr>
            <a:r>
              <a:rPr lang="es" sz="1400">
                <a:solidFill>
                  <a:srgbClr val="000000"/>
                </a:solidFill>
                <a:latin typeface="Arial"/>
                <a:ea typeface="Arial"/>
                <a:cs typeface="Arial"/>
                <a:sym typeface="Arial"/>
              </a:rPr>
              <a:t>input:focus {</a:t>
            </a:r>
            <a:endParaRPr sz="1400">
              <a:solidFill>
                <a:srgbClr val="000000"/>
              </a:solidFill>
              <a:latin typeface="Arial"/>
              <a:ea typeface="Arial"/>
              <a:cs typeface="Arial"/>
              <a:sym typeface="Arial"/>
            </a:endParaRPr>
          </a:p>
          <a:p>
            <a:pPr indent="0" lvl="0" marL="457200" rtl="0" algn="l">
              <a:lnSpc>
                <a:spcPct val="115000"/>
              </a:lnSpc>
              <a:spcBef>
                <a:spcPts val="1200"/>
              </a:spcBef>
              <a:spcAft>
                <a:spcPts val="0"/>
              </a:spcAft>
              <a:buSzPct val="138996"/>
              <a:buNone/>
            </a:pPr>
            <a:r>
              <a:rPr lang="es" sz="1400">
                <a:solidFill>
                  <a:srgbClr val="000000"/>
                </a:solidFill>
                <a:latin typeface="Arial"/>
                <a:ea typeface="Arial"/>
                <a:cs typeface="Arial"/>
                <a:sym typeface="Arial"/>
              </a:rPr>
              <a:t>border-color: #007bff;</a:t>
            </a:r>
            <a:endParaRPr sz="1400">
              <a:solidFill>
                <a:srgbClr val="000000"/>
              </a:solidFill>
              <a:latin typeface="Arial"/>
              <a:ea typeface="Arial"/>
              <a:cs typeface="Arial"/>
              <a:sym typeface="Arial"/>
            </a:endParaRPr>
          </a:p>
          <a:p>
            <a:pPr indent="0" lvl="0" marL="0" rtl="0" algn="l">
              <a:lnSpc>
                <a:spcPct val="115000"/>
              </a:lnSpc>
              <a:spcBef>
                <a:spcPts val="1200"/>
              </a:spcBef>
              <a:spcAft>
                <a:spcPts val="0"/>
              </a:spcAft>
              <a:buSzPct val="138996"/>
              <a:buNone/>
            </a:pPr>
            <a:r>
              <a:rPr lang="es"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0" lvl="0" marL="0" rtl="0" algn="l">
              <a:lnSpc>
                <a:spcPct val="115000"/>
              </a:lnSpc>
              <a:spcBef>
                <a:spcPts val="1200"/>
              </a:spcBef>
              <a:spcAft>
                <a:spcPts val="1200"/>
              </a:spcAft>
              <a:buSzPct val="138996"/>
              <a:buNone/>
            </a:pPr>
            <a:r>
              <a:rPr lang="es" sz="1400" u="sng">
                <a:solidFill>
                  <a:schemeClr val="hlink"/>
                </a:solidFill>
                <a:latin typeface="Arial"/>
                <a:ea typeface="Arial"/>
                <a:cs typeface="Arial"/>
                <a:sym typeface="Arial"/>
                <a:hlinkClick r:id="rId5"/>
              </a:rPr>
              <a:t>https://codepen.io/Eniun/pen/gOyBeBR?editors=1100</a:t>
            </a:r>
            <a:r>
              <a:rPr lang="es" sz="1400">
                <a:solidFill>
                  <a:srgbClr val="000000"/>
                </a:solidFill>
                <a:latin typeface="Arial"/>
                <a:ea typeface="Arial"/>
                <a:cs typeface="Arial"/>
                <a:sym typeface="Arial"/>
              </a:rPr>
              <a:t> </a:t>
            </a:r>
            <a:endParaRPr sz="1400">
              <a:solidFill>
                <a:srgbClr val="000000"/>
              </a:solidFill>
              <a:latin typeface="Arial"/>
              <a:ea typeface="Arial"/>
              <a:cs typeface="Arial"/>
              <a:sym typeface="Arial"/>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9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17. Estilos en formularios CSS</a:t>
            </a:r>
            <a:endParaRPr/>
          </a:p>
        </p:txBody>
      </p:sp>
      <p:sp>
        <p:nvSpPr>
          <p:cNvPr id="698" name="Google Shape;698;p97"/>
          <p:cNvSpPr txBox="1"/>
          <p:nvPr>
            <p:ph idx="1" type="body"/>
          </p:nvPr>
        </p:nvSpPr>
        <p:spPr>
          <a:xfrm>
            <a:off x="311700" y="1152475"/>
            <a:ext cx="8520600" cy="4086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SzPts val="1800"/>
              <a:buNone/>
            </a:pPr>
            <a:r>
              <a:rPr b="1" lang="es" sz="2000">
                <a:solidFill>
                  <a:srgbClr val="000000"/>
                </a:solidFill>
                <a:latin typeface="Arial"/>
                <a:ea typeface="Arial"/>
                <a:cs typeface="Arial"/>
                <a:sym typeface="Arial"/>
              </a:rPr>
              <a:t>4. Estilos para inputs</a:t>
            </a:r>
            <a:endParaRPr b="1" sz="2000">
              <a:solidFill>
                <a:srgbClr val="000000"/>
              </a:solidFill>
              <a:latin typeface="Arial"/>
              <a:ea typeface="Arial"/>
              <a:cs typeface="Arial"/>
              <a:sym typeface="Arial"/>
            </a:endParaRPr>
          </a:p>
          <a:p>
            <a:pPr indent="0" lvl="0" marL="0" rtl="0" algn="l">
              <a:lnSpc>
                <a:spcPct val="115000"/>
              </a:lnSpc>
              <a:spcBef>
                <a:spcPts val="1400"/>
              </a:spcBef>
              <a:spcAft>
                <a:spcPts val="0"/>
              </a:spcAft>
              <a:buSzPts val="1800"/>
              <a:buNone/>
            </a:pPr>
            <a:r>
              <a:rPr b="1" lang="es" sz="1300">
                <a:solidFill>
                  <a:srgbClr val="000000"/>
                </a:solidFill>
                <a:latin typeface="Arial"/>
                <a:ea typeface="Arial"/>
                <a:cs typeface="Arial"/>
                <a:sym typeface="Arial"/>
              </a:rPr>
              <a:t>4.1. Estilo básico</a:t>
            </a:r>
            <a:endParaRPr b="1" sz="13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es" sz="1100">
                <a:solidFill>
                  <a:srgbClr val="000000"/>
                </a:solidFill>
                <a:latin typeface="Arial"/>
                <a:ea typeface="Arial"/>
                <a:cs typeface="Arial"/>
                <a:sym typeface="Arial"/>
              </a:rPr>
              <a:t>El estilo básico es simple y funcional, ideal para una apariencia clásica y limpia.</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es" sz="1100">
                <a:solidFill>
                  <a:srgbClr val="000000"/>
                </a:solidFill>
                <a:latin typeface="Arial"/>
                <a:ea typeface="Arial"/>
                <a:cs typeface="Arial"/>
                <a:sym typeface="Arial"/>
              </a:rPr>
              <a:t>&lt;input type="text" class="basic-input" placeholder="Nombre"&gt;</a:t>
            </a:r>
            <a:endParaRPr sz="1100">
              <a:solidFill>
                <a:srgbClr val="000000"/>
              </a:solidFill>
              <a:latin typeface="Arial"/>
              <a:ea typeface="Arial"/>
              <a:cs typeface="Arial"/>
              <a:sym typeface="Arial"/>
            </a:endParaRPr>
          </a:p>
          <a:p>
            <a:pPr indent="0" lvl="0" marL="0" rtl="0" algn="l">
              <a:lnSpc>
                <a:spcPct val="115000"/>
              </a:lnSpc>
              <a:spcBef>
                <a:spcPts val="1800"/>
              </a:spcBef>
              <a:spcAft>
                <a:spcPts val="0"/>
              </a:spcAft>
              <a:buSzPts val="1800"/>
              <a:buNone/>
            </a:pPr>
            <a:r>
              <a:rPr lang="es" sz="1100">
                <a:solidFill>
                  <a:srgbClr val="000000"/>
                </a:solidFill>
                <a:latin typeface="Arial"/>
                <a:ea typeface="Arial"/>
                <a:cs typeface="Arial"/>
                <a:sym typeface="Arial"/>
              </a:rPr>
              <a:t>.basic-input {</a:t>
            </a:r>
            <a:endParaRPr sz="1100">
              <a:solidFill>
                <a:srgbClr val="000000"/>
              </a:solidFill>
              <a:latin typeface="Arial"/>
              <a:ea typeface="Arial"/>
              <a:cs typeface="Arial"/>
              <a:sym typeface="Arial"/>
            </a:endParaRPr>
          </a:p>
          <a:p>
            <a:pPr indent="0" lvl="0" marL="457200" rtl="0" algn="l">
              <a:lnSpc>
                <a:spcPct val="100000"/>
              </a:lnSpc>
              <a:spcBef>
                <a:spcPts val="1800"/>
              </a:spcBef>
              <a:spcAft>
                <a:spcPts val="0"/>
              </a:spcAft>
              <a:buSzPts val="1800"/>
              <a:buNone/>
            </a:pPr>
            <a:r>
              <a:rPr lang="es" sz="1100">
                <a:solidFill>
                  <a:srgbClr val="000000"/>
                </a:solidFill>
                <a:latin typeface="Arial"/>
                <a:ea typeface="Arial"/>
                <a:cs typeface="Arial"/>
                <a:sym typeface="Arial"/>
              </a:rPr>
              <a:t>border: 1px solid #ccc;</a:t>
            </a:r>
            <a:endParaRPr sz="1100">
              <a:solidFill>
                <a:srgbClr val="000000"/>
              </a:solidFill>
              <a:latin typeface="Arial"/>
              <a:ea typeface="Arial"/>
              <a:cs typeface="Arial"/>
              <a:sym typeface="Arial"/>
            </a:endParaRPr>
          </a:p>
          <a:p>
            <a:pPr indent="0" lvl="0" marL="457200" rtl="0" algn="l">
              <a:lnSpc>
                <a:spcPct val="100000"/>
              </a:lnSpc>
              <a:spcBef>
                <a:spcPts val="1800"/>
              </a:spcBef>
              <a:spcAft>
                <a:spcPts val="0"/>
              </a:spcAft>
              <a:buSzPts val="1800"/>
              <a:buNone/>
            </a:pPr>
            <a:r>
              <a:rPr lang="es" sz="1100">
                <a:solidFill>
                  <a:srgbClr val="000000"/>
                </a:solidFill>
                <a:latin typeface="Arial"/>
                <a:ea typeface="Arial"/>
                <a:cs typeface="Arial"/>
                <a:sym typeface="Arial"/>
              </a:rPr>
              <a:t>border-radius: 5px;</a:t>
            </a:r>
            <a:endParaRPr sz="1100">
              <a:solidFill>
                <a:srgbClr val="000000"/>
              </a:solidFill>
              <a:latin typeface="Arial"/>
              <a:ea typeface="Arial"/>
              <a:cs typeface="Arial"/>
              <a:sym typeface="Arial"/>
            </a:endParaRPr>
          </a:p>
          <a:p>
            <a:pPr indent="0" lvl="0" marL="457200" rtl="0" algn="l">
              <a:lnSpc>
                <a:spcPct val="100000"/>
              </a:lnSpc>
              <a:spcBef>
                <a:spcPts val="1800"/>
              </a:spcBef>
              <a:spcAft>
                <a:spcPts val="0"/>
              </a:spcAft>
              <a:buSzPts val="1800"/>
              <a:buNone/>
            </a:pPr>
            <a:r>
              <a:rPr lang="es" sz="1100">
                <a:solidFill>
                  <a:srgbClr val="000000"/>
                </a:solidFill>
                <a:latin typeface="Arial"/>
                <a:ea typeface="Arial"/>
                <a:cs typeface="Arial"/>
                <a:sym typeface="Arial"/>
              </a:rPr>
              <a:t>padding: 10px;</a:t>
            </a:r>
            <a:endParaRPr sz="1100">
              <a:solidFill>
                <a:srgbClr val="000000"/>
              </a:solidFill>
              <a:latin typeface="Arial"/>
              <a:ea typeface="Arial"/>
              <a:cs typeface="Arial"/>
              <a:sym typeface="Arial"/>
            </a:endParaRPr>
          </a:p>
          <a:p>
            <a:pPr indent="0" lvl="0" marL="457200" rtl="0" algn="l">
              <a:lnSpc>
                <a:spcPct val="100000"/>
              </a:lnSpc>
              <a:spcBef>
                <a:spcPts val="1800"/>
              </a:spcBef>
              <a:spcAft>
                <a:spcPts val="0"/>
              </a:spcAft>
              <a:buSzPts val="1800"/>
              <a:buNone/>
            </a:pPr>
            <a:r>
              <a:rPr lang="es" sz="1100">
                <a:solidFill>
                  <a:srgbClr val="000000"/>
                </a:solidFill>
                <a:latin typeface="Arial"/>
                <a:ea typeface="Arial"/>
                <a:cs typeface="Arial"/>
                <a:sym typeface="Arial"/>
              </a:rPr>
              <a:t>width: 250px;</a:t>
            </a:r>
            <a:endParaRPr sz="1100">
              <a:solidFill>
                <a:srgbClr val="000000"/>
              </a:solidFill>
              <a:latin typeface="Arial"/>
              <a:ea typeface="Arial"/>
              <a:cs typeface="Arial"/>
              <a:sym typeface="Arial"/>
            </a:endParaRPr>
          </a:p>
          <a:p>
            <a:pPr indent="0" lvl="0" marL="0" rtl="0" algn="l">
              <a:lnSpc>
                <a:spcPct val="115000"/>
              </a:lnSpc>
              <a:spcBef>
                <a:spcPts val="1800"/>
              </a:spcBef>
              <a:spcAft>
                <a:spcPts val="400"/>
              </a:spcAft>
              <a:buSzPts val="1800"/>
              <a:buNone/>
            </a:pPr>
            <a:r>
              <a:rPr lang="es" sz="1100">
                <a:solidFill>
                  <a:srgbClr val="000000"/>
                </a:solidFill>
                <a:latin typeface="Arial"/>
                <a:ea typeface="Arial"/>
                <a:cs typeface="Arial"/>
                <a:sym typeface="Arial"/>
              </a:rPr>
              <a:t>}</a:t>
            </a:r>
            <a:endParaRPr b="1" sz="2000">
              <a:solidFill>
                <a:srgbClr val="000000"/>
              </a:solidFill>
              <a:latin typeface="Arial"/>
              <a:ea typeface="Arial"/>
              <a:cs typeface="Arial"/>
              <a:sym typeface="Arial"/>
            </a:endParaRPr>
          </a:p>
        </p:txBody>
      </p:sp>
      <p:pic>
        <p:nvPicPr>
          <p:cNvPr id="699" name="Google Shape;699;p97"/>
          <p:cNvPicPr preferRelativeResize="0"/>
          <p:nvPr/>
        </p:nvPicPr>
        <p:blipFill rotWithShape="1">
          <a:blip r:embed="rId3">
            <a:alphaModFix/>
          </a:blip>
          <a:srcRect b="0" l="0" r="0" t="0"/>
          <a:stretch/>
        </p:blipFill>
        <p:spPr>
          <a:xfrm>
            <a:off x="3157975" y="3851450"/>
            <a:ext cx="5803375" cy="1053850"/>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9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17. Estilos en formularios CSS</a:t>
            </a:r>
            <a:endParaRPr/>
          </a:p>
        </p:txBody>
      </p:sp>
      <p:sp>
        <p:nvSpPr>
          <p:cNvPr id="705" name="Google Shape;705;p98"/>
          <p:cNvSpPr txBox="1"/>
          <p:nvPr>
            <p:ph idx="1" type="body"/>
          </p:nvPr>
        </p:nvSpPr>
        <p:spPr>
          <a:xfrm>
            <a:off x="311700" y="1152475"/>
            <a:ext cx="8520600" cy="40863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1800"/>
              </a:spcBef>
              <a:spcAft>
                <a:spcPts val="0"/>
              </a:spcAft>
              <a:buSzPts val="1800"/>
              <a:buNone/>
            </a:pPr>
            <a:r>
              <a:rPr b="1" lang="es" sz="2000">
                <a:solidFill>
                  <a:srgbClr val="000000"/>
                </a:solidFill>
                <a:latin typeface="Arial"/>
                <a:ea typeface="Arial"/>
                <a:cs typeface="Arial"/>
                <a:sym typeface="Arial"/>
              </a:rPr>
              <a:t>4. Estilos para inputs</a:t>
            </a:r>
            <a:endParaRPr b="1" sz="2000">
              <a:solidFill>
                <a:srgbClr val="000000"/>
              </a:solidFill>
              <a:latin typeface="Arial"/>
              <a:ea typeface="Arial"/>
              <a:cs typeface="Arial"/>
              <a:sym typeface="Arial"/>
            </a:endParaRPr>
          </a:p>
          <a:p>
            <a:pPr indent="0" lvl="0" marL="0" rtl="0" algn="l">
              <a:lnSpc>
                <a:spcPct val="115000"/>
              </a:lnSpc>
              <a:spcBef>
                <a:spcPts val="1400"/>
              </a:spcBef>
              <a:spcAft>
                <a:spcPts val="0"/>
              </a:spcAft>
              <a:buSzPts val="1800"/>
              <a:buNone/>
            </a:pPr>
            <a:r>
              <a:rPr b="1" lang="es" sz="1300">
                <a:solidFill>
                  <a:srgbClr val="000000"/>
                </a:solidFill>
                <a:latin typeface="Arial"/>
                <a:ea typeface="Arial"/>
                <a:cs typeface="Arial"/>
                <a:sym typeface="Arial"/>
              </a:rPr>
              <a:t>4.2. Bordes redondeados</a:t>
            </a:r>
            <a:endParaRPr b="1" sz="1300">
              <a:solidFill>
                <a:srgbClr val="000000"/>
              </a:solidFill>
              <a:latin typeface="Arial"/>
              <a:ea typeface="Arial"/>
              <a:cs typeface="Arial"/>
              <a:sym typeface="Arial"/>
            </a:endParaRPr>
          </a:p>
          <a:p>
            <a:pPr indent="0" lvl="0" marL="0" rtl="0" algn="l">
              <a:lnSpc>
                <a:spcPct val="115000"/>
              </a:lnSpc>
              <a:spcBef>
                <a:spcPts val="400"/>
              </a:spcBef>
              <a:spcAft>
                <a:spcPts val="0"/>
              </a:spcAft>
              <a:buSzPts val="1800"/>
              <a:buNone/>
            </a:pPr>
            <a:r>
              <a:rPr lang="es" sz="1300">
                <a:solidFill>
                  <a:srgbClr val="000000"/>
                </a:solidFill>
                <a:latin typeface="Arial"/>
                <a:ea typeface="Arial"/>
                <a:cs typeface="Arial"/>
                <a:sym typeface="Arial"/>
              </a:rPr>
              <a:t>Los bordes redondeados pueden hacer que tus inputs se vean más suaves y modernos.</a:t>
            </a:r>
            <a:endParaRPr sz="1300">
              <a:solidFill>
                <a:srgbClr val="000000"/>
              </a:solidFill>
              <a:latin typeface="Arial"/>
              <a:ea typeface="Arial"/>
              <a:cs typeface="Arial"/>
              <a:sym typeface="Arial"/>
            </a:endParaRPr>
          </a:p>
          <a:p>
            <a:pPr indent="0" lvl="0" marL="0" marR="139700" rtl="0" algn="l">
              <a:lnSpc>
                <a:spcPct val="116666"/>
              </a:lnSpc>
              <a:spcBef>
                <a:spcPts val="1100"/>
              </a:spcBef>
              <a:spcAft>
                <a:spcPts val="0"/>
              </a:spcAft>
              <a:buSzPts val="1800"/>
              <a:buNone/>
            </a:pPr>
            <a:r>
              <a:rPr lang="es" sz="1350">
                <a:solidFill>
                  <a:srgbClr val="000000"/>
                </a:solidFill>
                <a:latin typeface="Courier New"/>
                <a:ea typeface="Courier New"/>
                <a:cs typeface="Courier New"/>
                <a:sym typeface="Courier New"/>
              </a:rPr>
              <a:t>&lt;input type="text" class="rounded-input" placeholder="Correo electrónico"&gt;</a:t>
            </a:r>
            <a:endParaRPr sz="1350">
              <a:solidFill>
                <a:srgbClr val="000000"/>
              </a:solidFill>
              <a:latin typeface="Courier New"/>
              <a:ea typeface="Courier New"/>
              <a:cs typeface="Courier New"/>
              <a:sym typeface="Courier New"/>
            </a:endParaRPr>
          </a:p>
          <a:p>
            <a:pPr indent="0" lvl="0" marL="0" rtl="0" algn="l">
              <a:lnSpc>
                <a:spcPct val="115000"/>
              </a:lnSpc>
              <a:spcBef>
                <a:spcPts val="1800"/>
              </a:spcBef>
              <a:spcAft>
                <a:spcPts val="0"/>
              </a:spcAft>
              <a:buSzPts val="1800"/>
              <a:buNone/>
            </a:pPr>
            <a:r>
              <a:rPr lang="es" sz="1350">
                <a:solidFill>
                  <a:srgbClr val="000000"/>
                </a:solidFill>
                <a:latin typeface="Courier New"/>
                <a:ea typeface="Courier New"/>
                <a:cs typeface="Courier New"/>
                <a:sym typeface="Courier New"/>
              </a:rPr>
              <a:t>.rounded-input {</a:t>
            </a:r>
            <a:endParaRPr sz="1350">
              <a:solidFill>
                <a:srgbClr val="000000"/>
              </a:solidFill>
              <a:latin typeface="Courier New"/>
              <a:ea typeface="Courier New"/>
              <a:cs typeface="Courier New"/>
              <a:sym typeface="Courier New"/>
            </a:endParaRPr>
          </a:p>
          <a:p>
            <a:pPr indent="0" lvl="0" marL="0" rtl="0" algn="l">
              <a:lnSpc>
                <a:spcPct val="115000"/>
              </a:lnSpc>
              <a:spcBef>
                <a:spcPts val="1800"/>
              </a:spcBef>
              <a:spcAft>
                <a:spcPts val="0"/>
              </a:spcAft>
              <a:buSzPts val="1800"/>
              <a:buNone/>
            </a:pPr>
            <a:r>
              <a:rPr lang="es" sz="1350">
                <a:solidFill>
                  <a:srgbClr val="000000"/>
                </a:solidFill>
                <a:latin typeface="Courier New"/>
                <a:ea typeface="Courier New"/>
                <a:cs typeface="Courier New"/>
                <a:sym typeface="Courier New"/>
              </a:rPr>
              <a:t>    border: 2px solid #3498db;</a:t>
            </a:r>
            <a:endParaRPr sz="1350">
              <a:solidFill>
                <a:srgbClr val="000000"/>
              </a:solidFill>
              <a:latin typeface="Courier New"/>
              <a:ea typeface="Courier New"/>
              <a:cs typeface="Courier New"/>
              <a:sym typeface="Courier New"/>
            </a:endParaRPr>
          </a:p>
          <a:p>
            <a:pPr indent="0" lvl="0" marL="0" rtl="0" algn="l">
              <a:lnSpc>
                <a:spcPct val="115000"/>
              </a:lnSpc>
              <a:spcBef>
                <a:spcPts val="1800"/>
              </a:spcBef>
              <a:spcAft>
                <a:spcPts val="0"/>
              </a:spcAft>
              <a:buSzPts val="1800"/>
              <a:buNone/>
            </a:pPr>
            <a:r>
              <a:rPr lang="es" sz="1350">
                <a:solidFill>
                  <a:srgbClr val="000000"/>
                </a:solidFill>
                <a:latin typeface="Courier New"/>
                <a:ea typeface="Courier New"/>
                <a:cs typeface="Courier New"/>
                <a:sym typeface="Courier New"/>
              </a:rPr>
              <a:t>    border-radius: 20px;</a:t>
            </a:r>
            <a:endParaRPr sz="1350">
              <a:solidFill>
                <a:srgbClr val="000000"/>
              </a:solidFill>
              <a:latin typeface="Courier New"/>
              <a:ea typeface="Courier New"/>
              <a:cs typeface="Courier New"/>
              <a:sym typeface="Courier New"/>
            </a:endParaRPr>
          </a:p>
          <a:p>
            <a:pPr indent="0" lvl="0" marL="0" rtl="0" algn="l">
              <a:lnSpc>
                <a:spcPct val="115000"/>
              </a:lnSpc>
              <a:spcBef>
                <a:spcPts val="1800"/>
              </a:spcBef>
              <a:spcAft>
                <a:spcPts val="0"/>
              </a:spcAft>
              <a:buSzPts val="1800"/>
              <a:buNone/>
            </a:pPr>
            <a:r>
              <a:rPr lang="es" sz="1350">
                <a:solidFill>
                  <a:srgbClr val="000000"/>
                </a:solidFill>
                <a:latin typeface="Courier New"/>
                <a:ea typeface="Courier New"/>
                <a:cs typeface="Courier New"/>
                <a:sym typeface="Courier New"/>
              </a:rPr>
              <a:t>    padding: 12px;</a:t>
            </a:r>
            <a:endParaRPr sz="1350">
              <a:solidFill>
                <a:srgbClr val="000000"/>
              </a:solidFill>
              <a:latin typeface="Courier New"/>
              <a:ea typeface="Courier New"/>
              <a:cs typeface="Courier New"/>
              <a:sym typeface="Courier New"/>
            </a:endParaRPr>
          </a:p>
          <a:p>
            <a:pPr indent="0" lvl="0" marL="0" rtl="0" algn="l">
              <a:lnSpc>
                <a:spcPct val="115000"/>
              </a:lnSpc>
              <a:spcBef>
                <a:spcPts val="1800"/>
              </a:spcBef>
              <a:spcAft>
                <a:spcPts val="0"/>
              </a:spcAft>
              <a:buSzPts val="1800"/>
              <a:buNone/>
            </a:pPr>
            <a:r>
              <a:rPr lang="es" sz="1350">
                <a:solidFill>
                  <a:srgbClr val="000000"/>
                </a:solidFill>
                <a:latin typeface="Courier New"/>
                <a:ea typeface="Courier New"/>
                <a:cs typeface="Courier New"/>
                <a:sym typeface="Courier New"/>
              </a:rPr>
              <a:t>    width: 300px;</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1100"/>
              </a:spcAft>
              <a:buSzPts val="1800"/>
              <a:buNone/>
            </a:pPr>
            <a:r>
              <a:rPr lang="es" sz="1350">
                <a:solidFill>
                  <a:srgbClr val="000000"/>
                </a:solidFill>
                <a:latin typeface="Courier New"/>
                <a:ea typeface="Courier New"/>
                <a:cs typeface="Courier New"/>
                <a:sym typeface="Courier New"/>
              </a:rPr>
              <a:t>}</a:t>
            </a:r>
            <a:endParaRPr sz="1100">
              <a:solidFill>
                <a:srgbClr val="000000"/>
              </a:solidFill>
              <a:latin typeface="Arial"/>
              <a:ea typeface="Arial"/>
              <a:cs typeface="Arial"/>
              <a:sym typeface="Arial"/>
            </a:endParaRPr>
          </a:p>
        </p:txBody>
      </p:sp>
      <p:pic>
        <p:nvPicPr>
          <p:cNvPr id="706" name="Google Shape;706;p98"/>
          <p:cNvPicPr preferRelativeResize="0"/>
          <p:nvPr/>
        </p:nvPicPr>
        <p:blipFill rotWithShape="1">
          <a:blip r:embed="rId3">
            <a:alphaModFix/>
          </a:blip>
          <a:srcRect b="0" l="1826" r="0" t="0"/>
          <a:stretch/>
        </p:blipFill>
        <p:spPr>
          <a:xfrm>
            <a:off x="3676250" y="3840825"/>
            <a:ext cx="5258200" cy="935575"/>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9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17. Estilos en formularios CSS</a:t>
            </a:r>
            <a:endParaRPr/>
          </a:p>
        </p:txBody>
      </p:sp>
      <p:sp>
        <p:nvSpPr>
          <p:cNvPr id="712" name="Google Shape;712;p99"/>
          <p:cNvSpPr txBox="1"/>
          <p:nvPr>
            <p:ph idx="1" type="body"/>
          </p:nvPr>
        </p:nvSpPr>
        <p:spPr>
          <a:xfrm>
            <a:off x="311700" y="1152475"/>
            <a:ext cx="8520600" cy="40863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1800"/>
              </a:spcBef>
              <a:spcAft>
                <a:spcPts val="0"/>
              </a:spcAft>
              <a:buSzPts val="1800"/>
              <a:buNone/>
            </a:pPr>
            <a:r>
              <a:rPr b="1" lang="es" sz="2000">
                <a:solidFill>
                  <a:srgbClr val="000000"/>
                </a:solidFill>
                <a:latin typeface="Arial"/>
                <a:ea typeface="Arial"/>
                <a:cs typeface="Arial"/>
                <a:sym typeface="Arial"/>
              </a:rPr>
              <a:t>4. Estilos para inputs</a:t>
            </a:r>
            <a:endParaRPr b="1" sz="2000">
              <a:solidFill>
                <a:srgbClr val="000000"/>
              </a:solidFill>
              <a:latin typeface="Arial"/>
              <a:ea typeface="Arial"/>
              <a:cs typeface="Arial"/>
              <a:sym typeface="Arial"/>
            </a:endParaRPr>
          </a:p>
          <a:p>
            <a:pPr indent="0" lvl="0" marL="0" rtl="0" algn="l">
              <a:lnSpc>
                <a:spcPct val="115000"/>
              </a:lnSpc>
              <a:spcBef>
                <a:spcPts val="1400"/>
              </a:spcBef>
              <a:spcAft>
                <a:spcPts val="0"/>
              </a:spcAft>
              <a:buSzPts val="1800"/>
              <a:buNone/>
            </a:pPr>
            <a:r>
              <a:rPr b="1" lang="es" sz="1300">
                <a:solidFill>
                  <a:srgbClr val="000000"/>
                </a:solidFill>
                <a:latin typeface="Arial"/>
                <a:ea typeface="Arial"/>
                <a:cs typeface="Arial"/>
                <a:sym typeface="Arial"/>
              </a:rPr>
              <a:t>4.3. Sombras</a:t>
            </a:r>
            <a:endParaRPr b="1" sz="1300">
              <a:solidFill>
                <a:srgbClr val="000000"/>
              </a:solidFill>
              <a:latin typeface="Arial"/>
              <a:ea typeface="Arial"/>
              <a:cs typeface="Arial"/>
              <a:sym typeface="Arial"/>
            </a:endParaRPr>
          </a:p>
          <a:p>
            <a:pPr indent="0" lvl="0" marL="0" rtl="0" algn="l">
              <a:lnSpc>
                <a:spcPct val="115000"/>
              </a:lnSpc>
              <a:spcBef>
                <a:spcPts val="400"/>
              </a:spcBef>
              <a:spcAft>
                <a:spcPts val="0"/>
              </a:spcAft>
              <a:buSzPts val="1800"/>
              <a:buNone/>
            </a:pPr>
            <a:r>
              <a:rPr lang="es" sz="1100">
                <a:solidFill>
                  <a:srgbClr val="000000"/>
                </a:solidFill>
                <a:latin typeface="Arial"/>
                <a:ea typeface="Arial"/>
                <a:cs typeface="Arial"/>
                <a:sym typeface="Arial"/>
              </a:rPr>
              <a:t>Aplicar </a:t>
            </a:r>
            <a:r>
              <a:rPr b="1" lang="es" sz="1100">
                <a:solidFill>
                  <a:srgbClr val="E7618B"/>
                </a:solidFill>
                <a:uFill>
                  <a:noFill/>
                </a:uFill>
                <a:latin typeface="Arial"/>
                <a:ea typeface="Arial"/>
                <a:cs typeface="Arial"/>
                <a:sym typeface="Arial"/>
                <a:hlinkClick r:id="rId3">
                  <a:extLst>
                    <a:ext uri="{A12FA001-AC4F-418D-AE19-62706E023703}">
                      <ahyp:hlinkClr val="tx"/>
                    </a:ext>
                  </a:extLst>
                </a:hlinkClick>
              </a:rPr>
              <a:t>sombras</a:t>
            </a:r>
            <a:r>
              <a:rPr b="1" lang="es" sz="1100">
                <a:solidFill>
                  <a:srgbClr val="000000"/>
                </a:solidFill>
                <a:latin typeface="Arial"/>
                <a:ea typeface="Arial"/>
                <a:cs typeface="Arial"/>
                <a:sym typeface="Arial"/>
              </a:rPr>
              <a:t> </a:t>
            </a:r>
            <a:r>
              <a:rPr lang="es" sz="1100">
                <a:solidFill>
                  <a:srgbClr val="000000"/>
                </a:solidFill>
                <a:latin typeface="Arial"/>
                <a:ea typeface="Arial"/>
                <a:cs typeface="Arial"/>
                <a:sym typeface="Arial"/>
              </a:rPr>
              <a:t>al fondo del input puede agregar profundidad y estilo.</a:t>
            </a:r>
            <a:endParaRPr sz="1300">
              <a:solidFill>
                <a:srgbClr val="000000"/>
              </a:solidFill>
              <a:latin typeface="Arial"/>
              <a:ea typeface="Arial"/>
              <a:cs typeface="Arial"/>
              <a:sym typeface="Arial"/>
            </a:endParaRPr>
          </a:p>
          <a:p>
            <a:pPr indent="0" lvl="0" marL="139700" marR="139700" rtl="0" algn="l">
              <a:lnSpc>
                <a:spcPct val="116666"/>
              </a:lnSpc>
              <a:spcBef>
                <a:spcPts val="1100"/>
              </a:spcBef>
              <a:spcAft>
                <a:spcPts val="0"/>
              </a:spcAft>
              <a:buSzPts val="1800"/>
              <a:buNone/>
            </a:pPr>
            <a:r>
              <a:rPr lang="es" sz="1350">
                <a:solidFill>
                  <a:srgbClr val="000000"/>
                </a:solidFill>
                <a:latin typeface="Courier New"/>
                <a:ea typeface="Courier New"/>
                <a:cs typeface="Courier New"/>
                <a:sym typeface="Courier New"/>
              </a:rPr>
              <a:t>&lt;input type="text" class="shaded-input" placeholder="Contraseña"&gt;</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ts val="1800"/>
              <a:buNone/>
            </a:pPr>
            <a:r>
              <a:rPr lang="es" sz="1350">
                <a:solidFill>
                  <a:srgbClr val="000000"/>
                </a:solidFill>
                <a:latin typeface="Courier New"/>
                <a:ea typeface="Courier New"/>
                <a:cs typeface="Courier New"/>
                <a:sym typeface="Courier New"/>
              </a:rPr>
              <a:t>.shaded-input {</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ts val="1800"/>
              <a:buNone/>
            </a:pPr>
            <a:r>
              <a:rPr lang="es" sz="1350">
                <a:solidFill>
                  <a:srgbClr val="000000"/>
                </a:solidFill>
                <a:latin typeface="Courier New"/>
                <a:ea typeface="Courier New"/>
                <a:cs typeface="Courier New"/>
                <a:sym typeface="Courier New"/>
              </a:rPr>
              <a:t>    background-color: #f2f2f2;</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ts val="1800"/>
              <a:buNone/>
            </a:pPr>
            <a:r>
              <a:rPr lang="es" sz="1350">
                <a:solidFill>
                  <a:srgbClr val="000000"/>
                </a:solidFill>
                <a:latin typeface="Courier New"/>
                <a:ea typeface="Courier New"/>
                <a:cs typeface="Courier New"/>
                <a:sym typeface="Courier New"/>
              </a:rPr>
              <a:t>    border: none;</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ts val="1800"/>
              <a:buNone/>
            </a:pPr>
            <a:r>
              <a:rPr lang="es" sz="1350">
                <a:solidFill>
                  <a:srgbClr val="000000"/>
                </a:solidFill>
                <a:latin typeface="Courier New"/>
                <a:ea typeface="Courier New"/>
                <a:cs typeface="Courier New"/>
                <a:sym typeface="Courier New"/>
              </a:rPr>
              <a:t>    padding: 10px;</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ts val="1800"/>
              <a:buNone/>
            </a:pPr>
            <a:r>
              <a:rPr lang="es" sz="1350">
                <a:solidFill>
                  <a:srgbClr val="000000"/>
                </a:solidFill>
                <a:latin typeface="Courier New"/>
                <a:ea typeface="Courier New"/>
                <a:cs typeface="Courier New"/>
                <a:sym typeface="Courier New"/>
              </a:rPr>
              <a:t>    box-shadow: 0 2px 5px rgba(0, 0, 0, 0.1);</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ts val="1800"/>
              <a:buNone/>
            </a:pPr>
            <a:r>
              <a:rPr lang="es" sz="1350">
                <a:solidFill>
                  <a:srgbClr val="000000"/>
                </a:solidFill>
                <a:latin typeface="Courier New"/>
                <a:ea typeface="Courier New"/>
                <a:cs typeface="Courier New"/>
                <a:sym typeface="Courier New"/>
              </a:rPr>
              <a:t>    width: 280px;</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1100"/>
              </a:spcAft>
              <a:buSzPts val="1800"/>
              <a:buNone/>
            </a:pPr>
            <a:r>
              <a:rPr lang="es" sz="1350">
                <a:solidFill>
                  <a:srgbClr val="000000"/>
                </a:solidFill>
                <a:latin typeface="Courier New"/>
                <a:ea typeface="Courier New"/>
                <a:cs typeface="Courier New"/>
                <a:sym typeface="Courier New"/>
              </a:rPr>
              <a:t>}</a:t>
            </a:r>
            <a:endParaRPr sz="1350">
              <a:solidFill>
                <a:srgbClr val="000000"/>
              </a:solidFill>
              <a:latin typeface="Courier New"/>
              <a:ea typeface="Courier New"/>
              <a:cs typeface="Courier New"/>
              <a:sym typeface="Courier New"/>
            </a:endParaRPr>
          </a:p>
        </p:txBody>
      </p:sp>
      <p:pic>
        <p:nvPicPr>
          <p:cNvPr id="713" name="Google Shape;713;p99"/>
          <p:cNvPicPr preferRelativeResize="0"/>
          <p:nvPr/>
        </p:nvPicPr>
        <p:blipFill rotWithShape="1">
          <a:blip r:embed="rId4">
            <a:alphaModFix/>
          </a:blip>
          <a:srcRect b="0" l="0" r="1583" t="0"/>
          <a:stretch/>
        </p:blipFill>
        <p:spPr>
          <a:xfrm>
            <a:off x="3830325" y="3150525"/>
            <a:ext cx="5001976" cy="818550"/>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10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17. Estilos en formularios CSS</a:t>
            </a:r>
            <a:endParaRPr/>
          </a:p>
        </p:txBody>
      </p:sp>
      <p:sp>
        <p:nvSpPr>
          <p:cNvPr id="719" name="Google Shape;719;p100"/>
          <p:cNvSpPr txBox="1"/>
          <p:nvPr>
            <p:ph idx="1" type="body"/>
          </p:nvPr>
        </p:nvSpPr>
        <p:spPr>
          <a:xfrm>
            <a:off x="311700" y="1017725"/>
            <a:ext cx="8520600" cy="42210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15000"/>
              </a:lnSpc>
              <a:spcBef>
                <a:spcPts val="1800"/>
              </a:spcBef>
              <a:spcAft>
                <a:spcPts val="0"/>
              </a:spcAft>
              <a:buSzPct val="116129"/>
              <a:buNone/>
            </a:pPr>
            <a:r>
              <a:rPr b="1" lang="es" sz="2000">
                <a:solidFill>
                  <a:srgbClr val="000000"/>
                </a:solidFill>
                <a:latin typeface="Arial"/>
                <a:ea typeface="Arial"/>
                <a:cs typeface="Arial"/>
                <a:sym typeface="Arial"/>
              </a:rPr>
              <a:t>4. Estilos para inputs</a:t>
            </a:r>
            <a:endParaRPr b="1" sz="2000">
              <a:solidFill>
                <a:srgbClr val="000000"/>
              </a:solidFill>
              <a:latin typeface="Arial"/>
              <a:ea typeface="Arial"/>
              <a:cs typeface="Arial"/>
              <a:sym typeface="Arial"/>
            </a:endParaRPr>
          </a:p>
          <a:p>
            <a:pPr indent="0" lvl="0" marL="0" rtl="0" algn="l">
              <a:lnSpc>
                <a:spcPct val="115000"/>
              </a:lnSpc>
              <a:spcBef>
                <a:spcPts val="1400"/>
              </a:spcBef>
              <a:spcAft>
                <a:spcPts val="0"/>
              </a:spcAft>
              <a:buSzPct val="138827"/>
              <a:buNone/>
            </a:pPr>
            <a:r>
              <a:rPr b="1" lang="es" sz="1673">
                <a:solidFill>
                  <a:srgbClr val="000000"/>
                </a:solidFill>
                <a:latin typeface="Arial"/>
                <a:ea typeface="Arial"/>
                <a:cs typeface="Arial"/>
                <a:sym typeface="Arial"/>
              </a:rPr>
              <a:t>4.4. Hover y focus</a:t>
            </a:r>
            <a:endParaRPr b="1" sz="1673">
              <a:solidFill>
                <a:srgbClr val="000000"/>
              </a:solidFill>
              <a:latin typeface="Arial"/>
              <a:ea typeface="Arial"/>
              <a:cs typeface="Arial"/>
              <a:sym typeface="Arial"/>
            </a:endParaRPr>
          </a:p>
          <a:p>
            <a:pPr indent="0" lvl="0" marL="0" rtl="0" algn="l">
              <a:lnSpc>
                <a:spcPct val="115000"/>
              </a:lnSpc>
              <a:spcBef>
                <a:spcPts val="400"/>
              </a:spcBef>
              <a:spcAft>
                <a:spcPts val="0"/>
              </a:spcAft>
              <a:buSzPct val="172043"/>
              <a:buNone/>
            </a:pPr>
            <a:r>
              <a:rPr lang="es" sz="1350">
                <a:solidFill>
                  <a:srgbClr val="000000"/>
                </a:solidFill>
                <a:highlight>
                  <a:srgbClr val="FFFFFF"/>
                </a:highlight>
                <a:latin typeface="Roboto"/>
                <a:ea typeface="Roboto"/>
                <a:cs typeface="Roboto"/>
                <a:sym typeface="Roboto"/>
              </a:rPr>
              <a:t>Agregar efectos de hover y focus puede mejorar la interactividad y la retroalimentación para el usuario.</a:t>
            </a:r>
            <a:endParaRPr sz="1300">
              <a:solidFill>
                <a:srgbClr val="000000"/>
              </a:solidFill>
              <a:latin typeface="Arial"/>
              <a:ea typeface="Arial"/>
              <a:cs typeface="Arial"/>
              <a:sym typeface="Arial"/>
            </a:endParaRPr>
          </a:p>
          <a:p>
            <a:pPr indent="0" lvl="0" marL="139700" marR="139700" rtl="0" algn="l">
              <a:lnSpc>
                <a:spcPct val="116666"/>
              </a:lnSpc>
              <a:spcBef>
                <a:spcPts val="1100"/>
              </a:spcBef>
              <a:spcAft>
                <a:spcPts val="0"/>
              </a:spcAft>
              <a:buSzPct val="172043"/>
              <a:buNone/>
            </a:pPr>
            <a:r>
              <a:rPr lang="es" sz="1350">
                <a:solidFill>
                  <a:srgbClr val="000000"/>
                </a:solidFill>
                <a:latin typeface="Courier New"/>
                <a:ea typeface="Courier New"/>
                <a:cs typeface="Courier New"/>
                <a:sym typeface="Courier New"/>
              </a:rPr>
              <a:t>&lt;input type="text" class="hover-focus-input" placeholder="Teléfono"&gt;</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172043"/>
              <a:buNone/>
            </a:pPr>
            <a:r>
              <a:rPr lang="es" sz="1350">
                <a:solidFill>
                  <a:srgbClr val="000000"/>
                </a:solidFill>
                <a:latin typeface="Courier New"/>
                <a:ea typeface="Courier New"/>
                <a:cs typeface="Courier New"/>
                <a:sym typeface="Courier New"/>
              </a:rPr>
              <a:t>.hover-focus-input {</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172043"/>
              <a:buNone/>
            </a:pPr>
            <a:r>
              <a:rPr lang="es" sz="1350">
                <a:solidFill>
                  <a:srgbClr val="000000"/>
                </a:solidFill>
                <a:latin typeface="Courier New"/>
                <a:ea typeface="Courier New"/>
                <a:cs typeface="Courier New"/>
                <a:sym typeface="Courier New"/>
              </a:rPr>
              <a:t>    border: 1px solid #ccc;</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172043"/>
              <a:buNone/>
            </a:pPr>
            <a:r>
              <a:rPr lang="es" sz="1350">
                <a:solidFill>
                  <a:srgbClr val="000000"/>
                </a:solidFill>
                <a:latin typeface="Courier New"/>
                <a:ea typeface="Courier New"/>
                <a:cs typeface="Courier New"/>
                <a:sym typeface="Courier New"/>
              </a:rPr>
              <a:t>    padding: 10px;</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172043"/>
              <a:buNone/>
            </a:pPr>
            <a:r>
              <a:rPr lang="es" sz="1350">
                <a:solidFill>
                  <a:srgbClr val="000000"/>
                </a:solidFill>
                <a:latin typeface="Courier New"/>
                <a:ea typeface="Courier New"/>
                <a:cs typeface="Courier New"/>
                <a:sym typeface="Courier New"/>
              </a:rPr>
              <a:t>    transition: border-color 0.3s;</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172043"/>
              <a:buNone/>
            </a:pPr>
            <a:r>
              <a:rPr lang="es" sz="1350">
                <a:solidFill>
                  <a:srgbClr val="000000"/>
                </a:solidFill>
                <a:latin typeface="Courier New"/>
                <a:ea typeface="Courier New"/>
                <a:cs typeface="Courier New"/>
                <a:sym typeface="Courier New"/>
              </a:rPr>
              <a:t>    width: 250px;</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172043"/>
              <a:buNone/>
            </a:pPr>
            <a:r>
              <a:rPr lang="es" sz="1350">
                <a:solidFill>
                  <a:srgbClr val="000000"/>
                </a:solidFill>
                <a:latin typeface="Courier New"/>
                <a:ea typeface="Courier New"/>
                <a:cs typeface="Courier New"/>
                <a:sym typeface="Courier New"/>
              </a:rPr>
              <a:t>}</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172043"/>
              <a:buNone/>
            </a:pPr>
            <a:r>
              <a:rPr lang="es" sz="1350">
                <a:solidFill>
                  <a:srgbClr val="000000"/>
                </a:solidFill>
                <a:latin typeface="Courier New"/>
                <a:ea typeface="Courier New"/>
                <a:cs typeface="Courier New"/>
                <a:sym typeface="Courier New"/>
              </a:rPr>
              <a:t>.hover-focus-input:hover,</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172043"/>
              <a:buNone/>
            </a:pPr>
            <a:r>
              <a:rPr lang="es" sz="1350">
                <a:solidFill>
                  <a:srgbClr val="000000"/>
                </a:solidFill>
                <a:latin typeface="Courier New"/>
                <a:ea typeface="Courier New"/>
                <a:cs typeface="Courier New"/>
                <a:sym typeface="Courier New"/>
              </a:rPr>
              <a:t>.hover-focus-input:focus {</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172043"/>
              <a:buNone/>
            </a:pPr>
            <a:r>
              <a:rPr lang="es" sz="1350">
                <a:solidFill>
                  <a:srgbClr val="000000"/>
                </a:solidFill>
                <a:latin typeface="Courier New"/>
                <a:ea typeface="Courier New"/>
                <a:cs typeface="Courier New"/>
                <a:sym typeface="Courier New"/>
              </a:rPr>
              <a:t>    border-color: #66afe9;</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1100"/>
              </a:spcAft>
              <a:buSzPct val="172043"/>
              <a:buNone/>
            </a:pPr>
            <a:r>
              <a:rPr lang="es" sz="1350">
                <a:solidFill>
                  <a:srgbClr val="000000"/>
                </a:solidFill>
                <a:latin typeface="Courier New"/>
                <a:ea typeface="Courier New"/>
                <a:cs typeface="Courier New"/>
                <a:sym typeface="Courier New"/>
              </a:rPr>
              <a:t>}</a:t>
            </a:r>
            <a:endParaRPr sz="1350">
              <a:solidFill>
                <a:srgbClr val="000000"/>
              </a:solidFill>
              <a:latin typeface="Courier New"/>
              <a:ea typeface="Courier New"/>
              <a:cs typeface="Courier New"/>
              <a:sym typeface="Courier New"/>
            </a:endParaRPr>
          </a:p>
        </p:txBody>
      </p:sp>
      <p:sp>
        <p:nvSpPr>
          <p:cNvPr id="720" name="Google Shape;720;p100"/>
          <p:cNvSpPr txBox="1"/>
          <p:nvPr/>
        </p:nvSpPr>
        <p:spPr>
          <a:xfrm>
            <a:off x="3619500" y="4393400"/>
            <a:ext cx="3712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sng" cap="none" strike="noStrike">
                <a:solidFill>
                  <a:schemeClr val="hlink"/>
                </a:solidFill>
                <a:latin typeface="Arial"/>
                <a:ea typeface="Arial"/>
                <a:cs typeface="Arial"/>
                <a:sym typeface="Arial"/>
                <a:hlinkClick r:id="rId3"/>
              </a:rPr>
              <a:t>https://codepen.io/Eniun/pen/qBwJYaq</a:t>
            </a:r>
            <a:r>
              <a:rPr b="0" i="0" lang="e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10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17. Estilos en formularios CSS</a:t>
            </a:r>
            <a:endParaRPr/>
          </a:p>
        </p:txBody>
      </p:sp>
      <p:sp>
        <p:nvSpPr>
          <p:cNvPr id="726" name="Google Shape;726;p101"/>
          <p:cNvSpPr txBox="1"/>
          <p:nvPr>
            <p:ph idx="1" type="body"/>
          </p:nvPr>
        </p:nvSpPr>
        <p:spPr>
          <a:xfrm>
            <a:off x="311700" y="945375"/>
            <a:ext cx="8520600" cy="43224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lnSpc>
                <a:spcPct val="115000"/>
              </a:lnSpc>
              <a:spcBef>
                <a:spcPts val="1800"/>
              </a:spcBef>
              <a:spcAft>
                <a:spcPts val="0"/>
              </a:spcAft>
              <a:buSzPct val="144000"/>
              <a:buNone/>
            </a:pPr>
            <a:r>
              <a:rPr b="1" lang="es" sz="2000">
                <a:solidFill>
                  <a:srgbClr val="000000"/>
                </a:solidFill>
                <a:latin typeface="Arial"/>
                <a:ea typeface="Arial"/>
                <a:cs typeface="Arial"/>
                <a:sym typeface="Arial"/>
              </a:rPr>
              <a:t>4. Estilos para inputs</a:t>
            </a:r>
            <a:endParaRPr b="1" sz="2000">
              <a:solidFill>
                <a:srgbClr val="000000"/>
              </a:solidFill>
              <a:latin typeface="Arial"/>
              <a:ea typeface="Arial"/>
              <a:cs typeface="Arial"/>
              <a:sym typeface="Arial"/>
            </a:endParaRPr>
          </a:p>
          <a:p>
            <a:pPr indent="0" lvl="0" marL="0" rtl="0" algn="l">
              <a:lnSpc>
                <a:spcPct val="115000"/>
              </a:lnSpc>
              <a:spcBef>
                <a:spcPts val="1400"/>
              </a:spcBef>
              <a:spcAft>
                <a:spcPts val="0"/>
              </a:spcAft>
              <a:buSzPct val="172145"/>
              <a:buNone/>
            </a:pPr>
            <a:r>
              <a:rPr b="1" lang="es" sz="1673">
                <a:solidFill>
                  <a:srgbClr val="000000"/>
                </a:solidFill>
                <a:latin typeface="Arial"/>
                <a:ea typeface="Arial"/>
                <a:cs typeface="Arial"/>
                <a:sym typeface="Arial"/>
              </a:rPr>
              <a:t>4.5. Iconos en inputs</a:t>
            </a:r>
            <a:endParaRPr b="1" sz="1673">
              <a:solidFill>
                <a:srgbClr val="000000"/>
              </a:solidFill>
              <a:latin typeface="Arial"/>
              <a:ea typeface="Arial"/>
              <a:cs typeface="Arial"/>
              <a:sym typeface="Arial"/>
            </a:endParaRPr>
          </a:p>
          <a:p>
            <a:pPr indent="0" lvl="0" marL="0" rtl="0" algn="l">
              <a:lnSpc>
                <a:spcPct val="115000"/>
              </a:lnSpc>
              <a:spcBef>
                <a:spcPts val="400"/>
              </a:spcBef>
              <a:spcAft>
                <a:spcPts val="0"/>
              </a:spcAft>
              <a:buSzPct val="213333"/>
              <a:buNone/>
            </a:pPr>
            <a:r>
              <a:rPr lang="es" sz="1350">
                <a:solidFill>
                  <a:srgbClr val="000000"/>
                </a:solidFill>
                <a:highlight>
                  <a:srgbClr val="FFFFFF"/>
                </a:highlight>
                <a:latin typeface="Roboto"/>
                <a:ea typeface="Roboto"/>
                <a:cs typeface="Roboto"/>
                <a:sym typeface="Roboto"/>
              </a:rPr>
              <a:t>Incorporar iconos o etiquetas dentro del input puede mejorar la usabilidad y el diseño general.</a:t>
            </a:r>
            <a:endParaRPr sz="1350">
              <a:solidFill>
                <a:srgbClr val="000000"/>
              </a:solidFill>
              <a:highlight>
                <a:srgbClr val="FFFFFF"/>
              </a:highlight>
              <a:latin typeface="Roboto"/>
              <a:ea typeface="Roboto"/>
              <a:cs typeface="Roboto"/>
              <a:sym typeface="Roboto"/>
            </a:endParaRPr>
          </a:p>
          <a:p>
            <a:pPr indent="0" lvl="0" marL="139700" marR="139700" rtl="0" algn="l">
              <a:lnSpc>
                <a:spcPct val="116666"/>
              </a:lnSpc>
              <a:spcBef>
                <a:spcPts val="1100"/>
              </a:spcBef>
              <a:spcAft>
                <a:spcPts val="0"/>
              </a:spcAft>
              <a:buSzPct val="213333"/>
              <a:buNone/>
            </a:pPr>
            <a:r>
              <a:rPr lang="es" sz="1350">
                <a:solidFill>
                  <a:srgbClr val="000000"/>
                </a:solidFill>
                <a:latin typeface="Courier New"/>
                <a:ea typeface="Courier New"/>
                <a:cs typeface="Courier New"/>
                <a:sym typeface="Courier New"/>
              </a:rPr>
              <a:t>&lt;div class="input-container"&gt;</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213333"/>
              <a:buNone/>
            </a:pPr>
            <a:r>
              <a:rPr lang="es" sz="1350">
                <a:solidFill>
                  <a:srgbClr val="000000"/>
                </a:solidFill>
                <a:latin typeface="Courier New"/>
                <a:ea typeface="Courier New"/>
                <a:cs typeface="Courier New"/>
                <a:sym typeface="Courier New"/>
              </a:rPr>
              <a:t>  &lt;i class="material-icons input-icon"&gt;person&lt;/i&gt;</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213333"/>
              <a:buNone/>
            </a:pPr>
            <a:r>
              <a:rPr lang="es" sz="1350">
                <a:solidFill>
                  <a:srgbClr val="000000"/>
                </a:solidFill>
                <a:latin typeface="Courier New"/>
                <a:ea typeface="Courier New"/>
                <a:cs typeface="Courier New"/>
                <a:sym typeface="Courier New"/>
              </a:rPr>
              <a:t>  &lt;input type="text" class="icon-input" placeholder="Nombre"&gt;</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213333"/>
              <a:buNone/>
            </a:pPr>
            <a:r>
              <a:rPr lang="es" sz="1350">
                <a:solidFill>
                  <a:srgbClr val="000000"/>
                </a:solidFill>
                <a:latin typeface="Courier New"/>
                <a:ea typeface="Courier New"/>
                <a:cs typeface="Courier New"/>
                <a:sym typeface="Courier New"/>
              </a:rPr>
              <a:t>&lt;/div&gt;</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213333"/>
              <a:buNone/>
            </a:pPr>
            <a:r>
              <a:rPr lang="es" sz="1350">
                <a:solidFill>
                  <a:srgbClr val="000000"/>
                </a:solidFill>
                <a:latin typeface="Courier New"/>
                <a:ea typeface="Courier New"/>
                <a:cs typeface="Courier New"/>
                <a:sym typeface="Courier New"/>
              </a:rPr>
              <a:t>&lt;div class="input-container"&gt;</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213333"/>
              <a:buNone/>
            </a:pPr>
            <a:r>
              <a:rPr lang="es" sz="1350">
                <a:solidFill>
                  <a:srgbClr val="000000"/>
                </a:solidFill>
                <a:latin typeface="Courier New"/>
                <a:ea typeface="Courier New"/>
                <a:cs typeface="Courier New"/>
                <a:sym typeface="Courier New"/>
              </a:rPr>
              <a:t>  &lt;i class="material-icons input-icon"&gt;email&lt;/i&gt;</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213333"/>
              <a:buNone/>
            </a:pPr>
            <a:r>
              <a:rPr lang="es" sz="1350">
                <a:solidFill>
                  <a:srgbClr val="000000"/>
                </a:solidFill>
                <a:latin typeface="Courier New"/>
                <a:ea typeface="Courier New"/>
                <a:cs typeface="Courier New"/>
                <a:sym typeface="Courier New"/>
              </a:rPr>
              <a:t>  &lt;input type="text" class="icon-input" placeholder="Correo electrónico"&gt;</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213333"/>
              <a:buNone/>
            </a:pPr>
            <a:r>
              <a:rPr lang="es" sz="1350">
                <a:solidFill>
                  <a:srgbClr val="000000"/>
                </a:solidFill>
                <a:latin typeface="Courier New"/>
                <a:ea typeface="Courier New"/>
                <a:cs typeface="Courier New"/>
                <a:sym typeface="Courier New"/>
              </a:rPr>
              <a:t>&lt;/div&gt;</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213333"/>
              <a:buNone/>
            </a:pPr>
            <a:r>
              <a:rPr lang="es" sz="1350">
                <a:solidFill>
                  <a:srgbClr val="000000"/>
                </a:solidFill>
                <a:latin typeface="Courier New"/>
                <a:ea typeface="Courier New"/>
                <a:cs typeface="Courier New"/>
                <a:sym typeface="Courier New"/>
              </a:rPr>
              <a:t>&lt;div class="input-container"&gt;</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213333"/>
              <a:buNone/>
            </a:pPr>
            <a:r>
              <a:rPr lang="es" sz="1350">
                <a:solidFill>
                  <a:srgbClr val="000000"/>
                </a:solidFill>
                <a:latin typeface="Courier New"/>
                <a:ea typeface="Courier New"/>
                <a:cs typeface="Courier New"/>
                <a:sym typeface="Courier New"/>
              </a:rPr>
              <a:t>  &lt;i class="material-icons input-icon"&gt;lock&lt;/i&gt;</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213333"/>
              <a:buNone/>
            </a:pPr>
            <a:r>
              <a:rPr lang="es" sz="1350">
                <a:solidFill>
                  <a:srgbClr val="000000"/>
                </a:solidFill>
                <a:latin typeface="Courier New"/>
                <a:ea typeface="Courier New"/>
                <a:cs typeface="Courier New"/>
                <a:sym typeface="Courier New"/>
              </a:rPr>
              <a:t>  &lt;input type="password" class="icon-input" placeholder="Contraseña"&gt;</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213333"/>
              <a:buNone/>
            </a:pPr>
            <a:r>
              <a:rPr lang="es" sz="1350">
                <a:solidFill>
                  <a:srgbClr val="000000"/>
                </a:solidFill>
                <a:latin typeface="Courier New"/>
                <a:ea typeface="Courier New"/>
                <a:cs typeface="Courier New"/>
                <a:sym typeface="Courier New"/>
              </a:rPr>
              <a:t>&lt;/div&gt;</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1100"/>
              </a:spcAft>
              <a:buSzPct val="213333"/>
              <a:buNone/>
            </a:pPr>
            <a:r>
              <a:rPr lang="es" sz="1350" u="sng">
                <a:solidFill>
                  <a:schemeClr val="hlink"/>
                </a:solidFill>
                <a:latin typeface="Courier New"/>
                <a:ea typeface="Courier New"/>
                <a:cs typeface="Courier New"/>
                <a:sym typeface="Courier New"/>
                <a:hlinkClick r:id="rId3"/>
              </a:rPr>
              <a:t>https://codepen.io/Eniun/pen/ZEZqoBz</a:t>
            </a:r>
            <a:r>
              <a:rPr lang="es" sz="1350">
                <a:solidFill>
                  <a:srgbClr val="000000"/>
                </a:solidFill>
                <a:latin typeface="Courier New"/>
                <a:ea typeface="Courier New"/>
                <a:cs typeface="Courier New"/>
                <a:sym typeface="Courier New"/>
              </a:rPr>
              <a:t> </a:t>
            </a:r>
            <a:endParaRPr sz="1350">
              <a:solidFill>
                <a:srgbClr val="000000"/>
              </a:solidFill>
              <a:latin typeface="Courier New"/>
              <a:ea typeface="Courier New"/>
              <a:cs typeface="Courier New"/>
              <a:sym typeface="Courier New"/>
            </a:endParaRPr>
          </a:p>
        </p:txBody>
      </p:sp>
      <p:sp>
        <p:nvSpPr>
          <p:cNvPr id="727" name="Google Shape;727;p101"/>
          <p:cNvSpPr txBox="1"/>
          <p:nvPr/>
        </p:nvSpPr>
        <p:spPr>
          <a:xfrm>
            <a:off x="5896625" y="445025"/>
            <a:ext cx="4899000" cy="4640700"/>
          </a:xfrm>
          <a:prstGeom prst="rect">
            <a:avLst/>
          </a:prstGeom>
          <a:noFill/>
          <a:ln>
            <a:noFill/>
          </a:ln>
        </p:spPr>
        <p:txBody>
          <a:bodyPr anchorCtr="0" anchor="t" bIns="91425" lIns="91425" spcFirstLastPara="1" rIns="91425" wrap="square" tIns="91425">
            <a:spAutoFit/>
          </a:bodyPr>
          <a:lstStyle/>
          <a:p>
            <a:pPr indent="0" lvl="0" marL="139700" marR="139700" rtl="0" algn="l">
              <a:lnSpc>
                <a:spcPct val="100000"/>
              </a:lnSpc>
              <a:spcBef>
                <a:spcPts val="1100"/>
              </a:spcBef>
              <a:spcAft>
                <a:spcPts val="0"/>
              </a:spcAft>
              <a:buClr>
                <a:srgbClr val="000000"/>
              </a:buClr>
              <a:buSzPts val="950"/>
              <a:buFont typeface="Arial"/>
              <a:buNone/>
            </a:pPr>
            <a:r>
              <a:rPr b="0" i="0" lang="es" sz="950" u="none" cap="none" strike="noStrike">
                <a:solidFill>
                  <a:srgbClr val="000000"/>
                </a:solidFill>
                <a:latin typeface="Courier New"/>
                <a:ea typeface="Courier New"/>
                <a:cs typeface="Courier New"/>
                <a:sym typeface="Courier New"/>
              </a:rPr>
              <a:t>.input-container {</a:t>
            </a:r>
            <a:endParaRPr b="0" i="0" sz="950" u="none" cap="none" strike="noStrike">
              <a:solidFill>
                <a:srgbClr val="000000"/>
              </a:solidFill>
              <a:latin typeface="Courier New"/>
              <a:ea typeface="Courier New"/>
              <a:cs typeface="Courier New"/>
              <a:sym typeface="Courier New"/>
            </a:endParaRPr>
          </a:p>
          <a:p>
            <a:pPr indent="0" lvl="0" marL="139700" marR="139700" rtl="0" algn="l">
              <a:lnSpc>
                <a:spcPct val="100000"/>
              </a:lnSpc>
              <a:spcBef>
                <a:spcPts val="1100"/>
              </a:spcBef>
              <a:spcAft>
                <a:spcPts val="0"/>
              </a:spcAft>
              <a:buClr>
                <a:srgbClr val="000000"/>
              </a:buClr>
              <a:buSzPts val="950"/>
              <a:buFont typeface="Arial"/>
              <a:buNone/>
            </a:pPr>
            <a:r>
              <a:rPr b="0" i="0" lang="es" sz="950" u="none" cap="none" strike="noStrike">
                <a:solidFill>
                  <a:srgbClr val="000000"/>
                </a:solidFill>
                <a:latin typeface="Courier New"/>
                <a:ea typeface="Courier New"/>
                <a:cs typeface="Courier New"/>
                <a:sym typeface="Courier New"/>
              </a:rPr>
              <a:t>  margin-bottom: 20px;}</a:t>
            </a:r>
            <a:endParaRPr b="0" i="0" sz="950" u="none" cap="none" strike="noStrike">
              <a:solidFill>
                <a:srgbClr val="000000"/>
              </a:solidFill>
              <a:latin typeface="Courier New"/>
              <a:ea typeface="Courier New"/>
              <a:cs typeface="Courier New"/>
              <a:sym typeface="Courier New"/>
            </a:endParaRPr>
          </a:p>
          <a:p>
            <a:pPr indent="0" lvl="0" marL="139700" marR="139700" rtl="0" algn="l">
              <a:lnSpc>
                <a:spcPct val="100000"/>
              </a:lnSpc>
              <a:spcBef>
                <a:spcPts val="1100"/>
              </a:spcBef>
              <a:spcAft>
                <a:spcPts val="0"/>
              </a:spcAft>
              <a:buClr>
                <a:srgbClr val="000000"/>
              </a:buClr>
              <a:buSzPts val="950"/>
              <a:buFont typeface="Arial"/>
              <a:buNone/>
            </a:pPr>
            <a:r>
              <a:rPr b="0" i="0" lang="es" sz="950" u="none" cap="none" strike="noStrike">
                <a:solidFill>
                  <a:srgbClr val="000000"/>
                </a:solidFill>
                <a:latin typeface="Courier New"/>
                <a:ea typeface="Courier New"/>
                <a:cs typeface="Courier New"/>
                <a:sym typeface="Courier New"/>
              </a:rPr>
              <a:t>.icon-input {</a:t>
            </a:r>
            <a:endParaRPr b="0" i="0" sz="950" u="none" cap="none" strike="noStrike">
              <a:solidFill>
                <a:srgbClr val="000000"/>
              </a:solidFill>
              <a:latin typeface="Courier New"/>
              <a:ea typeface="Courier New"/>
              <a:cs typeface="Courier New"/>
              <a:sym typeface="Courier New"/>
            </a:endParaRPr>
          </a:p>
          <a:p>
            <a:pPr indent="0" lvl="0" marL="139700" marR="139700" rtl="0" algn="l">
              <a:lnSpc>
                <a:spcPct val="100000"/>
              </a:lnSpc>
              <a:spcBef>
                <a:spcPts val="1100"/>
              </a:spcBef>
              <a:spcAft>
                <a:spcPts val="0"/>
              </a:spcAft>
              <a:buClr>
                <a:srgbClr val="000000"/>
              </a:buClr>
              <a:buSzPts val="950"/>
              <a:buFont typeface="Arial"/>
              <a:buNone/>
            </a:pPr>
            <a:r>
              <a:rPr b="0" i="0" lang="es" sz="950" u="none" cap="none" strike="noStrike">
                <a:solidFill>
                  <a:srgbClr val="000000"/>
                </a:solidFill>
                <a:latin typeface="Courier New"/>
                <a:ea typeface="Courier New"/>
                <a:cs typeface="Courier New"/>
                <a:sym typeface="Courier New"/>
              </a:rPr>
              <a:t>  padding: 10px 15px 10px 45px; </a:t>
            </a:r>
            <a:endParaRPr b="0" i="0" sz="950" u="none" cap="none" strike="noStrike">
              <a:solidFill>
                <a:srgbClr val="000000"/>
              </a:solidFill>
              <a:latin typeface="Courier New"/>
              <a:ea typeface="Courier New"/>
              <a:cs typeface="Courier New"/>
              <a:sym typeface="Courier New"/>
            </a:endParaRPr>
          </a:p>
          <a:p>
            <a:pPr indent="0" lvl="0" marL="139700" marR="139700" rtl="0" algn="l">
              <a:lnSpc>
                <a:spcPct val="100000"/>
              </a:lnSpc>
              <a:spcBef>
                <a:spcPts val="1100"/>
              </a:spcBef>
              <a:spcAft>
                <a:spcPts val="0"/>
              </a:spcAft>
              <a:buClr>
                <a:srgbClr val="000000"/>
              </a:buClr>
              <a:buSzPts val="950"/>
              <a:buFont typeface="Arial"/>
              <a:buNone/>
            </a:pPr>
            <a:r>
              <a:rPr b="0" i="0" lang="es" sz="950" u="none" cap="none" strike="noStrike">
                <a:solidFill>
                  <a:srgbClr val="000000"/>
                </a:solidFill>
                <a:latin typeface="Courier New"/>
                <a:ea typeface="Courier New"/>
                <a:cs typeface="Courier New"/>
                <a:sym typeface="Courier New"/>
              </a:rPr>
              <a:t>  border: 2px solid #2196F3; </a:t>
            </a:r>
            <a:endParaRPr b="0" i="0" sz="950" u="none" cap="none" strike="noStrike">
              <a:solidFill>
                <a:srgbClr val="000000"/>
              </a:solidFill>
              <a:latin typeface="Courier New"/>
              <a:ea typeface="Courier New"/>
              <a:cs typeface="Courier New"/>
              <a:sym typeface="Courier New"/>
            </a:endParaRPr>
          </a:p>
          <a:p>
            <a:pPr indent="0" lvl="0" marL="139700" marR="139700" rtl="0" algn="l">
              <a:lnSpc>
                <a:spcPct val="100000"/>
              </a:lnSpc>
              <a:spcBef>
                <a:spcPts val="1100"/>
              </a:spcBef>
              <a:spcAft>
                <a:spcPts val="0"/>
              </a:spcAft>
              <a:buClr>
                <a:srgbClr val="000000"/>
              </a:buClr>
              <a:buSzPts val="950"/>
              <a:buFont typeface="Arial"/>
              <a:buNone/>
            </a:pPr>
            <a:r>
              <a:rPr b="0" i="0" lang="es" sz="950" u="none" cap="none" strike="noStrike">
                <a:solidFill>
                  <a:srgbClr val="000000"/>
                </a:solidFill>
                <a:latin typeface="Courier New"/>
                <a:ea typeface="Courier New"/>
                <a:cs typeface="Courier New"/>
                <a:sym typeface="Courier New"/>
              </a:rPr>
              <a:t>  border-radius: 25px; </a:t>
            </a:r>
            <a:endParaRPr b="0" i="0" sz="950" u="none" cap="none" strike="noStrike">
              <a:solidFill>
                <a:srgbClr val="000000"/>
              </a:solidFill>
              <a:latin typeface="Courier New"/>
              <a:ea typeface="Courier New"/>
              <a:cs typeface="Courier New"/>
              <a:sym typeface="Courier New"/>
            </a:endParaRPr>
          </a:p>
          <a:p>
            <a:pPr indent="0" lvl="0" marL="139700" marR="139700" rtl="0" algn="l">
              <a:lnSpc>
                <a:spcPct val="100000"/>
              </a:lnSpc>
              <a:spcBef>
                <a:spcPts val="1100"/>
              </a:spcBef>
              <a:spcAft>
                <a:spcPts val="0"/>
              </a:spcAft>
              <a:buClr>
                <a:srgbClr val="000000"/>
              </a:buClr>
              <a:buSzPts val="950"/>
              <a:buFont typeface="Arial"/>
              <a:buNone/>
            </a:pPr>
            <a:r>
              <a:rPr b="0" i="0" lang="es" sz="950" u="none" cap="none" strike="noStrike">
                <a:solidFill>
                  <a:srgbClr val="000000"/>
                </a:solidFill>
                <a:latin typeface="Courier New"/>
                <a:ea typeface="Courier New"/>
                <a:cs typeface="Courier New"/>
                <a:sym typeface="Courier New"/>
              </a:rPr>
              <a:t>  width: 300px;</a:t>
            </a:r>
            <a:endParaRPr b="0" i="0" sz="950" u="none" cap="none" strike="noStrike">
              <a:solidFill>
                <a:srgbClr val="000000"/>
              </a:solidFill>
              <a:latin typeface="Courier New"/>
              <a:ea typeface="Courier New"/>
              <a:cs typeface="Courier New"/>
              <a:sym typeface="Courier New"/>
            </a:endParaRPr>
          </a:p>
          <a:p>
            <a:pPr indent="0" lvl="0" marL="139700" marR="139700" rtl="0" algn="l">
              <a:lnSpc>
                <a:spcPct val="100000"/>
              </a:lnSpc>
              <a:spcBef>
                <a:spcPts val="1100"/>
              </a:spcBef>
              <a:spcAft>
                <a:spcPts val="0"/>
              </a:spcAft>
              <a:buClr>
                <a:srgbClr val="000000"/>
              </a:buClr>
              <a:buSzPts val="950"/>
              <a:buFont typeface="Arial"/>
              <a:buNone/>
            </a:pPr>
            <a:r>
              <a:rPr b="0" i="0" lang="es" sz="950" u="none" cap="none" strike="noStrike">
                <a:solidFill>
                  <a:srgbClr val="000000"/>
                </a:solidFill>
                <a:latin typeface="Courier New"/>
                <a:ea typeface="Courier New"/>
                <a:cs typeface="Courier New"/>
                <a:sym typeface="Courier New"/>
              </a:rPr>
              <a:t>  font-size: 16px;</a:t>
            </a:r>
            <a:endParaRPr b="0" i="0" sz="950" u="none" cap="none" strike="noStrike">
              <a:solidFill>
                <a:srgbClr val="000000"/>
              </a:solidFill>
              <a:latin typeface="Courier New"/>
              <a:ea typeface="Courier New"/>
              <a:cs typeface="Courier New"/>
              <a:sym typeface="Courier New"/>
            </a:endParaRPr>
          </a:p>
          <a:p>
            <a:pPr indent="0" lvl="0" marL="139700" marR="139700" rtl="0" algn="l">
              <a:lnSpc>
                <a:spcPct val="100000"/>
              </a:lnSpc>
              <a:spcBef>
                <a:spcPts val="1100"/>
              </a:spcBef>
              <a:spcAft>
                <a:spcPts val="0"/>
              </a:spcAft>
              <a:buClr>
                <a:srgbClr val="000000"/>
              </a:buClr>
              <a:buSzPts val="950"/>
              <a:buFont typeface="Arial"/>
              <a:buNone/>
            </a:pPr>
            <a:r>
              <a:rPr b="0" i="0" lang="es" sz="950" u="none" cap="none" strike="noStrike">
                <a:solidFill>
                  <a:srgbClr val="000000"/>
                </a:solidFill>
                <a:latin typeface="Courier New"/>
                <a:ea typeface="Courier New"/>
                <a:cs typeface="Courier New"/>
                <a:sym typeface="Courier New"/>
              </a:rPr>
              <a:t>  color: #333;</a:t>
            </a:r>
            <a:endParaRPr b="0" i="0" sz="950" u="none" cap="none" strike="noStrike">
              <a:solidFill>
                <a:srgbClr val="000000"/>
              </a:solidFill>
              <a:latin typeface="Courier New"/>
              <a:ea typeface="Courier New"/>
              <a:cs typeface="Courier New"/>
              <a:sym typeface="Courier New"/>
            </a:endParaRPr>
          </a:p>
          <a:p>
            <a:pPr indent="0" lvl="0" marL="139700" marR="139700" rtl="0" algn="l">
              <a:lnSpc>
                <a:spcPct val="100000"/>
              </a:lnSpc>
              <a:spcBef>
                <a:spcPts val="1100"/>
              </a:spcBef>
              <a:spcAft>
                <a:spcPts val="0"/>
              </a:spcAft>
              <a:buClr>
                <a:srgbClr val="000000"/>
              </a:buClr>
              <a:buSzPts val="950"/>
              <a:buFont typeface="Arial"/>
              <a:buNone/>
            </a:pPr>
            <a:r>
              <a:rPr b="0" i="0" lang="es" sz="950" u="none" cap="none" strike="noStrike">
                <a:solidFill>
                  <a:srgbClr val="000000"/>
                </a:solidFill>
                <a:latin typeface="Courier New"/>
                <a:ea typeface="Courier New"/>
                <a:cs typeface="Courier New"/>
                <a:sym typeface="Courier New"/>
              </a:rPr>
              <a:t>  background-color: #f7f7f7; }</a:t>
            </a:r>
            <a:endParaRPr b="0" i="0" sz="950" u="none" cap="none" strike="noStrike">
              <a:solidFill>
                <a:srgbClr val="000000"/>
              </a:solidFill>
              <a:latin typeface="Courier New"/>
              <a:ea typeface="Courier New"/>
              <a:cs typeface="Courier New"/>
              <a:sym typeface="Courier New"/>
            </a:endParaRPr>
          </a:p>
          <a:p>
            <a:pPr indent="0" lvl="0" marL="139700" marR="139700" rtl="0" algn="l">
              <a:lnSpc>
                <a:spcPct val="100000"/>
              </a:lnSpc>
              <a:spcBef>
                <a:spcPts val="1100"/>
              </a:spcBef>
              <a:spcAft>
                <a:spcPts val="0"/>
              </a:spcAft>
              <a:buClr>
                <a:srgbClr val="000000"/>
              </a:buClr>
              <a:buSzPts val="950"/>
              <a:buFont typeface="Arial"/>
              <a:buNone/>
            </a:pPr>
            <a:r>
              <a:rPr b="0" i="0" lang="es" sz="950" u="none" cap="none" strike="noStrike">
                <a:solidFill>
                  <a:srgbClr val="000000"/>
                </a:solidFill>
                <a:latin typeface="Courier New"/>
                <a:ea typeface="Courier New"/>
                <a:cs typeface="Courier New"/>
                <a:sym typeface="Courier New"/>
              </a:rPr>
              <a:t>.input-icon {</a:t>
            </a:r>
            <a:endParaRPr b="0" i="0" sz="950" u="none" cap="none" strike="noStrike">
              <a:solidFill>
                <a:srgbClr val="000000"/>
              </a:solidFill>
              <a:latin typeface="Courier New"/>
              <a:ea typeface="Courier New"/>
              <a:cs typeface="Courier New"/>
              <a:sym typeface="Courier New"/>
            </a:endParaRPr>
          </a:p>
          <a:p>
            <a:pPr indent="0" lvl="0" marL="139700" marR="139700" rtl="0" algn="l">
              <a:lnSpc>
                <a:spcPct val="100000"/>
              </a:lnSpc>
              <a:spcBef>
                <a:spcPts val="1100"/>
              </a:spcBef>
              <a:spcAft>
                <a:spcPts val="0"/>
              </a:spcAft>
              <a:buClr>
                <a:srgbClr val="000000"/>
              </a:buClr>
              <a:buSzPts val="950"/>
              <a:buFont typeface="Arial"/>
              <a:buNone/>
            </a:pPr>
            <a:r>
              <a:rPr b="0" i="0" lang="es" sz="950" u="none" cap="none" strike="noStrike">
                <a:solidFill>
                  <a:srgbClr val="000000"/>
                </a:solidFill>
                <a:latin typeface="Courier New"/>
                <a:ea typeface="Courier New"/>
                <a:cs typeface="Courier New"/>
                <a:sym typeface="Courier New"/>
              </a:rPr>
              <a:t>  position: relative;</a:t>
            </a:r>
            <a:endParaRPr b="0" i="0" sz="950" u="none" cap="none" strike="noStrike">
              <a:solidFill>
                <a:srgbClr val="000000"/>
              </a:solidFill>
              <a:latin typeface="Courier New"/>
              <a:ea typeface="Courier New"/>
              <a:cs typeface="Courier New"/>
              <a:sym typeface="Courier New"/>
            </a:endParaRPr>
          </a:p>
          <a:p>
            <a:pPr indent="0" lvl="0" marL="139700" marR="139700" rtl="0" algn="l">
              <a:lnSpc>
                <a:spcPct val="100000"/>
              </a:lnSpc>
              <a:spcBef>
                <a:spcPts val="1100"/>
              </a:spcBef>
              <a:spcAft>
                <a:spcPts val="0"/>
              </a:spcAft>
              <a:buClr>
                <a:srgbClr val="000000"/>
              </a:buClr>
              <a:buSzPts val="950"/>
              <a:buFont typeface="Arial"/>
              <a:buNone/>
            </a:pPr>
            <a:r>
              <a:rPr b="0" i="0" lang="es" sz="950" u="none" cap="none" strike="noStrike">
                <a:solidFill>
                  <a:srgbClr val="000000"/>
                </a:solidFill>
                <a:latin typeface="Courier New"/>
                <a:ea typeface="Courier New"/>
                <a:cs typeface="Courier New"/>
                <a:sym typeface="Courier New"/>
              </a:rPr>
              <a:t>  top: 5px;</a:t>
            </a:r>
            <a:endParaRPr b="0" i="0" sz="950" u="none" cap="none" strike="noStrike">
              <a:solidFill>
                <a:srgbClr val="000000"/>
              </a:solidFill>
              <a:latin typeface="Courier New"/>
              <a:ea typeface="Courier New"/>
              <a:cs typeface="Courier New"/>
              <a:sym typeface="Courier New"/>
            </a:endParaRPr>
          </a:p>
          <a:p>
            <a:pPr indent="0" lvl="0" marL="139700" marR="139700" rtl="0" algn="l">
              <a:lnSpc>
                <a:spcPct val="100000"/>
              </a:lnSpc>
              <a:spcBef>
                <a:spcPts val="1100"/>
              </a:spcBef>
              <a:spcAft>
                <a:spcPts val="0"/>
              </a:spcAft>
              <a:buClr>
                <a:srgbClr val="000000"/>
              </a:buClr>
              <a:buSzPts val="950"/>
              <a:buFont typeface="Arial"/>
              <a:buNone/>
            </a:pPr>
            <a:r>
              <a:rPr b="0" i="0" lang="es" sz="950" u="none" cap="none" strike="noStrike">
                <a:solidFill>
                  <a:srgbClr val="000000"/>
                </a:solidFill>
                <a:latin typeface="Courier New"/>
                <a:ea typeface="Courier New"/>
                <a:cs typeface="Courier New"/>
                <a:sym typeface="Courier New"/>
              </a:rPr>
              <a:t>  left: 40px;</a:t>
            </a:r>
            <a:endParaRPr b="0" i="0" sz="950" u="none" cap="none" strike="noStrike">
              <a:solidFill>
                <a:srgbClr val="000000"/>
              </a:solidFill>
              <a:latin typeface="Courier New"/>
              <a:ea typeface="Courier New"/>
              <a:cs typeface="Courier New"/>
              <a:sym typeface="Courier New"/>
            </a:endParaRPr>
          </a:p>
          <a:p>
            <a:pPr indent="0" lvl="0" marL="139700" marR="139700" rtl="0" algn="l">
              <a:lnSpc>
                <a:spcPct val="100000"/>
              </a:lnSpc>
              <a:spcBef>
                <a:spcPts val="1100"/>
              </a:spcBef>
              <a:spcAft>
                <a:spcPts val="0"/>
              </a:spcAft>
              <a:buClr>
                <a:srgbClr val="000000"/>
              </a:buClr>
              <a:buSzPts val="950"/>
              <a:buFont typeface="Arial"/>
              <a:buNone/>
            </a:pPr>
            <a:r>
              <a:rPr b="0" i="0" lang="es" sz="950" u="none" cap="none" strike="noStrike">
                <a:solidFill>
                  <a:srgbClr val="000000"/>
                </a:solidFill>
                <a:latin typeface="Courier New"/>
                <a:ea typeface="Courier New"/>
                <a:cs typeface="Courier New"/>
                <a:sym typeface="Courier New"/>
              </a:rPr>
              <a:t>  color: #777;</a:t>
            </a:r>
            <a:endParaRPr b="0" i="0" sz="950" u="none" cap="none" strike="noStrike">
              <a:solidFill>
                <a:srgbClr val="000000"/>
              </a:solidFill>
              <a:latin typeface="Courier New"/>
              <a:ea typeface="Courier New"/>
              <a:cs typeface="Courier New"/>
              <a:sym typeface="Courier New"/>
            </a:endParaRPr>
          </a:p>
          <a:p>
            <a:pPr indent="0" lvl="0" marL="139700" marR="139700" rtl="0" algn="l">
              <a:lnSpc>
                <a:spcPct val="100000"/>
              </a:lnSpc>
              <a:spcBef>
                <a:spcPts val="1100"/>
              </a:spcBef>
              <a:spcAft>
                <a:spcPts val="1100"/>
              </a:spcAft>
              <a:buClr>
                <a:srgbClr val="000000"/>
              </a:buClr>
              <a:buSzPts val="950"/>
              <a:buFont typeface="Arial"/>
              <a:buNone/>
            </a:pPr>
            <a:r>
              <a:rPr b="0" i="0" lang="es" sz="950" u="none" cap="none" strike="noStrike">
                <a:solidFill>
                  <a:srgbClr val="000000"/>
                </a:solidFill>
                <a:latin typeface="Courier New"/>
                <a:ea typeface="Courier New"/>
                <a:cs typeface="Courier New"/>
                <a:sym typeface="Courier New"/>
              </a:rPr>
              <a:t>  font-size: 20px;}</a:t>
            </a:r>
            <a:endParaRPr b="0" i="0" sz="95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10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17. Estilos en formularios CSS</a:t>
            </a:r>
            <a:endParaRPr/>
          </a:p>
        </p:txBody>
      </p:sp>
      <p:sp>
        <p:nvSpPr>
          <p:cNvPr id="733" name="Google Shape;733;p102"/>
          <p:cNvSpPr txBox="1"/>
          <p:nvPr>
            <p:ph idx="1" type="body"/>
          </p:nvPr>
        </p:nvSpPr>
        <p:spPr>
          <a:xfrm>
            <a:off x="311700" y="1017725"/>
            <a:ext cx="8520600" cy="4221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15000"/>
              </a:lnSpc>
              <a:spcBef>
                <a:spcPts val="1800"/>
              </a:spcBef>
              <a:spcAft>
                <a:spcPts val="0"/>
              </a:spcAft>
              <a:buSzPct val="128571"/>
              <a:buNone/>
            </a:pPr>
            <a:r>
              <a:rPr b="1" lang="es" sz="2000">
                <a:solidFill>
                  <a:srgbClr val="000000"/>
                </a:solidFill>
                <a:latin typeface="Arial"/>
                <a:ea typeface="Arial"/>
                <a:cs typeface="Arial"/>
                <a:sym typeface="Arial"/>
              </a:rPr>
              <a:t>4. Estilos para inputs</a:t>
            </a:r>
            <a:endParaRPr b="1" sz="2000">
              <a:solidFill>
                <a:srgbClr val="000000"/>
              </a:solidFill>
              <a:latin typeface="Arial"/>
              <a:ea typeface="Arial"/>
              <a:cs typeface="Arial"/>
              <a:sym typeface="Arial"/>
            </a:endParaRPr>
          </a:p>
          <a:p>
            <a:pPr indent="0" lvl="0" marL="0" rtl="0" algn="l">
              <a:lnSpc>
                <a:spcPct val="115000"/>
              </a:lnSpc>
              <a:spcBef>
                <a:spcPts val="1400"/>
              </a:spcBef>
              <a:spcAft>
                <a:spcPts val="0"/>
              </a:spcAft>
              <a:buSzPct val="132207"/>
              <a:buNone/>
            </a:pPr>
            <a:r>
              <a:rPr b="1" lang="es" sz="1945">
                <a:solidFill>
                  <a:srgbClr val="000000"/>
                </a:solidFill>
                <a:latin typeface="Arial"/>
                <a:ea typeface="Arial"/>
                <a:cs typeface="Arial"/>
                <a:sym typeface="Arial"/>
              </a:rPr>
              <a:t>4.6. Animaciones</a:t>
            </a:r>
            <a:endParaRPr b="1" sz="1945">
              <a:solidFill>
                <a:srgbClr val="000000"/>
              </a:solidFill>
              <a:latin typeface="Arial"/>
              <a:ea typeface="Arial"/>
              <a:cs typeface="Arial"/>
              <a:sym typeface="Arial"/>
            </a:endParaRPr>
          </a:p>
          <a:p>
            <a:pPr indent="0" lvl="0" marL="0" rtl="0" algn="l">
              <a:lnSpc>
                <a:spcPct val="115000"/>
              </a:lnSpc>
              <a:spcBef>
                <a:spcPts val="400"/>
              </a:spcBef>
              <a:spcAft>
                <a:spcPts val="0"/>
              </a:spcAft>
              <a:buSzPct val="158632"/>
              <a:buNone/>
            </a:pPr>
            <a:r>
              <a:rPr lang="es" sz="1620">
                <a:solidFill>
                  <a:srgbClr val="000000"/>
                </a:solidFill>
                <a:highlight>
                  <a:srgbClr val="FFFFFF"/>
                </a:highlight>
                <a:latin typeface="Roboto"/>
                <a:ea typeface="Roboto"/>
                <a:cs typeface="Roboto"/>
                <a:sym typeface="Roboto"/>
              </a:rPr>
              <a:t>La inclusión de animaciones sutiles puede elevar la interactividad y el atractivo visual de tus inputs. Un ejemplo claro es cuando aplicamos una </a:t>
            </a:r>
            <a:r>
              <a:rPr b="1" lang="es" sz="1620">
                <a:solidFill>
                  <a:srgbClr val="E7618B"/>
                </a:solidFill>
                <a:uFill>
                  <a:noFill/>
                </a:uFill>
                <a:latin typeface="Roboto"/>
                <a:ea typeface="Roboto"/>
                <a:cs typeface="Roboto"/>
                <a:sym typeface="Roboto"/>
                <a:hlinkClick r:id="rId3">
                  <a:extLst>
                    <a:ext uri="{A12FA001-AC4F-418D-AE19-62706E023703}">
                      <ahyp:hlinkClr val="tx"/>
                    </a:ext>
                  </a:extLst>
                </a:hlinkClick>
              </a:rPr>
              <a:t>transición</a:t>
            </a:r>
            <a:r>
              <a:rPr lang="es" sz="1620">
                <a:solidFill>
                  <a:srgbClr val="000000"/>
                </a:solidFill>
                <a:highlight>
                  <a:srgbClr val="FFFFFF"/>
                </a:highlight>
                <a:latin typeface="Roboto"/>
                <a:ea typeface="Roboto"/>
                <a:cs typeface="Roboto"/>
                <a:sym typeface="Roboto"/>
              </a:rPr>
              <a:t> hacer foco en el input, expandiéndolo ligeramente para enfatizar su estado activo. Veamos cómo implementarlo:</a:t>
            </a:r>
            <a:endParaRPr sz="1571">
              <a:solidFill>
                <a:srgbClr val="000000"/>
              </a:solidFill>
              <a:latin typeface="Arial"/>
              <a:ea typeface="Arial"/>
              <a:cs typeface="Arial"/>
              <a:sym typeface="Arial"/>
            </a:endParaRPr>
          </a:p>
          <a:p>
            <a:pPr indent="0" lvl="0" marL="139700" marR="139700" rtl="0" algn="l">
              <a:lnSpc>
                <a:spcPct val="116666"/>
              </a:lnSpc>
              <a:spcBef>
                <a:spcPts val="1100"/>
              </a:spcBef>
              <a:spcAft>
                <a:spcPts val="0"/>
              </a:spcAft>
              <a:buSzPct val="190476"/>
              <a:buNone/>
            </a:pPr>
            <a:r>
              <a:rPr lang="es" sz="1350">
                <a:solidFill>
                  <a:srgbClr val="000000"/>
                </a:solidFill>
                <a:latin typeface="Courier New"/>
                <a:ea typeface="Courier New"/>
                <a:cs typeface="Courier New"/>
                <a:sym typeface="Courier New"/>
              </a:rPr>
              <a:t>&lt;input type="text" class="animated-input" placeholder="Buscar"&gt;</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190476"/>
              <a:buNone/>
            </a:pPr>
            <a:r>
              <a:rPr lang="es" sz="1350">
                <a:solidFill>
                  <a:srgbClr val="000000"/>
                </a:solidFill>
                <a:latin typeface="Courier New"/>
                <a:ea typeface="Courier New"/>
                <a:cs typeface="Courier New"/>
                <a:sym typeface="Courier New"/>
              </a:rPr>
              <a:t>.animated-input {</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190476"/>
              <a:buNone/>
            </a:pPr>
            <a:r>
              <a:rPr lang="es" sz="1350">
                <a:solidFill>
                  <a:srgbClr val="000000"/>
                </a:solidFill>
                <a:latin typeface="Courier New"/>
                <a:ea typeface="Courier New"/>
                <a:cs typeface="Courier New"/>
                <a:sym typeface="Courier New"/>
              </a:rPr>
              <a:t>    padding: 10px;</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190476"/>
              <a:buNone/>
            </a:pPr>
            <a:r>
              <a:rPr lang="es" sz="1350">
                <a:solidFill>
                  <a:srgbClr val="000000"/>
                </a:solidFill>
                <a:latin typeface="Courier New"/>
                <a:ea typeface="Courier New"/>
                <a:cs typeface="Courier New"/>
                <a:sym typeface="Courier New"/>
              </a:rPr>
              <a:t>    width: 250px;</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190476"/>
              <a:buNone/>
            </a:pPr>
            <a:r>
              <a:rPr lang="es" sz="1350">
                <a:solidFill>
                  <a:srgbClr val="000000"/>
                </a:solidFill>
                <a:latin typeface="Courier New"/>
                <a:ea typeface="Courier New"/>
                <a:cs typeface="Courier New"/>
                <a:sym typeface="Courier New"/>
              </a:rPr>
              <a:t>    border: 1px solid #ccc;</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190476"/>
              <a:buNone/>
            </a:pPr>
            <a:r>
              <a:rPr lang="es" sz="1350">
                <a:solidFill>
                  <a:srgbClr val="000000"/>
                </a:solidFill>
                <a:latin typeface="Courier New"/>
                <a:ea typeface="Courier New"/>
                <a:cs typeface="Courier New"/>
                <a:sym typeface="Courier New"/>
              </a:rPr>
              <a:t>    transition: width 0.3s;</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190476"/>
              <a:buNone/>
            </a:pPr>
            <a:r>
              <a:rPr lang="es" sz="1350">
                <a:solidFill>
                  <a:srgbClr val="000000"/>
                </a:solidFill>
                <a:latin typeface="Courier New"/>
                <a:ea typeface="Courier New"/>
                <a:cs typeface="Courier New"/>
                <a:sym typeface="Courier New"/>
              </a:rPr>
              <a:t>}</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190476"/>
              <a:buNone/>
            </a:pPr>
            <a:r>
              <a:rPr lang="es" sz="1350">
                <a:solidFill>
                  <a:srgbClr val="000000"/>
                </a:solidFill>
                <a:latin typeface="Courier New"/>
                <a:ea typeface="Courier New"/>
                <a:cs typeface="Courier New"/>
                <a:sym typeface="Courier New"/>
              </a:rPr>
              <a:t>.animated-input:focus {</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0"/>
              </a:spcAft>
              <a:buSzPct val="190476"/>
              <a:buNone/>
            </a:pPr>
            <a:r>
              <a:rPr lang="es" sz="1350">
                <a:solidFill>
                  <a:srgbClr val="000000"/>
                </a:solidFill>
                <a:latin typeface="Courier New"/>
                <a:ea typeface="Courier New"/>
                <a:cs typeface="Courier New"/>
                <a:sym typeface="Courier New"/>
              </a:rPr>
              <a:t>    width: 300px;</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1100"/>
              </a:spcAft>
              <a:buSzPct val="190476"/>
              <a:buNone/>
            </a:pPr>
            <a:r>
              <a:rPr lang="es" sz="1350">
                <a:solidFill>
                  <a:srgbClr val="000000"/>
                </a:solidFill>
                <a:latin typeface="Courier New"/>
                <a:ea typeface="Courier New"/>
                <a:cs typeface="Courier New"/>
                <a:sym typeface="Courier New"/>
              </a:rPr>
              <a:t>}</a:t>
            </a:r>
            <a:endParaRPr sz="1350">
              <a:solidFill>
                <a:srgbClr val="000000"/>
              </a:solidFill>
              <a:latin typeface="Courier New"/>
              <a:ea typeface="Courier New"/>
              <a:cs typeface="Courier New"/>
              <a:sym typeface="Courier New"/>
            </a:endParaRPr>
          </a:p>
        </p:txBody>
      </p:sp>
      <p:sp>
        <p:nvSpPr>
          <p:cNvPr id="734" name="Google Shape;734;p102"/>
          <p:cNvSpPr txBox="1"/>
          <p:nvPr/>
        </p:nvSpPr>
        <p:spPr>
          <a:xfrm>
            <a:off x="3619500" y="4393400"/>
            <a:ext cx="3712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sng" cap="none" strike="noStrike">
                <a:solidFill>
                  <a:schemeClr val="hlink"/>
                </a:solidFill>
                <a:latin typeface="Arial"/>
                <a:ea typeface="Arial"/>
                <a:cs typeface="Arial"/>
                <a:sym typeface="Arial"/>
                <a:hlinkClick r:id="rId4"/>
              </a:rPr>
              <a:t>https://codepen.io/Eniun/pen/QWPZXEM</a:t>
            </a:r>
            <a:r>
              <a:rPr b="0" i="0" lang="e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10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17. Estilos en formularios CSS</a:t>
            </a:r>
            <a:endParaRPr/>
          </a:p>
        </p:txBody>
      </p:sp>
      <p:sp>
        <p:nvSpPr>
          <p:cNvPr id="740" name="Google Shape;740;p103"/>
          <p:cNvSpPr txBox="1"/>
          <p:nvPr>
            <p:ph idx="1" type="body"/>
          </p:nvPr>
        </p:nvSpPr>
        <p:spPr>
          <a:xfrm>
            <a:off x="311700" y="1017725"/>
            <a:ext cx="8520600" cy="4221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SzPts val="1800"/>
              <a:buNone/>
            </a:pPr>
            <a:r>
              <a:rPr b="1" lang="es" sz="2000">
                <a:solidFill>
                  <a:srgbClr val="000000"/>
                </a:solidFill>
                <a:latin typeface="Arial"/>
                <a:ea typeface="Arial"/>
                <a:cs typeface="Arial"/>
                <a:sym typeface="Arial"/>
              </a:rPr>
              <a:t>5. Estilos para inputs requeridos</a:t>
            </a:r>
            <a:endParaRPr b="1" sz="2000">
              <a:solidFill>
                <a:srgbClr val="000000"/>
              </a:solidFill>
              <a:latin typeface="Arial"/>
              <a:ea typeface="Arial"/>
              <a:cs typeface="Arial"/>
              <a:sym typeface="Arial"/>
            </a:endParaRPr>
          </a:p>
          <a:p>
            <a:pPr indent="0" lvl="0" marL="0" rtl="0" algn="l">
              <a:lnSpc>
                <a:spcPct val="115000"/>
              </a:lnSpc>
              <a:spcBef>
                <a:spcPts val="400"/>
              </a:spcBef>
              <a:spcAft>
                <a:spcPts val="0"/>
              </a:spcAft>
              <a:buSzPts val="1800"/>
              <a:buNone/>
            </a:pPr>
            <a:r>
              <a:rPr lang="es" sz="1350">
                <a:solidFill>
                  <a:srgbClr val="000000"/>
                </a:solidFill>
                <a:latin typeface="Roboto"/>
                <a:ea typeface="Roboto"/>
                <a:cs typeface="Roboto"/>
                <a:sym typeface="Roboto"/>
              </a:rPr>
              <a:t>Veamos ahora cómo aplicar estilos específicos a los inputs que son marcados como requeridos en el formulario. Esto se hace mediante la adición de un indicativo, por ejemplo un asterisco, al final de las etiquetas </a:t>
            </a:r>
            <a:r>
              <a:rPr lang="es" sz="1350">
                <a:solidFill>
                  <a:srgbClr val="2991D6"/>
                </a:solidFill>
                <a:highlight>
                  <a:srgbClr val="FFFFFF"/>
                </a:highlight>
                <a:latin typeface="Courier New"/>
                <a:ea typeface="Courier New"/>
                <a:cs typeface="Courier New"/>
                <a:sym typeface="Courier New"/>
              </a:rPr>
              <a:t>&lt;label&gt;</a:t>
            </a:r>
            <a:r>
              <a:rPr lang="es" sz="1350">
                <a:solidFill>
                  <a:srgbClr val="000000"/>
                </a:solidFill>
                <a:latin typeface="Roboto"/>
                <a:ea typeface="Roboto"/>
                <a:cs typeface="Roboto"/>
                <a:sym typeface="Roboto"/>
              </a:rPr>
              <a:t> correspondientes a los campos obligatorios. Estos estilos ayudan a resaltar visualmente los campos que deben ser completados por el usuario.</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latin typeface="Roboto"/>
                <a:ea typeface="Roboto"/>
                <a:cs typeface="Roboto"/>
                <a:sym typeface="Roboto"/>
              </a:rPr>
              <a:t>En el siguiente ejemplo se usa el </a:t>
            </a:r>
            <a:r>
              <a:rPr b="1" lang="es" sz="1350">
                <a:solidFill>
                  <a:srgbClr val="000000"/>
                </a:solidFill>
                <a:latin typeface="Roboto"/>
                <a:ea typeface="Roboto"/>
                <a:cs typeface="Roboto"/>
                <a:sym typeface="Roboto"/>
              </a:rPr>
              <a:t>pseudoelemento</a:t>
            </a:r>
            <a:r>
              <a:rPr lang="es" sz="1350">
                <a:solidFill>
                  <a:srgbClr val="000000"/>
                </a:solidFill>
                <a:latin typeface="Roboto"/>
                <a:ea typeface="Roboto"/>
                <a:cs typeface="Roboto"/>
                <a:sym typeface="Roboto"/>
              </a:rPr>
              <a:t> </a:t>
            </a:r>
            <a:r>
              <a:rPr lang="es" sz="1350">
                <a:solidFill>
                  <a:srgbClr val="2991D6"/>
                </a:solidFill>
                <a:highlight>
                  <a:srgbClr val="FFFFFF"/>
                </a:highlight>
                <a:latin typeface="Courier New"/>
                <a:ea typeface="Courier New"/>
                <a:cs typeface="Courier New"/>
                <a:sym typeface="Courier New"/>
              </a:rPr>
              <a:t>:after</a:t>
            </a:r>
            <a:r>
              <a:rPr lang="es" sz="1350">
                <a:solidFill>
                  <a:srgbClr val="000000"/>
                </a:solidFill>
                <a:latin typeface="Roboto"/>
                <a:ea typeface="Roboto"/>
                <a:cs typeface="Roboto"/>
                <a:sym typeface="Roboto"/>
              </a:rPr>
              <a:t> y la propiedad </a:t>
            </a:r>
            <a:r>
              <a:rPr lang="es" sz="1350">
                <a:solidFill>
                  <a:srgbClr val="2991D6"/>
                </a:solidFill>
                <a:highlight>
                  <a:srgbClr val="FFFFFF"/>
                </a:highlight>
                <a:latin typeface="Courier New"/>
                <a:ea typeface="Courier New"/>
                <a:cs typeface="Courier New"/>
                <a:sym typeface="Courier New"/>
              </a:rPr>
              <a:t>content</a:t>
            </a:r>
            <a:r>
              <a:rPr lang="es" sz="1350">
                <a:solidFill>
                  <a:srgbClr val="000000"/>
                </a:solidFill>
                <a:latin typeface="Roboto"/>
                <a:ea typeface="Roboto"/>
                <a:cs typeface="Roboto"/>
                <a:sym typeface="Roboto"/>
              </a:rPr>
              <a:t> para insertar un asterisco al final de los label que tienen la clase </a:t>
            </a:r>
            <a:r>
              <a:rPr lang="es" sz="1350">
                <a:solidFill>
                  <a:srgbClr val="2991D6"/>
                </a:solidFill>
                <a:highlight>
                  <a:srgbClr val="FFFFFF"/>
                </a:highlight>
                <a:latin typeface="Courier New"/>
                <a:ea typeface="Courier New"/>
                <a:cs typeface="Courier New"/>
                <a:sym typeface="Courier New"/>
              </a:rPr>
              <a:t>required</a:t>
            </a:r>
            <a:r>
              <a:rPr lang="es" sz="1350">
                <a:solidFill>
                  <a:srgbClr val="000000"/>
                </a:solidFill>
                <a:latin typeface="Roboto"/>
                <a:ea typeface="Roboto"/>
                <a:cs typeface="Roboto"/>
                <a:sym typeface="Roboto"/>
              </a:rPr>
              <a:t>.</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latin typeface="Courier New"/>
                <a:ea typeface="Courier New"/>
                <a:cs typeface="Courier New"/>
                <a:sym typeface="Courier New"/>
              </a:rPr>
              <a:t>label.required::after {</a:t>
            </a:r>
            <a:endParaRPr sz="1350">
              <a:solidFill>
                <a:srgbClr val="000000"/>
              </a:solidFill>
              <a:latin typeface="Courier New"/>
              <a:ea typeface="Courier New"/>
              <a:cs typeface="Courier New"/>
              <a:sym typeface="Courier New"/>
            </a:endParaRPr>
          </a:p>
          <a:p>
            <a:pPr indent="0" lvl="0" marL="0" rtl="0" algn="l">
              <a:lnSpc>
                <a:spcPct val="115000"/>
              </a:lnSpc>
              <a:spcBef>
                <a:spcPts val="1100"/>
              </a:spcBef>
              <a:spcAft>
                <a:spcPts val="0"/>
              </a:spcAft>
              <a:buSzPts val="1800"/>
              <a:buNone/>
            </a:pPr>
            <a:r>
              <a:rPr lang="es" sz="1350">
                <a:solidFill>
                  <a:srgbClr val="000000"/>
                </a:solidFill>
                <a:latin typeface="Courier New"/>
                <a:ea typeface="Courier New"/>
                <a:cs typeface="Courier New"/>
                <a:sym typeface="Courier New"/>
              </a:rPr>
              <a:t>    content: "*";</a:t>
            </a:r>
            <a:endParaRPr sz="1350">
              <a:solidFill>
                <a:srgbClr val="000000"/>
              </a:solidFill>
              <a:latin typeface="Courier New"/>
              <a:ea typeface="Courier New"/>
              <a:cs typeface="Courier New"/>
              <a:sym typeface="Courier New"/>
            </a:endParaRPr>
          </a:p>
          <a:p>
            <a:pPr indent="0" lvl="0" marL="0" rtl="0" algn="l">
              <a:lnSpc>
                <a:spcPct val="115000"/>
              </a:lnSpc>
              <a:spcBef>
                <a:spcPts val="1100"/>
              </a:spcBef>
              <a:spcAft>
                <a:spcPts val="0"/>
              </a:spcAft>
              <a:buSzPts val="1800"/>
              <a:buNone/>
            </a:pPr>
            <a:r>
              <a:rPr lang="es" sz="1350">
                <a:solidFill>
                  <a:srgbClr val="000000"/>
                </a:solidFill>
                <a:latin typeface="Courier New"/>
                <a:ea typeface="Courier New"/>
                <a:cs typeface="Courier New"/>
                <a:sym typeface="Courier New"/>
              </a:rPr>
              <a:t>    color: red;</a:t>
            </a:r>
            <a:endParaRPr sz="1350">
              <a:solidFill>
                <a:srgbClr val="000000"/>
              </a:solidFill>
              <a:latin typeface="Courier New"/>
              <a:ea typeface="Courier New"/>
              <a:cs typeface="Courier New"/>
              <a:sym typeface="Courier New"/>
            </a:endParaRPr>
          </a:p>
          <a:p>
            <a:pPr indent="0" lvl="0" marL="0" rtl="0" algn="l">
              <a:lnSpc>
                <a:spcPct val="115000"/>
              </a:lnSpc>
              <a:spcBef>
                <a:spcPts val="1100"/>
              </a:spcBef>
              <a:spcAft>
                <a:spcPts val="0"/>
              </a:spcAft>
              <a:buSzPts val="1800"/>
              <a:buNone/>
            </a:pPr>
            <a:r>
              <a:rPr lang="es" sz="1350">
                <a:solidFill>
                  <a:srgbClr val="000000"/>
                </a:solidFill>
                <a:latin typeface="Courier New"/>
                <a:ea typeface="Courier New"/>
                <a:cs typeface="Courier New"/>
                <a:sym typeface="Courier New"/>
              </a:rPr>
              <a:t>    margin-left: 5px; </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100"/>
              </a:spcBef>
              <a:spcAft>
                <a:spcPts val="1100"/>
              </a:spcAft>
              <a:buSzPts val="1800"/>
              <a:buNone/>
            </a:pPr>
            <a:r>
              <a:rPr lang="es" sz="1350">
                <a:solidFill>
                  <a:srgbClr val="000000"/>
                </a:solidFill>
                <a:latin typeface="Courier New"/>
                <a:ea typeface="Courier New"/>
                <a:cs typeface="Courier New"/>
                <a:sym typeface="Courier New"/>
              </a:rPr>
              <a:t>}</a:t>
            </a:r>
            <a:endParaRPr sz="1620">
              <a:solidFill>
                <a:srgbClr val="000000"/>
              </a:solidFill>
              <a:highlight>
                <a:srgbClr val="FFFFFF"/>
              </a:highlight>
              <a:latin typeface="Roboto"/>
              <a:ea typeface="Roboto"/>
              <a:cs typeface="Roboto"/>
              <a:sym typeface="Roboto"/>
            </a:endParaRPr>
          </a:p>
        </p:txBody>
      </p:sp>
      <p:pic>
        <p:nvPicPr>
          <p:cNvPr id="741" name="Google Shape;741;p103"/>
          <p:cNvPicPr preferRelativeResize="0"/>
          <p:nvPr/>
        </p:nvPicPr>
        <p:blipFill rotWithShape="1">
          <a:blip r:embed="rId3">
            <a:alphaModFix/>
          </a:blip>
          <a:srcRect b="0" l="0" r="0" t="0"/>
          <a:stretch/>
        </p:blipFill>
        <p:spPr>
          <a:xfrm>
            <a:off x="3755150" y="3423903"/>
            <a:ext cx="5147701" cy="1436325"/>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10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18. Nombres de clases en CSS</a:t>
            </a:r>
            <a:endParaRPr/>
          </a:p>
        </p:txBody>
      </p:sp>
      <p:sp>
        <p:nvSpPr>
          <p:cNvPr id="747" name="Google Shape;747;p10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AutoNum type="arabicPeriod"/>
            </a:pPr>
            <a:r>
              <a:rPr b="1" lang="es"/>
              <a:t>BUENAS PRÁCTICAS</a:t>
            </a:r>
            <a:endParaRPr b="1"/>
          </a:p>
        </p:txBody>
      </p:sp>
      <p:pic>
        <p:nvPicPr>
          <p:cNvPr id="748" name="Google Shape;748;p104"/>
          <p:cNvPicPr preferRelativeResize="0"/>
          <p:nvPr/>
        </p:nvPicPr>
        <p:blipFill rotWithShape="1">
          <a:blip r:embed="rId3">
            <a:alphaModFix/>
          </a:blip>
          <a:srcRect b="0" l="0" r="0" t="0"/>
          <a:stretch/>
        </p:blipFill>
        <p:spPr>
          <a:xfrm>
            <a:off x="412588" y="1723051"/>
            <a:ext cx="8318825" cy="2974324"/>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pic>
        <p:nvPicPr>
          <p:cNvPr id="753" name="Google Shape;753;p105"/>
          <p:cNvPicPr preferRelativeResize="0"/>
          <p:nvPr/>
        </p:nvPicPr>
        <p:blipFill rotWithShape="1">
          <a:blip r:embed="rId3">
            <a:alphaModFix/>
          </a:blip>
          <a:srcRect b="0" l="0" r="0" t="0"/>
          <a:stretch/>
        </p:blipFill>
        <p:spPr>
          <a:xfrm>
            <a:off x="440674" y="312950"/>
            <a:ext cx="8067899" cy="4517600"/>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pic>
        <p:nvPicPr>
          <p:cNvPr id="758" name="Google Shape;758;p106"/>
          <p:cNvPicPr preferRelativeResize="0"/>
          <p:nvPr/>
        </p:nvPicPr>
        <p:blipFill rotWithShape="1">
          <a:blip r:embed="rId3">
            <a:alphaModFix/>
          </a:blip>
          <a:srcRect b="0" l="0" r="0" t="0"/>
          <a:stretch/>
        </p:blipFill>
        <p:spPr>
          <a:xfrm>
            <a:off x="752975" y="91237"/>
            <a:ext cx="7403999" cy="4961024"/>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pic>
        <p:nvPicPr>
          <p:cNvPr id="763" name="Google Shape;763;p107"/>
          <p:cNvPicPr preferRelativeResize="0"/>
          <p:nvPr/>
        </p:nvPicPr>
        <p:blipFill rotWithShape="1">
          <a:blip r:embed="rId3">
            <a:alphaModFix/>
          </a:blip>
          <a:srcRect b="0" l="0" r="0" t="0"/>
          <a:stretch/>
        </p:blipFill>
        <p:spPr>
          <a:xfrm>
            <a:off x="696900" y="2169175"/>
            <a:ext cx="8262175" cy="2861750"/>
          </a:xfrm>
          <a:prstGeom prst="rect">
            <a:avLst/>
          </a:prstGeom>
          <a:noFill/>
          <a:ln>
            <a:noFill/>
          </a:ln>
        </p:spPr>
      </p:pic>
      <p:sp>
        <p:nvSpPr>
          <p:cNvPr id="764" name="Google Shape;764;p107"/>
          <p:cNvSpPr txBox="1"/>
          <p:nvPr>
            <p:ph idx="1" type="body"/>
          </p:nvPr>
        </p:nvSpPr>
        <p:spPr>
          <a:xfrm>
            <a:off x="438463" y="1096100"/>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AutoNum type="arabicPeriod"/>
            </a:pPr>
            <a:r>
              <a:rPr b="1" lang="es"/>
              <a:t>BUENAS PRÁCTICAS</a:t>
            </a:r>
            <a:endParaRPr b="1"/>
          </a:p>
        </p:txBody>
      </p:sp>
      <p:sp>
        <p:nvSpPr>
          <p:cNvPr id="765" name="Google Shape;765;p10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18. Nombres de clases en CSS</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108"/>
          <p:cNvSpPr txBox="1"/>
          <p:nvPr>
            <p:ph idx="1" type="body"/>
          </p:nvPr>
        </p:nvSpPr>
        <p:spPr>
          <a:xfrm>
            <a:off x="438463" y="109610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a:t>2. EJEMPLOS</a:t>
            </a:r>
            <a:endParaRPr b="1"/>
          </a:p>
        </p:txBody>
      </p:sp>
      <p:sp>
        <p:nvSpPr>
          <p:cNvPr id="771" name="Google Shape;771;p10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18. Nombres de clases en CSS</a:t>
            </a:r>
            <a:endParaRPr/>
          </a:p>
        </p:txBody>
      </p:sp>
      <p:pic>
        <p:nvPicPr>
          <p:cNvPr id="772" name="Google Shape;772;p108"/>
          <p:cNvPicPr preferRelativeResize="0"/>
          <p:nvPr/>
        </p:nvPicPr>
        <p:blipFill rotWithShape="1">
          <a:blip r:embed="rId3">
            <a:alphaModFix/>
          </a:blip>
          <a:srcRect b="0" l="0" r="0" t="0"/>
          <a:stretch/>
        </p:blipFill>
        <p:spPr>
          <a:xfrm>
            <a:off x="718549" y="1667475"/>
            <a:ext cx="7706902" cy="3307550"/>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0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18. Nombres de clases en CSS</a:t>
            </a:r>
            <a:endParaRPr/>
          </a:p>
        </p:txBody>
      </p:sp>
      <p:sp>
        <p:nvSpPr>
          <p:cNvPr id="778" name="Google Shape;778;p10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a:t>2. EJEMPLOS</a:t>
            </a:r>
            <a:endParaRPr b="1"/>
          </a:p>
          <a:p>
            <a:pPr indent="0" lvl="0" marL="457200" rtl="0" algn="l">
              <a:lnSpc>
                <a:spcPct val="115000"/>
              </a:lnSpc>
              <a:spcBef>
                <a:spcPts val="1200"/>
              </a:spcBef>
              <a:spcAft>
                <a:spcPts val="1200"/>
              </a:spcAft>
              <a:buSzPts val="1800"/>
              <a:buNone/>
            </a:pPr>
            <a:r>
              <a:t/>
            </a:r>
            <a:endParaRPr b="1"/>
          </a:p>
        </p:txBody>
      </p:sp>
      <p:pic>
        <p:nvPicPr>
          <p:cNvPr id="779" name="Google Shape;779;p109"/>
          <p:cNvPicPr preferRelativeResize="0"/>
          <p:nvPr/>
        </p:nvPicPr>
        <p:blipFill rotWithShape="1">
          <a:blip r:embed="rId3">
            <a:alphaModFix/>
          </a:blip>
          <a:srcRect b="0" l="0" r="0" t="0"/>
          <a:stretch/>
        </p:blipFill>
        <p:spPr>
          <a:xfrm>
            <a:off x="777100" y="1851500"/>
            <a:ext cx="7884626" cy="306310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1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18. Nombres de clases en CSS</a:t>
            </a:r>
            <a:endParaRPr/>
          </a:p>
        </p:txBody>
      </p:sp>
      <p:sp>
        <p:nvSpPr>
          <p:cNvPr id="785" name="Google Shape;785;p1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a:t>2. EJEMPLOS</a:t>
            </a:r>
            <a:endParaRPr b="1"/>
          </a:p>
          <a:p>
            <a:pPr indent="0" lvl="0" marL="457200" rtl="0" algn="l">
              <a:lnSpc>
                <a:spcPct val="115000"/>
              </a:lnSpc>
              <a:spcBef>
                <a:spcPts val="1200"/>
              </a:spcBef>
              <a:spcAft>
                <a:spcPts val="1200"/>
              </a:spcAft>
              <a:buSzPts val="1800"/>
              <a:buNone/>
            </a:pPr>
            <a:r>
              <a:t/>
            </a:r>
            <a:endParaRPr b="1"/>
          </a:p>
        </p:txBody>
      </p:sp>
      <p:pic>
        <p:nvPicPr>
          <p:cNvPr id="786" name="Google Shape;786;p110"/>
          <p:cNvPicPr preferRelativeResize="0"/>
          <p:nvPr/>
        </p:nvPicPr>
        <p:blipFill rotWithShape="1">
          <a:blip r:embed="rId3">
            <a:alphaModFix/>
          </a:blip>
          <a:srcRect b="0" l="0" r="0" t="0"/>
          <a:stretch/>
        </p:blipFill>
        <p:spPr>
          <a:xfrm>
            <a:off x="1066450" y="1672026"/>
            <a:ext cx="7619376" cy="3274526"/>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1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18. Nombres de clases en CSS</a:t>
            </a:r>
            <a:endParaRPr/>
          </a:p>
        </p:txBody>
      </p:sp>
      <p:sp>
        <p:nvSpPr>
          <p:cNvPr id="792" name="Google Shape;792;p1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a:t>2. EJEMPLOS</a:t>
            </a:r>
            <a:endParaRPr b="1"/>
          </a:p>
          <a:p>
            <a:pPr indent="0" lvl="0" marL="457200" rtl="0" algn="l">
              <a:lnSpc>
                <a:spcPct val="115000"/>
              </a:lnSpc>
              <a:spcBef>
                <a:spcPts val="1200"/>
              </a:spcBef>
              <a:spcAft>
                <a:spcPts val="1200"/>
              </a:spcAft>
              <a:buSzPts val="1800"/>
              <a:buNone/>
            </a:pPr>
            <a:r>
              <a:t/>
            </a:r>
            <a:endParaRPr b="1"/>
          </a:p>
        </p:txBody>
      </p:sp>
      <p:pic>
        <p:nvPicPr>
          <p:cNvPr id="793" name="Google Shape;793;p111"/>
          <p:cNvPicPr preferRelativeResize="0"/>
          <p:nvPr/>
        </p:nvPicPr>
        <p:blipFill rotWithShape="1">
          <a:blip r:embed="rId3">
            <a:alphaModFix/>
          </a:blip>
          <a:srcRect b="0" l="0" r="0" t="0"/>
          <a:stretch/>
        </p:blipFill>
        <p:spPr>
          <a:xfrm>
            <a:off x="656500" y="1834949"/>
            <a:ext cx="7981099" cy="3051599"/>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1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18. Nombres de clases en CSS</a:t>
            </a:r>
            <a:endParaRPr/>
          </a:p>
        </p:txBody>
      </p:sp>
      <p:sp>
        <p:nvSpPr>
          <p:cNvPr id="799" name="Google Shape;799;p112"/>
          <p:cNvSpPr txBox="1"/>
          <p:nvPr>
            <p:ph idx="1" type="body"/>
          </p:nvPr>
        </p:nvSpPr>
        <p:spPr>
          <a:xfrm>
            <a:off x="311700" y="101772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a:t>2. EJEMPLOS</a:t>
            </a:r>
            <a:endParaRPr b="1"/>
          </a:p>
          <a:p>
            <a:pPr indent="0" lvl="0" marL="457200" rtl="0" algn="l">
              <a:lnSpc>
                <a:spcPct val="115000"/>
              </a:lnSpc>
              <a:spcBef>
                <a:spcPts val="1200"/>
              </a:spcBef>
              <a:spcAft>
                <a:spcPts val="1200"/>
              </a:spcAft>
              <a:buSzPts val="1800"/>
              <a:buNone/>
            </a:pPr>
            <a:r>
              <a:t/>
            </a:r>
            <a:endParaRPr b="1"/>
          </a:p>
        </p:txBody>
      </p:sp>
      <p:pic>
        <p:nvPicPr>
          <p:cNvPr id="800" name="Google Shape;800;p112"/>
          <p:cNvPicPr preferRelativeResize="0"/>
          <p:nvPr/>
        </p:nvPicPr>
        <p:blipFill rotWithShape="1">
          <a:blip r:embed="rId3">
            <a:alphaModFix/>
          </a:blip>
          <a:srcRect b="0" l="0" r="0" t="0"/>
          <a:stretch/>
        </p:blipFill>
        <p:spPr>
          <a:xfrm>
            <a:off x="1389650" y="1408700"/>
            <a:ext cx="6364701" cy="373480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1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19. Buenas prácticas en CSS</a:t>
            </a:r>
            <a:endParaRPr/>
          </a:p>
        </p:txBody>
      </p:sp>
      <p:sp>
        <p:nvSpPr>
          <p:cNvPr id="806" name="Google Shape;806;p113"/>
          <p:cNvSpPr txBox="1"/>
          <p:nvPr>
            <p:ph idx="1" type="body"/>
          </p:nvPr>
        </p:nvSpPr>
        <p:spPr>
          <a:xfrm>
            <a:off x="311700" y="1152475"/>
            <a:ext cx="8520600" cy="37899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37500"/>
              </a:lnSpc>
              <a:spcBef>
                <a:spcPts val="0"/>
              </a:spcBef>
              <a:spcAft>
                <a:spcPts val="0"/>
              </a:spcAft>
              <a:buSzPct val="77419"/>
              <a:buNone/>
            </a:pPr>
            <a:r>
              <a:rPr b="1" lang="es" sz="3000">
                <a:solidFill>
                  <a:srgbClr val="232B46"/>
                </a:solidFill>
                <a:latin typeface="Roboto"/>
                <a:ea typeface="Roboto"/>
                <a:cs typeface="Roboto"/>
                <a:sym typeface="Roboto"/>
              </a:rPr>
              <a:t>1. Organizar la estructura de arriba hacia abajo</a:t>
            </a:r>
            <a:endParaRPr b="1" sz="3000">
              <a:solidFill>
                <a:srgbClr val="232B46"/>
              </a:solidFill>
              <a:latin typeface="Roboto"/>
              <a:ea typeface="Roboto"/>
              <a:cs typeface="Roboto"/>
              <a:sym typeface="Roboto"/>
            </a:endParaRPr>
          </a:p>
          <a:p>
            <a:pPr indent="0" lvl="0" marL="0" rtl="0" algn="l">
              <a:lnSpc>
                <a:spcPct val="115000"/>
              </a:lnSpc>
              <a:spcBef>
                <a:spcPts val="1100"/>
              </a:spcBef>
              <a:spcAft>
                <a:spcPts val="0"/>
              </a:spcAft>
              <a:buSzPct val="172043"/>
              <a:buNone/>
            </a:pPr>
            <a:r>
              <a:rPr lang="es" sz="1350">
                <a:solidFill>
                  <a:srgbClr val="000000"/>
                </a:solidFill>
                <a:latin typeface="Roboto"/>
                <a:ea typeface="Roboto"/>
                <a:cs typeface="Roboto"/>
                <a:sym typeface="Roboto"/>
              </a:rPr>
              <a:t>Con el fin de encontrar rápidamente cualquier parte de código, es recomendable organizar los estilos de arriba hacia abajo.</a:t>
            </a:r>
            <a:endParaRPr sz="1350">
              <a:solidFill>
                <a:srgbClr val="000000"/>
              </a:solidFill>
              <a:latin typeface="Roboto"/>
              <a:ea typeface="Roboto"/>
              <a:cs typeface="Roboto"/>
              <a:sym typeface="Roboto"/>
            </a:endParaRPr>
          </a:p>
          <a:p>
            <a:pPr indent="0" lvl="0" marL="457200" rtl="0" algn="l">
              <a:lnSpc>
                <a:spcPct val="115000"/>
              </a:lnSpc>
              <a:spcBef>
                <a:spcPts val="1100"/>
              </a:spcBef>
              <a:spcAft>
                <a:spcPts val="0"/>
              </a:spcAft>
              <a:buSzPct val="172043"/>
              <a:buNone/>
            </a:pPr>
            <a:r>
              <a:rPr lang="es" sz="1350">
                <a:solidFill>
                  <a:srgbClr val="000000"/>
                </a:solidFill>
                <a:latin typeface="Courier New"/>
                <a:ea typeface="Courier New"/>
                <a:cs typeface="Courier New"/>
                <a:sym typeface="Courier New"/>
              </a:rPr>
              <a:t>/****** generic classes*******/</a:t>
            </a:r>
            <a:endParaRPr sz="1350">
              <a:solidFill>
                <a:srgbClr val="000000"/>
              </a:solidFill>
              <a:latin typeface="Courier New"/>
              <a:ea typeface="Courier New"/>
              <a:cs typeface="Courier New"/>
              <a:sym typeface="Courier New"/>
            </a:endParaRPr>
          </a:p>
          <a:p>
            <a:pPr indent="0" lvl="0" marL="457200" rtl="0" algn="l">
              <a:lnSpc>
                <a:spcPct val="115000"/>
              </a:lnSpc>
              <a:spcBef>
                <a:spcPts val="1200"/>
              </a:spcBef>
              <a:spcAft>
                <a:spcPts val="0"/>
              </a:spcAft>
              <a:buSzPct val="172043"/>
              <a:buNone/>
            </a:pPr>
            <a:r>
              <a:rPr lang="es" sz="1350">
                <a:solidFill>
                  <a:srgbClr val="000000"/>
                </a:solidFill>
                <a:latin typeface="Courier New"/>
                <a:ea typeface="Courier New"/>
                <a:cs typeface="Courier New"/>
                <a:sym typeface="Courier New"/>
              </a:rPr>
              <a:t>styles goes here…</a:t>
            </a:r>
            <a:endParaRPr sz="1350">
              <a:solidFill>
                <a:srgbClr val="000000"/>
              </a:solidFill>
              <a:latin typeface="Courier New"/>
              <a:ea typeface="Courier New"/>
              <a:cs typeface="Courier New"/>
              <a:sym typeface="Courier New"/>
            </a:endParaRPr>
          </a:p>
          <a:p>
            <a:pPr indent="0" lvl="0" marL="457200" rtl="0" algn="l">
              <a:lnSpc>
                <a:spcPct val="115000"/>
              </a:lnSpc>
              <a:spcBef>
                <a:spcPts val="1200"/>
              </a:spcBef>
              <a:spcAft>
                <a:spcPts val="0"/>
              </a:spcAft>
              <a:buSzPct val="172043"/>
              <a:buNone/>
            </a:pPr>
            <a:r>
              <a:rPr lang="es" sz="1350">
                <a:solidFill>
                  <a:srgbClr val="000000"/>
                </a:solidFill>
                <a:latin typeface="Courier New"/>
                <a:ea typeface="Courier New"/>
                <a:cs typeface="Courier New"/>
                <a:sym typeface="Courier New"/>
              </a:rPr>
              <a:t>/****** header *******/</a:t>
            </a:r>
            <a:endParaRPr sz="1350">
              <a:solidFill>
                <a:srgbClr val="000000"/>
              </a:solidFill>
              <a:latin typeface="Courier New"/>
              <a:ea typeface="Courier New"/>
              <a:cs typeface="Courier New"/>
              <a:sym typeface="Courier New"/>
            </a:endParaRPr>
          </a:p>
          <a:p>
            <a:pPr indent="0" lvl="0" marL="457200" rtl="0" algn="l">
              <a:lnSpc>
                <a:spcPct val="115000"/>
              </a:lnSpc>
              <a:spcBef>
                <a:spcPts val="1200"/>
              </a:spcBef>
              <a:spcAft>
                <a:spcPts val="0"/>
              </a:spcAft>
              <a:buSzPct val="172043"/>
              <a:buNone/>
            </a:pPr>
            <a:r>
              <a:rPr lang="es" sz="1350">
                <a:solidFill>
                  <a:srgbClr val="000000"/>
                </a:solidFill>
                <a:latin typeface="Courier New"/>
                <a:ea typeface="Courier New"/>
                <a:cs typeface="Courier New"/>
                <a:sym typeface="Courier New"/>
              </a:rPr>
              <a:t>styles goes here…</a:t>
            </a:r>
            <a:endParaRPr sz="1350">
              <a:solidFill>
                <a:srgbClr val="000000"/>
              </a:solidFill>
              <a:latin typeface="Courier New"/>
              <a:ea typeface="Courier New"/>
              <a:cs typeface="Courier New"/>
              <a:sym typeface="Courier New"/>
            </a:endParaRPr>
          </a:p>
          <a:p>
            <a:pPr indent="0" lvl="0" marL="457200" rtl="0" algn="l">
              <a:lnSpc>
                <a:spcPct val="115000"/>
              </a:lnSpc>
              <a:spcBef>
                <a:spcPts val="1200"/>
              </a:spcBef>
              <a:spcAft>
                <a:spcPts val="0"/>
              </a:spcAft>
              <a:buSzPct val="172043"/>
              <a:buNone/>
            </a:pPr>
            <a:r>
              <a:rPr lang="es" sz="1350">
                <a:solidFill>
                  <a:srgbClr val="000000"/>
                </a:solidFill>
                <a:latin typeface="Courier New"/>
                <a:ea typeface="Courier New"/>
                <a:cs typeface="Courier New"/>
                <a:sym typeface="Courier New"/>
              </a:rPr>
              <a:t>/****** nav menu *******/</a:t>
            </a:r>
            <a:endParaRPr sz="1350">
              <a:solidFill>
                <a:srgbClr val="000000"/>
              </a:solidFill>
              <a:latin typeface="Courier New"/>
              <a:ea typeface="Courier New"/>
              <a:cs typeface="Courier New"/>
              <a:sym typeface="Courier New"/>
            </a:endParaRPr>
          </a:p>
          <a:p>
            <a:pPr indent="0" lvl="0" marL="457200" rtl="0" algn="l">
              <a:lnSpc>
                <a:spcPct val="115000"/>
              </a:lnSpc>
              <a:spcBef>
                <a:spcPts val="1200"/>
              </a:spcBef>
              <a:spcAft>
                <a:spcPts val="0"/>
              </a:spcAft>
              <a:buSzPct val="172043"/>
              <a:buNone/>
            </a:pPr>
            <a:r>
              <a:rPr lang="es" sz="1350">
                <a:solidFill>
                  <a:srgbClr val="000000"/>
                </a:solidFill>
                <a:latin typeface="Courier New"/>
                <a:ea typeface="Courier New"/>
                <a:cs typeface="Courier New"/>
                <a:sym typeface="Courier New"/>
              </a:rPr>
              <a:t>styles goes here…</a:t>
            </a:r>
            <a:endParaRPr sz="1350">
              <a:solidFill>
                <a:srgbClr val="000000"/>
              </a:solidFill>
              <a:latin typeface="Courier New"/>
              <a:ea typeface="Courier New"/>
              <a:cs typeface="Courier New"/>
              <a:sym typeface="Courier New"/>
            </a:endParaRPr>
          </a:p>
          <a:p>
            <a:pPr indent="0" lvl="0" marL="457200" rtl="0" algn="l">
              <a:lnSpc>
                <a:spcPct val="115000"/>
              </a:lnSpc>
              <a:spcBef>
                <a:spcPts val="1200"/>
              </a:spcBef>
              <a:spcAft>
                <a:spcPts val="0"/>
              </a:spcAft>
              <a:buSzPct val="172043"/>
              <a:buNone/>
            </a:pPr>
            <a:r>
              <a:rPr lang="es" sz="1350">
                <a:solidFill>
                  <a:srgbClr val="000000"/>
                </a:solidFill>
                <a:latin typeface="Courier New"/>
                <a:ea typeface="Courier New"/>
                <a:cs typeface="Courier New"/>
                <a:sym typeface="Courier New"/>
              </a:rPr>
              <a:t>/****** main content *******/</a:t>
            </a:r>
            <a:endParaRPr sz="1350">
              <a:solidFill>
                <a:srgbClr val="000000"/>
              </a:solidFill>
              <a:latin typeface="Courier New"/>
              <a:ea typeface="Courier New"/>
              <a:cs typeface="Courier New"/>
              <a:sym typeface="Courier New"/>
            </a:endParaRPr>
          </a:p>
          <a:p>
            <a:pPr indent="0" lvl="0" marL="457200" rtl="0" algn="l">
              <a:lnSpc>
                <a:spcPct val="115000"/>
              </a:lnSpc>
              <a:spcBef>
                <a:spcPts val="1200"/>
              </a:spcBef>
              <a:spcAft>
                <a:spcPts val="0"/>
              </a:spcAft>
              <a:buSzPct val="172043"/>
              <a:buNone/>
            </a:pPr>
            <a:r>
              <a:rPr lang="es" sz="1350">
                <a:solidFill>
                  <a:srgbClr val="000000"/>
                </a:solidFill>
                <a:latin typeface="Courier New"/>
                <a:ea typeface="Courier New"/>
                <a:cs typeface="Courier New"/>
                <a:sym typeface="Courier New"/>
              </a:rPr>
              <a:t>styles goes here…</a:t>
            </a:r>
            <a:endParaRPr sz="1350">
              <a:solidFill>
                <a:srgbClr val="000000"/>
              </a:solidFill>
              <a:latin typeface="Courier New"/>
              <a:ea typeface="Courier New"/>
              <a:cs typeface="Courier New"/>
              <a:sym typeface="Courier New"/>
            </a:endParaRPr>
          </a:p>
          <a:p>
            <a:pPr indent="317500" lvl="0" marL="139700" marR="139700" rtl="0" algn="l">
              <a:lnSpc>
                <a:spcPct val="116666"/>
              </a:lnSpc>
              <a:spcBef>
                <a:spcPts val="1200"/>
              </a:spcBef>
              <a:spcAft>
                <a:spcPts val="1500"/>
              </a:spcAft>
              <a:buSzPct val="172043"/>
              <a:buNone/>
            </a:pPr>
            <a:r>
              <a:rPr lang="es" sz="1350">
                <a:solidFill>
                  <a:srgbClr val="000000"/>
                </a:solidFill>
                <a:latin typeface="Courier New"/>
                <a:ea typeface="Courier New"/>
                <a:cs typeface="Courier New"/>
                <a:sym typeface="Courier New"/>
              </a:rPr>
              <a:t>/****** footer *******/</a:t>
            </a:r>
            <a:endParaRPr b="1"/>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1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19. Buenas prácticas en CSS</a:t>
            </a:r>
            <a:endParaRPr/>
          </a:p>
        </p:txBody>
      </p:sp>
      <p:sp>
        <p:nvSpPr>
          <p:cNvPr id="812" name="Google Shape;812;p114"/>
          <p:cNvSpPr txBox="1"/>
          <p:nvPr>
            <p:ph idx="1" type="body"/>
          </p:nvPr>
        </p:nvSpPr>
        <p:spPr>
          <a:xfrm>
            <a:off x="311700" y="1152475"/>
            <a:ext cx="8520600" cy="38568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lnSpc>
                <a:spcPct val="137500"/>
              </a:lnSpc>
              <a:spcBef>
                <a:spcPts val="0"/>
              </a:spcBef>
              <a:spcAft>
                <a:spcPts val="0"/>
              </a:spcAft>
              <a:buSzPct val="96000"/>
              <a:buNone/>
            </a:pPr>
            <a:r>
              <a:rPr b="1" lang="es" sz="3000">
                <a:solidFill>
                  <a:srgbClr val="232B46"/>
                </a:solidFill>
                <a:latin typeface="Roboto"/>
                <a:ea typeface="Roboto"/>
                <a:cs typeface="Roboto"/>
                <a:sym typeface="Roboto"/>
              </a:rPr>
              <a:t>2. Nombrar correctamente los selectores</a:t>
            </a:r>
            <a:endParaRPr b="1" sz="3000">
              <a:solidFill>
                <a:srgbClr val="232B46"/>
              </a:solidFill>
              <a:latin typeface="Roboto"/>
              <a:ea typeface="Roboto"/>
              <a:cs typeface="Roboto"/>
              <a:sym typeface="Roboto"/>
            </a:endParaRPr>
          </a:p>
          <a:p>
            <a:pPr indent="0" lvl="0" marL="0" rtl="0" algn="l">
              <a:lnSpc>
                <a:spcPct val="115000"/>
              </a:lnSpc>
              <a:spcBef>
                <a:spcPts val="1100"/>
              </a:spcBef>
              <a:spcAft>
                <a:spcPts val="0"/>
              </a:spcAft>
              <a:buSzPct val="157463"/>
              <a:buNone/>
            </a:pPr>
            <a:r>
              <a:rPr lang="es" sz="1829">
                <a:solidFill>
                  <a:srgbClr val="000000"/>
                </a:solidFill>
                <a:latin typeface="Roboto"/>
                <a:ea typeface="Roboto"/>
                <a:cs typeface="Roboto"/>
                <a:sym typeface="Roboto"/>
              </a:rPr>
              <a:t>Para conseguir más claridad en el código y soporte en todos los navegadores conviene no comenzar el nombre de los selectores con mayúsculas, números ni caracteres especiales.</a:t>
            </a:r>
            <a:endParaRPr sz="1829">
              <a:solidFill>
                <a:srgbClr val="000000"/>
              </a:solidFill>
              <a:latin typeface="Roboto"/>
              <a:ea typeface="Roboto"/>
              <a:cs typeface="Roboto"/>
              <a:sym typeface="Roboto"/>
            </a:endParaRPr>
          </a:p>
          <a:p>
            <a:pPr indent="0" lvl="0" marL="0" rtl="0" algn="l">
              <a:lnSpc>
                <a:spcPct val="115000"/>
              </a:lnSpc>
              <a:spcBef>
                <a:spcPts val="1100"/>
              </a:spcBef>
              <a:spcAft>
                <a:spcPts val="0"/>
              </a:spcAft>
              <a:buSzPct val="213333"/>
              <a:buNone/>
            </a:pPr>
            <a:r>
              <a:rPr b="1" lang="es" sz="1350">
                <a:solidFill>
                  <a:srgbClr val="000000"/>
                </a:solidFill>
                <a:latin typeface="Roboto"/>
                <a:ea typeface="Roboto"/>
                <a:cs typeface="Roboto"/>
                <a:sym typeface="Roboto"/>
              </a:rPr>
              <a:t>Evitar</a:t>
            </a:r>
            <a:r>
              <a:rPr lang="es" sz="1350">
                <a:solidFill>
                  <a:srgbClr val="000000"/>
                </a:solidFill>
                <a:latin typeface="Roboto"/>
                <a:ea typeface="Roboto"/>
                <a:cs typeface="Roboto"/>
                <a:sym typeface="Roboto"/>
              </a:rPr>
              <a:t>: </a:t>
            </a:r>
            <a:r>
              <a:rPr lang="es" sz="1350" strike="sngStrike">
                <a:solidFill>
                  <a:srgbClr val="000000"/>
                </a:solidFill>
                <a:latin typeface="Roboto"/>
                <a:ea typeface="Roboto"/>
                <a:cs typeface="Roboto"/>
                <a:sym typeface="Roboto"/>
              </a:rPr>
              <a:t>#1div</a:t>
            </a:r>
            <a:r>
              <a:rPr lang="es" sz="1350">
                <a:solidFill>
                  <a:srgbClr val="000000"/>
                </a:solidFill>
                <a:latin typeface="Roboto"/>
                <a:ea typeface="Roboto"/>
                <a:cs typeface="Roboto"/>
                <a:sym typeface="Roboto"/>
              </a:rPr>
              <a:t>, </a:t>
            </a:r>
            <a:r>
              <a:rPr lang="es" sz="1350" strike="sngStrike">
                <a:solidFill>
                  <a:srgbClr val="000000"/>
                </a:solidFill>
                <a:latin typeface="Roboto"/>
                <a:ea typeface="Roboto"/>
                <a:cs typeface="Roboto"/>
                <a:sym typeface="Roboto"/>
              </a:rPr>
              <a:t>.=div</a:t>
            </a:r>
            <a:r>
              <a:rPr lang="es" sz="1350">
                <a:solidFill>
                  <a:srgbClr val="000000"/>
                </a:solidFill>
                <a:latin typeface="Roboto"/>
                <a:ea typeface="Roboto"/>
                <a:cs typeface="Roboto"/>
                <a:sym typeface="Roboto"/>
              </a:rPr>
              <a:t>, </a:t>
            </a:r>
            <a:r>
              <a:rPr lang="es" sz="1350" strike="sngStrike">
                <a:solidFill>
                  <a:srgbClr val="000000"/>
                </a:solidFill>
                <a:latin typeface="Roboto"/>
                <a:ea typeface="Roboto"/>
                <a:cs typeface="Roboto"/>
                <a:sym typeface="Roboto"/>
              </a:rPr>
              <a:t>DivContent</a:t>
            </a:r>
            <a:r>
              <a:rPr lang="es" sz="1350">
                <a:solidFill>
                  <a:srgbClr val="000000"/>
                </a:solidFill>
                <a:latin typeface="Roboto"/>
                <a:ea typeface="Roboto"/>
                <a:cs typeface="Roboto"/>
                <a:sym typeface="Roboto"/>
              </a:rPr>
              <a:t> </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0"/>
              </a:spcAft>
              <a:buSzPct val="213333"/>
              <a:buNone/>
            </a:pPr>
            <a:r>
              <a:rPr b="1" lang="es" sz="1350">
                <a:solidFill>
                  <a:srgbClr val="000000"/>
                </a:solidFill>
                <a:latin typeface="Roboto"/>
                <a:ea typeface="Roboto"/>
                <a:cs typeface="Roboto"/>
                <a:sym typeface="Roboto"/>
              </a:rPr>
              <a:t>Mejor utilizar</a:t>
            </a:r>
            <a:r>
              <a:rPr lang="es" sz="1350">
                <a:solidFill>
                  <a:srgbClr val="000000"/>
                </a:solidFill>
                <a:latin typeface="Roboto"/>
                <a:ea typeface="Roboto"/>
                <a:cs typeface="Roboto"/>
                <a:sym typeface="Roboto"/>
              </a:rPr>
              <a:t>: #div1, .div, divContent</a:t>
            </a:r>
            <a:endParaRPr sz="1350">
              <a:solidFill>
                <a:srgbClr val="000000"/>
              </a:solidFill>
              <a:latin typeface="Roboto"/>
              <a:ea typeface="Roboto"/>
              <a:cs typeface="Roboto"/>
              <a:sym typeface="Roboto"/>
            </a:endParaRPr>
          </a:p>
          <a:p>
            <a:pPr indent="0" lvl="0" marL="0" rtl="0" algn="l">
              <a:lnSpc>
                <a:spcPct val="137500"/>
              </a:lnSpc>
              <a:spcBef>
                <a:spcPts val="1100"/>
              </a:spcBef>
              <a:spcAft>
                <a:spcPts val="0"/>
              </a:spcAft>
              <a:buSzPct val="96000"/>
              <a:buNone/>
            </a:pPr>
            <a:r>
              <a:rPr b="1" lang="es" sz="3000">
                <a:solidFill>
                  <a:srgbClr val="232B46"/>
                </a:solidFill>
                <a:latin typeface="Roboto"/>
                <a:ea typeface="Roboto"/>
                <a:cs typeface="Roboto"/>
                <a:sym typeface="Roboto"/>
              </a:rPr>
              <a:t>3. Separar las palabras mediante guiones o mediante mayúsculas</a:t>
            </a:r>
            <a:endParaRPr b="1" sz="3000">
              <a:solidFill>
                <a:srgbClr val="232B46"/>
              </a:solidFill>
              <a:latin typeface="Roboto"/>
              <a:ea typeface="Roboto"/>
              <a:cs typeface="Roboto"/>
              <a:sym typeface="Roboto"/>
            </a:endParaRPr>
          </a:p>
          <a:p>
            <a:pPr indent="0" lvl="0" marL="0" rtl="0" algn="l">
              <a:lnSpc>
                <a:spcPct val="115000"/>
              </a:lnSpc>
              <a:spcBef>
                <a:spcPts val="1100"/>
              </a:spcBef>
              <a:spcAft>
                <a:spcPts val="0"/>
              </a:spcAft>
              <a:buSzPct val="157463"/>
              <a:buNone/>
            </a:pPr>
            <a:r>
              <a:rPr lang="es" sz="1829">
                <a:solidFill>
                  <a:srgbClr val="000000"/>
                </a:solidFill>
                <a:latin typeface="Roboto"/>
                <a:ea typeface="Roboto"/>
                <a:cs typeface="Roboto"/>
                <a:sym typeface="Roboto"/>
              </a:rPr>
              <a:t>Es recomendable escoger una única manera de escribir el nombre de los selectores. Además, es mejor no usar guiones bajos “_” u otros caracteres especiales ya que algunos navegadores no los soportan. Conviene seguir alguna de las siguientes opciones:</a:t>
            </a:r>
            <a:endParaRPr sz="1829">
              <a:solidFill>
                <a:srgbClr val="000000"/>
              </a:solidFill>
              <a:latin typeface="Roboto"/>
              <a:ea typeface="Roboto"/>
              <a:cs typeface="Roboto"/>
              <a:sym typeface="Roboto"/>
            </a:endParaRPr>
          </a:p>
          <a:p>
            <a:pPr indent="0" lvl="0" marL="457200" rtl="0" algn="l">
              <a:lnSpc>
                <a:spcPct val="115000"/>
              </a:lnSpc>
              <a:spcBef>
                <a:spcPts val="1100"/>
              </a:spcBef>
              <a:spcAft>
                <a:spcPts val="0"/>
              </a:spcAft>
              <a:buSzPct val="213333"/>
              <a:buNone/>
            </a:pPr>
            <a:r>
              <a:rPr lang="es" sz="1350">
                <a:solidFill>
                  <a:srgbClr val="000000"/>
                </a:solidFill>
                <a:latin typeface="Courier New"/>
                <a:ea typeface="Courier New"/>
                <a:cs typeface="Courier New"/>
                <a:sym typeface="Courier New"/>
              </a:rPr>
              <a:t>/* Opción 1: Palabras separadas por mayúsculas */</a:t>
            </a:r>
            <a:endParaRPr sz="1350">
              <a:solidFill>
                <a:srgbClr val="000000"/>
              </a:solidFill>
              <a:latin typeface="Courier New"/>
              <a:ea typeface="Courier New"/>
              <a:cs typeface="Courier New"/>
              <a:sym typeface="Courier New"/>
            </a:endParaRPr>
          </a:p>
          <a:p>
            <a:pPr indent="0" lvl="0" marL="457200" rtl="0" algn="l">
              <a:lnSpc>
                <a:spcPct val="115000"/>
              </a:lnSpc>
              <a:spcBef>
                <a:spcPts val="1200"/>
              </a:spcBef>
              <a:spcAft>
                <a:spcPts val="0"/>
              </a:spcAft>
              <a:buSzPct val="213333"/>
              <a:buNone/>
            </a:pPr>
            <a:r>
              <a:rPr lang="es" sz="1350">
                <a:solidFill>
                  <a:srgbClr val="000000"/>
                </a:solidFill>
                <a:latin typeface="Courier New"/>
                <a:ea typeface="Courier New"/>
                <a:cs typeface="Courier New"/>
                <a:sym typeface="Courier New"/>
              </a:rPr>
              <a:t>navMenu { padding: 2em; border: 2px solid green; }</a:t>
            </a:r>
            <a:endParaRPr sz="1350">
              <a:solidFill>
                <a:srgbClr val="000000"/>
              </a:solidFill>
              <a:latin typeface="Courier New"/>
              <a:ea typeface="Courier New"/>
              <a:cs typeface="Courier New"/>
              <a:sym typeface="Courier New"/>
            </a:endParaRPr>
          </a:p>
          <a:p>
            <a:pPr indent="0" lvl="0" marL="457200" rtl="0" algn="l">
              <a:lnSpc>
                <a:spcPct val="115000"/>
              </a:lnSpc>
              <a:spcBef>
                <a:spcPts val="1200"/>
              </a:spcBef>
              <a:spcAft>
                <a:spcPts val="0"/>
              </a:spcAft>
              <a:buSzPct val="213333"/>
              <a:buNone/>
            </a:pPr>
            <a:r>
              <a:t/>
            </a:r>
            <a:endParaRPr sz="1350">
              <a:solidFill>
                <a:srgbClr val="000000"/>
              </a:solidFill>
              <a:latin typeface="Courier New"/>
              <a:ea typeface="Courier New"/>
              <a:cs typeface="Courier New"/>
              <a:sym typeface="Courier New"/>
            </a:endParaRPr>
          </a:p>
          <a:p>
            <a:pPr indent="0" lvl="0" marL="457200" rtl="0" algn="l">
              <a:lnSpc>
                <a:spcPct val="115000"/>
              </a:lnSpc>
              <a:spcBef>
                <a:spcPts val="1200"/>
              </a:spcBef>
              <a:spcAft>
                <a:spcPts val="0"/>
              </a:spcAft>
              <a:buSzPct val="213333"/>
              <a:buNone/>
            </a:pPr>
            <a:r>
              <a:rPr lang="es" sz="1350">
                <a:solidFill>
                  <a:srgbClr val="000000"/>
                </a:solidFill>
                <a:latin typeface="Courier New"/>
                <a:ea typeface="Courier New"/>
                <a:cs typeface="Courier New"/>
                <a:sym typeface="Courier New"/>
              </a:rPr>
              <a:t>/* Opción 2: Palabras separadas por guiones */</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200"/>
              </a:spcBef>
              <a:spcAft>
                <a:spcPts val="1500"/>
              </a:spcAft>
              <a:buSzPct val="213333"/>
              <a:buNone/>
            </a:pPr>
            <a:r>
              <a:rPr lang="es" sz="1350">
                <a:solidFill>
                  <a:srgbClr val="000000"/>
                </a:solidFill>
                <a:latin typeface="Courier New"/>
                <a:ea typeface="Courier New"/>
                <a:cs typeface="Courier New"/>
                <a:sym typeface="Courier New"/>
              </a:rPr>
              <a:t>  	nav-menu { padding: 2em; border: 2px solid green; }</a:t>
            </a:r>
            <a:endParaRPr b="1"/>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19. Buenas prácticas en CSS</a:t>
            </a:r>
            <a:endParaRPr/>
          </a:p>
        </p:txBody>
      </p:sp>
      <p:sp>
        <p:nvSpPr>
          <p:cNvPr id="818" name="Google Shape;818;p115"/>
          <p:cNvSpPr txBox="1"/>
          <p:nvPr>
            <p:ph idx="1" type="body"/>
          </p:nvPr>
        </p:nvSpPr>
        <p:spPr>
          <a:xfrm>
            <a:off x="311700" y="1152475"/>
            <a:ext cx="8520600" cy="3947700"/>
          </a:xfrm>
          <a:prstGeom prst="rect">
            <a:avLst/>
          </a:prstGeom>
          <a:noFill/>
          <a:ln>
            <a:noFill/>
          </a:ln>
        </p:spPr>
        <p:txBody>
          <a:bodyPr anchorCtr="0" anchor="t" bIns="91425" lIns="91425" spcFirstLastPara="1" rIns="91425" wrap="square" tIns="91425">
            <a:normAutofit fontScale="47500" lnSpcReduction="20000"/>
          </a:bodyPr>
          <a:lstStyle/>
          <a:p>
            <a:pPr indent="0" lvl="0" marL="0" rtl="0" algn="l">
              <a:lnSpc>
                <a:spcPct val="137500"/>
              </a:lnSpc>
              <a:spcBef>
                <a:spcPts val="0"/>
              </a:spcBef>
              <a:spcAft>
                <a:spcPts val="0"/>
              </a:spcAft>
              <a:buSzPct val="126315"/>
              <a:buNone/>
            </a:pPr>
            <a:r>
              <a:rPr b="1" lang="es" sz="3000">
                <a:solidFill>
                  <a:srgbClr val="232B46"/>
                </a:solidFill>
                <a:latin typeface="Roboto"/>
                <a:ea typeface="Roboto"/>
                <a:cs typeface="Roboto"/>
                <a:sym typeface="Roboto"/>
              </a:rPr>
              <a:t>4. Legibilidad</a:t>
            </a:r>
            <a:endParaRPr b="1" sz="3000">
              <a:solidFill>
                <a:srgbClr val="232B46"/>
              </a:solidFill>
              <a:latin typeface="Roboto"/>
              <a:ea typeface="Roboto"/>
              <a:cs typeface="Roboto"/>
              <a:sym typeface="Roboto"/>
            </a:endParaRPr>
          </a:p>
          <a:p>
            <a:pPr indent="0" lvl="0" marL="0" rtl="0" algn="l">
              <a:lnSpc>
                <a:spcPct val="115000"/>
              </a:lnSpc>
              <a:spcBef>
                <a:spcPts val="1100"/>
              </a:spcBef>
              <a:spcAft>
                <a:spcPts val="0"/>
              </a:spcAft>
              <a:buSzPct val="191290"/>
              <a:buNone/>
            </a:pPr>
            <a:r>
              <a:rPr lang="es" sz="1981">
                <a:solidFill>
                  <a:srgbClr val="000000"/>
                </a:solidFill>
                <a:latin typeface="Roboto"/>
                <a:ea typeface="Roboto"/>
                <a:cs typeface="Roboto"/>
                <a:sym typeface="Roboto"/>
              </a:rPr>
              <a:t>Adopta una única forma de escribir tu código para que sea más fácil de mantener y de encontrar cualquier elemento.</a:t>
            </a:r>
            <a:endParaRPr sz="1981">
              <a:solidFill>
                <a:srgbClr val="000000"/>
              </a:solidFill>
              <a:latin typeface="Roboto"/>
              <a:ea typeface="Roboto"/>
              <a:cs typeface="Roboto"/>
              <a:sym typeface="Roboto"/>
            </a:endParaRPr>
          </a:p>
          <a:p>
            <a:pPr indent="0" lvl="0" marL="457200" rtl="0" algn="l">
              <a:lnSpc>
                <a:spcPct val="115000"/>
              </a:lnSpc>
              <a:spcBef>
                <a:spcPts val="1100"/>
              </a:spcBef>
              <a:spcAft>
                <a:spcPts val="0"/>
              </a:spcAft>
              <a:buSzPct val="196958"/>
              <a:buNone/>
            </a:pPr>
            <a:r>
              <a:rPr lang="es" sz="1924">
                <a:solidFill>
                  <a:srgbClr val="000000"/>
                </a:solidFill>
                <a:latin typeface="Courier New"/>
                <a:ea typeface="Courier New"/>
                <a:cs typeface="Courier New"/>
                <a:sym typeface="Courier New"/>
              </a:rPr>
              <a:t>/* Opción 1: Estilos en una línea */</a:t>
            </a:r>
            <a:endParaRPr sz="1924">
              <a:solidFill>
                <a:srgbClr val="000000"/>
              </a:solidFill>
              <a:latin typeface="Courier New"/>
              <a:ea typeface="Courier New"/>
              <a:cs typeface="Courier New"/>
              <a:sym typeface="Courier New"/>
            </a:endParaRPr>
          </a:p>
          <a:p>
            <a:pPr indent="0" lvl="0" marL="457200" rtl="0" algn="l">
              <a:lnSpc>
                <a:spcPct val="115000"/>
              </a:lnSpc>
              <a:spcBef>
                <a:spcPts val="1200"/>
              </a:spcBef>
              <a:spcAft>
                <a:spcPts val="0"/>
              </a:spcAft>
              <a:buSzPct val="196958"/>
              <a:buNone/>
            </a:pPr>
            <a:r>
              <a:rPr lang="es" sz="1924">
                <a:solidFill>
                  <a:srgbClr val="000000"/>
                </a:solidFill>
                <a:latin typeface="Courier New"/>
                <a:ea typeface="Courier New"/>
                <a:cs typeface="Courier New"/>
                <a:sym typeface="Courier New"/>
              </a:rPr>
              <a:t>.nav-menu { padding: 2em; border: 2px solid green; }</a:t>
            </a:r>
            <a:endParaRPr sz="1924">
              <a:solidFill>
                <a:srgbClr val="000000"/>
              </a:solidFill>
              <a:latin typeface="Courier New"/>
              <a:ea typeface="Courier New"/>
              <a:cs typeface="Courier New"/>
              <a:sym typeface="Courier New"/>
            </a:endParaRPr>
          </a:p>
          <a:p>
            <a:pPr indent="0" lvl="0" marL="457200" rtl="0" algn="l">
              <a:lnSpc>
                <a:spcPct val="115000"/>
              </a:lnSpc>
              <a:spcBef>
                <a:spcPts val="1200"/>
              </a:spcBef>
              <a:spcAft>
                <a:spcPts val="0"/>
              </a:spcAft>
              <a:buSzPct val="196958"/>
              <a:buNone/>
            </a:pPr>
            <a:r>
              <a:rPr lang="es" sz="1924">
                <a:solidFill>
                  <a:srgbClr val="000000"/>
                </a:solidFill>
                <a:latin typeface="Courier New"/>
                <a:ea typeface="Courier New"/>
                <a:cs typeface="Courier New"/>
                <a:sym typeface="Courier New"/>
              </a:rPr>
              <a:t>/* Opción 2: Cada estilo en una línea */</a:t>
            </a:r>
            <a:endParaRPr sz="1924">
              <a:solidFill>
                <a:srgbClr val="000000"/>
              </a:solidFill>
              <a:latin typeface="Courier New"/>
              <a:ea typeface="Courier New"/>
              <a:cs typeface="Courier New"/>
              <a:sym typeface="Courier New"/>
            </a:endParaRPr>
          </a:p>
          <a:p>
            <a:pPr indent="0" lvl="0" marL="457200" rtl="0" algn="l">
              <a:lnSpc>
                <a:spcPct val="115000"/>
              </a:lnSpc>
              <a:spcBef>
                <a:spcPts val="1200"/>
              </a:spcBef>
              <a:spcAft>
                <a:spcPts val="0"/>
              </a:spcAft>
              <a:buSzPct val="196958"/>
              <a:buNone/>
            </a:pPr>
            <a:r>
              <a:rPr lang="es" sz="1924">
                <a:solidFill>
                  <a:srgbClr val="000000"/>
                </a:solidFill>
                <a:latin typeface="Courier New"/>
                <a:ea typeface="Courier New"/>
                <a:cs typeface="Courier New"/>
                <a:sym typeface="Courier New"/>
              </a:rPr>
              <a:t>.nav-menu { </a:t>
            </a:r>
            <a:endParaRPr sz="1924">
              <a:solidFill>
                <a:srgbClr val="000000"/>
              </a:solidFill>
              <a:latin typeface="Courier New"/>
              <a:ea typeface="Courier New"/>
              <a:cs typeface="Courier New"/>
              <a:sym typeface="Courier New"/>
            </a:endParaRPr>
          </a:p>
          <a:p>
            <a:pPr indent="0" lvl="0" marL="457200" rtl="0" algn="l">
              <a:lnSpc>
                <a:spcPct val="115000"/>
              </a:lnSpc>
              <a:spcBef>
                <a:spcPts val="1200"/>
              </a:spcBef>
              <a:spcAft>
                <a:spcPts val="0"/>
              </a:spcAft>
              <a:buSzPct val="196958"/>
              <a:buNone/>
            </a:pPr>
            <a:r>
              <a:rPr lang="es" sz="1924">
                <a:solidFill>
                  <a:srgbClr val="000000"/>
                </a:solidFill>
                <a:latin typeface="Courier New"/>
                <a:ea typeface="Courier New"/>
                <a:cs typeface="Courier New"/>
                <a:sym typeface="Courier New"/>
              </a:rPr>
              <a:t>      padding: 2em; </a:t>
            </a:r>
            <a:endParaRPr sz="1924">
              <a:solidFill>
                <a:srgbClr val="000000"/>
              </a:solidFill>
              <a:latin typeface="Courier New"/>
              <a:ea typeface="Courier New"/>
              <a:cs typeface="Courier New"/>
              <a:sym typeface="Courier New"/>
            </a:endParaRPr>
          </a:p>
          <a:p>
            <a:pPr indent="0" lvl="0" marL="457200" rtl="0" algn="l">
              <a:lnSpc>
                <a:spcPct val="115000"/>
              </a:lnSpc>
              <a:spcBef>
                <a:spcPts val="1200"/>
              </a:spcBef>
              <a:spcAft>
                <a:spcPts val="0"/>
              </a:spcAft>
              <a:buSzPct val="196958"/>
              <a:buNone/>
            </a:pPr>
            <a:r>
              <a:rPr lang="es" sz="1924">
                <a:solidFill>
                  <a:srgbClr val="000000"/>
                </a:solidFill>
                <a:latin typeface="Courier New"/>
                <a:ea typeface="Courier New"/>
                <a:cs typeface="Courier New"/>
                <a:sym typeface="Courier New"/>
              </a:rPr>
              <a:t>      border: 2px solid green; </a:t>
            </a:r>
            <a:endParaRPr sz="1924">
              <a:solidFill>
                <a:srgbClr val="000000"/>
              </a:solidFill>
              <a:latin typeface="Courier New"/>
              <a:ea typeface="Courier New"/>
              <a:cs typeface="Courier New"/>
              <a:sym typeface="Courier New"/>
            </a:endParaRPr>
          </a:p>
          <a:p>
            <a:pPr indent="317500" lvl="0" marL="139700" marR="139700" rtl="0" algn="l">
              <a:lnSpc>
                <a:spcPct val="116666"/>
              </a:lnSpc>
              <a:spcBef>
                <a:spcPts val="1200"/>
              </a:spcBef>
              <a:spcAft>
                <a:spcPts val="0"/>
              </a:spcAft>
              <a:buSzPct val="196958"/>
              <a:buNone/>
            </a:pPr>
            <a:r>
              <a:rPr lang="es" sz="1924">
                <a:solidFill>
                  <a:srgbClr val="000000"/>
                </a:solidFill>
                <a:latin typeface="Courier New"/>
                <a:ea typeface="Courier New"/>
                <a:cs typeface="Courier New"/>
                <a:sym typeface="Courier New"/>
              </a:rPr>
              <a:t>}</a:t>
            </a:r>
            <a:endParaRPr sz="1924">
              <a:solidFill>
                <a:srgbClr val="000000"/>
              </a:solidFill>
              <a:latin typeface="Courier New"/>
              <a:ea typeface="Courier New"/>
              <a:cs typeface="Courier New"/>
              <a:sym typeface="Courier New"/>
            </a:endParaRPr>
          </a:p>
          <a:p>
            <a:pPr indent="0" lvl="0" marL="0" rtl="0" algn="l">
              <a:lnSpc>
                <a:spcPct val="137500"/>
              </a:lnSpc>
              <a:spcBef>
                <a:spcPts val="1500"/>
              </a:spcBef>
              <a:spcAft>
                <a:spcPts val="0"/>
              </a:spcAft>
              <a:buSzPct val="126315"/>
              <a:buNone/>
            </a:pPr>
            <a:r>
              <a:rPr b="1" lang="es" sz="3000">
                <a:solidFill>
                  <a:srgbClr val="232B46"/>
                </a:solidFill>
                <a:latin typeface="Roboto"/>
                <a:ea typeface="Roboto"/>
                <a:cs typeface="Roboto"/>
                <a:sym typeface="Roboto"/>
              </a:rPr>
              <a:t>5. Combinar elementos</a:t>
            </a:r>
            <a:endParaRPr b="1" sz="3000">
              <a:solidFill>
                <a:srgbClr val="232B46"/>
              </a:solidFill>
              <a:latin typeface="Roboto"/>
              <a:ea typeface="Roboto"/>
              <a:cs typeface="Roboto"/>
              <a:sym typeface="Roboto"/>
            </a:endParaRPr>
          </a:p>
          <a:p>
            <a:pPr indent="0" lvl="0" marL="0" rtl="0" algn="l">
              <a:lnSpc>
                <a:spcPct val="115000"/>
              </a:lnSpc>
              <a:spcBef>
                <a:spcPts val="1100"/>
              </a:spcBef>
              <a:spcAft>
                <a:spcPts val="0"/>
              </a:spcAft>
              <a:buSzPct val="183955"/>
              <a:buNone/>
            </a:pPr>
            <a:r>
              <a:rPr lang="es" sz="2060">
                <a:solidFill>
                  <a:srgbClr val="000000"/>
                </a:solidFill>
                <a:latin typeface="Roboto"/>
                <a:ea typeface="Roboto"/>
                <a:cs typeface="Roboto"/>
                <a:sym typeface="Roboto"/>
              </a:rPr>
              <a:t>Cuando varios elementos disponen de las mismas propiedades es recomendable compartirlas en vez de volver a repetir el código. Para ello podemos utilizar </a:t>
            </a:r>
            <a:r>
              <a:rPr lang="es" sz="2060">
                <a:solidFill>
                  <a:srgbClr val="E7618B"/>
                </a:solidFill>
                <a:uFill>
                  <a:noFill/>
                </a:uFill>
                <a:latin typeface="Roboto"/>
                <a:ea typeface="Roboto"/>
                <a:cs typeface="Roboto"/>
                <a:sym typeface="Roboto"/>
                <a:hlinkClick r:id="rId3">
                  <a:extLst>
                    <a:ext uri="{A12FA001-AC4F-418D-AE19-62706E023703}">
                      <ahyp:hlinkClr val="tx"/>
                    </a:ext>
                  </a:extLst>
                </a:hlinkClick>
              </a:rPr>
              <a:t>selectores combinados</a:t>
            </a:r>
            <a:r>
              <a:rPr lang="es" sz="2060">
                <a:solidFill>
                  <a:srgbClr val="000000"/>
                </a:solidFill>
                <a:latin typeface="Roboto"/>
                <a:ea typeface="Roboto"/>
                <a:cs typeface="Roboto"/>
                <a:sym typeface="Roboto"/>
              </a:rPr>
              <a:t>, tal y como hemos visto anteriormente.</a:t>
            </a:r>
            <a:endParaRPr sz="2060">
              <a:solidFill>
                <a:srgbClr val="000000"/>
              </a:solidFill>
              <a:latin typeface="Roboto"/>
              <a:ea typeface="Roboto"/>
              <a:cs typeface="Roboto"/>
              <a:sym typeface="Roboto"/>
            </a:endParaRPr>
          </a:p>
          <a:p>
            <a:pPr indent="0" lvl="0" marL="139700" marR="139700" rtl="0" algn="l">
              <a:lnSpc>
                <a:spcPct val="116666"/>
              </a:lnSpc>
              <a:spcBef>
                <a:spcPts val="1100"/>
              </a:spcBef>
              <a:spcAft>
                <a:spcPts val="1500"/>
              </a:spcAft>
              <a:buSzPct val="199972"/>
              <a:buNone/>
            </a:pPr>
            <a:r>
              <a:rPr lang="es" sz="1895">
                <a:solidFill>
                  <a:srgbClr val="000000"/>
                </a:solidFill>
                <a:latin typeface="Courier New"/>
                <a:ea typeface="Courier New"/>
                <a:cs typeface="Courier New"/>
                <a:sym typeface="Courier New"/>
              </a:rPr>
              <a:t>h1, h2, h3 { font-family: Arial; font-weight: 700;  }</a:t>
            </a:r>
            <a:endParaRPr b="1" sz="2345"/>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1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19. Buenas prácticas en CSS</a:t>
            </a:r>
            <a:endParaRPr/>
          </a:p>
        </p:txBody>
      </p:sp>
      <p:sp>
        <p:nvSpPr>
          <p:cNvPr id="824" name="Google Shape;824;p116"/>
          <p:cNvSpPr txBox="1"/>
          <p:nvPr>
            <p:ph idx="1" type="body"/>
          </p:nvPr>
        </p:nvSpPr>
        <p:spPr>
          <a:xfrm>
            <a:off x="311700" y="1152475"/>
            <a:ext cx="8520600" cy="3797400"/>
          </a:xfrm>
          <a:prstGeom prst="rect">
            <a:avLst/>
          </a:prstGeom>
          <a:noFill/>
          <a:ln>
            <a:noFill/>
          </a:ln>
        </p:spPr>
        <p:txBody>
          <a:bodyPr anchorCtr="0" anchor="t" bIns="91425" lIns="91425" spcFirstLastPara="1" rIns="91425" wrap="square" tIns="91425">
            <a:normAutofit fontScale="77500" lnSpcReduction="10000"/>
          </a:bodyPr>
          <a:lstStyle/>
          <a:p>
            <a:pPr indent="0" lvl="0" marL="0" rtl="0" algn="l">
              <a:lnSpc>
                <a:spcPct val="137500"/>
              </a:lnSpc>
              <a:spcBef>
                <a:spcPts val="0"/>
              </a:spcBef>
              <a:spcAft>
                <a:spcPts val="0"/>
              </a:spcAft>
              <a:buSzPct val="77419"/>
              <a:buNone/>
            </a:pPr>
            <a:r>
              <a:rPr b="1" lang="es" sz="3000">
                <a:solidFill>
                  <a:srgbClr val="232B46"/>
                </a:solidFill>
                <a:latin typeface="Roboto"/>
                <a:ea typeface="Roboto"/>
                <a:cs typeface="Roboto"/>
                <a:sym typeface="Roboto"/>
              </a:rPr>
              <a:t>6. Utilizar selectores descendientes</a:t>
            </a:r>
            <a:endParaRPr b="1" sz="3000">
              <a:solidFill>
                <a:srgbClr val="232B46"/>
              </a:solidFill>
              <a:latin typeface="Roboto"/>
              <a:ea typeface="Roboto"/>
              <a:cs typeface="Roboto"/>
              <a:sym typeface="Roboto"/>
            </a:endParaRPr>
          </a:p>
          <a:p>
            <a:pPr indent="0" lvl="0" marL="0" rtl="0" algn="l">
              <a:lnSpc>
                <a:spcPct val="115000"/>
              </a:lnSpc>
              <a:spcBef>
                <a:spcPts val="1100"/>
              </a:spcBef>
              <a:spcAft>
                <a:spcPts val="0"/>
              </a:spcAft>
              <a:buSzPct val="172043"/>
              <a:buNone/>
            </a:pPr>
            <a:r>
              <a:rPr lang="es" sz="1350">
                <a:solidFill>
                  <a:srgbClr val="000000"/>
                </a:solidFill>
                <a:latin typeface="Roboto"/>
                <a:ea typeface="Roboto"/>
                <a:cs typeface="Roboto"/>
                <a:sym typeface="Roboto"/>
              </a:rPr>
              <a:t>Es conveniente utilizar </a:t>
            </a:r>
            <a:r>
              <a:rPr lang="es" sz="1350">
                <a:solidFill>
                  <a:srgbClr val="E7618B"/>
                </a:solidFill>
                <a:uFill>
                  <a:noFill/>
                </a:uFill>
                <a:latin typeface="Roboto"/>
                <a:ea typeface="Roboto"/>
                <a:cs typeface="Roboto"/>
                <a:sym typeface="Roboto"/>
                <a:hlinkClick r:id="rId3">
                  <a:extLst>
                    <a:ext uri="{A12FA001-AC4F-418D-AE19-62706E023703}">
                      <ahyp:hlinkClr val="tx"/>
                    </a:ext>
                  </a:extLst>
                </a:hlinkClick>
              </a:rPr>
              <a:t>selectores descendientes</a:t>
            </a:r>
            <a:r>
              <a:rPr lang="es" sz="1350">
                <a:solidFill>
                  <a:srgbClr val="000000"/>
                </a:solidFill>
                <a:latin typeface="Roboto"/>
                <a:ea typeface="Roboto"/>
                <a:cs typeface="Roboto"/>
                <a:sym typeface="Roboto"/>
              </a:rPr>
              <a:t> siempre que sea posible antes de crear un selector clase o un selector identificador. De esta forma, el código estará más limpio, dispondrá de menos selectores clase e identificador y se comprenderá mucho mejor.</a:t>
            </a:r>
            <a:endParaRPr sz="1350">
              <a:solidFill>
                <a:srgbClr val="000000"/>
              </a:solidFill>
              <a:latin typeface="Roboto"/>
              <a:ea typeface="Roboto"/>
              <a:cs typeface="Roboto"/>
              <a:sym typeface="Roboto"/>
            </a:endParaRPr>
          </a:p>
          <a:p>
            <a:pPr indent="0" lvl="0" marL="139700" marR="139700" rtl="0" algn="l">
              <a:lnSpc>
                <a:spcPct val="116666"/>
              </a:lnSpc>
              <a:spcBef>
                <a:spcPts val="1100"/>
              </a:spcBef>
              <a:spcAft>
                <a:spcPts val="0"/>
              </a:spcAft>
              <a:buSzPct val="172043"/>
              <a:buNone/>
            </a:pPr>
            <a:r>
              <a:rPr lang="es" sz="1350">
                <a:solidFill>
                  <a:srgbClr val="000000"/>
                </a:solidFill>
                <a:latin typeface="Courier New"/>
                <a:ea typeface="Courier New"/>
                <a:cs typeface="Courier New"/>
                <a:sym typeface="Courier New"/>
              </a:rPr>
              <a:t>div p {  color: red; }</a:t>
            </a:r>
            <a:endParaRPr sz="1350">
              <a:solidFill>
                <a:srgbClr val="000000"/>
              </a:solidFill>
              <a:latin typeface="Courier New"/>
              <a:ea typeface="Courier New"/>
              <a:cs typeface="Courier New"/>
              <a:sym typeface="Courier New"/>
            </a:endParaRPr>
          </a:p>
          <a:p>
            <a:pPr indent="0" lvl="0" marL="0" rtl="0" algn="l">
              <a:lnSpc>
                <a:spcPct val="137500"/>
              </a:lnSpc>
              <a:spcBef>
                <a:spcPts val="1500"/>
              </a:spcBef>
              <a:spcAft>
                <a:spcPts val="0"/>
              </a:spcAft>
              <a:buSzPct val="77419"/>
              <a:buNone/>
            </a:pPr>
            <a:r>
              <a:rPr b="1" lang="es" sz="3000">
                <a:solidFill>
                  <a:srgbClr val="232B46"/>
                </a:solidFill>
                <a:latin typeface="Roboto"/>
                <a:ea typeface="Roboto"/>
                <a:cs typeface="Roboto"/>
                <a:sym typeface="Roboto"/>
              </a:rPr>
              <a:t>7. Utilizar propiedades abreviadas</a:t>
            </a:r>
            <a:endParaRPr b="1" sz="3000">
              <a:solidFill>
                <a:srgbClr val="232B46"/>
              </a:solidFill>
              <a:latin typeface="Roboto"/>
              <a:ea typeface="Roboto"/>
              <a:cs typeface="Roboto"/>
              <a:sym typeface="Roboto"/>
            </a:endParaRPr>
          </a:p>
          <a:p>
            <a:pPr indent="0" lvl="0" marL="0" rtl="0" algn="l">
              <a:lnSpc>
                <a:spcPct val="115000"/>
              </a:lnSpc>
              <a:spcBef>
                <a:spcPts val="1100"/>
              </a:spcBef>
              <a:spcAft>
                <a:spcPts val="0"/>
              </a:spcAft>
              <a:buSzPct val="172043"/>
              <a:buNone/>
            </a:pPr>
            <a:r>
              <a:rPr lang="es" sz="1350">
                <a:solidFill>
                  <a:srgbClr val="000000"/>
                </a:solidFill>
                <a:latin typeface="Roboto"/>
                <a:ea typeface="Roboto"/>
                <a:cs typeface="Roboto"/>
                <a:sym typeface="Roboto"/>
              </a:rPr>
              <a:t>Siempre que sea posible es recomendable utilizar clases abreviadas para conseguir una reducción de código.</a:t>
            </a:r>
            <a:endParaRPr sz="1350">
              <a:solidFill>
                <a:srgbClr val="000000"/>
              </a:solidFill>
              <a:latin typeface="Roboto"/>
              <a:ea typeface="Roboto"/>
              <a:cs typeface="Roboto"/>
              <a:sym typeface="Roboto"/>
            </a:endParaRPr>
          </a:p>
          <a:p>
            <a:pPr indent="0" lvl="0" marL="457200" rtl="0" algn="l">
              <a:lnSpc>
                <a:spcPct val="115000"/>
              </a:lnSpc>
              <a:spcBef>
                <a:spcPts val="1100"/>
              </a:spcBef>
              <a:spcAft>
                <a:spcPts val="0"/>
              </a:spcAft>
              <a:buSzPct val="172043"/>
              <a:buNone/>
            </a:pPr>
            <a:r>
              <a:rPr lang="es" sz="1350">
                <a:solidFill>
                  <a:srgbClr val="000000"/>
                </a:solidFill>
                <a:latin typeface="Courier New"/>
                <a:ea typeface="Courier New"/>
                <a:cs typeface="Courier New"/>
                <a:sym typeface="Courier New"/>
              </a:rPr>
              <a:t>/* Propiedades margin-left, margin-right y margin-top */</a:t>
            </a:r>
            <a:endParaRPr sz="1350">
              <a:solidFill>
                <a:srgbClr val="000000"/>
              </a:solidFill>
              <a:latin typeface="Courier New"/>
              <a:ea typeface="Courier New"/>
              <a:cs typeface="Courier New"/>
              <a:sym typeface="Courier New"/>
            </a:endParaRPr>
          </a:p>
          <a:p>
            <a:pPr indent="0" lvl="0" marL="457200" rtl="0" algn="l">
              <a:lnSpc>
                <a:spcPct val="115000"/>
              </a:lnSpc>
              <a:spcBef>
                <a:spcPts val="1200"/>
              </a:spcBef>
              <a:spcAft>
                <a:spcPts val="0"/>
              </a:spcAft>
              <a:buSzPct val="172043"/>
              <a:buNone/>
            </a:pPr>
            <a:r>
              <a:rPr lang="es" sz="1350">
                <a:solidFill>
                  <a:srgbClr val="000000"/>
                </a:solidFill>
                <a:latin typeface="Courier New"/>
                <a:ea typeface="Courier New"/>
                <a:cs typeface="Courier New"/>
                <a:sym typeface="Courier New"/>
              </a:rPr>
              <a:t>.nav-menu {margin-left: 5px; margin-right: 5px; margin-top: 5px;}</a:t>
            </a:r>
            <a:endParaRPr sz="1350">
              <a:solidFill>
                <a:srgbClr val="000000"/>
              </a:solidFill>
              <a:latin typeface="Courier New"/>
              <a:ea typeface="Courier New"/>
              <a:cs typeface="Courier New"/>
              <a:sym typeface="Courier New"/>
            </a:endParaRPr>
          </a:p>
          <a:p>
            <a:pPr indent="0" lvl="0" marL="457200" rtl="0" algn="l">
              <a:lnSpc>
                <a:spcPct val="115000"/>
              </a:lnSpc>
              <a:spcBef>
                <a:spcPts val="1200"/>
              </a:spcBef>
              <a:spcAft>
                <a:spcPts val="0"/>
              </a:spcAft>
              <a:buSzPct val="172043"/>
              <a:buNone/>
            </a:pPr>
            <a:r>
              <a:rPr lang="es" sz="1350">
                <a:solidFill>
                  <a:srgbClr val="000000"/>
                </a:solidFill>
                <a:latin typeface="Courier New"/>
                <a:ea typeface="Courier New"/>
                <a:cs typeface="Courier New"/>
                <a:sym typeface="Courier New"/>
              </a:rPr>
              <a:t>/* Propiedad abreviada margin */</a:t>
            </a:r>
            <a:endParaRPr sz="1350">
              <a:solidFill>
                <a:srgbClr val="000000"/>
              </a:solidFill>
              <a:latin typeface="Courier New"/>
              <a:ea typeface="Courier New"/>
              <a:cs typeface="Courier New"/>
              <a:sym typeface="Courier New"/>
            </a:endParaRPr>
          </a:p>
          <a:p>
            <a:pPr indent="317500" lvl="0" marL="139700" marR="139700" rtl="0" algn="l">
              <a:lnSpc>
                <a:spcPct val="116666"/>
              </a:lnSpc>
              <a:spcBef>
                <a:spcPts val="1200"/>
              </a:spcBef>
              <a:spcAft>
                <a:spcPts val="1500"/>
              </a:spcAft>
              <a:buSzPct val="172043"/>
              <a:buNone/>
            </a:pPr>
            <a:r>
              <a:rPr lang="es" sz="1350">
                <a:solidFill>
                  <a:srgbClr val="000000"/>
                </a:solidFill>
                <a:latin typeface="Courier New"/>
                <a:ea typeface="Courier New"/>
                <a:cs typeface="Courier New"/>
                <a:sym typeface="Courier New"/>
              </a:rPr>
              <a:t>.nav-menu {margin: 5px 5px 0px 5px;}</a:t>
            </a:r>
            <a:endParaRPr b="1"/>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1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19. Buenas prácticas en CSS</a:t>
            </a:r>
            <a:endParaRPr/>
          </a:p>
        </p:txBody>
      </p:sp>
      <p:sp>
        <p:nvSpPr>
          <p:cNvPr id="830" name="Google Shape;830;p117"/>
          <p:cNvSpPr txBox="1"/>
          <p:nvPr>
            <p:ph idx="1" type="body"/>
          </p:nvPr>
        </p:nvSpPr>
        <p:spPr>
          <a:xfrm>
            <a:off x="311700" y="1152475"/>
            <a:ext cx="8520600" cy="3990900"/>
          </a:xfrm>
          <a:prstGeom prst="rect">
            <a:avLst/>
          </a:prstGeom>
          <a:noFill/>
          <a:ln>
            <a:noFill/>
          </a:ln>
        </p:spPr>
        <p:txBody>
          <a:bodyPr anchorCtr="0" anchor="t" bIns="91425" lIns="91425" spcFirstLastPara="1" rIns="91425" wrap="square" tIns="91425">
            <a:normAutofit fontScale="70000" lnSpcReduction="10000"/>
          </a:bodyPr>
          <a:lstStyle/>
          <a:p>
            <a:pPr indent="0" lvl="0" marL="0" rtl="0" algn="l">
              <a:lnSpc>
                <a:spcPct val="137500"/>
              </a:lnSpc>
              <a:spcBef>
                <a:spcPts val="0"/>
              </a:spcBef>
              <a:spcAft>
                <a:spcPts val="0"/>
              </a:spcAft>
              <a:buSzPct val="85714"/>
              <a:buNone/>
            </a:pPr>
            <a:r>
              <a:rPr b="1" lang="es" sz="3000">
                <a:solidFill>
                  <a:srgbClr val="232B46"/>
                </a:solidFill>
                <a:latin typeface="Roboto"/>
                <a:ea typeface="Roboto"/>
                <a:cs typeface="Roboto"/>
                <a:sym typeface="Roboto"/>
              </a:rPr>
              <a:t>8. Utilizar nombres descriptivos en los selectores</a:t>
            </a:r>
            <a:endParaRPr b="1" sz="3000">
              <a:solidFill>
                <a:srgbClr val="232B46"/>
              </a:solidFill>
              <a:latin typeface="Roboto"/>
              <a:ea typeface="Roboto"/>
              <a:cs typeface="Roboto"/>
              <a:sym typeface="Roboto"/>
            </a:endParaRPr>
          </a:p>
          <a:p>
            <a:pPr indent="0" lvl="0" marL="0" rtl="0" algn="l">
              <a:lnSpc>
                <a:spcPct val="115000"/>
              </a:lnSpc>
              <a:spcBef>
                <a:spcPts val="1100"/>
              </a:spcBef>
              <a:spcAft>
                <a:spcPts val="0"/>
              </a:spcAft>
              <a:buSzPct val="190476"/>
              <a:buNone/>
            </a:pPr>
            <a:r>
              <a:rPr lang="es" sz="1350">
                <a:solidFill>
                  <a:srgbClr val="000000"/>
                </a:solidFill>
                <a:latin typeface="Roboto"/>
                <a:ea typeface="Roboto"/>
                <a:cs typeface="Roboto"/>
                <a:sym typeface="Roboto"/>
              </a:rPr>
              <a:t>Mediante la utilización de nombres que permitan averiguar fácilmente a qué elemento le estamos dando estilo comprenderemos el código fácilmente.</a:t>
            </a:r>
            <a:endParaRPr sz="1350">
              <a:solidFill>
                <a:srgbClr val="000000"/>
              </a:solidFill>
              <a:latin typeface="Roboto"/>
              <a:ea typeface="Roboto"/>
              <a:cs typeface="Roboto"/>
              <a:sym typeface="Roboto"/>
            </a:endParaRPr>
          </a:p>
          <a:p>
            <a:pPr indent="0" lvl="0" marL="139700" marR="139700" rtl="0" algn="l">
              <a:lnSpc>
                <a:spcPct val="116666"/>
              </a:lnSpc>
              <a:spcBef>
                <a:spcPts val="1100"/>
              </a:spcBef>
              <a:spcAft>
                <a:spcPts val="0"/>
              </a:spcAft>
              <a:buSzPct val="190476"/>
              <a:buNone/>
            </a:pPr>
            <a:r>
              <a:rPr lang="es" sz="1350">
                <a:solidFill>
                  <a:srgbClr val="000000"/>
                </a:solidFill>
                <a:latin typeface="Courier New"/>
                <a:ea typeface="Courier New"/>
                <a:cs typeface="Courier New"/>
                <a:sym typeface="Courier New"/>
              </a:rPr>
              <a:t>.nav-button { background: blue; } /* Estilo del botón de la navbar*/</a:t>
            </a:r>
            <a:endParaRPr sz="1350">
              <a:solidFill>
                <a:srgbClr val="000000"/>
              </a:solidFill>
              <a:latin typeface="Courier New"/>
              <a:ea typeface="Courier New"/>
              <a:cs typeface="Courier New"/>
              <a:sym typeface="Courier New"/>
            </a:endParaRPr>
          </a:p>
          <a:p>
            <a:pPr indent="0" lvl="0" marL="0" rtl="0" algn="l">
              <a:lnSpc>
                <a:spcPct val="137500"/>
              </a:lnSpc>
              <a:spcBef>
                <a:spcPts val="1500"/>
              </a:spcBef>
              <a:spcAft>
                <a:spcPts val="0"/>
              </a:spcAft>
              <a:buSzPct val="85714"/>
              <a:buNone/>
            </a:pPr>
            <a:r>
              <a:rPr b="1" lang="es" sz="3000">
                <a:solidFill>
                  <a:srgbClr val="232B46"/>
                </a:solidFill>
                <a:latin typeface="Roboto"/>
                <a:ea typeface="Roboto"/>
                <a:cs typeface="Roboto"/>
                <a:sym typeface="Roboto"/>
              </a:rPr>
              <a:t>9. Evitar utilizar como nombre de un selector una característica visual</a:t>
            </a:r>
            <a:endParaRPr b="1" sz="3000">
              <a:solidFill>
                <a:srgbClr val="232B46"/>
              </a:solidFill>
              <a:latin typeface="Roboto"/>
              <a:ea typeface="Roboto"/>
              <a:cs typeface="Roboto"/>
              <a:sym typeface="Roboto"/>
            </a:endParaRPr>
          </a:p>
          <a:p>
            <a:pPr indent="0" lvl="0" marL="0" rtl="0" algn="l">
              <a:lnSpc>
                <a:spcPct val="115000"/>
              </a:lnSpc>
              <a:spcBef>
                <a:spcPts val="1100"/>
              </a:spcBef>
              <a:spcAft>
                <a:spcPts val="0"/>
              </a:spcAft>
              <a:buSzPct val="190476"/>
              <a:buNone/>
            </a:pPr>
            <a:r>
              <a:rPr lang="es" sz="1350">
                <a:solidFill>
                  <a:srgbClr val="000000"/>
                </a:solidFill>
                <a:latin typeface="Roboto"/>
                <a:ea typeface="Roboto"/>
                <a:cs typeface="Roboto"/>
                <a:sym typeface="Roboto"/>
              </a:rPr>
              <a:t>Al utilizar en el nombre de un selector una característica visual como el color, el tamaño o la posición, si posteriormente modificamos esa característica, también deberíamos cambiar el nombre del selector. Esto complica mucho el código ya que tendríamos que actualizar todas las referencias a ese selector en el código HTML.</a:t>
            </a:r>
            <a:endParaRPr sz="1350">
              <a:solidFill>
                <a:srgbClr val="000000"/>
              </a:solidFill>
              <a:latin typeface="Roboto"/>
              <a:ea typeface="Roboto"/>
              <a:cs typeface="Roboto"/>
              <a:sym typeface="Roboto"/>
            </a:endParaRPr>
          </a:p>
          <a:p>
            <a:pPr indent="0" lvl="0" marL="457200" rtl="0" algn="l">
              <a:lnSpc>
                <a:spcPct val="115000"/>
              </a:lnSpc>
              <a:spcBef>
                <a:spcPts val="1100"/>
              </a:spcBef>
              <a:spcAft>
                <a:spcPts val="0"/>
              </a:spcAft>
              <a:buSzPct val="190476"/>
              <a:buNone/>
            </a:pPr>
            <a:r>
              <a:rPr lang="es" sz="1350">
                <a:solidFill>
                  <a:srgbClr val="000000"/>
                </a:solidFill>
                <a:latin typeface="Courier New"/>
                <a:ea typeface="Courier New"/>
                <a:cs typeface="Courier New"/>
                <a:sym typeface="Courier New"/>
              </a:rPr>
              <a:t>/* Selector con nombre que define la característica visual del color */</a:t>
            </a:r>
            <a:endParaRPr sz="1350">
              <a:solidFill>
                <a:srgbClr val="000000"/>
              </a:solidFill>
              <a:latin typeface="Courier New"/>
              <a:ea typeface="Courier New"/>
              <a:cs typeface="Courier New"/>
              <a:sym typeface="Courier New"/>
            </a:endParaRPr>
          </a:p>
          <a:p>
            <a:pPr indent="0" lvl="0" marL="457200" rtl="0" algn="l">
              <a:lnSpc>
                <a:spcPct val="115000"/>
              </a:lnSpc>
              <a:spcBef>
                <a:spcPts val="1200"/>
              </a:spcBef>
              <a:spcAft>
                <a:spcPts val="0"/>
              </a:spcAft>
              <a:buSzPct val="190476"/>
              <a:buNone/>
            </a:pPr>
            <a:r>
              <a:rPr lang="es" sz="1350">
                <a:solidFill>
                  <a:srgbClr val="000000"/>
                </a:solidFill>
                <a:latin typeface="Courier New"/>
                <a:ea typeface="Courier New"/>
                <a:cs typeface="Courier New"/>
                <a:sym typeface="Courier New"/>
              </a:rPr>
              <a:t>.menu-red { background: red; }</a:t>
            </a:r>
            <a:endParaRPr sz="1350">
              <a:solidFill>
                <a:srgbClr val="000000"/>
              </a:solidFill>
              <a:latin typeface="Courier New"/>
              <a:ea typeface="Courier New"/>
              <a:cs typeface="Courier New"/>
              <a:sym typeface="Courier New"/>
            </a:endParaRPr>
          </a:p>
          <a:p>
            <a:pPr indent="0" lvl="0" marL="457200" rtl="0" algn="l">
              <a:lnSpc>
                <a:spcPct val="115000"/>
              </a:lnSpc>
              <a:spcBef>
                <a:spcPts val="1200"/>
              </a:spcBef>
              <a:spcAft>
                <a:spcPts val="0"/>
              </a:spcAft>
              <a:buSzPct val="190476"/>
              <a:buNone/>
            </a:pPr>
            <a:r>
              <a:rPr lang="es" sz="1350">
                <a:solidFill>
                  <a:srgbClr val="000000"/>
                </a:solidFill>
                <a:latin typeface="Courier New"/>
                <a:ea typeface="Courier New"/>
                <a:cs typeface="Courier New"/>
                <a:sym typeface="Courier New"/>
              </a:rPr>
              <a:t>/* Utilizar mejor: */</a:t>
            </a:r>
            <a:endParaRPr sz="1350">
              <a:solidFill>
                <a:srgbClr val="000000"/>
              </a:solidFill>
              <a:latin typeface="Courier New"/>
              <a:ea typeface="Courier New"/>
              <a:cs typeface="Courier New"/>
              <a:sym typeface="Courier New"/>
            </a:endParaRPr>
          </a:p>
          <a:p>
            <a:pPr indent="0" lvl="0" marL="139700" marR="139700" rtl="0" algn="l">
              <a:lnSpc>
                <a:spcPct val="116666"/>
              </a:lnSpc>
              <a:spcBef>
                <a:spcPts val="1200"/>
              </a:spcBef>
              <a:spcAft>
                <a:spcPts val="1500"/>
              </a:spcAft>
              <a:buSzPct val="190476"/>
              <a:buNone/>
            </a:pPr>
            <a:r>
              <a:rPr lang="es" sz="1350">
                <a:solidFill>
                  <a:srgbClr val="000000"/>
                </a:solidFill>
                <a:latin typeface="Courier New"/>
                <a:ea typeface="Courier New"/>
                <a:cs typeface="Courier New"/>
                <a:sym typeface="Courier New"/>
              </a:rPr>
              <a:t> 	.nav-menu { background: red; }</a:t>
            </a:r>
            <a:endParaRPr b="1"/>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1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19. Buenas prácticas en CSS</a:t>
            </a:r>
            <a:endParaRPr/>
          </a:p>
        </p:txBody>
      </p:sp>
      <p:sp>
        <p:nvSpPr>
          <p:cNvPr id="836" name="Google Shape;836;p1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37500"/>
              </a:lnSpc>
              <a:spcBef>
                <a:spcPts val="0"/>
              </a:spcBef>
              <a:spcAft>
                <a:spcPts val="0"/>
              </a:spcAft>
              <a:buSzPct val="77419"/>
              <a:buNone/>
            </a:pPr>
            <a:r>
              <a:rPr b="1" lang="es" sz="3000">
                <a:solidFill>
                  <a:srgbClr val="232B46"/>
                </a:solidFill>
                <a:latin typeface="Roboto"/>
                <a:ea typeface="Roboto"/>
                <a:cs typeface="Roboto"/>
                <a:sym typeface="Roboto"/>
              </a:rPr>
              <a:t>10. Probar el diseño en los diferentes navegadores</a:t>
            </a:r>
            <a:endParaRPr b="1" sz="3000">
              <a:solidFill>
                <a:srgbClr val="232B46"/>
              </a:solidFill>
              <a:latin typeface="Roboto"/>
              <a:ea typeface="Roboto"/>
              <a:cs typeface="Roboto"/>
              <a:sym typeface="Roboto"/>
            </a:endParaRPr>
          </a:p>
          <a:p>
            <a:pPr indent="0" lvl="0" marL="0" rtl="0" algn="l">
              <a:lnSpc>
                <a:spcPct val="115000"/>
              </a:lnSpc>
              <a:spcBef>
                <a:spcPts val="1100"/>
              </a:spcBef>
              <a:spcAft>
                <a:spcPts val="0"/>
              </a:spcAft>
              <a:buSzPct val="172043"/>
              <a:buNone/>
            </a:pPr>
            <a:r>
              <a:rPr lang="es" sz="1350">
                <a:solidFill>
                  <a:srgbClr val="000000"/>
                </a:solidFill>
                <a:latin typeface="Roboto"/>
                <a:ea typeface="Roboto"/>
                <a:cs typeface="Roboto"/>
                <a:sym typeface="Roboto"/>
              </a:rPr>
              <a:t>Para descubrir si se producen errores de visualización en los navegadores lo recomendable es instalarlos todos en el equipo. </a:t>
            </a:r>
            <a:endParaRPr sz="1350">
              <a:solidFill>
                <a:srgbClr val="000000"/>
              </a:solidFill>
              <a:latin typeface="Roboto"/>
              <a:ea typeface="Roboto"/>
              <a:cs typeface="Roboto"/>
              <a:sym typeface="Roboto"/>
            </a:endParaRPr>
          </a:p>
          <a:p>
            <a:pPr indent="0" lvl="0" marL="0" rtl="0" algn="l">
              <a:lnSpc>
                <a:spcPct val="137500"/>
              </a:lnSpc>
              <a:spcBef>
                <a:spcPts val="1100"/>
              </a:spcBef>
              <a:spcAft>
                <a:spcPts val="0"/>
              </a:spcAft>
              <a:buSzPct val="77419"/>
              <a:buNone/>
            </a:pPr>
            <a:r>
              <a:rPr b="1" lang="es" sz="3000">
                <a:solidFill>
                  <a:srgbClr val="232B46"/>
                </a:solidFill>
                <a:latin typeface="Roboto"/>
                <a:ea typeface="Roboto"/>
                <a:cs typeface="Roboto"/>
                <a:sym typeface="Roboto"/>
              </a:rPr>
              <a:t>11. Validar el código CSS</a:t>
            </a:r>
            <a:endParaRPr b="1" sz="3000">
              <a:solidFill>
                <a:srgbClr val="232B46"/>
              </a:solidFill>
              <a:latin typeface="Roboto"/>
              <a:ea typeface="Roboto"/>
              <a:cs typeface="Roboto"/>
              <a:sym typeface="Roboto"/>
            </a:endParaRPr>
          </a:p>
          <a:p>
            <a:pPr indent="0" lvl="0" marL="0" rtl="0" algn="l">
              <a:lnSpc>
                <a:spcPct val="115000"/>
              </a:lnSpc>
              <a:spcBef>
                <a:spcPts val="1100"/>
              </a:spcBef>
              <a:spcAft>
                <a:spcPts val="0"/>
              </a:spcAft>
              <a:buSzPct val="172043"/>
              <a:buNone/>
            </a:pPr>
            <a:r>
              <a:rPr lang="es" sz="1350">
                <a:solidFill>
                  <a:srgbClr val="000000"/>
                </a:solidFill>
                <a:latin typeface="Roboto"/>
                <a:ea typeface="Roboto"/>
                <a:cs typeface="Roboto"/>
                <a:sym typeface="Roboto"/>
              </a:rPr>
              <a:t>Detectar errores en el código es esencial y se puede hacer fácilmente mediante un validador CSS. El W3C proporciona una </a:t>
            </a:r>
            <a:r>
              <a:rPr lang="es" sz="1350">
                <a:solidFill>
                  <a:srgbClr val="E7618B"/>
                </a:solidFill>
                <a:uFill>
                  <a:noFill/>
                </a:uFill>
                <a:latin typeface="Roboto"/>
                <a:ea typeface="Roboto"/>
                <a:cs typeface="Roboto"/>
                <a:sym typeface="Roboto"/>
                <a:hlinkClick r:id="rId3">
                  <a:extLst>
                    <a:ext uri="{A12FA001-AC4F-418D-AE19-62706E023703}">
                      <ahyp:hlinkClr val="tx"/>
                    </a:ext>
                  </a:extLst>
                </a:hlinkClick>
              </a:rPr>
              <a:t>herramienta de validación de CSS</a:t>
            </a:r>
            <a:r>
              <a:rPr lang="es" sz="1350">
                <a:solidFill>
                  <a:srgbClr val="000000"/>
                </a:solidFill>
                <a:latin typeface="Roboto"/>
                <a:ea typeface="Roboto"/>
                <a:cs typeface="Roboto"/>
                <a:sym typeface="Roboto"/>
              </a:rPr>
              <a:t> gratuita para los documentos CSS.</a:t>
            </a:r>
            <a:endParaRPr sz="1350">
              <a:solidFill>
                <a:srgbClr val="000000"/>
              </a:solidFill>
              <a:latin typeface="Roboto"/>
              <a:ea typeface="Roboto"/>
              <a:cs typeface="Roboto"/>
              <a:sym typeface="Roboto"/>
            </a:endParaRPr>
          </a:p>
          <a:p>
            <a:pPr indent="0" lvl="0" marL="0" rtl="0" algn="l">
              <a:lnSpc>
                <a:spcPct val="137500"/>
              </a:lnSpc>
              <a:spcBef>
                <a:spcPts val="1100"/>
              </a:spcBef>
              <a:spcAft>
                <a:spcPts val="0"/>
              </a:spcAft>
              <a:buSzPct val="77419"/>
              <a:buNone/>
            </a:pPr>
            <a:r>
              <a:rPr b="1" lang="es" sz="3000">
                <a:solidFill>
                  <a:srgbClr val="232B46"/>
                </a:solidFill>
                <a:latin typeface="Roboto"/>
                <a:ea typeface="Roboto"/>
                <a:cs typeface="Roboto"/>
                <a:sym typeface="Roboto"/>
              </a:rPr>
              <a:t>12. Agregar los prefijos de los navegadores en propiedades que no sean estables</a:t>
            </a:r>
            <a:endParaRPr b="1" sz="3000">
              <a:solidFill>
                <a:srgbClr val="232B46"/>
              </a:solidFill>
              <a:latin typeface="Roboto"/>
              <a:ea typeface="Roboto"/>
              <a:cs typeface="Roboto"/>
              <a:sym typeface="Roboto"/>
            </a:endParaRPr>
          </a:p>
          <a:p>
            <a:pPr indent="0" lvl="0" marL="0" rtl="0" algn="l">
              <a:lnSpc>
                <a:spcPct val="115000"/>
              </a:lnSpc>
              <a:spcBef>
                <a:spcPts val="1100"/>
              </a:spcBef>
              <a:spcAft>
                <a:spcPts val="1100"/>
              </a:spcAft>
              <a:buSzPct val="172043"/>
              <a:buNone/>
            </a:pPr>
            <a:r>
              <a:rPr lang="es" sz="1350">
                <a:solidFill>
                  <a:srgbClr val="000000"/>
                </a:solidFill>
                <a:latin typeface="Roboto"/>
                <a:ea typeface="Roboto"/>
                <a:cs typeface="Roboto"/>
                <a:sym typeface="Roboto"/>
              </a:rPr>
              <a:t>Para ahorrar tiempo y facilitarnos la tarea de incluir los prefijos de las propiedades CSS que todavía no son estables podemos hacer uso de la</a:t>
            </a:r>
            <a:r>
              <a:rPr b="1" lang="es" sz="1350">
                <a:solidFill>
                  <a:srgbClr val="000000"/>
                </a:solidFill>
                <a:latin typeface="Roboto"/>
                <a:ea typeface="Roboto"/>
                <a:cs typeface="Roboto"/>
                <a:sym typeface="Roboto"/>
              </a:rPr>
              <a:t> </a:t>
            </a:r>
            <a:r>
              <a:rPr lang="es" sz="1350">
                <a:solidFill>
                  <a:srgbClr val="5F4F23"/>
                </a:solidFill>
                <a:highlight>
                  <a:srgbClr val="FFFF00"/>
                </a:highlight>
                <a:uFill>
                  <a:noFill/>
                </a:uFill>
                <a:latin typeface="Roboto"/>
                <a:ea typeface="Roboto"/>
                <a:cs typeface="Roboto"/>
                <a:sym typeface="Roboto"/>
                <a:hlinkClick r:id="rId4">
                  <a:extLst>
                    <a:ext uri="{A12FA001-AC4F-418D-AE19-62706E023703}">
                      <ahyp:hlinkClr val="tx"/>
                    </a:ext>
                  </a:extLst>
                </a:hlinkClick>
              </a:rPr>
              <a:t>extensión «Autoprefixer» en Visual Studio Code</a:t>
            </a:r>
            <a:r>
              <a:rPr lang="es" sz="1350">
                <a:solidFill>
                  <a:srgbClr val="000000"/>
                </a:solidFill>
                <a:latin typeface="Roboto"/>
                <a:ea typeface="Roboto"/>
                <a:cs typeface="Roboto"/>
                <a:sym typeface="Roboto"/>
              </a:rPr>
              <a:t>.</a:t>
            </a:r>
            <a:endParaRPr b="1"/>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1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19. Buenas prácticas en CSS</a:t>
            </a:r>
            <a:endParaRPr/>
          </a:p>
        </p:txBody>
      </p:sp>
      <p:sp>
        <p:nvSpPr>
          <p:cNvPr id="842" name="Google Shape;842;p1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37500"/>
              </a:lnSpc>
              <a:spcBef>
                <a:spcPts val="0"/>
              </a:spcBef>
              <a:spcAft>
                <a:spcPts val="0"/>
              </a:spcAft>
              <a:buSzPct val="64864"/>
              <a:buNone/>
            </a:pPr>
            <a:r>
              <a:rPr b="1" lang="es" sz="3000">
                <a:solidFill>
                  <a:srgbClr val="232B46"/>
                </a:solidFill>
                <a:latin typeface="Roboto"/>
                <a:ea typeface="Roboto"/>
                <a:cs typeface="Roboto"/>
                <a:sym typeface="Roboto"/>
              </a:rPr>
              <a:t>13. No usar la regla !important</a:t>
            </a:r>
            <a:endParaRPr b="1" sz="3000">
              <a:solidFill>
                <a:srgbClr val="232B46"/>
              </a:solidFill>
              <a:latin typeface="Roboto"/>
              <a:ea typeface="Roboto"/>
              <a:cs typeface="Roboto"/>
              <a:sym typeface="Roboto"/>
            </a:endParaRPr>
          </a:p>
          <a:p>
            <a:pPr indent="0" lvl="0" marL="0" rtl="0" algn="l">
              <a:lnSpc>
                <a:spcPct val="115000"/>
              </a:lnSpc>
              <a:spcBef>
                <a:spcPts val="1100"/>
              </a:spcBef>
              <a:spcAft>
                <a:spcPts val="0"/>
              </a:spcAft>
              <a:buSzPct val="144144"/>
              <a:buNone/>
            </a:pPr>
            <a:r>
              <a:rPr lang="es" sz="1350">
                <a:solidFill>
                  <a:srgbClr val="000000"/>
                </a:solidFill>
                <a:latin typeface="Roboto"/>
                <a:ea typeface="Roboto"/>
                <a:cs typeface="Roboto"/>
                <a:sym typeface="Roboto"/>
              </a:rPr>
              <a:t>La palabra clave !important se utiliza para dar mayor prioridad al valor de una propiedad de forma que si se define la misma propiedad para un elemento no se pueda sobrescribir. Ejemplo:</a:t>
            </a:r>
            <a:endParaRPr sz="1350">
              <a:solidFill>
                <a:srgbClr val="000000"/>
              </a:solidFill>
              <a:latin typeface="Roboto"/>
              <a:ea typeface="Roboto"/>
              <a:cs typeface="Roboto"/>
              <a:sym typeface="Roboto"/>
            </a:endParaRPr>
          </a:p>
          <a:p>
            <a:pPr indent="0" lvl="0" marL="457200" rtl="0" algn="l">
              <a:lnSpc>
                <a:spcPct val="115000"/>
              </a:lnSpc>
              <a:spcBef>
                <a:spcPts val="1100"/>
              </a:spcBef>
              <a:spcAft>
                <a:spcPts val="0"/>
              </a:spcAft>
              <a:buSzPct val="144144"/>
              <a:buNone/>
            </a:pPr>
            <a:r>
              <a:rPr lang="es" sz="1350">
                <a:solidFill>
                  <a:srgbClr val="000000"/>
                </a:solidFill>
                <a:latin typeface="Courier New"/>
                <a:ea typeface="Courier New"/>
                <a:cs typeface="Courier New"/>
                <a:sym typeface="Courier New"/>
              </a:rPr>
              <a:t>.a { background-color: red!important; }</a:t>
            </a:r>
            <a:endParaRPr sz="1350">
              <a:solidFill>
                <a:srgbClr val="000000"/>
              </a:solidFill>
              <a:latin typeface="Courier New"/>
              <a:ea typeface="Courier New"/>
              <a:cs typeface="Courier New"/>
              <a:sym typeface="Courier New"/>
            </a:endParaRPr>
          </a:p>
          <a:p>
            <a:pPr indent="457200" lvl="0" marL="0" marR="139700" rtl="0" algn="l">
              <a:lnSpc>
                <a:spcPct val="116666"/>
              </a:lnSpc>
              <a:spcBef>
                <a:spcPts val="1200"/>
              </a:spcBef>
              <a:spcAft>
                <a:spcPts val="0"/>
              </a:spcAft>
              <a:buSzPct val="144144"/>
              <a:buNone/>
            </a:pPr>
            <a:r>
              <a:rPr lang="es" sz="1350">
                <a:solidFill>
                  <a:srgbClr val="000000"/>
                </a:solidFill>
                <a:latin typeface="Courier New"/>
                <a:ea typeface="Courier New"/>
                <a:cs typeface="Courier New"/>
                <a:sym typeface="Courier New"/>
              </a:rPr>
              <a:t>.a { background-color: blue; } /* los elementos con clase "a" tendrán el fondo de color rojo */</a:t>
            </a:r>
            <a:endParaRPr sz="1350">
              <a:solidFill>
                <a:srgbClr val="000000"/>
              </a:solidFill>
              <a:latin typeface="Courier New"/>
              <a:ea typeface="Courier New"/>
              <a:cs typeface="Courier New"/>
              <a:sym typeface="Courier New"/>
            </a:endParaRPr>
          </a:p>
          <a:p>
            <a:pPr indent="0" lvl="0" marL="0" rtl="0" algn="l">
              <a:lnSpc>
                <a:spcPct val="115000"/>
              </a:lnSpc>
              <a:spcBef>
                <a:spcPts val="1500"/>
              </a:spcBef>
              <a:spcAft>
                <a:spcPts val="0"/>
              </a:spcAft>
              <a:buSzPct val="144144"/>
              <a:buNone/>
            </a:pPr>
            <a:r>
              <a:rPr lang="es" sz="1350">
                <a:solidFill>
                  <a:srgbClr val="000000"/>
                </a:solidFill>
                <a:latin typeface="Roboto"/>
                <a:ea typeface="Roboto"/>
                <a:cs typeface="Roboto"/>
                <a:sym typeface="Roboto"/>
              </a:rPr>
              <a:t>El uso de ! important, es una mala práctica y debería evitarse porque hace que el código sea más difícil de depurar porque rompre la cascada natural de las hojas de estilo. Por tanto, se recomiendo usar la regla !important solo para casos </a:t>
            </a:r>
            <a:r>
              <a:rPr b="1" lang="es" sz="1350">
                <a:solidFill>
                  <a:srgbClr val="000000"/>
                </a:solidFill>
                <a:latin typeface="Roboto"/>
                <a:ea typeface="Roboto"/>
                <a:cs typeface="Roboto"/>
                <a:sym typeface="Roboto"/>
              </a:rPr>
              <a:t>excepcionales</a:t>
            </a:r>
            <a:r>
              <a:rPr lang="es" sz="1350">
                <a:solidFill>
                  <a:srgbClr val="000000"/>
                </a:solidFill>
                <a:latin typeface="Roboto"/>
                <a:ea typeface="Roboto"/>
                <a:cs typeface="Roboto"/>
                <a:sym typeface="Roboto"/>
              </a:rPr>
              <a:t> ya que puede causar problemas de mantenibilidad y legibilidad del código CSS.</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1200"/>
              </a:spcAft>
              <a:buSzPct val="108108"/>
              <a:buNone/>
            </a:pPr>
            <a:r>
              <a:t/>
            </a:r>
            <a:endParaRPr b="1"/>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20. Inspeccionar elementos en el navegador</a:t>
            </a:r>
            <a:endParaRPr/>
          </a:p>
        </p:txBody>
      </p:sp>
      <p:sp>
        <p:nvSpPr>
          <p:cNvPr id="848" name="Google Shape;848;p1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27358"/>
              </a:lnSpc>
              <a:spcBef>
                <a:spcPts val="0"/>
              </a:spcBef>
              <a:spcAft>
                <a:spcPts val="0"/>
              </a:spcAft>
              <a:buSzPts val="1800"/>
              <a:buNone/>
            </a:pPr>
            <a:r>
              <a:rPr b="1" lang="es" sz="2650">
                <a:solidFill>
                  <a:srgbClr val="232B46"/>
                </a:solidFill>
                <a:latin typeface="Roboto"/>
                <a:ea typeface="Roboto"/>
                <a:cs typeface="Roboto"/>
                <a:sym typeface="Roboto"/>
              </a:rPr>
              <a:t>Inspección de elementos</a:t>
            </a:r>
            <a:endParaRPr b="1" sz="2650">
              <a:solidFill>
                <a:srgbClr val="232B46"/>
              </a:solidFill>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latin typeface="Roboto"/>
                <a:ea typeface="Roboto"/>
                <a:cs typeface="Roboto"/>
                <a:sym typeface="Roboto"/>
              </a:rPr>
              <a:t>La inspección de elementos es un proceso mediante el cual los desarrolladores pueden examinar y modificar el HTML y CSS de una página web directamente en el navegador. Esta habilidad es esencial para el </a:t>
            </a:r>
            <a:r>
              <a:rPr b="1" lang="es" sz="1350">
                <a:solidFill>
                  <a:srgbClr val="000000"/>
                </a:solidFill>
                <a:latin typeface="Roboto"/>
                <a:ea typeface="Roboto"/>
                <a:cs typeface="Roboto"/>
                <a:sym typeface="Roboto"/>
              </a:rPr>
              <a:t>diagnóstico rápido de problemas</a:t>
            </a:r>
            <a:r>
              <a:rPr lang="es" sz="1350">
                <a:solidFill>
                  <a:srgbClr val="000000"/>
                </a:solidFill>
                <a:latin typeface="Roboto"/>
                <a:ea typeface="Roboto"/>
                <a:cs typeface="Roboto"/>
                <a:sym typeface="Roboto"/>
              </a:rPr>
              <a:t> en el sitio web, permitiendo ver cómo los cambios en el código afectan instantáneamente a la presentación en el navegador.</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0"/>
              </a:spcAft>
              <a:buSzPts val="1800"/>
              <a:buNone/>
            </a:pPr>
            <a:r>
              <a:rPr lang="es" sz="1350">
                <a:solidFill>
                  <a:srgbClr val="000000"/>
                </a:solidFill>
                <a:latin typeface="Roboto"/>
                <a:ea typeface="Roboto"/>
                <a:cs typeface="Roboto"/>
                <a:sym typeface="Roboto"/>
              </a:rPr>
              <a:t>El uso de las herramientas de inspección puede significar la diferencia entre horas de frustración buscando errores y una </a:t>
            </a:r>
            <a:r>
              <a:rPr b="1" lang="es" sz="1350">
                <a:solidFill>
                  <a:srgbClr val="000000"/>
                </a:solidFill>
                <a:latin typeface="Roboto"/>
                <a:ea typeface="Roboto"/>
                <a:cs typeface="Roboto"/>
                <a:sym typeface="Roboto"/>
              </a:rPr>
              <a:t>solución rápida usando el «inspeccionador»</a:t>
            </a:r>
            <a:r>
              <a:rPr lang="es" sz="1350">
                <a:solidFill>
                  <a:srgbClr val="000000"/>
                </a:solidFill>
                <a:latin typeface="Roboto"/>
                <a:ea typeface="Roboto"/>
                <a:cs typeface="Roboto"/>
                <a:sym typeface="Roboto"/>
              </a:rPr>
              <a:t>.</a:t>
            </a:r>
            <a:endParaRPr sz="1350">
              <a:solidFill>
                <a:srgbClr val="000000"/>
              </a:solidFill>
              <a:latin typeface="Roboto"/>
              <a:ea typeface="Roboto"/>
              <a:cs typeface="Roboto"/>
              <a:sym typeface="Roboto"/>
            </a:endParaRPr>
          </a:p>
          <a:p>
            <a:pPr indent="0" lvl="0" marL="0" rtl="0" algn="l">
              <a:lnSpc>
                <a:spcPct val="115000"/>
              </a:lnSpc>
              <a:spcBef>
                <a:spcPts val="1100"/>
              </a:spcBef>
              <a:spcAft>
                <a:spcPts val="0"/>
              </a:spcAft>
              <a:buSzPts val="1800"/>
              <a:buNone/>
            </a:pPr>
            <a:r>
              <a:t/>
            </a:r>
            <a:endParaRPr sz="1100">
              <a:solidFill>
                <a:srgbClr val="000000"/>
              </a:solidFill>
              <a:latin typeface="Arial"/>
              <a:ea typeface="Arial"/>
              <a:cs typeface="Arial"/>
              <a:sym typeface="Arial"/>
            </a:endParaRPr>
          </a:p>
          <a:p>
            <a:pPr indent="0" lvl="0" marL="0" rtl="0" algn="l">
              <a:lnSpc>
                <a:spcPct val="115000"/>
              </a:lnSpc>
              <a:spcBef>
                <a:spcPts val="0"/>
              </a:spcBef>
              <a:spcAft>
                <a:spcPts val="1200"/>
              </a:spcAft>
              <a:buSzPts val="1800"/>
              <a:buNone/>
            </a:pPr>
            <a:r>
              <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1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20. Inspeccionar elementos en el navegador</a:t>
            </a:r>
            <a:endParaRPr/>
          </a:p>
        </p:txBody>
      </p:sp>
      <p:sp>
        <p:nvSpPr>
          <p:cNvPr id="854" name="Google Shape;854;p121"/>
          <p:cNvSpPr txBox="1"/>
          <p:nvPr>
            <p:ph idx="1" type="body"/>
          </p:nvPr>
        </p:nvSpPr>
        <p:spPr>
          <a:xfrm>
            <a:off x="311700" y="1152475"/>
            <a:ext cx="8520600" cy="36327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27358"/>
              </a:lnSpc>
              <a:spcBef>
                <a:spcPts val="0"/>
              </a:spcBef>
              <a:spcAft>
                <a:spcPts val="0"/>
              </a:spcAft>
              <a:buSzPts val="1800"/>
              <a:buNone/>
            </a:pPr>
            <a:r>
              <a:rPr b="1" lang="es" sz="2650">
                <a:solidFill>
                  <a:srgbClr val="232B46"/>
                </a:solidFill>
                <a:latin typeface="Roboto"/>
                <a:ea typeface="Roboto"/>
                <a:cs typeface="Roboto"/>
                <a:sym typeface="Roboto"/>
              </a:rPr>
              <a:t>Inspeccionar y Editar HTML y CSS</a:t>
            </a:r>
            <a:endParaRPr b="1" sz="2650">
              <a:solidFill>
                <a:srgbClr val="232B46"/>
              </a:solidFill>
              <a:latin typeface="Roboto"/>
              <a:ea typeface="Roboto"/>
              <a:cs typeface="Roboto"/>
              <a:sym typeface="Roboto"/>
            </a:endParaRPr>
          </a:p>
          <a:p>
            <a:pPr indent="-314325" lvl="0" marL="749300" rtl="0" algn="l">
              <a:lnSpc>
                <a:spcPct val="115000"/>
              </a:lnSpc>
              <a:spcBef>
                <a:spcPts val="1100"/>
              </a:spcBef>
              <a:spcAft>
                <a:spcPts val="0"/>
              </a:spcAft>
              <a:buClr>
                <a:srgbClr val="2C3862"/>
              </a:buClr>
              <a:buSzPts val="1350"/>
              <a:buFont typeface="Roboto"/>
              <a:buAutoNum type="arabicPeriod"/>
            </a:pPr>
            <a:r>
              <a:rPr b="1" lang="es" sz="1350">
                <a:solidFill>
                  <a:srgbClr val="2C3862"/>
                </a:solidFill>
                <a:latin typeface="Roboto"/>
                <a:ea typeface="Roboto"/>
                <a:cs typeface="Roboto"/>
                <a:sym typeface="Roboto"/>
              </a:rPr>
              <a:t>Explora el DOM</a:t>
            </a:r>
            <a:r>
              <a:rPr lang="es" sz="1350">
                <a:solidFill>
                  <a:srgbClr val="2C3862"/>
                </a:solidFill>
                <a:latin typeface="Roboto"/>
                <a:ea typeface="Roboto"/>
                <a:cs typeface="Roboto"/>
                <a:sym typeface="Roboto"/>
              </a:rPr>
              <a:t>: En la pestaña «Elements», verás el DOM de la página. Al pasar el cursor sobre los elementos del DOM, verás cómo se resaltan en la página. Eso viene genial para ver cuánto ocupan los contenedores, si tienen padding o margin, etc.</a:t>
            </a:r>
            <a:endParaRPr sz="1350">
              <a:solidFill>
                <a:srgbClr val="2C3862"/>
              </a:solidFill>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AutoNum type="arabicPeriod"/>
            </a:pPr>
            <a:r>
              <a:rPr b="1" lang="es" sz="1350">
                <a:solidFill>
                  <a:srgbClr val="2C3862"/>
                </a:solidFill>
                <a:latin typeface="Roboto"/>
                <a:ea typeface="Roboto"/>
                <a:cs typeface="Roboto"/>
                <a:sym typeface="Roboto"/>
              </a:rPr>
              <a:t>Modifica el HTML</a:t>
            </a:r>
            <a:r>
              <a:rPr lang="es" sz="1350">
                <a:solidFill>
                  <a:srgbClr val="2C3862"/>
                </a:solidFill>
                <a:latin typeface="Roboto"/>
                <a:ea typeface="Roboto"/>
                <a:cs typeface="Roboto"/>
                <a:sym typeface="Roboto"/>
              </a:rPr>
              <a:t>: Haz clic derecho en un elemento para editar su HTML directamente. Podrás añadir, eliminar o cambiar elementos y atributos. Estos cambios son solo en el cliente y no persisten si recargas la página.</a:t>
            </a:r>
            <a:endParaRPr sz="1350">
              <a:solidFill>
                <a:srgbClr val="2C3862"/>
              </a:solidFill>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AutoNum type="arabicPeriod"/>
            </a:pPr>
            <a:r>
              <a:rPr b="1" lang="es" sz="1350">
                <a:solidFill>
                  <a:srgbClr val="2C3862"/>
                </a:solidFill>
                <a:latin typeface="Roboto"/>
                <a:ea typeface="Roboto"/>
                <a:cs typeface="Roboto"/>
                <a:sym typeface="Roboto"/>
              </a:rPr>
              <a:t>Explora los estilos CSS</a:t>
            </a:r>
            <a:r>
              <a:rPr lang="es" sz="1350">
                <a:solidFill>
                  <a:srgbClr val="2C3862"/>
                </a:solidFill>
                <a:latin typeface="Roboto"/>
                <a:ea typeface="Roboto"/>
                <a:cs typeface="Roboto"/>
                <a:sym typeface="Roboto"/>
              </a:rPr>
              <a:t>: Todavía en la pestaña «Elements», a la derecha, verás los estilos CSS aplicados al elemento seleccionado.</a:t>
            </a:r>
            <a:endParaRPr sz="1350">
              <a:solidFill>
                <a:srgbClr val="2C3862"/>
              </a:solidFill>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AutoNum type="arabicPeriod"/>
            </a:pPr>
            <a:r>
              <a:rPr b="1" lang="es" sz="1350">
                <a:solidFill>
                  <a:srgbClr val="2C3862"/>
                </a:solidFill>
                <a:latin typeface="Roboto"/>
                <a:ea typeface="Roboto"/>
                <a:cs typeface="Roboto"/>
                <a:sym typeface="Roboto"/>
              </a:rPr>
              <a:t>Modificar CSS</a:t>
            </a:r>
            <a:r>
              <a:rPr lang="es" sz="1350">
                <a:solidFill>
                  <a:srgbClr val="2C3862"/>
                </a:solidFill>
                <a:latin typeface="Roboto"/>
                <a:ea typeface="Roboto"/>
                <a:cs typeface="Roboto"/>
                <a:sym typeface="Roboto"/>
              </a:rPr>
              <a:t>: Haz clic en cualquier propiedad CSS para editarla. Puedes desactivar y activar cualquier propiedad y ver cómo se comporta automáticamente. </a:t>
            </a:r>
            <a:endParaRPr sz="1350">
              <a:solidFill>
                <a:srgbClr val="2C3862"/>
              </a:solidFill>
              <a:latin typeface="Roboto"/>
              <a:ea typeface="Roboto"/>
              <a:cs typeface="Roboto"/>
              <a:sym typeface="Roboto"/>
            </a:endParaRPr>
          </a:p>
          <a:p>
            <a:pPr indent="-314325" lvl="0" marL="749300" rtl="0" algn="l">
              <a:lnSpc>
                <a:spcPct val="115000"/>
              </a:lnSpc>
              <a:spcBef>
                <a:spcPts val="0"/>
              </a:spcBef>
              <a:spcAft>
                <a:spcPts val="0"/>
              </a:spcAft>
              <a:buClr>
                <a:srgbClr val="2C3862"/>
              </a:buClr>
              <a:buSzPts val="1350"/>
              <a:buFont typeface="Roboto"/>
              <a:buAutoNum type="arabicPeriod"/>
            </a:pPr>
            <a:r>
              <a:rPr b="1" lang="es" sz="1350">
                <a:solidFill>
                  <a:srgbClr val="2C3862"/>
                </a:solidFill>
                <a:latin typeface="Roboto"/>
                <a:ea typeface="Roboto"/>
                <a:cs typeface="Roboto"/>
                <a:sym typeface="Roboto"/>
              </a:rPr>
              <a:t>Añadir nuevas propiedades</a:t>
            </a:r>
            <a:r>
              <a:rPr lang="es" sz="1350">
                <a:solidFill>
                  <a:srgbClr val="2C3862"/>
                </a:solidFill>
                <a:latin typeface="Roboto"/>
                <a:ea typeface="Roboto"/>
                <a:cs typeface="Roboto"/>
                <a:sym typeface="Roboto"/>
              </a:rPr>
              <a:t>: Haz clic en el espacio en blanco de cualquier bloque de estilo y comienza a escribir para añadir una nueva propiedad.</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