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Lst>
  <p:sldSz cy="5143500" cx="9144000"/>
  <p:notesSz cx="6858000" cy="9144000"/>
  <p:embeddedFontLst>
    <p:embeddedFont>
      <p:font typeface="Raleway"/>
      <p:regular r:id="rId68"/>
      <p:bold r:id="rId69"/>
      <p:italic r:id="rId70"/>
      <p:boldItalic r:id="rId71"/>
    </p:embeddedFont>
    <p:embeddedFont>
      <p:font typeface="Roboto"/>
      <p:regular r:id="rId72"/>
      <p:bold r:id="rId73"/>
      <p:italic r:id="rId74"/>
      <p:boldItalic r:id="rId75"/>
    </p:embeddedFont>
    <p:embeddedFont>
      <p:font typeface="Lato"/>
      <p:regular r:id="rId76"/>
      <p:bold r:id="rId77"/>
      <p:italic r:id="rId78"/>
      <p:boldItalic r:id="rId79"/>
    </p:embeddedFont>
    <p:embeddedFont>
      <p:font typeface="Roboto Mono"/>
      <p:regular r:id="rId80"/>
      <p:bold r:id="rId81"/>
      <p:italic r:id="rId82"/>
      <p:boldItalic r:id="rId8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84" roundtripDataSignature="AMtx7mjFqtIdLMKKloIIjIsMKPmW1giQ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customschemas.google.com/relationships/presentationmetadata" Target="metadata"/><Relationship Id="rId83" Type="http://schemas.openxmlformats.org/officeDocument/2006/relationships/font" Target="fonts/RobotoMono-boldItalic.fntdata"/><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RobotoMono-regular.fntdata"/><Relationship Id="rId82" Type="http://schemas.openxmlformats.org/officeDocument/2006/relationships/font" Target="fonts/RobotoMono-italic.fntdata"/><Relationship Id="rId81" Type="http://schemas.openxmlformats.org/officeDocument/2006/relationships/font" Target="fonts/RobotoMon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Roboto-bold.fntdata"/><Relationship Id="rId72" Type="http://schemas.openxmlformats.org/officeDocument/2006/relationships/font" Target="fonts/Roboto-regular.fntdata"/><Relationship Id="rId31" Type="http://schemas.openxmlformats.org/officeDocument/2006/relationships/slide" Target="slides/slide26.xml"/><Relationship Id="rId75" Type="http://schemas.openxmlformats.org/officeDocument/2006/relationships/font" Target="fonts/Roboto-boldItalic.fntdata"/><Relationship Id="rId30" Type="http://schemas.openxmlformats.org/officeDocument/2006/relationships/slide" Target="slides/slide25.xml"/><Relationship Id="rId74" Type="http://schemas.openxmlformats.org/officeDocument/2006/relationships/font" Target="fonts/Roboto-italic.fntdata"/><Relationship Id="rId33" Type="http://schemas.openxmlformats.org/officeDocument/2006/relationships/slide" Target="slides/slide28.xml"/><Relationship Id="rId77" Type="http://schemas.openxmlformats.org/officeDocument/2006/relationships/font" Target="fonts/Lato-bold.fntdata"/><Relationship Id="rId32" Type="http://schemas.openxmlformats.org/officeDocument/2006/relationships/slide" Target="slides/slide27.xml"/><Relationship Id="rId76" Type="http://schemas.openxmlformats.org/officeDocument/2006/relationships/font" Target="fonts/Lato-regular.fntdata"/><Relationship Id="rId35" Type="http://schemas.openxmlformats.org/officeDocument/2006/relationships/slide" Target="slides/slide30.xml"/><Relationship Id="rId79" Type="http://schemas.openxmlformats.org/officeDocument/2006/relationships/font" Target="fonts/Lato-boldItalic.fntdata"/><Relationship Id="rId34" Type="http://schemas.openxmlformats.org/officeDocument/2006/relationships/slide" Target="slides/slide29.xml"/><Relationship Id="rId78" Type="http://schemas.openxmlformats.org/officeDocument/2006/relationships/font" Target="fonts/Lato-italic.fntdata"/><Relationship Id="rId71" Type="http://schemas.openxmlformats.org/officeDocument/2006/relationships/font" Target="fonts/Raleway-boldItalic.fntdata"/><Relationship Id="rId70" Type="http://schemas.openxmlformats.org/officeDocument/2006/relationships/font" Target="fonts/Raleway-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Raleway-regular.fntdata"/><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aleway-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7" name="Google Shape;297;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8" name="Google Shape;318;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5" name="Google Shape;325;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1" name="Google Shape;331;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3" name="Google Shape;343;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9" name="Google Shape;349;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6" name="Google Shape;356;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3" name="Google Shape;363;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0" name="Google Shape;370;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7" name="Google Shape;377;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3" name="Google Shape;383;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9" name="Google Shape;389;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 name="Google Shape;396;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3" name="Google Shape;403;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9" name="Google Shape;409;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5" name="Google Shape;415;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1" name="Google Shape;421;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7" name="Google Shape;427;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3" name="Google Shape;433;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9" name="Google Shape;439;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5" name="Google Shape;445;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1" name="Google Shape;451;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7" name="Google Shape;457;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3" name="Google Shape;463;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9" name="Google Shape;469;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5" name="Google Shape;475;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6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64"/>
          <p:cNvGrpSpPr/>
          <p:nvPr/>
        </p:nvGrpSpPr>
        <p:grpSpPr>
          <a:xfrm>
            <a:off x="830392" y="1191256"/>
            <a:ext cx="745763" cy="45826"/>
            <a:chOff x="4580561" y="2589004"/>
            <a:chExt cx="1064464" cy="25200"/>
          </a:xfrm>
        </p:grpSpPr>
        <p:sp>
          <p:nvSpPr>
            <p:cNvPr id="12" name="Google Shape;12;p6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6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64"/>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64"/>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6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6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 name="Google Shape;19;p65"/>
          <p:cNvGrpSpPr/>
          <p:nvPr/>
        </p:nvGrpSpPr>
        <p:grpSpPr>
          <a:xfrm>
            <a:off x="830392" y="1191256"/>
            <a:ext cx="745763" cy="45826"/>
            <a:chOff x="4580561" y="2589004"/>
            <a:chExt cx="1064464" cy="25200"/>
          </a:xfrm>
        </p:grpSpPr>
        <p:sp>
          <p:nvSpPr>
            <p:cNvPr id="20" name="Google Shape;20;p6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6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 name="Google Shape;22;p6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23" name="Google Shape;23;p65"/>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4" name="Google Shape;24;p6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5" name="Shape 25"/>
        <p:cNvGrpSpPr/>
        <p:nvPr/>
      </p:nvGrpSpPr>
      <p:grpSpPr>
        <a:xfrm>
          <a:off x="0" y="0"/>
          <a:ext cx="0" cy="0"/>
          <a:chOff x="0" y="0"/>
          <a:chExt cx="0" cy="0"/>
        </a:xfrm>
      </p:grpSpPr>
      <p:grpSp>
        <p:nvGrpSpPr>
          <p:cNvPr id="26" name="Google Shape;26;p66"/>
          <p:cNvGrpSpPr/>
          <p:nvPr/>
        </p:nvGrpSpPr>
        <p:grpSpPr>
          <a:xfrm>
            <a:off x="830392" y="1191256"/>
            <a:ext cx="745763" cy="45826"/>
            <a:chOff x="4580561" y="2589004"/>
            <a:chExt cx="1064464" cy="25200"/>
          </a:xfrm>
        </p:grpSpPr>
        <p:sp>
          <p:nvSpPr>
            <p:cNvPr id="27" name="Google Shape;27;p66"/>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66"/>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 name="Google Shape;29;p66"/>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0" name="Google Shape;30;p6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6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3" name="Google Shape;33;p67"/>
          <p:cNvGrpSpPr/>
          <p:nvPr/>
        </p:nvGrpSpPr>
        <p:grpSpPr>
          <a:xfrm>
            <a:off x="830392" y="1191256"/>
            <a:ext cx="745763" cy="45826"/>
            <a:chOff x="4580561" y="2589004"/>
            <a:chExt cx="1064464" cy="25200"/>
          </a:xfrm>
        </p:grpSpPr>
        <p:sp>
          <p:nvSpPr>
            <p:cNvPr id="34" name="Google Shape;34;p6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6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 name="Google Shape;36;p67"/>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7" name="Google Shape;37;p67"/>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8" name="Google Shape;38;p67"/>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9" name="Google Shape;39;p6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 name="Google Shape;42;p68"/>
          <p:cNvGrpSpPr/>
          <p:nvPr/>
        </p:nvGrpSpPr>
        <p:grpSpPr>
          <a:xfrm>
            <a:off x="830392" y="1191256"/>
            <a:ext cx="745763" cy="45826"/>
            <a:chOff x="4580561" y="2589004"/>
            <a:chExt cx="1064464" cy="25200"/>
          </a:xfrm>
        </p:grpSpPr>
        <p:sp>
          <p:nvSpPr>
            <p:cNvPr id="43" name="Google Shape;43;p6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6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68"/>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 name="Google Shape;46;p6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6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9" name="Google Shape;49;p69"/>
          <p:cNvGrpSpPr/>
          <p:nvPr/>
        </p:nvGrpSpPr>
        <p:grpSpPr>
          <a:xfrm>
            <a:off x="830392" y="1191256"/>
            <a:ext cx="745763" cy="45826"/>
            <a:chOff x="4580561" y="2589004"/>
            <a:chExt cx="1064464" cy="25200"/>
          </a:xfrm>
        </p:grpSpPr>
        <p:sp>
          <p:nvSpPr>
            <p:cNvPr id="50" name="Google Shape;50;p6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6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 name="Google Shape;52;p69"/>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3" name="Google Shape;53;p69"/>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4" name="Google Shape;54;p6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70"/>
          <p:cNvGrpSpPr/>
          <p:nvPr/>
        </p:nvGrpSpPr>
        <p:grpSpPr>
          <a:xfrm>
            <a:off x="830392" y="4169130"/>
            <a:ext cx="745763" cy="45826"/>
            <a:chOff x="4580561" y="2589004"/>
            <a:chExt cx="1064464" cy="25200"/>
          </a:xfrm>
        </p:grpSpPr>
        <p:sp>
          <p:nvSpPr>
            <p:cNvPr id="57" name="Google Shape;57;p7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7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 name="Google Shape;59;p70"/>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0" name="Google Shape;60;p7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7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 name="Google Shape;63;p71"/>
          <p:cNvGrpSpPr/>
          <p:nvPr/>
        </p:nvGrpSpPr>
        <p:grpSpPr>
          <a:xfrm>
            <a:off x="830392" y="1191256"/>
            <a:ext cx="745763" cy="45826"/>
            <a:chOff x="4580561" y="2589004"/>
            <a:chExt cx="1064464" cy="25200"/>
          </a:xfrm>
        </p:grpSpPr>
        <p:sp>
          <p:nvSpPr>
            <p:cNvPr id="64" name="Google Shape;64;p7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7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 name="Google Shape;66;p71"/>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7" name="Google Shape;67;p71"/>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68" name="Google Shape;68;p71"/>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9" name="Google Shape;69;p7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72"/>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72" name="Google Shape;72;p7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73"/>
          <p:cNvGrpSpPr/>
          <p:nvPr/>
        </p:nvGrpSpPr>
        <p:grpSpPr>
          <a:xfrm>
            <a:off x="830392" y="4169130"/>
            <a:ext cx="745763" cy="45826"/>
            <a:chOff x="4580561" y="2589004"/>
            <a:chExt cx="1064464" cy="25200"/>
          </a:xfrm>
        </p:grpSpPr>
        <p:sp>
          <p:nvSpPr>
            <p:cNvPr id="75" name="Google Shape;75;p7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7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 name="Google Shape;77;p73"/>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78" name="Google Shape;78;p73"/>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79" name="Google Shape;79;p7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7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6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6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6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cipfpbatoi.github.io/materials/daw/dwc/01-js/ejercicios/ejemplos/ejemploDOM.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www.w3schools.com/js/js_events_examples.asp"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jsfiddle.net/juansegura/n3b6fph0/"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hyperlink" Target="https://developer.mozilla.org/es/docs/Learn/HTML/Forms/Validacion_formulario_datos"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rgbClr val="1A9988"/>
              </a:buClr>
              <a:buSzPct val="26190"/>
              <a:buFont typeface="Arial"/>
              <a:buNone/>
            </a:pPr>
            <a:r>
              <a:rPr b="1" lang="es" sz="4200">
                <a:solidFill>
                  <a:srgbClr val="1A1A1A"/>
                </a:solidFill>
                <a:latin typeface="Raleway"/>
                <a:ea typeface="Raleway"/>
                <a:cs typeface="Raleway"/>
                <a:sym typeface="Raleway"/>
              </a:rPr>
              <a:t>Tema </a:t>
            </a:r>
            <a:r>
              <a:rPr lang="es">
                <a:solidFill>
                  <a:srgbClr val="1A1A1A"/>
                </a:solidFill>
              </a:rPr>
              <a:t>5</a:t>
            </a:r>
            <a:r>
              <a:rPr b="1" lang="es" sz="4200">
                <a:solidFill>
                  <a:srgbClr val="1A1A1A"/>
                </a:solidFill>
                <a:latin typeface="Raleway"/>
                <a:ea typeface="Raleway"/>
                <a:cs typeface="Raleway"/>
                <a:sym typeface="Raleway"/>
              </a:rPr>
              <a:t>: </a:t>
            </a:r>
            <a:r>
              <a:rPr lang="es">
                <a:solidFill>
                  <a:srgbClr val="1A1A1A"/>
                </a:solidFill>
              </a:rPr>
              <a:t>Interacción con </a:t>
            </a:r>
            <a:r>
              <a:rPr b="1" lang="es" sz="4200">
                <a:solidFill>
                  <a:srgbClr val="1A1A1A"/>
                </a:solidFill>
                <a:latin typeface="Raleway"/>
                <a:ea typeface="Raleway"/>
                <a:cs typeface="Raleway"/>
                <a:sym typeface="Raleway"/>
              </a:rPr>
              <a:t>el usuario</a:t>
            </a:r>
            <a:r>
              <a:rPr lang="es">
                <a:solidFill>
                  <a:srgbClr val="1A1A1A"/>
                </a:solidFill>
              </a:rPr>
              <a:t>: Eventos y Formularios</a:t>
            </a:r>
            <a:endParaRPr/>
          </a:p>
        </p:txBody>
      </p:sp>
      <p:sp>
        <p:nvSpPr>
          <p:cNvPr id="87" name="Google Shape;87;p1"/>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00000"/>
              </a:lnSpc>
              <a:spcBef>
                <a:spcPts val="0"/>
              </a:spcBef>
              <a:spcAft>
                <a:spcPts val="0"/>
              </a:spcAft>
              <a:buClr>
                <a:schemeClr val="dk1"/>
              </a:buClr>
              <a:buSzPct val="68750"/>
              <a:buFont typeface="Arial"/>
              <a:buNone/>
            </a:pPr>
            <a:r>
              <a:rPr lang="es"/>
              <a:t>Desarrollo Web en Entorno Cliente - 2º DAW</a:t>
            </a:r>
            <a:endParaRPr/>
          </a:p>
          <a:p>
            <a:pPr indent="0" lvl="0" marL="0" rtl="0" algn="l">
              <a:lnSpc>
                <a:spcPct val="100000"/>
              </a:lnSpc>
              <a:spcBef>
                <a:spcPts val="0"/>
              </a:spcBef>
              <a:spcAft>
                <a:spcPts val="0"/>
              </a:spcAft>
              <a:buSzPct val="117647"/>
              <a:buNone/>
            </a:pPr>
            <a:r>
              <a:rPr lang="es"/>
              <a:t>Juana Mª Rodríguez García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txBox="1"/>
          <p:nvPr>
            <p:ph type="title"/>
          </p:nvPr>
        </p:nvSpPr>
        <p:spPr>
          <a:xfrm>
            <a:off x="729450" y="6485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 Modelo de gestión de eventos</a:t>
            </a:r>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11111"/>
              <a:buNone/>
            </a:pPr>
            <a:r>
              <a:rPr lang="es"/>
              <a:t>Introducción</a:t>
            </a:r>
            <a:endParaRPr/>
          </a:p>
        </p:txBody>
      </p:sp>
      <p:sp>
        <p:nvSpPr>
          <p:cNvPr id="93" name="Google Shape;93;p2"/>
          <p:cNvSpPr txBox="1"/>
          <p:nvPr>
            <p:ph idx="1" type="body"/>
          </p:nvPr>
        </p:nvSpPr>
        <p:spPr>
          <a:xfrm>
            <a:off x="729450" y="2078875"/>
            <a:ext cx="7688700" cy="2873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s" sz="1700"/>
              <a:t>EVENTO: </a:t>
            </a:r>
            <a:endParaRPr sz="1700"/>
          </a:p>
          <a:p>
            <a:pPr indent="-323850" lvl="1" marL="457200" rtl="0" algn="l">
              <a:lnSpc>
                <a:spcPct val="115000"/>
              </a:lnSpc>
              <a:spcBef>
                <a:spcPts val="1200"/>
              </a:spcBef>
              <a:spcAft>
                <a:spcPts val="0"/>
              </a:spcAft>
              <a:buSzPts val="1500"/>
              <a:buChar char="-"/>
            </a:pPr>
            <a:r>
              <a:rPr lang="es" sz="1500"/>
              <a:t>Mecanismo que se acciona cuando el usuario realiza un cambio sobre la página web</a:t>
            </a:r>
            <a:endParaRPr sz="1500"/>
          </a:p>
          <a:p>
            <a:pPr indent="-323850" lvl="1" marL="457200" rtl="0" algn="l">
              <a:lnSpc>
                <a:spcPct val="115000"/>
              </a:lnSpc>
              <a:spcBef>
                <a:spcPts val="0"/>
              </a:spcBef>
              <a:spcAft>
                <a:spcPts val="0"/>
              </a:spcAft>
              <a:buSzPts val="1500"/>
              <a:buChar char="-"/>
            </a:pPr>
            <a:r>
              <a:rPr lang="es" sz="1500"/>
              <a:t>Capturar un evento es programar una acción para que se realice una tarea</a:t>
            </a:r>
            <a:endParaRPr sz="1500"/>
          </a:p>
          <a:p>
            <a:pPr indent="-323850" lvl="1" marL="457200" rtl="0" algn="l">
              <a:lnSpc>
                <a:spcPct val="115000"/>
              </a:lnSpc>
              <a:spcBef>
                <a:spcPts val="0"/>
              </a:spcBef>
              <a:spcAft>
                <a:spcPts val="0"/>
              </a:spcAft>
              <a:buSzPts val="1500"/>
              <a:buChar char="-"/>
            </a:pPr>
            <a:r>
              <a:rPr lang="es" sz="1500"/>
              <a:t>El encargado de gestionar los eventos es el DOM (Modelo de Objetos del Documento)</a:t>
            </a:r>
            <a:endParaRPr sz="1500"/>
          </a:p>
          <a:p>
            <a:pPr indent="0" lvl="0" marL="0" rtl="0" algn="l">
              <a:lnSpc>
                <a:spcPct val="115000"/>
              </a:lnSpc>
              <a:spcBef>
                <a:spcPts val="1200"/>
              </a:spcBef>
              <a:spcAft>
                <a:spcPts val="0"/>
              </a:spcAft>
              <a:buSzPts val="1300"/>
              <a:buNone/>
            </a:pPr>
            <a:r>
              <a:rPr lang="es" sz="1700"/>
              <a:t>MANEJADOR: </a:t>
            </a:r>
            <a:endParaRPr sz="1700"/>
          </a:p>
          <a:p>
            <a:pPr indent="-323850" lvl="1" marL="457200" rtl="0" algn="l">
              <a:lnSpc>
                <a:spcPct val="115000"/>
              </a:lnSpc>
              <a:spcBef>
                <a:spcPts val="1200"/>
              </a:spcBef>
              <a:spcAft>
                <a:spcPts val="0"/>
              </a:spcAft>
              <a:buSzPts val="1500"/>
              <a:buChar char="-"/>
            </a:pPr>
            <a:r>
              <a:rPr lang="es" sz="1500"/>
              <a:t>Palabra reservada que indica la acción que se va a manejar. </a:t>
            </a:r>
            <a:endParaRPr sz="1500"/>
          </a:p>
          <a:p>
            <a:pPr indent="-323850" lvl="1" marL="457200" rtl="0" algn="l">
              <a:lnSpc>
                <a:spcPct val="115000"/>
              </a:lnSpc>
              <a:spcBef>
                <a:spcPts val="0"/>
              </a:spcBef>
              <a:spcAft>
                <a:spcPts val="0"/>
              </a:spcAft>
              <a:buSzPts val="1500"/>
              <a:buChar char="-"/>
            </a:pPr>
            <a:r>
              <a:rPr lang="es" sz="1500"/>
              <a:t>Por ejemplo: en el evento click el manejador es onClick</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type="title"/>
          </p:nvPr>
        </p:nvSpPr>
        <p:spPr>
          <a:xfrm>
            <a:off x="729450" y="63912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1 Modelo de gestión de eventos</a:t>
            </a:r>
            <a:endParaRPr/>
          </a:p>
          <a:p>
            <a:pPr indent="0" lvl="0" marL="0" rtl="0" algn="l">
              <a:lnSpc>
                <a:spcPct val="100000"/>
              </a:lnSpc>
              <a:spcBef>
                <a:spcPts val="1800"/>
              </a:spcBef>
              <a:spcAft>
                <a:spcPts val="1200"/>
              </a:spcAft>
              <a:buSzPts val="2600"/>
              <a:buNone/>
            </a:pPr>
            <a:r>
              <a:rPr b="1" lang="es" sz="2400">
                <a:solidFill>
                  <a:srgbClr val="24292E"/>
                </a:solidFill>
                <a:highlight>
                  <a:srgbClr val="FFFFFF"/>
                </a:highlight>
              </a:rPr>
              <a:t>Cómo escuchar un evento</a:t>
            </a:r>
            <a:endParaRPr b="1" sz="2400">
              <a:solidFill>
                <a:srgbClr val="24292E"/>
              </a:solidFill>
              <a:highlight>
                <a:srgbClr val="FFFFFF"/>
              </a:highlight>
            </a:endParaRPr>
          </a:p>
        </p:txBody>
      </p:sp>
      <p:sp>
        <p:nvSpPr>
          <p:cNvPr id="99" name="Google Shape;99;p3"/>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t/>
            </a:r>
            <a:endParaRPr/>
          </a:p>
        </p:txBody>
      </p:sp>
      <p:pic>
        <p:nvPicPr>
          <p:cNvPr id="100" name="Google Shape;100;p3"/>
          <p:cNvPicPr preferRelativeResize="0"/>
          <p:nvPr/>
        </p:nvPicPr>
        <p:blipFill rotWithShape="1">
          <a:blip r:embed="rId3">
            <a:alphaModFix/>
          </a:blip>
          <a:srcRect b="0" l="0" r="0" t="0"/>
          <a:stretch/>
        </p:blipFill>
        <p:spPr>
          <a:xfrm>
            <a:off x="813527" y="1944450"/>
            <a:ext cx="7236699" cy="3051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4"/>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 sz="1200">
                <a:solidFill>
                  <a:srgbClr val="24292E"/>
                </a:solidFill>
                <a:highlight>
                  <a:srgbClr val="FFFFFF"/>
                </a:highlight>
                <a:latin typeface="Arial"/>
                <a:ea typeface="Arial"/>
                <a:cs typeface="Arial"/>
                <a:sym typeface="Arial"/>
              </a:rPr>
              <a:t>Como se trata de poner un atributo al elemento podemos usar DOM para evitar “ensuciar” con código la página HTML:</a:t>
            </a:r>
            <a:endParaRPr sz="1200">
              <a:solidFill>
                <a:srgbClr val="24292E"/>
              </a:solidFill>
              <a:highlight>
                <a:srgbClr val="FFFFFF"/>
              </a:highlight>
              <a:latin typeface="Arial"/>
              <a:ea typeface="Arial"/>
              <a:cs typeface="Arial"/>
              <a:sym typeface="Arial"/>
            </a:endParaRPr>
          </a:p>
          <a:p>
            <a:pPr indent="0" lvl="0" marL="0" rtl="0" algn="l">
              <a:lnSpc>
                <a:spcPct val="115000"/>
              </a:lnSpc>
              <a:spcBef>
                <a:spcPts val="1200"/>
              </a:spcBef>
              <a:spcAft>
                <a:spcPts val="0"/>
              </a:spcAft>
              <a:buSzPts val="1300"/>
              <a:buNone/>
            </a:pPr>
            <a:r>
              <a:t/>
            </a:r>
            <a:endParaRPr sz="1100">
              <a:solidFill>
                <a:srgbClr val="000000"/>
              </a:solidFill>
              <a:latin typeface="Arial"/>
              <a:ea typeface="Arial"/>
              <a:cs typeface="Arial"/>
              <a:sym typeface="Arial"/>
            </a:endParaRPr>
          </a:p>
          <a:p>
            <a:pPr indent="0" lvl="0" marL="0" rtl="0" algn="l">
              <a:lnSpc>
                <a:spcPct val="115000"/>
              </a:lnSpc>
              <a:spcBef>
                <a:spcPts val="0"/>
              </a:spcBef>
              <a:spcAft>
                <a:spcPts val="1200"/>
              </a:spcAft>
              <a:buSzPts val="1300"/>
              <a:buNone/>
            </a:pPr>
            <a:r>
              <a:t/>
            </a:r>
            <a:endParaRPr/>
          </a:p>
        </p:txBody>
      </p:sp>
      <p:sp>
        <p:nvSpPr>
          <p:cNvPr id="106" name="Google Shape;106;p4"/>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1 Modelo de gestión de eventos</a:t>
            </a:r>
            <a:endParaRPr/>
          </a:p>
          <a:p>
            <a:pPr indent="0" lvl="0" marL="0" rtl="0" algn="l">
              <a:lnSpc>
                <a:spcPct val="100000"/>
              </a:lnSpc>
              <a:spcBef>
                <a:spcPts val="1800"/>
              </a:spcBef>
              <a:spcAft>
                <a:spcPts val="1200"/>
              </a:spcAft>
              <a:buSzPts val="2600"/>
              <a:buNone/>
            </a:pPr>
            <a:r>
              <a:rPr b="1" lang="es" sz="2400">
                <a:solidFill>
                  <a:srgbClr val="24292E"/>
                </a:solidFill>
                <a:highlight>
                  <a:srgbClr val="FFFFFF"/>
                </a:highlight>
              </a:rPr>
              <a:t>Cómo escuchar un evento</a:t>
            </a:r>
            <a:endParaRPr b="1" sz="2400">
              <a:solidFill>
                <a:srgbClr val="24292E"/>
              </a:solidFill>
              <a:highlight>
                <a:srgbClr val="FFFFFF"/>
              </a:highlight>
            </a:endParaRPr>
          </a:p>
        </p:txBody>
      </p:sp>
      <p:grpSp>
        <p:nvGrpSpPr>
          <p:cNvPr id="107" name="Google Shape;107;p4"/>
          <p:cNvGrpSpPr/>
          <p:nvPr/>
        </p:nvGrpSpPr>
        <p:grpSpPr>
          <a:xfrm>
            <a:off x="727650" y="2938475"/>
            <a:ext cx="7971826" cy="1233300"/>
            <a:chOff x="727650" y="2938475"/>
            <a:chExt cx="7971826" cy="1233300"/>
          </a:xfrm>
        </p:grpSpPr>
        <p:pic>
          <p:nvPicPr>
            <p:cNvPr id="108" name="Google Shape;108;p4"/>
            <p:cNvPicPr preferRelativeResize="0"/>
            <p:nvPr/>
          </p:nvPicPr>
          <p:blipFill rotWithShape="1">
            <a:blip r:embed="rId3">
              <a:alphaModFix/>
            </a:blip>
            <a:srcRect b="0" l="0" r="0" t="48945"/>
            <a:stretch/>
          </p:blipFill>
          <p:spPr>
            <a:xfrm>
              <a:off x="727650" y="2938475"/>
              <a:ext cx="7971826" cy="1233300"/>
            </a:xfrm>
            <a:prstGeom prst="rect">
              <a:avLst/>
            </a:prstGeom>
            <a:noFill/>
            <a:ln>
              <a:noFill/>
            </a:ln>
          </p:spPr>
        </p:pic>
        <p:pic>
          <p:nvPicPr>
            <p:cNvPr id="109" name="Google Shape;109;p4"/>
            <p:cNvPicPr preferRelativeResize="0"/>
            <p:nvPr/>
          </p:nvPicPr>
          <p:blipFill rotWithShape="1">
            <a:blip r:embed="rId3">
              <a:alphaModFix/>
            </a:blip>
            <a:srcRect b="0" l="0" r="45021" t="48945"/>
            <a:stretch/>
          </p:blipFill>
          <p:spPr>
            <a:xfrm>
              <a:off x="810000" y="2938475"/>
              <a:ext cx="4382776" cy="1233300"/>
            </a:xfrm>
            <a:prstGeom prst="rect">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5"/>
          <p:cNvSpPr txBox="1"/>
          <p:nvPr>
            <p:ph idx="1" type="body"/>
          </p:nvPr>
        </p:nvSpPr>
        <p:spPr>
          <a:xfrm>
            <a:off x="729450" y="2078875"/>
            <a:ext cx="7688700" cy="3002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b="1" lang="es" sz="1400">
                <a:solidFill>
                  <a:srgbClr val="24292E"/>
                </a:solidFill>
                <a:highlight>
                  <a:srgbClr val="FFFFFF"/>
                </a:highlight>
              </a:rPr>
              <a:t>IMPORTANTE</a:t>
            </a:r>
            <a:r>
              <a:rPr lang="es" sz="1400">
                <a:solidFill>
                  <a:srgbClr val="24292E"/>
                </a:solidFill>
                <a:highlight>
                  <a:srgbClr val="FFFFFF"/>
                </a:highlight>
              </a:rPr>
              <a:t>: si asociamos un evento a un elemento que aún no existe (porque aún no lo ha renderizado el navegador) no se produce ningún error pero cuando posteriormente se renderice ese elemento no tendrá asociado el evento. </a:t>
            </a:r>
            <a:r>
              <a:rPr b="1" lang="es" sz="1400">
                <a:solidFill>
                  <a:srgbClr val="24292E"/>
                </a:solidFill>
                <a:highlight>
                  <a:srgbClr val="FFFFFF"/>
                </a:highlight>
              </a:rPr>
              <a:t>Para evitarlo siempre es conveniente poner los escuchadores de los eventos dentro de una función que se ejecute cuando sepamos que ya se ha renderizado toda la página, </a:t>
            </a:r>
            <a:r>
              <a:rPr lang="es" sz="1400">
                <a:solidFill>
                  <a:srgbClr val="24292E"/>
                </a:solidFill>
                <a:highlight>
                  <a:srgbClr val="FFFFFF"/>
                </a:highlight>
              </a:rPr>
              <a:t>es decir tras producirse:</a:t>
            </a:r>
            <a:endParaRPr sz="1400">
              <a:solidFill>
                <a:srgbClr val="24292E"/>
              </a:solidFill>
              <a:highlight>
                <a:srgbClr val="FFFFFF"/>
              </a:highlight>
            </a:endParaRPr>
          </a:p>
          <a:p>
            <a:pPr indent="-317500" lvl="0" marL="457200" rtl="0" algn="l">
              <a:lnSpc>
                <a:spcPct val="115000"/>
              </a:lnSpc>
              <a:spcBef>
                <a:spcPts val="1200"/>
              </a:spcBef>
              <a:spcAft>
                <a:spcPts val="0"/>
              </a:spcAft>
              <a:buClr>
                <a:srgbClr val="24292E"/>
              </a:buClr>
              <a:buSzPts val="1400"/>
              <a:buFont typeface="Lato"/>
              <a:buChar char="●"/>
            </a:pPr>
            <a:r>
              <a:rPr lang="es" sz="1400">
                <a:solidFill>
                  <a:srgbClr val="24292E"/>
                </a:solidFill>
                <a:highlight>
                  <a:srgbClr val="FFFFFF"/>
                </a:highlight>
              </a:rPr>
              <a:t>el evento </a:t>
            </a:r>
            <a:r>
              <a:rPr i="1" lang="es" sz="1400">
                <a:solidFill>
                  <a:srgbClr val="24292E"/>
                </a:solidFill>
                <a:highlight>
                  <a:srgbClr val="FFFFFF"/>
                </a:highlight>
              </a:rPr>
              <a:t>load</a:t>
            </a:r>
            <a:r>
              <a:rPr lang="es" sz="1400">
                <a:solidFill>
                  <a:srgbClr val="24292E"/>
                </a:solidFill>
                <a:highlight>
                  <a:srgbClr val="FFFFFF"/>
                </a:highlight>
              </a:rPr>
              <a:t> de la ventana: se produce cuando se han cargado todos los elementos HTML de la página (incluyendo imágenes, ficheros, etc) y se ha creado el árbol DOM</a:t>
            </a:r>
            <a:endParaRPr sz="1400">
              <a:solidFill>
                <a:srgbClr val="24292E"/>
              </a:solidFill>
              <a:highlight>
                <a:srgbClr val="FFFFFF"/>
              </a:highlight>
            </a:endParaRPr>
          </a:p>
          <a:p>
            <a:pPr indent="-317500" lvl="0" marL="457200" rtl="0" algn="l">
              <a:lnSpc>
                <a:spcPct val="115000"/>
              </a:lnSpc>
              <a:spcBef>
                <a:spcPts val="0"/>
              </a:spcBef>
              <a:spcAft>
                <a:spcPts val="0"/>
              </a:spcAft>
              <a:buClr>
                <a:srgbClr val="24292E"/>
              </a:buClr>
              <a:buSzPts val="1400"/>
              <a:buFont typeface="Lato"/>
              <a:buChar char="●"/>
            </a:pPr>
            <a:r>
              <a:rPr lang="es" sz="1400">
                <a:solidFill>
                  <a:srgbClr val="24292E"/>
                </a:solidFill>
                <a:highlight>
                  <a:srgbClr val="FFFFFF"/>
                </a:highlight>
              </a:rPr>
              <a:t>el evento </a:t>
            </a:r>
            <a:r>
              <a:rPr i="1" lang="es" sz="1400">
                <a:solidFill>
                  <a:srgbClr val="24292E"/>
                </a:solidFill>
                <a:highlight>
                  <a:srgbClr val="FFFFFF"/>
                </a:highlight>
              </a:rPr>
              <a:t>DOMContentLoaded</a:t>
            </a:r>
            <a:r>
              <a:rPr lang="es" sz="1400">
                <a:solidFill>
                  <a:srgbClr val="24292E"/>
                </a:solidFill>
                <a:highlight>
                  <a:srgbClr val="FFFFFF"/>
                </a:highlight>
              </a:rPr>
              <a:t> del documento: se produce cuando se ha creado el árbol DOM pero no se han cargado imágenes, hojas de estilo, ni subframes. Es el ideal para realizar acciones del DOM sin tener que esperar a que se carguen las imágenes y el CSS</a:t>
            </a:r>
            <a:endParaRPr sz="1500"/>
          </a:p>
        </p:txBody>
      </p:sp>
      <p:sp>
        <p:nvSpPr>
          <p:cNvPr id="115" name="Google Shape;115;p5"/>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5.1 Modelo de gestión de eventos</a:t>
            </a:r>
            <a:endParaRPr/>
          </a:p>
          <a:p>
            <a:pPr indent="0" lvl="0" marL="0" rtl="0" algn="l">
              <a:lnSpc>
                <a:spcPct val="100000"/>
              </a:lnSpc>
              <a:spcBef>
                <a:spcPts val="1800"/>
              </a:spcBef>
              <a:spcAft>
                <a:spcPts val="1200"/>
              </a:spcAft>
              <a:buSzPts val="2600"/>
              <a:buNone/>
            </a:pPr>
            <a:r>
              <a:rPr b="1" lang="es" sz="2400">
                <a:solidFill>
                  <a:srgbClr val="24292E"/>
                </a:solidFill>
                <a:highlight>
                  <a:srgbClr val="FFFFFF"/>
                </a:highlight>
              </a:rPr>
              <a:t>Cómo escuchar un evento</a:t>
            </a:r>
            <a:endParaRPr b="1" sz="2400">
              <a:solidFill>
                <a:srgbClr val="24292E"/>
              </a:solidFill>
              <a:highlight>
                <a:srgbClr val="FFFFFF"/>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6"/>
          <p:cNvSpPr txBox="1"/>
          <p:nvPr>
            <p:ph idx="1" type="body"/>
          </p:nvPr>
        </p:nvSpPr>
        <p:spPr>
          <a:xfrm>
            <a:off x="729450" y="2078875"/>
            <a:ext cx="7688700" cy="30024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300"/>
              </a:spcBef>
              <a:spcAft>
                <a:spcPts val="0"/>
              </a:spcAft>
              <a:buClr>
                <a:srgbClr val="24292E"/>
              </a:buClr>
              <a:buSzPts val="1400"/>
              <a:buFont typeface="Lato"/>
              <a:buChar char="●"/>
            </a:pPr>
            <a:r>
              <a:t/>
            </a:r>
            <a:endParaRPr sz="1500"/>
          </a:p>
        </p:txBody>
      </p:sp>
      <p:sp>
        <p:nvSpPr>
          <p:cNvPr id="121" name="Google Shape;121;p6"/>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5.1 Modelo de gestión de eventos</a:t>
            </a:r>
            <a:endParaRPr/>
          </a:p>
          <a:p>
            <a:pPr indent="0" lvl="0" marL="0" rtl="0" algn="l">
              <a:lnSpc>
                <a:spcPct val="100000"/>
              </a:lnSpc>
              <a:spcBef>
                <a:spcPts val="1800"/>
              </a:spcBef>
              <a:spcAft>
                <a:spcPts val="1200"/>
              </a:spcAft>
              <a:buSzPts val="2600"/>
              <a:buNone/>
            </a:pPr>
            <a:r>
              <a:rPr b="1" lang="es" sz="2400">
                <a:solidFill>
                  <a:srgbClr val="24292E"/>
                </a:solidFill>
                <a:highlight>
                  <a:srgbClr val="FFFFFF"/>
                </a:highlight>
              </a:rPr>
              <a:t>Cómo escuchar un evento</a:t>
            </a:r>
            <a:endParaRPr b="1" sz="2400">
              <a:solidFill>
                <a:srgbClr val="24292E"/>
              </a:solidFill>
              <a:highlight>
                <a:srgbClr val="FFFFFF"/>
              </a:highlight>
            </a:endParaRPr>
          </a:p>
        </p:txBody>
      </p:sp>
      <p:pic>
        <p:nvPicPr>
          <p:cNvPr id="122" name="Google Shape;122;p6"/>
          <p:cNvPicPr preferRelativeResize="0"/>
          <p:nvPr/>
        </p:nvPicPr>
        <p:blipFill rotWithShape="1">
          <a:blip r:embed="rId3">
            <a:alphaModFix/>
          </a:blip>
          <a:srcRect b="0" l="0" r="0" t="0"/>
          <a:stretch/>
        </p:blipFill>
        <p:spPr>
          <a:xfrm>
            <a:off x="775775" y="1727625"/>
            <a:ext cx="5934525" cy="34972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7"/>
          <p:cNvSpPr txBox="1"/>
          <p:nvPr>
            <p:ph idx="1" type="body"/>
          </p:nvPr>
        </p:nvSpPr>
        <p:spPr>
          <a:xfrm>
            <a:off x="727650" y="1842950"/>
            <a:ext cx="7688700" cy="3002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300"/>
              </a:spcBef>
              <a:spcAft>
                <a:spcPts val="1200"/>
              </a:spcAft>
              <a:buSzPts val="1300"/>
              <a:buNone/>
            </a:pPr>
            <a:r>
              <a:rPr lang="es" sz="1200">
                <a:solidFill>
                  <a:srgbClr val="24292E"/>
                </a:solidFill>
                <a:highlight>
                  <a:srgbClr val="FFFFFF"/>
                </a:highlight>
                <a:latin typeface="Arial"/>
                <a:ea typeface="Arial"/>
                <a:cs typeface="Arial"/>
                <a:sym typeface="Arial"/>
              </a:rPr>
              <a:t>Pero esta forma </a:t>
            </a:r>
            <a:r>
              <a:rPr i="1" lang="es" sz="1200">
                <a:solidFill>
                  <a:srgbClr val="24292E"/>
                </a:solidFill>
                <a:highlight>
                  <a:srgbClr val="FFFFFF"/>
                </a:highlight>
                <a:latin typeface="Arial"/>
                <a:ea typeface="Arial"/>
                <a:cs typeface="Arial"/>
                <a:sym typeface="Arial"/>
              </a:rPr>
              <a:t>tradicional</a:t>
            </a:r>
            <a:r>
              <a:rPr lang="es" sz="1200">
                <a:solidFill>
                  <a:srgbClr val="24292E"/>
                </a:solidFill>
                <a:highlight>
                  <a:srgbClr val="FFFFFF"/>
                </a:highlight>
                <a:latin typeface="Arial"/>
                <a:ea typeface="Arial"/>
                <a:cs typeface="Arial"/>
                <a:sym typeface="Arial"/>
              </a:rPr>
              <a:t> de poner escuchadores a los eventos NO es la más adecuada. La forma </a:t>
            </a:r>
            <a:r>
              <a:rPr b="1" lang="es" sz="1200">
                <a:solidFill>
                  <a:srgbClr val="24292E"/>
                </a:solidFill>
                <a:highlight>
                  <a:srgbClr val="FFFFFF"/>
                </a:highlight>
                <a:latin typeface="Arial"/>
                <a:ea typeface="Arial"/>
                <a:cs typeface="Arial"/>
                <a:sym typeface="Arial"/>
              </a:rPr>
              <a:t>recomendada </a:t>
            </a:r>
            <a:r>
              <a:rPr lang="es" sz="1200">
                <a:solidFill>
                  <a:srgbClr val="24292E"/>
                </a:solidFill>
                <a:highlight>
                  <a:srgbClr val="FFFFFF"/>
                </a:highlight>
                <a:latin typeface="Arial"/>
                <a:ea typeface="Arial"/>
                <a:cs typeface="Arial"/>
                <a:sym typeface="Arial"/>
              </a:rPr>
              <a:t>de hacerlo es usando el modelo avanzado de registro de eventos del </a:t>
            </a:r>
            <a:r>
              <a:rPr i="1" lang="es" sz="1200">
                <a:solidFill>
                  <a:srgbClr val="24292E"/>
                </a:solidFill>
                <a:highlight>
                  <a:srgbClr val="FFFFFF"/>
                </a:highlight>
                <a:latin typeface="Arial"/>
                <a:ea typeface="Arial"/>
                <a:cs typeface="Arial"/>
                <a:sym typeface="Arial"/>
              </a:rPr>
              <a:t>W3C</a:t>
            </a:r>
            <a:r>
              <a:rPr lang="es" sz="1200">
                <a:solidFill>
                  <a:srgbClr val="24292E"/>
                </a:solidFill>
                <a:highlight>
                  <a:srgbClr val="FFFFFF"/>
                </a:highlight>
                <a:latin typeface="Arial"/>
                <a:ea typeface="Arial"/>
                <a:cs typeface="Arial"/>
                <a:sym typeface="Arial"/>
              </a:rPr>
              <a:t>, mediante el método </a:t>
            </a:r>
            <a:r>
              <a:rPr lang="es" sz="1200">
                <a:solidFill>
                  <a:srgbClr val="24292E"/>
                </a:solidFill>
                <a:latin typeface="Courier New"/>
                <a:ea typeface="Courier New"/>
                <a:cs typeface="Courier New"/>
                <a:sym typeface="Courier New"/>
              </a:rPr>
              <a:t>addEventListener</a:t>
            </a:r>
            <a:r>
              <a:rPr lang="es" sz="1400">
                <a:solidFill>
                  <a:srgbClr val="24292E"/>
                </a:solidFill>
                <a:highlight>
                  <a:srgbClr val="FFFFFF"/>
                </a:highlight>
                <a:latin typeface="Arial"/>
                <a:ea typeface="Arial"/>
                <a:cs typeface="Arial"/>
                <a:sym typeface="Arial"/>
              </a:rPr>
              <a:t> </a:t>
            </a:r>
            <a:r>
              <a:rPr lang="es" sz="1200">
                <a:solidFill>
                  <a:srgbClr val="24292E"/>
                </a:solidFill>
                <a:highlight>
                  <a:srgbClr val="FFFFFF"/>
                </a:highlight>
                <a:latin typeface="Arial"/>
                <a:ea typeface="Arial"/>
                <a:cs typeface="Arial"/>
                <a:sym typeface="Arial"/>
              </a:rPr>
              <a:t>que recibe como primer parámetro el nombre del evento a escuchar (sin ‘</a:t>
            </a:r>
            <a:r>
              <a:rPr i="1" lang="es" sz="1200">
                <a:solidFill>
                  <a:srgbClr val="24292E"/>
                </a:solidFill>
                <a:highlight>
                  <a:srgbClr val="FFFFFF"/>
                </a:highlight>
                <a:latin typeface="Arial"/>
                <a:ea typeface="Arial"/>
                <a:cs typeface="Arial"/>
                <a:sym typeface="Arial"/>
              </a:rPr>
              <a:t>on</a:t>
            </a:r>
            <a:r>
              <a:rPr lang="es" sz="1200">
                <a:solidFill>
                  <a:srgbClr val="24292E"/>
                </a:solidFill>
                <a:highlight>
                  <a:srgbClr val="FFFFFF"/>
                </a:highlight>
                <a:latin typeface="Arial"/>
                <a:ea typeface="Arial"/>
                <a:cs typeface="Arial"/>
                <a:sym typeface="Arial"/>
              </a:rPr>
              <a:t>’) y como segundo parámetro la función a ejecutar cuando se produzca (OJO, sin paréntesis):</a:t>
            </a:r>
            <a:endParaRPr sz="1500"/>
          </a:p>
        </p:txBody>
      </p:sp>
      <p:sp>
        <p:nvSpPr>
          <p:cNvPr id="128" name="Google Shape;128;p7"/>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5.1 Modelo de gestión de eventos</a:t>
            </a:r>
            <a:endParaRPr/>
          </a:p>
          <a:p>
            <a:pPr indent="0" lvl="0" marL="0" rtl="0" algn="l">
              <a:lnSpc>
                <a:spcPct val="100000"/>
              </a:lnSpc>
              <a:spcBef>
                <a:spcPts val="1800"/>
              </a:spcBef>
              <a:spcAft>
                <a:spcPts val="1200"/>
              </a:spcAft>
              <a:buSzPts val="2600"/>
              <a:buNone/>
            </a:pPr>
            <a:r>
              <a:rPr lang="es" sz="2400">
                <a:solidFill>
                  <a:srgbClr val="24292E"/>
                </a:solidFill>
                <a:highlight>
                  <a:srgbClr val="FFFFFF"/>
                </a:highlight>
              </a:rPr>
              <a:t>Event listeners</a:t>
            </a:r>
            <a:endParaRPr b="1" sz="2400">
              <a:solidFill>
                <a:srgbClr val="24292E"/>
              </a:solidFill>
              <a:highlight>
                <a:srgbClr val="FFFFFF"/>
              </a:highlight>
            </a:endParaRPr>
          </a:p>
        </p:txBody>
      </p:sp>
      <p:pic>
        <p:nvPicPr>
          <p:cNvPr id="129" name="Google Shape;129;p7"/>
          <p:cNvPicPr preferRelativeResize="0"/>
          <p:nvPr/>
        </p:nvPicPr>
        <p:blipFill rotWithShape="1">
          <a:blip r:embed="rId3">
            <a:alphaModFix/>
          </a:blip>
          <a:srcRect b="0" l="0" r="0" t="29022"/>
          <a:stretch/>
        </p:blipFill>
        <p:spPr>
          <a:xfrm>
            <a:off x="794650" y="2891400"/>
            <a:ext cx="7009726" cy="23297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8"/>
          <p:cNvSpPr txBox="1"/>
          <p:nvPr>
            <p:ph idx="1" type="body"/>
          </p:nvPr>
        </p:nvSpPr>
        <p:spPr>
          <a:xfrm>
            <a:off x="727650" y="1842950"/>
            <a:ext cx="7688700" cy="30024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Clr>
                <a:srgbClr val="24292E"/>
              </a:buClr>
              <a:buSzPts val="1300"/>
              <a:buChar char="●"/>
            </a:pPr>
            <a:r>
              <a:rPr b="1" lang="es" sz="1200">
                <a:solidFill>
                  <a:srgbClr val="24292E"/>
                </a:solidFill>
                <a:highlight>
                  <a:srgbClr val="FFFFFF"/>
                </a:highlight>
                <a:latin typeface="Arial"/>
                <a:ea typeface="Arial"/>
                <a:cs typeface="Arial"/>
                <a:sym typeface="Arial"/>
              </a:rPr>
              <a:t>OJO!</a:t>
            </a:r>
            <a:r>
              <a:rPr lang="es" sz="1200">
                <a:solidFill>
                  <a:srgbClr val="24292E"/>
                </a:solidFill>
                <a:highlight>
                  <a:srgbClr val="FFFFFF"/>
                </a:highlight>
                <a:latin typeface="Arial"/>
                <a:ea typeface="Arial"/>
                <a:cs typeface="Arial"/>
                <a:sym typeface="Arial"/>
              </a:rPr>
              <a:t> igual que antes debemos estar seguros de que se ha creado el árbol DOM antes de poner un escuchador por lo que se recomienda ponerlos siempre dentro una función asociada a </a:t>
            </a:r>
            <a:r>
              <a:rPr lang="es" sz="1000">
                <a:solidFill>
                  <a:srgbClr val="24292E"/>
                </a:solidFill>
                <a:highlight>
                  <a:srgbClr val="FFFFFF"/>
                </a:highlight>
                <a:latin typeface="Courier New"/>
                <a:ea typeface="Courier New"/>
                <a:cs typeface="Courier New"/>
                <a:sym typeface="Courier New"/>
              </a:rPr>
              <a:t>window.addEventListener("load", ...)</a:t>
            </a:r>
            <a:r>
              <a:rPr lang="es" sz="1200">
                <a:solidFill>
                  <a:srgbClr val="24292E"/>
                </a:solidFill>
                <a:highlight>
                  <a:srgbClr val="FFFFFF"/>
                </a:highlight>
                <a:latin typeface="Arial"/>
                <a:ea typeface="Arial"/>
                <a:cs typeface="Arial"/>
                <a:sym typeface="Arial"/>
              </a:rPr>
              <a:t> o mejor a </a:t>
            </a:r>
            <a:r>
              <a:rPr lang="es" sz="1000">
                <a:solidFill>
                  <a:srgbClr val="24292E"/>
                </a:solidFill>
                <a:highlight>
                  <a:srgbClr val="FFFFFF"/>
                </a:highlight>
                <a:latin typeface="Courier New"/>
                <a:ea typeface="Courier New"/>
                <a:cs typeface="Courier New"/>
                <a:sym typeface="Courier New"/>
              </a:rPr>
              <a:t>document.addEventListener("DOMContentLoaded", ...)</a:t>
            </a:r>
            <a:r>
              <a:rPr lang="es" sz="1200">
                <a:solidFill>
                  <a:srgbClr val="24292E"/>
                </a:solidFill>
                <a:highlight>
                  <a:srgbClr val="FFFFFF"/>
                </a:highlight>
                <a:latin typeface="Arial"/>
                <a:ea typeface="Arial"/>
                <a:cs typeface="Arial"/>
                <a:sym typeface="Arial"/>
              </a:rPr>
              <a:t>.</a:t>
            </a:r>
            <a:endParaRPr sz="1200">
              <a:solidFill>
                <a:srgbClr val="24292E"/>
              </a:solidFill>
              <a:highlight>
                <a:srgbClr val="FFFFFF"/>
              </a:highlight>
              <a:latin typeface="Arial"/>
              <a:ea typeface="Arial"/>
              <a:cs typeface="Arial"/>
              <a:sym typeface="Arial"/>
            </a:endParaRPr>
          </a:p>
          <a:p>
            <a:pPr indent="-311150" lvl="0" marL="457200" rtl="0" algn="l">
              <a:lnSpc>
                <a:spcPct val="115000"/>
              </a:lnSpc>
              <a:spcBef>
                <a:spcPts val="0"/>
              </a:spcBef>
              <a:spcAft>
                <a:spcPts val="0"/>
              </a:spcAft>
              <a:buClr>
                <a:srgbClr val="24292E"/>
              </a:buClr>
              <a:buSzPts val="1300"/>
              <a:buChar char="●"/>
            </a:pPr>
            <a:r>
              <a:rPr lang="es" sz="1200">
                <a:solidFill>
                  <a:srgbClr val="24292E"/>
                </a:solidFill>
                <a:highlight>
                  <a:srgbClr val="FFFFFF"/>
                </a:highlight>
                <a:latin typeface="Arial"/>
                <a:ea typeface="Arial"/>
                <a:cs typeface="Arial"/>
                <a:sym typeface="Arial"/>
              </a:rPr>
              <a:t>Una ventaja de esta forma de poner escuchadores es que podemos poner varios escuchadores para el mismo evento y se ejecutarán todos ellos. </a:t>
            </a:r>
            <a:endParaRPr sz="1200">
              <a:solidFill>
                <a:srgbClr val="24292E"/>
              </a:solidFill>
              <a:highlight>
                <a:srgbClr val="FFFFFF"/>
              </a:highlight>
              <a:latin typeface="Arial"/>
              <a:ea typeface="Arial"/>
              <a:cs typeface="Arial"/>
              <a:sym typeface="Arial"/>
            </a:endParaRPr>
          </a:p>
          <a:p>
            <a:pPr indent="-311150" lvl="0" marL="457200" rtl="0" algn="l">
              <a:lnSpc>
                <a:spcPct val="115000"/>
              </a:lnSpc>
              <a:spcBef>
                <a:spcPts val="0"/>
              </a:spcBef>
              <a:spcAft>
                <a:spcPts val="0"/>
              </a:spcAft>
              <a:buClr>
                <a:srgbClr val="24292E"/>
              </a:buClr>
              <a:buSzPts val="1300"/>
              <a:buChar char="●"/>
            </a:pPr>
            <a:r>
              <a:rPr lang="es" sz="1200">
                <a:solidFill>
                  <a:srgbClr val="24292E"/>
                </a:solidFill>
                <a:highlight>
                  <a:srgbClr val="FFFFFF"/>
                </a:highlight>
                <a:latin typeface="Arial"/>
                <a:ea typeface="Arial"/>
                <a:cs typeface="Arial"/>
                <a:sym typeface="Arial"/>
              </a:rPr>
              <a:t>Para eliminar un escuchador se usa el método </a:t>
            </a:r>
            <a:r>
              <a:rPr lang="es" sz="1000">
                <a:solidFill>
                  <a:srgbClr val="24292E"/>
                </a:solidFill>
                <a:highlight>
                  <a:srgbClr val="FFFFFF"/>
                </a:highlight>
                <a:latin typeface="Courier New"/>
                <a:ea typeface="Courier New"/>
                <a:cs typeface="Courier New"/>
                <a:sym typeface="Courier New"/>
              </a:rPr>
              <a:t>removeEventListener</a:t>
            </a:r>
            <a:r>
              <a:rPr lang="es" sz="1200">
                <a:solidFill>
                  <a:srgbClr val="24292E"/>
                </a:solidFill>
                <a:highlight>
                  <a:srgbClr val="FFFFFF"/>
                </a:highlight>
                <a:latin typeface="Arial"/>
                <a:ea typeface="Arial"/>
                <a:cs typeface="Arial"/>
                <a:sym typeface="Arial"/>
              </a:rPr>
              <a:t>.</a:t>
            </a:r>
            <a:endParaRPr sz="1200">
              <a:solidFill>
                <a:srgbClr val="24292E"/>
              </a:solidFill>
              <a:highlight>
                <a:srgbClr val="FFFFFF"/>
              </a:highlight>
              <a:latin typeface="Arial"/>
              <a:ea typeface="Arial"/>
              <a:cs typeface="Arial"/>
              <a:sym typeface="Arial"/>
            </a:endParaRPr>
          </a:p>
          <a:p>
            <a:pPr indent="-304800" lvl="1" marL="914400" rtl="0" algn="l">
              <a:lnSpc>
                <a:spcPct val="115000"/>
              </a:lnSpc>
              <a:spcBef>
                <a:spcPts val="0"/>
              </a:spcBef>
              <a:spcAft>
                <a:spcPts val="0"/>
              </a:spcAft>
              <a:buClr>
                <a:srgbClr val="24292E"/>
              </a:buClr>
              <a:buSzPts val="1200"/>
              <a:buFont typeface="Arial"/>
              <a:buChar char="○"/>
            </a:pPr>
            <a:r>
              <a:rPr lang="es" sz="1200">
                <a:solidFill>
                  <a:srgbClr val="24292E"/>
                </a:solidFill>
                <a:highlight>
                  <a:srgbClr val="FFFFFF"/>
                </a:highlight>
                <a:latin typeface="Arial"/>
                <a:ea typeface="Arial"/>
                <a:cs typeface="Arial"/>
                <a:sym typeface="Arial"/>
              </a:rPr>
              <a:t>No se puede quitar un escuchador si hemos usado una función anónima, para quitarlo debemos usar como escuchador una función con nombre.</a:t>
            </a:r>
            <a:endParaRPr sz="1200">
              <a:solidFill>
                <a:srgbClr val="24292E"/>
              </a:solidFill>
              <a:highlight>
                <a:srgbClr val="FFFFFF"/>
              </a:highlight>
              <a:latin typeface="Arial"/>
              <a:ea typeface="Arial"/>
              <a:cs typeface="Arial"/>
              <a:sym typeface="Arial"/>
            </a:endParaRPr>
          </a:p>
        </p:txBody>
      </p:sp>
      <p:sp>
        <p:nvSpPr>
          <p:cNvPr id="135" name="Google Shape;135;p8"/>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5.1 Modelo de gestión de eventos</a:t>
            </a:r>
            <a:endParaRPr/>
          </a:p>
          <a:p>
            <a:pPr indent="0" lvl="0" marL="0" rtl="0" algn="l">
              <a:lnSpc>
                <a:spcPct val="100000"/>
              </a:lnSpc>
              <a:spcBef>
                <a:spcPts val="1800"/>
              </a:spcBef>
              <a:spcAft>
                <a:spcPts val="1200"/>
              </a:spcAft>
              <a:buSzPts val="2600"/>
              <a:buNone/>
            </a:pPr>
            <a:r>
              <a:rPr lang="es" sz="2400">
                <a:solidFill>
                  <a:srgbClr val="24292E"/>
                </a:solidFill>
                <a:highlight>
                  <a:srgbClr val="FFFFFF"/>
                </a:highlight>
              </a:rPr>
              <a:t>Event listeners</a:t>
            </a:r>
            <a:endParaRPr b="1" sz="2400">
              <a:solidFill>
                <a:srgbClr val="24292E"/>
              </a:solidFill>
              <a:highlight>
                <a:srgbClr val="FFFFFF"/>
              </a:highlight>
            </a:endParaRPr>
          </a:p>
        </p:txBody>
      </p:sp>
      <p:pic>
        <p:nvPicPr>
          <p:cNvPr id="136" name="Google Shape;136;p8"/>
          <p:cNvPicPr preferRelativeResize="0"/>
          <p:nvPr/>
        </p:nvPicPr>
        <p:blipFill rotWithShape="1">
          <a:blip r:embed="rId3">
            <a:alphaModFix/>
          </a:blip>
          <a:srcRect b="0" l="0" r="0" t="0"/>
          <a:stretch/>
        </p:blipFill>
        <p:spPr>
          <a:xfrm>
            <a:off x="727650" y="4029775"/>
            <a:ext cx="7191850" cy="564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9"/>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fontScale="77500" lnSpcReduction="20000"/>
          </a:bodyPr>
          <a:lstStyle/>
          <a:p>
            <a:pPr indent="0" lvl="0" marL="0" rtl="0" algn="l">
              <a:lnSpc>
                <a:spcPct val="115000"/>
              </a:lnSpc>
              <a:spcBef>
                <a:spcPts val="0"/>
              </a:spcBef>
              <a:spcAft>
                <a:spcPts val="0"/>
              </a:spcAft>
              <a:buClr>
                <a:schemeClr val="dk1"/>
              </a:buClr>
              <a:buSzPct val="49273"/>
              <a:buFont typeface="Arial"/>
              <a:buNone/>
            </a:pPr>
            <a:r>
              <a:rPr b="1" lang="es" sz="2232"/>
              <a:t>Eventos de página</a:t>
            </a:r>
            <a:endParaRPr b="1" sz="2232"/>
          </a:p>
          <a:p>
            <a:pPr indent="0" lvl="0" marL="0" rtl="0" algn="l">
              <a:lnSpc>
                <a:spcPct val="115000"/>
              </a:lnSpc>
              <a:spcBef>
                <a:spcPts val="1200"/>
              </a:spcBef>
              <a:spcAft>
                <a:spcPts val="0"/>
              </a:spcAft>
              <a:buClr>
                <a:schemeClr val="dk1"/>
              </a:buClr>
              <a:buSzPct val="84615"/>
              <a:buFont typeface="Arial"/>
              <a:buNone/>
            </a:pPr>
            <a:r>
              <a:rPr lang="es"/>
              <a:t>Se producen en el documento HTML, normalmente en el BODY:</a:t>
            </a:r>
            <a:endParaRPr/>
          </a:p>
          <a:p>
            <a:pPr indent="-292607" lvl="0" marL="457200" rtl="0" algn="l">
              <a:lnSpc>
                <a:spcPct val="115000"/>
              </a:lnSpc>
              <a:spcBef>
                <a:spcPts val="1200"/>
              </a:spcBef>
              <a:spcAft>
                <a:spcPts val="0"/>
              </a:spcAft>
              <a:buSzPct val="100000"/>
              <a:buChar char="●"/>
            </a:pPr>
            <a:r>
              <a:rPr b="1" lang="es"/>
              <a:t>load</a:t>
            </a:r>
            <a:r>
              <a:rPr lang="es"/>
              <a:t>: se produce cuando termina de cargarse la página (cuando ya está construido el árbol DOM). Es útil para hacer acciones que requieran que el DOM esté cargado como modificar la página o poner escuchadores de eventos</a:t>
            </a:r>
            <a:endParaRPr/>
          </a:p>
          <a:p>
            <a:pPr indent="-292607" lvl="0" marL="457200" rtl="0" algn="l">
              <a:lnSpc>
                <a:spcPct val="115000"/>
              </a:lnSpc>
              <a:spcBef>
                <a:spcPts val="0"/>
              </a:spcBef>
              <a:spcAft>
                <a:spcPts val="0"/>
              </a:spcAft>
              <a:buSzPct val="100000"/>
              <a:buChar char="●"/>
            </a:pPr>
            <a:r>
              <a:rPr b="1" lang="es"/>
              <a:t>DOMContentLoaded:</a:t>
            </a:r>
            <a:r>
              <a:rPr lang="es"/>
              <a:t> se produce cuando se ha cargado el árbol DOM pero no se han cargado imágenes, hojas de estilo, ni subframes. Es el ideal para realizar acciones del DOM sin tener que esperar a que se carguen las imágenes y el CSS</a:t>
            </a:r>
            <a:endParaRPr/>
          </a:p>
          <a:p>
            <a:pPr indent="-292607" lvl="0" marL="457200" rtl="0" algn="l">
              <a:lnSpc>
                <a:spcPct val="115000"/>
              </a:lnSpc>
              <a:spcBef>
                <a:spcPts val="0"/>
              </a:spcBef>
              <a:spcAft>
                <a:spcPts val="0"/>
              </a:spcAft>
              <a:buSzPct val="100000"/>
              <a:buChar char="●"/>
            </a:pPr>
            <a:r>
              <a:rPr b="1" lang="es"/>
              <a:t>unload</a:t>
            </a:r>
            <a:r>
              <a:rPr lang="es"/>
              <a:t>: al destruirse el documento (ej. cerrar)</a:t>
            </a:r>
            <a:endParaRPr/>
          </a:p>
          <a:p>
            <a:pPr indent="-292607" lvl="0" marL="457200" rtl="0" algn="l">
              <a:lnSpc>
                <a:spcPct val="115000"/>
              </a:lnSpc>
              <a:spcBef>
                <a:spcPts val="0"/>
              </a:spcBef>
              <a:spcAft>
                <a:spcPts val="0"/>
              </a:spcAft>
              <a:buSzPct val="100000"/>
              <a:buChar char="●"/>
            </a:pPr>
            <a:r>
              <a:rPr b="1" lang="es"/>
              <a:t>beforeUnload</a:t>
            </a:r>
            <a:r>
              <a:rPr lang="es"/>
              <a:t>: antes de destruirse (podríamos mostrar un mensaje de confirmación)</a:t>
            </a:r>
            <a:endParaRPr/>
          </a:p>
          <a:p>
            <a:pPr indent="-292607" lvl="0" marL="457200" rtl="0" algn="l">
              <a:lnSpc>
                <a:spcPct val="115000"/>
              </a:lnSpc>
              <a:spcBef>
                <a:spcPts val="0"/>
              </a:spcBef>
              <a:spcAft>
                <a:spcPts val="0"/>
              </a:spcAft>
              <a:buSzPct val="100000"/>
              <a:buChar char="●"/>
            </a:pPr>
            <a:r>
              <a:rPr b="1" lang="es"/>
              <a:t>resize</a:t>
            </a:r>
            <a:r>
              <a:rPr lang="es"/>
              <a:t>: si cambia el tamaño del documento (porque se redimensiona la ventana)</a:t>
            </a:r>
            <a:endParaRPr/>
          </a:p>
          <a:p>
            <a:pPr indent="0" lvl="0" marL="0" rtl="0" algn="l">
              <a:lnSpc>
                <a:spcPct val="115000"/>
              </a:lnSpc>
              <a:spcBef>
                <a:spcPts val="1200"/>
              </a:spcBef>
              <a:spcAft>
                <a:spcPts val="1200"/>
              </a:spcAft>
              <a:buSzPct val="129032"/>
              <a:buNone/>
            </a:pPr>
            <a:r>
              <a:t/>
            </a:r>
            <a:endParaRPr/>
          </a:p>
        </p:txBody>
      </p:sp>
      <p:sp>
        <p:nvSpPr>
          <p:cNvPr id="142" name="Google Shape;142;p9"/>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5.1 Modelo de gestión de eventos</a:t>
            </a:r>
            <a:endParaRPr/>
          </a:p>
          <a:p>
            <a:pPr indent="0" lvl="0" marL="0" rtl="0" algn="l">
              <a:lnSpc>
                <a:spcPct val="100000"/>
              </a:lnSpc>
              <a:spcBef>
                <a:spcPts val="1800"/>
              </a:spcBef>
              <a:spcAft>
                <a:spcPts val="1200"/>
              </a:spcAft>
              <a:buSzPts val="2600"/>
              <a:buNone/>
            </a:pPr>
            <a:r>
              <a:rPr lang="es" sz="2400">
                <a:solidFill>
                  <a:srgbClr val="24292E"/>
                </a:solidFill>
                <a:highlight>
                  <a:srgbClr val="FFFFFF"/>
                </a:highlight>
              </a:rPr>
              <a:t>Tipos de eventos</a:t>
            </a:r>
            <a:endParaRPr b="1" sz="2400">
              <a:solidFill>
                <a:srgbClr val="24292E"/>
              </a:solidFill>
              <a:highlight>
                <a:srgbClr val="FFFFFF"/>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0"/>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48" name="Google Shape;148;p10"/>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t/>
            </a:r>
            <a:endParaRPr/>
          </a:p>
        </p:txBody>
      </p:sp>
      <p:pic>
        <p:nvPicPr>
          <p:cNvPr id="149" name="Google Shape;149;p10"/>
          <p:cNvPicPr preferRelativeResize="0"/>
          <p:nvPr/>
        </p:nvPicPr>
        <p:blipFill rotWithShape="1">
          <a:blip r:embed="rId3">
            <a:alphaModFix/>
          </a:blip>
          <a:srcRect b="0" l="0" r="0" t="0"/>
          <a:stretch/>
        </p:blipFill>
        <p:spPr>
          <a:xfrm>
            <a:off x="1066800" y="266700"/>
            <a:ext cx="7010400" cy="4610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1"/>
          <p:cNvSpPr txBox="1"/>
          <p:nvPr>
            <p:ph idx="1" type="body"/>
          </p:nvPr>
        </p:nvSpPr>
        <p:spPr>
          <a:xfrm>
            <a:off x="729450" y="2078875"/>
            <a:ext cx="7688700" cy="28674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62966"/>
              <a:buNone/>
            </a:pPr>
            <a:r>
              <a:rPr b="1" lang="es" sz="2232"/>
              <a:t>Eventos de ratón</a:t>
            </a:r>
            <a:endParaRPr b="1" sz="2232"/>
          </a:p>
          <a:p>
            <a:pPr indent="0" lvl="0" marL="0" rtl="0" algn="l">
              <a:lnSpc>
                <a:spcPct val="115000"/>
              </a:lnSpc>
              <a:spcBef>
                <a:spcPts val="1200"/>
              </a:spcBef>
              <a:spcAft>
                <a:spcPts val="0"/>
              </a:spcAft>
              <a:buClr>
                <a:schemeClr val="dk1"/>
              </a:buClr>
              <a:buSzPct val="64705"/>
              <a:buFont typeface="Arial"/>
              <a:buNone/>
            </a:pPr>
            <a:r>
              <a:rPr lang="es" sz="1700">
                <a:solidFill>
                  <a:srgbClr val="24292E"/>
                </a:solidFill>
                <a:highlight>
                  <a:srgbClr val="FFFFFF"/>
                </a:highlight>
              </a:rPr>
              <a:t>Los produce el usuario con el ratón:</a:t>
            </a:r>
            <a:endParaRPr sz="1700">
              <a:solidFill>
                <a:srgbClr val="24292E"/>
              </a:solidFill>
              <a:highlight>
                <a:srgbClr val="FFFFFF"/>
              </a:highlight>
            </a:endParaRPr>
          </a:p>
          <a:p>
            <a:pPr indent="-328484" lvl="0" marL="457200" rtl="0" algn="l">
              <a:lnSpc>
                <a:spcPct val="115000"/>
              </a:lnSpc>
              <a:spcBef>
                <a:spcPts val="1200"/>
              </a:spcBef>
              <a:spcAft>
                <a:spcPts val="0"/>
              </a:spcAft>
              <a:buClr>
                <a:srgbClr val="24292E"/>
              </a:buClr>
              <a:buSzPct val="100000"/>
              <a:buChar char="●"/>
            </a:pPr>
            <a:r>
              <a:rPr b="1" lang="es" sz="1700">
                <a:solidFill>
                  <a:srgbClr val="24292E"/>
                </a:solidFill>
                <a:highlight>
                  <a:srgbClr val="FFFFFF"/>
                </a:highlight>
              </a:rPr>
              <a:t>click / dblclick</a:t>
            </a:r>
            <a:r>
              <a:rPr lang="es" sz="1700">
                <a:solidFill>
                  <a:srgbClr val="24292E"/>
                </a:solidFill>
                <a:highlight>
                  <a:srgbClr val="FFFFFF"/>
                </a:highlight>
              </a:rPr>
              <a:t>: cuando se hace click/doble click sobre un elemento</a:t>
            </a:r>
            <a:endParaRPr sz="1700">
              <a:solidFill>
                <a:srgbClr val="24292E"/>
              </a:solidFill>
              <a:highlight>
                <a:srgbClr val="FFFFFF"/>
              </a:highlight>
            </a:endParaRPr>
          </a:p>
          <a:p>
            <a:pPr indent="-328484" lvl="0" marL="457200" rtl="0" algn="l">
              <a:lnSpc>
                <a:spcPct val="115000"/>
              </a:lnSpc>
              <a:spcBef>
                <a:spcPts val="0"/>
              </a:spcBef>
              <a:spcAft>
                <a:spcPts val="0"/>
              </a:spcAft>
              <a:buClr>
                <a:srgbClr val="24292E"/>
              </a:buClr>
              <a:buSzPct val="100000"/>
              <a:buChar char="●"/>
            </a:pPr>
            <a:r>
              <a:rPr b="1" lang="es" sz="1700">
                <a:solidFill>
                  <a:srgbClr val="24292E"/>
                </a:solidFill>
                <a:highlight>
                  <a:srgbClr val="FFFFFF"/>
                </a:highlight>
              </a:rPr>
              <a:t>mousedown / mouseup</a:t>
            </a:r>
            <a:r>
              <a:rPr lang="es" sz="1700">
                <a:solidFill>
                  <a:srgbClr val="24292E"/>
                </a:solidFill>
                <a:highlight>
                  <a:srgbClr val="FFFFFF"/>
                </a:highlight>
              </a:rPr>
              <a:t>: al pulsar/soltar cualquier botón del ratón</a:t>
            </a:r>
            <a:endParaRPr sz="1700">
              <a:solidFill>
                <a:srgbClr val="24292E"/>
              </a:solidFill>
              <a:highlight>
                <a:srgbClr val="FFFFFF"/>
              </a:highlight>
            </a:endParaRPr>
          </a:p>
          <a:p>
            <a:pPr indent="-328484" lvl="0" marL="457200" rtl="0" algn="l">
              <a:lnSpc>
                <a:spcPct val="115000"/>
              </a:lnSpc>
              <a:spcBef>
                <a:spcPts val="0"/>
              </a:spcBef>
              <a:spcAft>
                <a:spcPts val="0"/>
              </a:spcAft>
              <a:buClr>
                <a:srgbClr val="24292E"/>
              </a:buClr>
              <a:buSzPct val="100000"/>
              <a:buChar char="●"/>
            </a:pPr>
            <a:r>
              <a:rPr b="1" lang="es" sz="1700">
                <a:solidFill>
                  <a:srgbClr val="24292E"/>
                </a:solidFill>
                <a:highlight>
                  <a:srgbClr val="FFFFFF"/>
                </a:highlight>
              </a:rPr>
              <a:t>mouseenter / mouseleave</a:t>
            </a:r>
            <a:r>
              <a:rPr lang="es" sz="1700">
                <a:solidFill>
                  <a:srgbClr val="24292E"/>
                </a:solidFill>
                <a:highlight>
                  <a:srgbClr val="FFFFFF"/>
                </a:highlight>
              </a:rPr>
              <a:t>: cuando el puntero del ratón entra/sale del elemento (tb. podemos usar mouseover/mouseout)</a:t>
            </a:r>
            <a:endParaRPr sz="1700">
              <a:solidFill>
                <a:srgbClr val="24292E"/>
              </a:solidFill>
              <a:highlight>
                <a:srgbClr val="FFFFFF"/>
              </a:highlight>
            </a:endParaRPr>
          </a:p>
          <a:p>
            <a:pPr indent="-328484" lvl="0" marL="457200" rtl="0" algn="l">
              <a:lnSpc>
                <a:spcPct val="115000"/>
              </a:lnSpc>
              <a:spcBef>
                <a:spcPts val="0"/>
              </a:spcBef>
              <a:spcAft>
                <a:spcPts val="0"/>
              </a:spcAft>
              <a:buClr>
                <a:srgbClr val="24292E"/>
              </a:buClr>
              <a:buSzPct val="100000"/>
              <a:buChar char="●"/>
            </a:pPr>
            <a:r>
              <a:rPr b="1" lang="es" sz="1700">
                <a:solidFill>
                  <a:srgbClr val="24292E"/>
                </a:solidFill>
                <a:highlight>
                  <a:srgbClr val="FFFFFF"/>
                </a:highlight>
              </a:rPr>
              <a:t>mousemove</a:t>
            </a:r>
            <a:r>
              <a:rPr lang="es" sz="1700">
                <a:solidFill>
                  <a:srgbClr val="24292E"/>
                </a:solidFill>
                <a:highlight>
                  <a:srgbClr val="FFFFFF"/>
                </a:highlight>
              </a:rPr>
              <a:t>: se produce continuamente mientras el puntero se mueva dentro del elemento</a:t>
            </a:r>
            <a:endParaRPr sz="1700">
              <a:solidFill>
                <a:srgbClr val="24292E"/>
              </a:solidFill>
              <a:highlight>
                <a:srgbClr val="FFFFFF"/>
              </a:highlight>
            </a:endParaRPr>
          </a:p>
          <a:p>
            <a:pPr indent="0" lvl="0" marL="0" rtl="0" algn="l">
              <a:lnSpc>
                <a:spcPct val="115000"/>
              </a:lnSpc>
              <a:spcBef>
                <a:spcPts val="1200"/>
              </a:spcBef>
              <a:spcAft>
                <a:spcPts val="1200"/>
              </a:spcAft>
              <a:buSzPct val="117117"/>
              <a:buNone/>
            </a:pPr>
            <a:r>
              <a:rPr lang="es" sz="1200">
                <a:solidFill>
                  <a:srgbClr val="24292E"/>
                </a:solidFill>
                <a:highlight>
                  <a:srgbClr val="FFFFFF"/>
                </a:highlight>
                <a:latin typeface="Arial"/>
                <a:ea typeface="Arial"/>
                <a:cs typeface="Arial"/>
                <a:sym typeface="Arial"/>
              </a:rPr>
              <a:t>NOTA: si hacemos doble click sobre un elemento la secuencia de eventos que se produciría es: </a:t>
            </a:r>
            <a:r>
              <a:rPr i="1" lang="es" sz="1200">
                <a:solidFill>
                  <a:srgbClr val="24292E"/>
                </a:solidFill>
                <a:highlight>
                  <a:srgbClr val="FFFFFF"/>
                </a:highlight>
                <a:latin typeface="Arial"/>
                <a:ea typeface="Arial"/>
                <a:cs typeface="Arial"/>
                <a:sym typeface="Arial"/>
              </a:rPr>
              <a:t>mousedown</a:t>
            </a:r>
            <a:r>
              <a:rPr lang="es" sz="1200">
                <a:solidFill>
                  <a:srgbClr val="24292E"/>
                </a:solidFill>
                <a:highlight>
                  <a:srgbClr val="FFFFFF"/>
                </a:highlight>
                <a:latin typeface="Arial"/>
                <a:ea typeface="Arial"/>
                <a:cs typeface="Arial"/>
                <a:sym typeface="Arial"/>
              </a:rPr>
              <a:t> -&gt; </a:t>
            </a:r>
            <a:r>
              <a:rPr i="1" lang="es" sz="1200">
                <a:solidFill>
                  <a:srgbClr val="24292E"/>
                </a:solidFill>
                <a:highlight>
                  <a:srgbClr val="FFFFFF"/>
                </a:highlight>
                <a:latin typeface="Arial"/>
                <a:ea typeface="Arial"/>
                <a:cs typeface="Arial"/>
                <a:sym typeface="Arial"/>
              </a:rPr>
              <a:t>mouseup</a:t>
            </a:r>
            <a:r>
              <a:rPr lang="es" sz="1200">
                <a:solidFill>
                  <a:srgbClr val="24292E"/>
                </a:solidFill>
                <a:highlight>
                  <a:srgbClr val="FFFFFF"/>
                </a:highlight>
                <a:latin typeface="Arial"/>
                <a:ea typeface="Arial"/>
                <a:cs typeface="Arial"/>
                <a:sym typeface="Arial"/>
              </a:rPr>
              <a:t> -&gt; </a:t>
            </a:r>
            <a:r>
              <a:rPr i="1" lang="es" sz="1200">
                <a:solidFill>
                  <a:srgbClr val="24292E"/>
                </a:solidFill>
                <a:highlight>
                  <a:srgbClr val="FFFFFF"/>
                </a:highlight>
                <a:latin typeface="Arial"/>
                <a:ea typeface="Arial"/>
                <a:cs typeface="Arial"/>
                <a:sym typeface="Arial"/>
              </a:rPr>
              <a:t>click</a:t>
            </a:r>
            <a:r>
              <a:rPr lang="es" sz="1200">
                <a:solidFill>
                  <a:srgbClr val="24292E"/>
                </a:solidFill>
                <a:highlight>
                  <a:srgbClr val="FFFFFF"/>
                </a:highlight>
                <a:latin typeface="Arial"/>
                <a:ea typeface="Arial"/>
                <a:cs typeface="Arial"/>
                <a:sym typeface="Arial"/>
              </a:rPr>
              <a:t> -&gt; </a:t>
            </a:r>
            <a:r>
              <a:rPr i="1" lang="es" sz="1200">
                <a:solidFill>
                  <a:srgbClr val="24292E"/>
                </a:solidFill>
                <a:highlight>
                  <a:srgbClr val="FFFFFF"/>
                </a:highlight>
                <a:latin typeface="Arial"/>
                <a:ea typeface="Arial"/>
                <a:cs typeface="Arial"/>
                <a:sym typeface="Arial"/>
              </a:rPr>
              <a:t>mousedown</a:t>
            </a:r>
            <a:r>
              <a:rPr lang="es" sz="1200">
                <a:solidFill>
                  <a:srgbClr val="24292E"/>
                </a:solidFill>
                <a:highlight>
                  <a:srgbClr val="FFFFFF"/>
                </a:highlight>
                <a:latin typeface="Arial"/>
                <a:ea typeface="Arial"/>
                <a:cs typeface="Arial"/>
                <a:sym typeface="Arial"/>
              </a:rPr>
              <a:t> -&gt; </a:t>
            </a:r>
            <a:r>
              <a:rPr i="1" lang="es" sz="1200">
                <a:solidFill>
                  <a:srgbClr val="24292E"/>
                </a:solidFill>
                <a:highlight>
                  <a:srgbClr val="FFFFFF"/>
                </a:highlight>
                <a:latin typeface="Arial"/>
                <a:ea typeface="Arial"/>
                <a:cs typeface="Arial"/>
                <a:sym typeface="Arial"/>
              </a:rPr>
              <a:t>mouseup</a:t>
            </a:r>
            <a:r>
              <a:rPr lang="es" sz="1200">
                <a:solidFill>
                  <a:srgbClr val="24292E"/>
                </a:solidFill>
                <a:highlight>
                  <a:srgbClr val="FFFFFF"/>
                </a:highlight>
                <a:latin typeface="Arial"/>
                <a:ea typeface="Arial"/>
                <a:cs typeface="Arial"/>
                <a:sym typeface="Arial"/>
              </a:rPr>
              <a:t> -&gt; </a:t>
            </a:r>
            <a:r>
              <a:rPr i="1" lang="es" sz="1200">
                <a:solidFill>
                  <a:srgbClr val="24292E"/>
                </a:solidFill>
                <a:highlight>
                  <a:srgbClr val="FFFFFF"/>
                </a:highlight>
                <a:latin typeface="Arial"/>
                <a:ea typeface="Arial"/>
                <a:cs typeface="Arial"/>
                <a:sym typeface="Arial"/>
              </a:rPr>
              <a:t>click</a:t>
            </a:r>
            <a:r>
              <a:rPr lang="es" sz="1200">
                <a:solidFill>
                  <a:srgbClr val="24292E"/>
                </a:solidFill>
                <a:highlight>
                  <a:srgbClr val="FFFFFF"/>
                </a:highlight>
                <a:latin typeface="Arial"/>
                <a:ea typeface="Arial"/>
                <a:cs typeface="Arial"/>
                <a:sym typeface="Arial"/>
              </a:rPr>
              <a:t> -&gt; </a:t>
            </a:r>
            <a:r>
              <a:rPr i="1" lang="es" sz="1200">
                <a:solidFill>
                  <a:srgbClr val="24292E"/>
                </a:solidFill>
                <a:highlight>
                  <a:srgbClr val="FFFFFF"/>
                </a:highlight>
                <a:latin typeface="Arial"/>
                <a:ea typeface="Arial"/>
                <a:cs typeface="Arial"/>
                <a:sym typeface="Arial"/>
              </a:rPr>
              <a:t>dblclick</a:t>
            </a:r>
            <a:endParaRPr/>
          </a:p>
        </p:txBody>
      </p:sp>
      <p:sp>
        <p:nvSpPr>
          <p:cNvPr id="155" name="Google Shape;155;p11"/>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5.1 Modelo de gestión de eventos</a:t>
            </a:r>
            <a:endParaRPr/>
          </a:p>
          <a:p>
            <a:pPr indent="0" lvl="0" marL="0" rtl="0" algn="l">
              <a:lnSpc>
                <a:spcPct val="100000"/>
              </a:lnSpc>
              <a:spcBef>
                <a:spcPts val="1800"/>
              </a:spcBef>
              <a:spcAft>
                <a:spcPts val="1200"/>
              </a:spcAft>
              <a:buSzPts val="2600"/>
              <a:buNone/>
            </a:pPr>
            <a:r>
              <a:rPr lang="es" sz="2400">
                <a:solidFill>
                  <a:srgbClr val="24292E"/>
                </a:solidFill>
                <a:highlight>
                  <a:srgbClr val="FFFFFF"/>
                </a:highlight>
              </a:rPr>
              <a:t>Tipos de eventos</a:t>
            </a:r>
            <a:endParaRPr b="1" sz="2400">
              <a:solidFill>
                <a:srgbClr val="24292E"/>
              </a:solidFill>
              <a:highlight>
                <a:srgbClr val="FFFFFF"/>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61" name="Google Shape;161;p12"/>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t/>
            </a:r>
            <a:endParaRPr/>
          </a:p>
        </p:txBody>
      </p:sp>
      <p:pic>
        <p:nvPicPr>
          <p:cNvPr id="162" name="Google Shape;162;p12"/>
          <p:cNvPicPr preferRelativeResize="0"/>
          <p:nvPr/>
        </p:nvPicPr>
        <p:blipFill rotWithShape="1">
          <a:blip r:embed="rId3">
            <a:alphaModFix/>
          </a:blip>
          <a:srcRect b="0" l="0" r="0" t="0"/>
          <a:stretch/>
        </p:blipFill>
        <p:spPr>
          <a:xfrm>
            <a:off x="398794" y="0"/>
            <a:ext cx="8346412"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3"/>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rPr lang="es" sz="1200">
                <a:solidFill>
                  <a:srgbClr val="6A737D"/>
                </a:solidFill>
                <a:highlight>
                  <a:srgbClr val="FFFFFF"/>
                </a:highlight>
                <a:latin typeface="Arial"/>
                <a:ea typeface="Arial"/>
                <a:cs typeface="Arial"/>
                <a:sym typeface="Arial"/>
              </a:rPr>
              <a:t>EJERCICIO 1: Pon un escuchador desde la consola al botón 1 de la </a:t>
            </a:r>
            <a:r>
              <a:rPr lang="es" sz="1200">
                <a:solidFill>
                  <a:srgbClr val="0366D6"/>
                </a:solidFill>
                <a:highlight>
                  <a:srgbClr val="FFFFFF"/>
                </a:highlight>
                <a:uFill>
                  <a:noFill/>
                </a:uFill>
                <a:latin typeface="Arial"/>
                <a:ea typeface="Arial"/>
                <a:cs typeface="Arial"/>
                <a:sym typeface="Arial"/>
                <a:hlinkClick r:id="rId3">
                  <a:extLst>
                    <a:ext uri="{A12FA001-AC4F-418D-AE19-62706E023703}">
                      <ahyp:hlinkClr val="tx"/>
                    </a:ext>
                  </a:extLst>
                </a:hlinkClick>
              </a:rPr>
              <a:t>página de ejemplo de DOM</a:t>
            </a:r>
            <a:r>
              <a:rPr lang="es" sz="1200">
                <a:solidFill>
                  <a:srgbClr val="6A737D"/>
                </a:solidFill>
                <a:highlight>
                  <a:srgbClr val="FFFFFF"/>
                </a:highlight>
                <a:latin typeface="Arial"/>
                <a:ea typeface="Arial"/>
                <a:cs typeface="Arial"/>
                <a:sym typeface="Arial"/>
              </a:rPr>
              <a:t> para que al hacer click se muestre el un alert con ‘Click sobre botón 1’. Ponle otro para que al pasar el ratón sobre él se muestre ‘Entrando en botón 1’.</a:t>
            </a:r>
            <a:endParaRPr/>
          </a:p>
        </p:txBody>
      </p:sp>
      <p:sp>
        <p:nvSpPr>
          <p:cNvPr id="168" name="Google Shape;168;p13"/>
          <p:cNvSpPr txBox="1"/>
          <p:nvPr>
            <p:ph type="title"/>
          </p:nvPr>
        </p:nvSpPr>
        <p:spPr>
          <a:xfrm>
            <a:off x="727650" y="63152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5.1 Modelo de gestión de eventos</a:t>
            </a:r>
            <a:endParaRPr/>
          </a:p>
          <a:p>
            <a:pPr indent="0" lvl="0" marL="0" rtl="0" algn="l">
              <a:lnSpc>
                <a:spcPct val="100000"/>
              </a:lnSpc>
              <a:spcBef>
                <a:spcPts val="1800"/>
              </a:spcBef>
              <a:spcAft>
                <a:spcPts val="1200"/>
              </a:spcAft>
              <a:buSzPts val="2600"/>
              <a:buNone/>
            </a:pPr>
            <a:r>
              <a:rPr lang="es" sz="2400">
                <a:solidFill>
                  <a:srgbClr val="24292E"/>
                </a:solidFill>
                <a:highlight>
                  <a:srgbClr val="FFFFFF"/>
                </a:highlight>
              </a:rPr>
              <a:t>Tipos de eventos</a:t>
            </a:r>
            <a:endParaRPr b="1" sz="2400">
              <a:solidFill>
                <a:srgbClr val="24292E"/>
              </a:solidFill>
              <a:highlight>
                <a:srgbClr val="FFFFFF"/>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4"/>
          <p:cNvSpPr txBox="1"/>
          <p:nvPr>
            <p:ph idx="1" type="body"/>
          </p:nvPr>
        </p:nvSpPr>
        <p:spPr>
          <a:xfrm>
            <a:off x="855575" y="2005275"/>
            <a:ext cx="7976700" cy="31383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300"/>
              <a:buNone/>
            </a:pPr>
            <a:r>
              <a:rPr b="1" lang="es" sz="2232"/>
              <a:t>Eventos de teclado</a:t>
            </a:r>
            <a:endParaRPr b="1" sz="2232"/>
          </a:p>
          <a:p>
            <a:pPr indent="0" lvl="0" marL="0" rtl="0" algn="l">
              <a:lnSpc>
                <a:spcPct val="115000"/>
              </a:lnSpc>
              <a:spcBef>
                <a:spcPts val="1200"/>
              </a:spcBef>
              <a:spcAft>
                <a:spcPts val="0"/>
              </a:spcAft>
              <a:buSzPts val="1300"/>
              <a:buNone/>
            </a:pPr>
            <a:r>
              <a:rPr lang="es" sz="1900">
                <a:solidFill>
                  <a:srgbClr val="24292E"/>
                </a:solidFill>
                <a:highlight>
                  <a:srgbClr val="FFFFFF"/>
                </a:highlight>
              </a:rPr>
              <a:t>Los produce el usuario al usar el teclado:</a:t>
            </a:r>
            <a:endParaRPr sz="1900">
              <a:solidFill>
                <a:srgbClr val="24292E"/>
              </a:solidFill>
              <a:highlight>
                <a:srgbClr val="FFFFFF"/>
              </a:highlight>
            </a:endParaRPr>
          </a:p>
          <a:p>
            <a:pPr indent="-349250" lvl="0" marL="457200" rtl="0" algn="l">
              <a:lnSpc>
                <a:spcPct val="115000"/>
              </a:lnSpc>
              <a:spcBef>
                <a:spcPts val="1200"/>
              </a:spcBef>
              <a:spcAft>
                <a:spcPts val="0"/>
              </a:spcAft>
              <a:buClr>
                <a:srgbClr val="24292E"/>
              </a:buClr>
              <a:buSzPts val="1900"/>
              <a:buChar char="●"/>
            </a:pPr>
            <a:r>
              <a:rPr b="1" lang="es" sz="1900">
                <a:solidFill>
                  <a:srgbClr val="24292E"/>
                </a:solidFill>
                <a:highlight>
                  <a:srgbClr val="FFFFFF"/>
                </a:highlight>
              </a:rPr>
              <a:t>keydown</a:t>
            </a:r>
            <a:r>
              <a:rPr lang="es" sz="1900">
                <a:solidFill>
                  <a:srgbClr val="24292E"/>
                </a:solidFill>
                <a:highlight>
                  <a:srgbClr val="FFFFFF"/>
                </a:highlight>
              </a:rPr>
              <a:t>: se produce al presionar una tecla y se repite continuamente si la tecla se mantiene pulsada</a:t>
            </a:r>
            <a:endParaRPr sz="1900">
              <a:solidFill>
                <a:srgbClr val="24292E"/>
              </a:solidFill>
              <a:highlight>
                <a:srgbClr val="FFFFFF"/>
              </a:highlight>
            </a:endParaRPr>
          </a:p>
          <a:p>
            <a:pPr indent="-349250" lvl="0" marL="457200" rtl="0" algn="l">
              <a:lnSpc>
                <a:spcPct val="115000"/>
              </a:lnSpc>
              <a:spcBef>
                <a:spcPts val="0"/>
              </a:spcBef>
              <a:spcAft>
                <a:spcPts val="0"/>
              </a:spcAft>
              <a:buClr>
                <a:srgbClr val="24292E"/>
              </a:buClr>
              <a:buSzPts val="1900"/>
              <a:buChar char="●"/>
            </a:pPr>
            <a:r>
              <a:rPr b="1" lang="es" sz="1900">
                <a:solidFill>
                  <a:srgbClr val="24292E"/>
                </a:solidFill>
                <a:highlight>
                  <a:srgbClr val="FFFFFF"/>
                </a:highlight>
              </a:rPr>
              <a:t>keyup</a:t>
            </a:r>
            <a:r>
              <a:rPr lang="es" sz="1900">
                <a:solidFill>
                  <a:srgbClr val="24292E"/>
                </a:solidFill>
                <a:highlight>
                  <a:srgbClr val="FFFFFF"/>
                </a:highlight>
              </a:rPr>
              <a:t>: cuando se deja de presionar la tecla</a:t>
            </a:r>
            <a:endParaRPr sz="1900">
              <a:solidFill>
                <a:srgbClr val="24292E"/>
              </a:solidFill>
              <a:highlight>
                <a:srgbClr val="FFFFFF"/>
              </a:highlight>
            </a:endParaRPr>
          </a:p>
          <a:p>
            <a:pPr indent="-349250" lvl="0" marL="457200" rtl="0" algn="l">
              <a:lnSpc>
                <a:spcPct val="115000"/>
              </a:lnSpc>
              <a:spcBef>
                <a:spcPts val="0"/>
              </a:spcBef>
              <a:spcAft>
                <a:spcPts val="0"/>
              </a:spcAft>
              <a:buClr>
                <a:srgbClr val="24292E"/>
              </a:buClr>
              <a:buSzPts val="1900"/>
              <a:buChar char="●"/>
            </a:pPr>
            <a:r>
              <a:rPr b="1" lang="es" sz="1900">
                <a:solidFill>
                  <a:srgbClr val="24292E"/>
                </a:solidFill>
                <a:highlight>
                  <a:srgbClr val="FFFFFF"/>
                </a:highlight>
              </a:rPr>
              <a:t>keypress</a:t>
            </a:r>
            <a:r>
              <a:rPr lang="es" sz="1900">
                <a:solidFill>
                  <a:srgbClr val="24292E"/>
                </a:solidFill>
                <a:highlight>
                  <a:srgbClr val="FFFFFF"/>
                </a:highlight>
              </a:rPr>
              <a:t>: acción de pulsar y soltar (sólo se produce en las teclas alfanuméricas)</a:t>
            </a:r>
            <a:endParaRPr sz="1900">
              <a:solidFill>
                <a:srgbClr val="24292E"/>
              </a:solidFill>
              <a:highlight>
                <a:srgbClr val="FFFFFF"/>
              </a:highlight>
            </a:endParaRPr>
          </a:p>
          <a:p>
            <a:pPr indent="0" lvl="0" marL="0" rtl="0" algn="l">
              <a:lnSpc>
                <a:spcPct val="115000"/>
              </a:lnSpc>
              <a:spcBef>
                <a:spcPts val="1200"/>
              </a:spcBef>
              <a:spcAft>
                <a:spcPts val="1200"/>
              </a:spcAft>
              <a:buSzPts val="1300"/>
              <a:buNone/>
            </a:pPr>
            <a:r>
              <a:rPr lang="es" sz="1200">
                <a:solidFill>
                  <a:srgbClr val="24292E"/>
                </a:solidFill>
                <a:highlight>
                  <a:srgbClr val="FFFFFF"/>
                </a:highlight>
                <a:latin typeface="Arial"/>
                <a:ea typeface="Arial"/>
                <a:cs typeface="Arial"/>
                <a:sym typeface="Arial"/>
              </a:rPr>
              <a:t>NOTA: el orden de secuencia de los eventos es: </a:t>
            </a:r>
            <a:r>
              <a:rPr i="1" lang="es" sz="1200">
                <a:solidFill>
                  <a:srgbClr val="24292E"/>
                </a:solidFill>
                <a:highlight>
                  <a:srgbClr val="FFFFFF"/>
                </a:highlight>
                <a:latin typeface="Arial"/>
                <a:ea typeface="Arial"/>
                <a:cs typeface="Arial"/>
                <a:sym typeface="Arial"/>
              </a:rPr>
              <a:t>keyDown</a:t>
            </a:r>
            <a:r>
              <a:rPr lang="es" sz="1200">
                <a:solidFill>
                  <a:srgbClr val="24292E"/>
                </a:solidFill>
                <a:highlight>
                  <a:srgbClr val="FFFFFF"/>
                </a:highlight>
                <a:latin typeface="Arial"/>
                <a:ea typeface="Arial"/>
                <a:cs typeface="Arial"/>
                <a:sym typeface="Arial"/>
              </a:rPr>
              <a:t> -&gt; </a:t>
            </a:r>
            <a:r>
              <a:rPr i="1" lang="es" sz="1200">
                <a:solidFill>
                  <a:srgbClr val="24292E"/>
                </a:solidFill>
                <a:highlight>
                  <a:srgbClr val="FFFFFF"/>
                </a:highlight>
                <a:latin typeface="Arial"/>
                <a:ea typeface="Arial"/>
                <a:cs typeface="Arial"/>
                <a:sym typeface="Arial"/>
              </a:rPr>
              <a:t>keyPress</a:t>
            </a:r>
            <a:r>
              <a:rPr lang="es" sz="1200">
                <a:solidFill>
                  <a:srgbClr val="24292E"/>
                </a:solidFill>
                <a:highlight>
                  <a:srgbClr val="FFFFFF"/>
                </a:highlight>
                <a:latin typeface="Arial"/>
                <a:ea typeface="Arial"/>
                <a:cs typeface="Arial"/>
                <a:sym typeface="Arial"/>
              </a:rPr>
              <a:t> -&gt; </a:t>
            </a:r>
            <a:r>
              <a:rPr i="1" lang="es" sz="1200">
                <a:solidFill>
                  <a:srgbClr val="24292E"/>
                </a:solidFill>
                <a:highlight>
                  <a:srgbClr val="FFFFFF"/>
                </a:highlight>
                <a:latin typeface="Arial"/>
                <a:ea typeface="Arial"/>
                <a:cs typeface="Arial"/>
                <a:sym typeface="Arial"/>
              </a:rPr>
              <a:t>keyUp</a:t>
            </a:r>
            <a:endParaRPr b="1" sz="1900">
              <a:solidFill>
                <a:srgbClr val="24292E"/>
              </a:solidFill>
              <a:highlight>
                <a:srgbClr val="FFFFFF"/>
              </a:highlight>
            </a:endParaRPr>
          </a:p>
        </p:txBody>
      </p:sp>
      <p:sp>
        <p:nvSpPr>
          <p:cNvPr id="174" name="Google Shape;174;p14"/>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5.1 Modelo de gestión de eventos</a:t>
            </a:r>
            <a:endParaRPr/>
          </a:p>
          <a:p>
            <a:pPr indent="0" lvl="0" marL="0" rtl="0" algn="l">
              <a:lnSpc>
                <a:spcPct val="100000"/>
              </a:lnSpc>
              <a:spcBef>
                <a:spcPts val="1800"/>
              </a:spcBef>
              <a:spcAft>
                <a:spcPts val="1200"/>
              </a:spcAft>
              <a:buSzPts val="2600"/>
              <a:buNone/>
            </a:pPr>
            <a:r>
              <a:rPr lang="es" sz="2400">
                <a:solidFill>
                  <a:srgbClr val="24292E"/>
                </a:solidFill>
                <a:highlight>
                  <a:srgbClr val="FFFFFF"/>
                </a:highlight>
              </a:rPr>
              <a:t>Tipos de eventos</a:t>
            </a:r>
            <a:endParaRPr b="1" sz="2400">
              <a:solidFill>
                <a:srgbClr val="24292E"/>
              </a:solidFill>
              <a:highlight>
                <a:srgbClr val="FFFFFF"/>
              </a:high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80" name="Google Shape;180;p15"/>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t/>
            </a:r>
            <a:endParaRPr/>
          </a:p>
        </p:txBody>
      </p:sp>
      <p:pic>
        <p:nvPicPr>
          <p:cNvPr id="181" name="Google Shape;181;p15"/>
          <p:cNvPicPr preferRelativeResize="0"/>
          <p:nvPr/>
        </p:nvPicPr>
        <p:blipFill rotWithShape="1">
          <a:blip r:embed="rId3">
            <a:alphaModFix/>
          </a:blip>
          <a:srcRect b="0" l="0" r="0" t="0"/>
          <a:stretch/>
        </p:blipFill>
        <p:spPr>
          <a:xfrm>
            <a:off x="290486" y="0"/>
            <a:ext cx="8563027" cy="5143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6"/>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fontScale="77500" lnSpcReduction="20000"/>
          </a:bodyPr>
          <a:lstStyle/>
          <a:p>
            <a:pPr indent="0" lvl="0" marL="0" rtl="0" algn="l">
              <a:lnSpc>
                <a:spcPct val="115000"/>
              </a:lnSpc>
              <a:spcBef>
                <a:spcPts val="0"/>
              </a:spcBef>
              <a:spcAft>
                <a:spcPts val="0"/>
              </a:spcAft>
              <a:buSzPct val="75153"/>
              <a:buNone/>
            </a:pPr>
            <a:r>
              <a:rPr b="1" lang="es" sz="2232"/>
              <a:t>Eventos de formulario</a:t>
            </a:r>
            <a:endParaRPr b="1" sz="2232"/>
          </a:p>
          <a:p>
            <a:pPr indent="0" lvl="0" marL="0" rtl="0" algn="l">
              <a:lnSpc>
                <a:spcPct val="115000"/>
              </a:lnSpc>
              <a:spcBef>
                <a:spcPts val="1200"/>
              </a:spcBef>
              <a:spcAft>
                <a:spcPts val="0"/>
              </a:spcAft>
              <a:buSzPct val="104838"/>
              <a:buNone/>
            </a:pPr>
            <a:r>
              <a:rPr lang="es" sz="1600">
                <a:solidFill>
                  <a:srgbClr val="24292E"/>
                </a:solidFill>
                <a:highlight>
                  <a:srgbClr val="FFFFFF"/>
                </a:highlight>
              </a:rPr>
              <a:t>Se producen en los formularios:</a:t>
            </a:r>
            <a:endParaRPr sz="1600">
              <a:solidFill>
                <a:srgbClr val="24292E"/>
              </a:solidFill>
              <a:highlight>
                <a:srgbClr val="FFFFFF"/>
              </a:highlight>
            </a:endParaRPr>
          </a:p>
          <a:p>
            <a:pPr indent="-307340" lvl="0" marL="457200" rtl="0" algn="l">
              <a:lnSpc>
                <a:spcPct val="115000"/>
              </a:lnSpc>
              <a:spcBef>
                <a:spcPts val="1200"/>
              </a:spcBef>
              <a:spcAft>
                <a:spcPts val="0"/>
              </a:spcAft>
              <a:buClr>
                <a:srgbClr val="24292E"/>
              </a:buClr>
              <a:buSzPct val="100000"/>
              <a:buChar char="●"/>
            </a:pPr>
            <a:r>
              <a:rPr b="1" lang="es" sz="1600">
                <a:solidFill>
                  <a:srgbClr val="24292E"/>
                </a:solidFill>
                <a:highlight>
                  <a:srgbClr val="FFFFFF"/>
                </a:highlight>
              </a:rPr>
              <a:t>focus / blur</a:t>
            </a:r>
            <a:r>
              <a:rPr lang="es" sz="1600">
                <a:solidFill>
                  <a:srgbClr val="24292E"/>
                </a:solidFill>
                <a:highlight>
                  <a:srgbClr val="FFFFFF"/>
                </a:highlight>
              </a:rPr>
              <a:t>: al obtener/perder el foco el elemento</a:t>
            </a:r>
            <a:endParaRPr sz="1600">
              <a:solidFill>
                <a:srgbClr val="24292E"/>
              </a:solidFill>
              <a:highlight>
                <a:srgbClr val="FFFFFF"/>
              </a:highlight>
            </a:endParaRPr>
          </a:p>
          <a:p>
            <a:pPr indent="-307340" lvl="0" marL="457200" rtl="0" algn="l">
              <a:lnSpc>
                <a:spcPct val="115000"/>
              </a:lnSpc>
              <a:spcBef>
                <a:spcPts val="0"/>
              </a:spcBef>
              <a:spcAft>
                <a:spcPts val="0"/>
              </a:spcAft>
              <a:buClr>
                <a:srgbClr val="24292E"/>
              </a:buClr>
              <a:buSzPct val="100000"/>
              <a:buChar char="●"/>
            </a:pPr>
            <a:r>
              <a:rPr b="1" lang="es" sz="1600">
                <a:solidFill>
                  <a:srgbClr val="24292E"/>
                </a:solidFill>
                <a:highlight>
                  <a:srgbClr val="FFFFFF"/>
                </a:highlight>
              </a:rPr>
              <a:t>change</a:t>
            </a:r>
            <a:r>
              <a:rPr lang="es" sz="1600">
                <a:solidFill>
                  <a:srgbClr val="24292E"/>
                </a:solidFill>
                <a:highlight>
                  <a:srgbClr val="FFFFFF"/>
                </a:highlight>
              </a:rPr>
              <a:t>: al perder el foco un &lt;input&gt; o &lt;textarea&gt; si ha cambiado su contenido o al cambiar de valor un &lt;select&gt; o un &lt;checkbox&gt;</a:t>
            </a:r>
            <a:endParaRPr sz="1600">
              <a:solidFill>
                <a:srgbClr val="24292E"/>
              </a:solidFill>
              <a:highlight>
                <a:srgbClr val="FFFFFF"/>
              </a:highlight>
            </a:endParaRPr>
          </a:p>
          <a:p>
            <a:pPr indent="-307340" lvl="0" marL="457200" rtl="0" algn="l">
              <a:lnSpc>
                <a:spcPct val="115000"/>
              </a:lnSpc>
              <a:spcBef>
                <a:spcPts val="0"/>
              </a:spcBef>
              <a:spcAft>
                <a:spcPts val="0"/>
              </a:spcAft>
              <a:buClr>
                <a:srgbClr val="24292E"/>
              </a:buClr>
              <a:buSzPct val="100000"/>
              <a:buChar char="●"/>
            </a:pPr>
            <a:r>
              <a:rPr b="1" lang="es" sz="1600">
                <a:solidFill>
                  <a:srgbClr val="24292E"/>
                </a:solidFill>
                <a:highlight>
                  <a:srgbClr val="FFFFFF"/>
                </a:highlight>
              </a:rPr>
              <a:t>input</a:t>
            </a:r>
            <a:r>
              <a:rPr lang="es" sz="1600">
                <a:solidFill>
                  <a:srgbClr val="24292E"/>
                </a:solidFill>
                <a:highlight>
                  <a:srgbClr val="FFFFFF"/>
                </a:highlight>
              </a:rPr>
              <a:t>: al cambiar el valor de un &lt;input&gt; o &lt;textarea&gt; (se produce cada vez que escribimos una letra es estos elementos)</a:t>
            </a:r>
            <a:endParaRPr sz="1600">
              <a:solidFill>
                <a:srgbClr val="24292E"/>
              </a:solidFill>
              <a:highlight>
                <a:srgbClr val="FFFFFF"/>
              </a:highlight>
            </a:endParaRPr>
          </a:p>
          <a:p>
            <a:pPr indent="-307340" lvl="0" marL="457200" rtl="0" algn="l">
              <a:lnSpc>
                <a:spcPct val="115000"/>
              </a:lnSpc>
              <a:spcBef>
                <a:spcPts val="0"/>
              </a:spcBef>
              <a:spcAft>
                <a:spcPts val="0"/>
              </a:spcAft>
              <a:buClr>
                <a:srgbClr val="24292E"/>
              </a:buClr>
              <a:buSzPct val="100000"/>
              <a:buChar char="●"/>
            </a:pPr>
            <a:r>
              <a:rPr b="1" lang="es" sz="1600">
                <a:solidFill>
                  <a:srgbClr val="24292E"/>
                </a:solidFill>
                <a:highlight>
                  <a:srgbClr val="FFFFFF"/>
                </a:highlight>
              </a:rPr>
              <a:t>select</a:t>
            </a:r>
            <a:r>
              <a:rPr lang="es" sz="1600">
                <a:solidFill>
                  <a:srgbClr val="24292E"/>
                </a:solidFill>
                <a:highlight>
                  <a:srgbClr val="FFFFFF"/>
                </a:highlight>
              </a:rPr>
              <a:t>: al cambiar el valor de un &lt;select&gt; o al seleccionar texto de un &lt;input&gt; o &lt;textarea&gt;</a:t>
            </a:r>
            <a:endParaRPr sz="1600">
              <a:solidFill>
                <a:srgbClr val="24292E"/>
              </a:solidFill>
              <a:highlight>
                <a:srgbClr val="FFFFFF"/>
              </a:highlight>
            </a:endParaRPr>
          </a:p>
          <a:p>
            <a:pPr indent="-307340" lvl="0" marL="457200" rtl="0" algn="l">
              <a:lnSpc>
                <a:spcPct val="115000"/>
              </a:lnSpc>
              <a:spcBef>
                <a:spcPts val="0"/>
              </a:spcBef>
              <a:spcAft>
                <a:spcPts val="0"/>
              </a:spcAft>
              <a:buClr>
                <a:srgbClr val="24292E"/>
              </a:buClr>
              <a:buSzPct val="100000"/>
              <a:buChar char="●"/>
            </a:pPr>
            <a:r>
              <a:rPr b="1" lang="es" sz="1600">
                <a:solidFill>
                  <a:srgbClr val="24292E"/>
                </a:solidFill>
                <a:highlight>
                  <a:srgbClr val="FFFFFF"/>
                </a:highlight>
              </a:rPr>
              <a:t>submit / reset</a:t>
            </a:r>
            <a:r>
              <a:rPr lang="es" sz="1600">
                <a:solidFill>
                  <a:srgbClr val="24292E"/>
                </a:solidFill>
                <a:highlight>
                  <a:srgbClr val="FFFFFF"/>
                </a:highlight>
              </a:rPr>
              <a:t>: al enviar/recargar un formulario</a:t>
            </a:r>
            <a:endParaRPr sz="2100">
              <a:solidFill>
                <a:srgbClr val="24292E"/>
              </a:solidFill>
              <a:highlight>
                <a:srgbClr val="FFFFFF"/>
              </a:highlight>
            </a:endParaRPr>
          </a:p>
        </p:txBody>
      </p:sp>
      <p:sp>
        <p:nvSpPr>
          <p:cNvPr id="187" name="Google Shape;187;p16"/>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5.1 Modelo de gestión de eventos</a:t>
            </a:r>
            <a:endParaRPr/>
          </a:p>
          <a:p>
            <a:pPr indent="0" lvl="0" marL="0" rtl="0" algn="l">
              <a:lnSpc>
                <a:spcPct val="100000"/>
              </a:lnSpc>
              <a:spcBef>
                <a:spcPts val="1800"/>
              </a:spcBef>
              <a:spcAft>
                <a:spcPts val="1200"/>
              </a:spcAft>
              <a:buSzPts val="2600"/>
              <a:buNone/>
            </a:pPr>
            <a:r>
              <a:rPr lang="es" sz="2400">
                <a:solidFill>
                  <a:srgbClr val="24292E"/>
                </a:solidFill>
                <a:highlight>
                  <a:srgbClr val="FFFFFF"/>
                </a:highlight>
              </a:rPr>
              <a:t>Tipos de eventos</a:t>
            </a:r>
            <a:endParaRPr b="1" sz="2400">
              <a:solidFill>
                <a:srgbClr val="24292E"/>
              </a:solidFill>
              <a:highlight>
                <a:srgbClr val="FFFFFF"/>
              </a:high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7"/>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s" sz="1500">
                <a:solidFill>
                  <a:srgbClr val="0F0F0F"/>
                </a:solidFill>
                <a:latin typeface="Roboto"/>
                <a:ea typeface="Roboto"/>
                <a:cs typeface="Roboto"/>
                <a:sym typeface="Roboto"/>
              </a:rPr>
              <a:t>Puedes usar </a:t>
            </a:r>
            <a:r>
              <a:rPr b="1" lang="es" sz="1750">
                <a:solidFill>
                  <a:srgbClr val="188038"/>
                </a:solidFill>
                <a:latin typeface="Courier New"/>
                <a:ea typeface="Courier New"/>
                <a:cs typeface="Courier New"/>
                <a:sym typeface="Courier New"/>
              </a:rPr>
              <a:t>event.preventDefault()</a:t>
            </a:r>
            <a:r>
              <a:rPr lang="es" sz="1500">
                <a:solidFill>
                  <a:srgbClr val="0F0F0F"/>
                </a:solidFill>
                <a:latin typeface="Roboto"/>
                <a:ea typeface="Roboto"/>
                <a:cs typeface="Roboto"/>
                <a:sym typeface="Roboto"/>
              </a:rPr>
              <a:t> para evitar que el navegador realice la acción por defecto asociada a un evento.</a:t>
            </a:r>
            <a:endParaRPr sz="3100"/>
          </a:p>
        </p:txBody>
      </p:sp>
      <p:sp>
        <p:nvSpPr>
          <p:cNvPr id="193" name="Google Shape;193;p17"/>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t/>
            </a:r>
            <a:endParaRPr/>
          </a:p>
        </p:txBody>
      </p:sp>
      <p:pic>
        <p:nvPicPr>
          <p:cNvPr id="194" name="Google Shape;194;p17"/>
          <p:cNvPicPr preferRelativeResize="0"/>
          <p:nvPr/>
        </p:nvPicPr>
        <p:blipFill rotWithShape="1">
          <a:blip r:embed="rId3">
            <a:alphaModFix/>
          </a:blip>
          <a:srcRect b="0" l="0" r="0" t="0"/>
          <a:stretch/>
        </p:blipFill>
        <p:spPr>
          <a:xfrm>
            <a:off x="266700" y="1072900"/>
            <a:ext cx="8610600" cy="32670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8"/>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1800"/>
              </a:spcBef>
              <a:spcAft>
                <a:spcPts val="0"/>
              </a:spcAft>
              <a:buSzPts val="1300"/>
              <a:buNone/>
            </a:pPr>
            <a:r>
              <a:rPr b="1" lang="es" sz="1650">
                <a:solidFill>
                  <a:srgbClr val="24292E"/>
                </a:solidFill>
                <a:highlight>
                  <a:srgbClr val="FFFFFF"/>
                </a:highlight>
                <a:latin typeface="Arial"/>
                <a:ea typeface="Arial"/>
                <a:cs typeface="Arial"/>
                <a:sym typeface="Arial"/>
              </a:rPr>
              <a:t>Eventos de toque</a:t>
            </a:r>
            <a:endParaRPr b="1" sz="1650">
              <a:solidFill>
                <a:srgbClr val="24292E"/>
              </a:solidFill>
              <a:highlight>
                <a:srgbClr val="FFFFFF"/>
              </a:highlight>
              <a:latin typeface="Arial"/>
              <a:ea typeface="Arial"/>
              <a:cs typeface="Arial"/>
              <a:sym typeface="Arial"/>
            </a:endParaRPr>
          </a:p>
          <a:p>
            <a:pPr indent="0" lvl="0" marL="0" rtl="0" algn="l">
              <a:lnSpc>
                <a:spcPct val="115000"/>
              </a:lnSpc>
              <a:spcBef>
                <a:spcPts val="1200"/>
              </a:spcBef>
              <a:spcAft>
                <a:spcPts val="0"/>
              </a:spcAft>
              <a:buSzPts val="1300"/>
              <a:buNone/>
            </a:pPr>
            <a:r>
              <a:rPr lang="es" sz="1200">
                <a:solidFill>
                  <a:srgbClr val="24292E"/>
                </a:solidFill>
                <a:highlight>
                  <a:srgbClr val="FFFFFF"/>
                </a:highlight>
                <a:latin typeface="Arial"/>
                <a:ea typeface="Arial"/>
                <a:cs typeface="Arial"/>
                <a:sym typeface="Arial"/>
              </a:rPr>
              <a:t>Se producen al usar una pantalla táctil:</a:t>
            </a:r>
            <a:endParaRPr sz="1200">
              <a:solidFill>
                <a:srgbClr val="24292E"/>
              </a:solidFill>
              <a:highlight>
                <a:srgbClr val="FFFFFF"/>
              </a:highlight>
              <a:latin typeface="Arial"/>
              <a:ea typeface="Arial"/>
              <a:cs typeface="Arial"/>
              <a:sym typeface="Arial"/>
            </a:endParaRPr>
          </a:p>
          <a:p>
            <a:pPr indent="-304800" lvl="0" marL="457200" rtl="0" algn="l">
              <a:lnSpc>
                <a:spcPct val="115000"/>
              </a:lnSpc>
              <a:spcBef>
                <a:spcPts val="1200"/>
              </a:spcBef>
              <a:spcAft>
                <a:spcPts val="0"/>
              </a:spcAft>
              <a:buClr>
                <a:srgbClr val="24292E"/>
              </a:buClr>
              <a:buSzPts val="1200"/>
              <a:buFont typeface="Arial"/>
              <a:buChar char="●"/>
            </a:pPr>
            <a:r>
              <a:rPr lang="es" sz="1200">
                <a:solidFill>
                  <a:srgbClr val="24292E"/>
                </a:solidFill>
                <a:highlight>
                  <a:srgbClr val="FFFFFF"/>
                </a:highlight>
                <a:latin typeface="Arial"/>
                <a:ea typeface="Arial"/>
                <a:cs typeface="Arial"/>
                <a:sym typeface="Arial"/>
              </a:rPr>
              <a:t>touchstart: se produce cuando se detecta un toque en la pantalla táctil</a:t>
            </a:r>
            <a:endParaRPr sz="1200">
              <a:solidFill>
                <a:srgbClr val="24292E"/>
              </a:solidFill>
              <a:highlight>
                <a:srgbClr val="FFFFFF"/>
              </a:highlight>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200">
                <a:solidFill>
                  <a:srgbClr val="24292E"/>
                </a:solidFill>
                <a:highlight>
                  <a:srgbClr val="FFFFFF"/>
                </a:highlight>
                <a:latin typeface="Arial"/>
                <a:ea typeface="Arial"/>
                <a:cs typeface="Arial"/>
                <a:sym typeface="Arial"/>
              </a:rPr>
              <a:t>touchend: cuando se deja de pulsar la pantalla táctil</a:t>
            </a:r>
            <a:endParaRPr sz="1200">
              <a:solidFill>
                <a:srgbClr val="24292E"/>
              </a:solidFill>
              <a:highlight>
                <a:srgbClr val="FFFFFF"/>
              </a:highlight>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200">
                <a:solidFill>
                  <a:srgbClr val="24292E"/>
                </a:solidFill>
                <a:highlight>
                  <a:srgbClr val="FFFFFF"/>
                </a:highlight>
                <a:latin typeface="Arial"/>
                <a:ea typeface="Arial"/>
                <a:cs typeface="Arial"/>
                <a:sym typeface="Arial"/>
              </a:rPr>
              <a:t>touchmove: cuando un dedo es desplazado a través de la pantalla</a:t>
            </a:r>
            <a:endParaRPr sz="1200">
              <a:solidFill>
                <a:srgbClr val="24292E"/>
              </a:solidFill>
              <a:highlight>
                <a:srgbClr val="FFFFFF"/>
              </a:highlight>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200">
                <a:solidFill>
                  <a:srgbClr val="24292E"/>
                </a:solidFill>
                <a:highlight>
                  <a:srgbClr val="FFFFFF"/>
                </a:highlight>
                <a:latin typeface="Arial"/>
                <a:ea typeface="Arial"/>
                <a:cs typeface="Arial"/>
                <a:sym typeface="Arial"/>
              </a:rPr>
              <a:t>touchcancel: cuando se interrumpe un evento táctil.</a:t>
            </a:r>
            <a:endParaRPr b="1" sz="2232"/>
          </a:p>
        </p:txBody>
      </p:sp>
      <p:sp>
        <p:nvSpPr>
          <p:cNvPr id="200" name="Google Shape;200;p18"/>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5.1 Modelo de gestión de eventos</a:t>
            </a:r>
            <a:endParaRPr/>
          </a:p>
          <a:p>
            <a:pPr indent="0" lvl="0" marL="0" rtl="0" algn="l">
              <a:lnSpc>
                <a:spcPct val="100000"/>
              </a:lnSpc>
              <a:spcBef>
                <a:spcPts val="1800"/>
              </a:spcBef>
              <a:spcAft>
                <a:spcPts val="1200"/>
              </a:spcAft>
              <a:buSzPts val="2600"/>
              <a:buNone/>
            </a:pPr>
            <a:r>
              <a:rPr lang="es" sz="2400">
                <a:solidFill>
                  <a:srgbClr val="24292E"/>
                </a:solidFill>
                <a:highlight>
                  <a:srgbClr val="FFFFFF"/>
                </a:highlight>
              </a:rPr>
              <a:t>Tipos de eventos</a:t>
            </a:r>
            <a:endParaRPr b="1" sz="2400">
              <a:solidFill>
                <a:srgbClr val="24292E"/>
              </a:solidFill>
              <a:highlight>
                <a:srgbClr val="FFFFFF"/>
              </a:high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9"/>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Autofit/>
          </a:bodyPr>
          <a:lstStyle/>
          <a:p>
            <a:pPr indent="-342900" lvl="0" marL="457200" rtl="0" algn="l">
              <a:lnSpc>
                <a:spcPct val="105000"/>
              </a:lnSpc>
              <a:spcBef>
                <a:spcPts val="0"/>
              </a:spcBef>
              <a:spcAft>
                <a:spcPts val="0"/>
              </a:spcAft>
              <a:buClr>
                <a:srgbClr val="24292E"/>
              </a:buClr>
              <a:buSzPts val="1800"/>
              <a:buChar char="●"/>
            </a:pPr>
            <a:r>
              <a:rPr b="1" lang="es" sz="1800">
                <a:solidFill>
                  <a:srgbClr val="24292E"/>
                </a:solidFill>
                <a:highlight>
                  <a:srgbClr val="FFFFFF"/>
                </a:highlight>
              </a:rPr>
              <a:t>this</a:t>
            </a:r>
            <a:r>
              <a:rPr lang="es" sz="1800">
                <a:solidFill>
                  <a:srgbClr val="24292E"/>
                </a:solidFill>
                <a:highlight>
                  <a:srgbClr val="FFFFFF"/>
                </a:highlight>
              </a:rPr>
              <a:t>: siempre hace referencia al elemento que contiene el código en donde se encuentra la variable </a:t>
            </a:r>
            <a:r>
              <a:rPr i="1" lang="es" sz="1800">
                <a:solidFill>
                  <a:srgbClr val="24292E"/>
                </a:solidFill>
                <a:highlight>
                  <a:srgbClr val="FFFFFF"/>
                </a:highlight>
              </a:rPr>
              <a:t>this</a:t>
            </a:r>
            <a:r>
              <a:rPr lang="es" sz="1800">
                <a:solidFill>
                  <a:srgbClr val="24292E"/>
                </a:solidFill>
                <a:highlight>
                  <a:srgbClr val="FFFFFF"/>
                </a:highlight>
              </a:rPr>
              <a:t>. </a:t>
            </a:r>
            <a:endParaRPr sz="1800">
              <a:solidFill>
                <a:srgbClr val="24292E"/>
              </a:solidFill>
              <a:highlight>
                <a:srgbClr val="FFFFFF"/>
              </a:highlight>
            </a:endParaRPr>
          </a:p>
          <a:p>
            <a:pPr indent="-342900" lvl="1" marL="914400" rtl="0" algn="l">
              <a:lnSpc>
                <a:spcPct val="105000"/>
              </a:lnSpc>
              <a:spcBef>
                <a:spcPts val="0"/>
              </a:spcBef>
              <a:spcAft>
                <a:spcPts val="0"/>
              </a:spcAft>
              <a:buClr>
                <a:schemeClr val="dk1"/>
              </a:buClr>
              <a:buSzPts val="1800"/>
              <a:buChar char="○"/>
            </a:pPr>
            <a:r>
              <a:rPr lang="es" sz="1800">
                <a:solidFill>
                  <a:srgbClr val="24292E"/>
                </a:solidFill>
                <a:highlight>
                  <a:srgbClr val="FFFFFF"/>
                </a:highlight>
              </a:rPr>
              <a:t>En el caso de una función escuchadora será el elemento que tiene el escuchador que ha recibido el evento</a:t>
            </a:r>
            <a:endParaRPr sz="1800">
              <a:solidFill>
                <a:srgbClr val="24292E"/>
              </a:solidFill>
              <a:highlight>
                <a:srgbClr val="FFFFFF"/>
              </a:highlight>
            </a:endParaRPr>
          </a:p>
          <a:p>
            <a:pPr indent="0" lvl="0" marL="914400" rtl="0" algn="l">
              <a:lnSpc>
                <a:spcPct val="115000"/>
              </a:lnSpc>
              <a:spcBef>
                <a:spcPts val="1200"/>
              </a:spcBef>
              <a:spcAft>
                <a:spcPts val="0"/>
              </a:spcAft>
              <a:buSzPts val="1300"/>
              <a:buNone/>
            </a:pPr>
            <a:r>
              <a:rPr lang="es" sz="1200">
                <a:solidFill>
                  <a:srgbClr val="24292E"/>
                </a:solidFill>
                <a:highlight>
                  <a:srgbClr val="FFFFFF"/>
                </a:highlight>
                <a:latin typeface="Arial"/>
                <a:ea typeface="Arial"/>
                <a:cs typeface="Arial"/>
                <a:sym typeface="Arial"/>
              </a:rPr>
              <a:t>const button = document.getElementById(“myButton”); </a:t>
            </a:r>
            <a:endParaRPr sz="1200">
              <a:solidFill>
                <a:srgbClr val="24292E"/>
              </a:solidFill>
              <a:highlight>
                <a:srgbClr val="FFFFFF"/>
              </a:highlight>
              <a:latin typeface="Arial"/>
              <a:ea typeface="Arial"/>
              <a:cs typeface="Arial"/>
              <a:sym typeface="Arial"/>
            </a:endParaRPr>
          </a:p>
          <a:p>
            <a:pPr indent="0" lvl="0" marL="914400" rtl="0" algn="l">
              <a:lnSpc>
                <a:spcPct val="115000"/>
              </a:lnSpc>
              <a:spcBef>
                <a:spcPts val="1200"/>
              </a:spcBef>
              <a:spcAft>
                <a:spcPts val="0"/>
              </a:spcAft>
              <a:buSzPts val="1300"/>
              <a:buNone/>
            </a:pPr>
            <a:r>
              <a:rPr lang="es" sz="1200">
                <a:solidFill>
                  <a:srgbClr val="24292E"/>
                </a:solidFill>
                <a:highlight>
                  <a:srgbClr val="FFFFFF"/>
                </a:highlight>
                <a:latin typeface="Arial"/>
                <a:ea typeface="Arial"/>
                <a:cs typeface="Arial"/>
                <a:sym typeface="Arial"/>
              </a:rPr>
              <a:t>button.addEventListener(“click”, function() { </a:t>
            </a:r>
            <a:endParaRPr sz="1200">
              <a:solidFill>
                <a:srgbClr val="24292E"/>
              </a:solidFill>
              <a:highlight>
                <a:srgbClr val="FFFFFF"/>
              </a:highlight>
              <a:latin typeface="Arial"/>
              <a:ea typeface="Arial"/>
              <a:cs typeface="Arial"/>
              <a:sym typeface="Arial"/>
            </a:endParaRPr>
          </a:p>
          <a:p>
            <a:pPr indent="457200" lvl="0" marL="914400" rtl="0" algn="l">
              <a:lnSpc>
                <a:spcPct val="115000"/>
              </a:lnSpc>
              <a:spcBef>
                <a:spcPts val="1200"/>
              </a:spcBef>
              <a:spcAft>
                <a:spcPts val="0"/>
              </a:spcAft>
              <a:buSzPts val="1300"/>
              <a:buNone/>
            </a:pPr>
            <a:r>
              <a:rPr lang="es" sz="1200">
                <a:solidFill>
                  <a:srgbClr val="24292E"/>
                </a:solidFill>
                <a:highlight>
                  <a:srgbClr val="FFFFFF"/>
                </a:highlight>
                <a:latin typeface="Arial"/>
                <a:ea typeface="Arial"/>
                <a:cs typeface="Arial"/>
                <a:sym typeface="Arial"/>
              </a:rPr>
              <a:t>console.log(this); // Aquí </a:t>
            </a:r>
            <a:r>
              <a:rPr lang="es" sz="1000">
                <a:solidFill>
                  <a:srgbClr val="24292E"/>
                </a:solidFill>
                <a:highlight>
                  <a:srgbClr val="FFFFFF"/>
                </a:highlight>
                <a:latin typeface="Courier New"/>
                <a:ea typeface="Courier New"/>
                <a:cs typeface="Courier New"/>
                <a:sym typeface="Courier New"/>
              </a:rPr>
              <a:t>this</a:t>
            </a:r>
            <a:r>
              <a:rPr lang="es" sz="1200">
                <a:solidFill>
                  <a:srgbClr val="24292E"/>
                </a:solidFill>
                <a:highlight>
                  <a:srgbClr val="FFFFFF"/>
                </a:highlight>
                <a:latin typeface="Arial"/>
                <a:ea typeface="Arial"/>
                <a:cs typeface="Arial"/>
                <a:sym typeface="Arial"/>
              </a:rPr>
              <a:t> es el botón </a:t>
            </a:r>
            <a:r>
              <a:rPr lang="es" sz="1000">
                <a:solidFill>
                  <a:srgbClr val="24292E"/>
                </a:solidFill>
                <a:highlight>
                  <a:srgbClr val="FFFFFF"/>
                </a:highlight>
                <a:latin typeface="Courier New"/>
                <a:ea typeface="Courier New"/>
                <a:cs typeface="Courier New"/>
                <a:sym typeface="Courier New"/>
              </a:rPr>
              <a:t>myButton</a:t>
            </a:r>
            <a:r>
              <a:rPr lang="es" sz="1200">
                <a:solidFill>
                  <a:srgbClr val="24292E"/>
                </a:solidFill>
                <a:highlight>
                  <a:srgbClr val="FFFFFF"/>
                </a:highlight>
                <a:latin typeface="Arial"/>
                <a:ea typeface="Arial"/>
                <a:cs typeface="Arial"/>
                <a:sym typeface="Arial"/>
              </a:rPr>
              <a:t> </a:t>
            </a:r>
            <a:endParaRPr sz="1200">
              <a:solidFill>
                <a:srgbClr val="24292E"/>
              </a:solidFill>
              <a:highlight>
                <a:srgbClr val="FFFFFF"/>
              </a:highlight>
              <a:latin typeface="Arial"/>
              <a:ea typeface="Arial"/>
              <a:cs typeface="Arial"/>
              <a:sym typeface="Arial"/>
            </a:endParaRPr>
          </a:p>
          <a:p>
            <a:pPr indent="457200" lvl="0" marL="914400" rtl="0" algn="l">
              <a:lnSpc>
                <a:spcPct val="115000"/>
              </a:lnSpc>
              <a:spcBef>
                <a:spcPts val="1200"/>
              </a:spcBef>
              <a:spcAft>
                <a:spcPts val="0"/>
              </a:spcAft>
              <a:buSzPts val="1300"/>
              <a:buNone/>
            </a:pPr>
            <a:r>
              <a:rPr lang="es" sz="1200">
                <a:solidFill>
                  <a:srgbClr val="24292E"/>
                </a:solidFill>
                <a:highlight>
                  <a:srgbClr val="FFFFFF"/>
                </a:highlight>
                <a:latin typeface="Arial"/>
                <a:ea typeface="Arial"/>
                <a:cs typeface="Arial"/>
                <a:sym typeface="Arial"/>
              </a:rPr>
              <a:t>this.textContent = “¡Hiciste clic!”; //Cambiaría el texto del botón de esta manera</a:t>
            </a:r>
            <a:endParaRPr sz="1200">
              <a:solidFill>
                <a:srgbClr val="24292E"/>
              </a:solidFill>
              <a:highlight>
                <a:srgbClr val="FFFFFF"/>
              </a:highlight>
              <a:latin typeface="Arial"/>
              <a:ea typeface="Arial"/>
              <a:cs typeface="Arial"/>
              <a:sym typeface="Arial"/>
            </a:endParaRPr>
          </a:p>
          <a:p>
            <a:pPr indent="0" lvl="0" marL="914400" rtl="0" algn="l">
              <a:lnSpc>
                <a:spcPct val="115000"/>
              </a:lnSpc>
              <a:spcBef>
                <a:spcPts val="1200"/>
              </a:spcBef>
              <a:spcAft>
                <a:spcPts val="0"/>
              </a:spcAft>
              <a:buSzPts val="1300"/>
              <a:buNone/>
            </a:pPr>
            <a:r>
              <a:rPr lang="es" sz="1200">
                <a:solidFill>
                  <a:srgbClr val="24292E"/>
                </a:solidFill>
                <a:highlight>
                  <a:srgbClr val="FFFFFF"/>
                </a:highlight>
                <a:latin typeface="Arial"/>
                <a:ea typeface="Arial"/>
                <a:cs typeface="Arial"/>
                <a:sym typeface="Arial"/>
              </a:rPr>
              <a:t>});</a:t>
            </a:r>
            <a:endParaRPr sz="1200">
              <a:solidFill>
                <a:srgbClr val="24292E"/>
              </a:solidFill>
              <a:highlight>
                <a:srgbClr val="FFFFFF"/>
              </a:highlight>
              <a:latin typeface="Arial"/>
              <a:ea typeface="Arial"/>
              <a:cs typeface="Arial"/>
              <a:sym typeface="Arial"/>
            </a:endParaRPr>
          </a:p>
          <a:p>
            <a:pPr indent="0" lvl="0" marL="914400" rtl="0" algn="l">
              <a:lnSpc>
                <a:spcPct val="105000"/>
              </a:lnSpc>
              <a:spcBef>
                <a:spcPts val="1200"/>
              </a:spcBef>
              <a:spcAft>
                <a:spcPts val="1200"/>
              </a:spcAft>
              <a:buSzPts val="1300"/>
              <a:buNone/>
            </a:pPr>
            <a:r>
              <a:t/>
            </a:r>
            <a:endParaRPr sz="1800">
              <a:solidFill>
                <a:srgbClr val="24292E"/>
              </a:solidFill>
              <a:highlight>
                <a:srgbClr val="FFFFFF"/>
              </a:highlight>
            </a:endParaRPr>
          </a:p>
        </p:txBody>
      </p:sp>
      <p:sp>
        <p:nvSpPr>
          <p:cNvPr id="206" name="Google Shape;206;p19"/>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5.1 Modelo de gestión de eventos</a:t>
            </a:r>
            <a:endParaRPr/>
          </a:p>
          <a:p>
            <a:pPr indent="0" lvl="0" marL="76200" rtl="0" algn="l">
              <a:lnSpc>
                <a:spcPct val="100000"/>
              </a:lnSpc>
              <a:spcBef>
                <a:spcPts val="1800"/>
              </a:spcBef>
              <a:spcAft>
                <a:spcPts val="1200"/>
              </a:spcAft>
              <a:buSzPts val="2600"/>
              <a:buNone/>
            </a:pPr>
            <a:r>
              <a:rPr lang="es" sz="1700">
                <a:solidFill>
                  <a:srgbClr val="24292E"/>
                </a:solidFill>
                <a:highlight>
                  <a:srgbClr val="FFFFFF"/>
                </a:highlight>
                <a:latin typeface="Arial"/>
                <a:ea typeface="Arial"/>
                <a:cs typeface="Arial"/>
                <a:sym typeface="Arial"/>
              </a:rPr>
              <a:t>Los objetos </a:t>
            </a:r>
            <a:r>
              <a:rPr i="1" lang="es" sz="1700">
                <a:solidFill>
                  <a:srgbClr val="24292E"/>
                </a:solidFill>
                <a:highlight>
                  <a:srgbClr val="FFFFFF"/>
                </a:highlight>
                <a:latin typeface="Arial"/>
                <a:ea typeface="Arial"/>
                <a:cs typeface="Arial"/>
                <a:sym typeface="Arial"/>
              </a:rPr>
              <a:t>this</a:t>
            </a:r>
            <a:r>
              <a:rPr lang="es" sz="1700">
                <a:solidFill>
                  <a:srgbClr val="24292E"/>
                </a:solidFill>
                <a:highlight>
                  <a:srgbClr val="FFFFFF"/>
                </a:highlight>
                <a:latin typeface="Arial"/>
                <a:ea typeface="Arial"/>
                <a:cs typeface="Arial"/>
                <a:sym typeface="Arial"/>
              </a:rPr>
              <a:t> y </a:t>
            </a:r>
            <a:r>
              <a:rPr i="1" lang="es" sz="1700">
                <a:solidFill>
                  <a:srgbClr val="24292E"/>
                </a:solidFill>
                <a:highlight>
                  <a:srgbClr val="FFFFFF"/>
                </a:highlight>
                <a:latin typeface="Arial"/>
                <a:ea typeface="Arial"/>
                <a:cs typeface="Arial"/>
                <a:sym typeface="Arial"/>
              </a:rPr>
              <a:t>event</a:t>
            </a:r>
            <a:endParaRPr sz="2400">
              <a:solidFill>
                <a:srgbClr val="24292E"/>
              </a:solidFill>
              <a:highlight>
                <a:srgbClr val="FFFFFF"/>
              </a:high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0"/>
          <p:cNvSpPr txBox="1"/>
          <p:nvPr>
            <p:ph idx="1" type="body"/>
          </p:nvPr>
        </p:nvSpPr>
        <p:spPr>
          <a:xfrm>
            <a:off x="727650" y="1828225"/>
            <a:ext cx="7688700" cy="2261100"/>
          </a:xfrm>
          <a:prstGeom prst="rect">
            <a:avLst/>
          </a:prstGeom>
          <a:noFill/>
          <a:ln>
            <a:noFill/>
          </a:ln>
        </p:spPr>
        <p:txBody>
          <a:bodyPr anchorCtr="0" anchor="t" bIns="91425" lIns="91425" spcFirstLastPara="1" rIns="91425" wrap="square" tIns="91425">
            <a:noAutofit/>
          </a:bodyPr>
          <a:lstStyle/>
          <a:p>
            <a:pPr indent="-317500" lvl="0" marL="457200" rtl="0" algn="l">
              <a:lnSpc>
                <a:spcPct val="105000"/>
              </a:lnSpc>
              <a:spcBef>
                <a:spcPts val="0"/>
              </a:spcBef>
              <a:spcAft>
                <a:spcPts val="0"/>
              </a:spcAft>
              <a:buClr>
                <a:srgbClr val="24292E"/>
              </a:buClr>
              <a:buSzPts val="1400"/>
              <a:buChar char="●"/>
            </a:pPr>
            <a:r>
              <a:rPr b="1" lang="es" sz="1400">
                <a:solidFill>
                  <a:srgbClr val="24292E"/>
                </a:solidFill>
                <a:highlight>
                  <a:srgbClr val="FFFFFF"/>
                </a:highlight>
              </a:rPr>
              <a:t>event</a:t>
            </a:r>
            <a:r>
              <a:rPr lang="es" sz="1400">
                <a:solidFill>
                  <a:srgbClr val="24292E"/>
                </a:solidFill>
                <a:highlight>
                  <a:srgbClr val="FFFFFF"/>
                </a:highlight>
              </a:rPr>
              <a:t>: es un objeto y la función escuchadora lo recibe como parámetro. Tiene propiedades y métodos que nos dan información sobre el evento, como:</a:t>
            </a:r>
            <a:endParaRPr sz="1400">
              <a:solidFill>
                <a:srgbClr val="24292E"/>
              </a:solidFill>
              <a:highlight>
                <a:srgbClr val="FFFFFF"/>
              </a:highlight>
            </a:endParaRPr>
          </a:p>
          <a:p>
            <a:pPr indent="-317500" lvl="0" marL="914400" rtl="0" algn="l">
              <a:lnSpc>
                <a:spcPct val="105000"/>
              </a:lnSpc>
              <a:spcBef>
                <a:spcPts val="0"/>
              </a:spcBef>
              <a:spcAft>
                <a:spcPts val="0"/>
              </a:spcAft>
              <a:buClr>
                <a:srgbClr val="24292E"/>
              </a:buClr>
              <a:buSzPts val="1400"/>
              <a:buChar char="●"/>
            </a:pPr>
            <a:r>
              <a:rPr lang="es" sz="1400">
                <a:solidFill>
                  <a:srgbClr val="24292E"/>
                </a:solidFill>
                <a:highlight>
                  <a:srgbClr val="FFFFFF"/>
                </a:highlight>
              </a:rPr>
              <a:t>.</a:t>
            </a:r>
            <a:r>
              <a:rPr b="1" lang="es" sz="1400">
                <a:solidFill>
                  <a:srgbClr val="24292E"/>
                </a:solidFill>
                <a:highlight>
                  <a:srgbClr val="FFFFFF"/>
                </a:highlight>
              </a:rPr>
              <a:t>type</a:t>
            </a:r>
            <a:r>
              <a:rPr lang="es" sz="1400">
                <a:solidFill>
                  <a:srgbClr val="24292E"/>
                </a:solidFill>
                <a:highlight>
                  <a:srgbClr val="FFFFFF"/>
                </a:highlight>
              </a:rPr>
              <a:t>: qué evento se ha producido (click, submit, keyDown, …)</a:t>
            </a:r>
            <a:endParaRPr sz="1400">
              <a:solidFill>
                <a:srgbClr val="24292E"/>
              </a:solidFill>
              <a:highlight>
                <a:srgbClr val="FFFFFF"/>
              </a:highlight>
            </a:endParaRPr>
          </a:p>
          <a:p>
            <a:pPr indent="-317500" lvl="0" marL="914400" rtl="0" algn="l">
              <a:lnSpc>
                <a:spcPct val="105000"/>
              </a:lnSpc>
              <a:spcBef>
                <a:spcPts val="0"/>
              </a:spcBef>
              <a:spcAft>
                <a:spcPts val="0"/>
              </a:spcAft>
              <a:buClr>
                <a:srgbClr val="24292E"/>
              </a:buClr>
              <a:buSzPts val="1400"/>
              <a:buChar char="●"/>
            </a:pPr>
            <a:r>
              <a:rPr lang="es" sz="1400">
                <a:solidFill>
                  <a:srgbClr val="24292E"/>
                </a:solidFill>
                <a:highlight>
                  <a:srgbClr val="FFFFFF"/>
                </a:highlight>
              </a:rPr>
              <a:t>.</a:t>
            </a:r>
            <a:r>
              <a:rPr b="1" lang="es" sz="1400">
                <a:solidFill>
                  <a:srgbClr val="24292E"/>
                </a:solidFill>
                <a:highlight>
                  <a:srgbClr val="FFFFFF"/>
                </a:highlight>
              </a:rPr>
              <a:t>target</a:t>
            </a:r>
            <a:r>
              <a:rPr lang="es" sz="1400">
                <a:solidFill>
                  <a:srgbClr val="24292E"/>
                </a:solidFill>
                <a:highlight>
                  <a:srgbClr val="FFFFFF"/>
                </a:highlight>
              </a:rPr>
              <a:t>: el elemento donde se produjo el evento </a:t>
            </a:r>
            <a:endParaRPr sz="1400">
              <a:solidFill>
                <a:srgbClr val="24292E"/>
              </a:solidFill>
              <a:highlight>
                <a:srgbClr val="FFFFFF"/>
              </a:highlight>
            </a:endParaRPr>
          </a:p>
          <a:p>
            <a:pPr indent="-317500" lvl="0" marL="914400" rtl="0" algn="l">
              <a:lnSpc>
                <a:spcPct val="105000"/>
              </a:lnSpc>
              <a:spcBef>
                <a:spcPts val="0"/>
              </a:spcBef>
              <a:spcAft>
                <a:spcPts val="0"/>
              </a:spcAft>
              <a:buClr>
                <a:srgbClr val="24292E"/>
              </a:buClr>
              <a:buSzPts val="1400"/>
              <a:buChar char="●"/>
            </a:pPr>
            <a:r>
              <a:rPr lang="es" sz="1400">
                <a:solidFill>
                  <a:srgbClr val="24292E"/>
                </a:solidFill>
                <a:highlight>
                  <a:srgbClr val="FFFFFF"/>
                </a:highlight>
              </a:rPr>
              <a:t>.</a:t>
            </a:r>
            <a:r>
              <a:rPr b="1" lang="es" sz="1400">
                <a:solidFill>
                  <a:srgbClr val="24292E"/>
                </a:solidFill>
                <a:highlight>
                  <a:srgbClr val="FFFFFF"/>
                </a:highlight>
              </a:rPr>
              <a:t>preventDefault</a:t>
            </a:r>
            <a:r>
              <a:rPr lang="es" sz="1400">
                <a:solidFill>
                  <a:srgbClr val="24292E"/>
                </a:solidFill>
                <a:highlight>
                  <a:srgbClr val="FFFFFF"/>
                </a:highlight>
              </a:rPr>
              <a:t>(): Este método cancela la acción por defecto del navegador para el evento. 	</a:t>
            </a:r>
            <a:endParaRPr sz="1400">
              <a:solidFill>
                <a:srgbClr val="24292E"/>
              </a:solidFill>
              <a:highlight>
                <a:srgbClr val="FFFFFF"/>
              </a:highlight>
            </a:endParaRPr>
          </a:p>
          <a:p>
            <a:pPr indent="-317500" lvl="1" marL="1371600" rtl="0" algn="l">
              <a:lnSpc>
                <a:spcPct val="105000"/>
              </a:lnSpc>
              <a:spcBef>
                <a:spcPts val="0"/>
              </a:spcBef>
              <a:spcAft>
                <a:spcPts val="0"/>
              </a:spcAft>
              <a:buClr>
                <a:schemeClr val="dk1"/>
              </a:buClr>
              <a:buSzPts val="1400"/>
              <a:buChar char="○"/>
            </a:pPr>
            <a:r>
              <a:rPr lang="es" sz="1400">
                <a:solidFill>
                  <a:srgbClr val="24292E"/>
                </a:solidFill>
                <a:highlight>
                  <a:srgbClr val="FFFFFF"/>
                </a:highlight>
              </a:rPr>
              <a:t>Por ejemplo si el evento era el </a:t>
            </a:r>
            <a:r>
              <a:rPr i="1" lang="es" sz="1400">
                <a:solidFill>
                  <a:srgbClr val="24292E"/>
                </a:solidFill>
                <a:highlight>
                  <a:srgbClr val="FFFFFF"/>
                </a:highlight>
              </a:rPr>
              <a:t>submit</a:t>
            </a:r>
            <a:r>
              <a:rPr lang="es" sz="1400">
                <a:solidFill>
                  <a:srgbClr val="24292E"/>
                </a:solidFill>
                <a:highlight>
                  <a:srgbClr val="FFFFFF"/>
                </a:highlight>
              </a:rPr>
              <a:t> de un formulario éste no se enviará o si era un </a:t>
            </a:r>
            <a:r>
              <a:rPr i="1" lang="es" sz="1400">
                <a:solidFill>
                  <a:srgbClr val="24292E"/>
                </a:solidFill>
                <a:highlight>
                  <a:srgbClr val="FFFFFF"/>
                </a:highlight>
              </a:rPr>
              <a:t>click</a:t>
            </a:r>
            <a:r>
              <a:rPr lang="es" sz="1400">
                <a:solidFill>
                  <a:srgbClr val="24292E"/>
                </a:solidFill>
                <a:highlight>
                  <a:srgbClr val="FFFFFF"/>
                </a:highlight>
              </a:rPr>
              <a:t> sobre un hiperenlace no se irá a la página indicada en él.</a:t>
            </a:r>
            <a:endParaRPr sz="1400">
              <a:solidFill>
                <a:srgbClr val="24292E"/>
              </a:solidFill>
              <a:highlight>
                <a:srgbClr val="FFFFFF"/>
              </a:highlight>
            </a:endParaRPr>
          </a:p>
          <a:p>
            <a:pPr indent="-317500" lvl="0" marL="914400" rtl="0" algn="l">
              <a:lnSpc>
                <a:spcPct val="105000"/>
              </a:lnSpc>
              <a:spcBef>
                <a:spcPts val="0"/>
              </a:spcBef>
              <a:spcAft>
                <a:spcPts val="0"/>
              </a:spcAft>
              <a:buClr>
                <a:srgbClr val="24292E"/>
              </a:buClr>
              <a:buSzPts val="1400"/>
              <a:buChar char="●"/>
            </a:pPr>
            <a:r>
              <a:rPr lang="es" sz="1400">
                <a:solidFill>
                  <a:srgbClr val="24292E"/>
                </a:solidFill>
                <a:highlight>
                  <a:srgbClr val="FFFFFF"/>
                </a:highlight>
              </a:rPr>
              <a:t>.</a:t>
            </a:r>
            <a:r>
              <a:rPr b="1" lang="es" sz="1400">
                <a:solidFill>
                  <a:srgbClr val="24292E"/>
                </a:solidFill>
                <a:highlight>
                  <a:srgbClr val="FFFFFF"/>
                </a:highlight>
              </a:rPr>
              <a:t>stopPropagation</a:t>
            </a:r>
            <a:r>
              <a:rPr lang="es" sz="1400">
                <a:solidFill>
                  <a:srgbClr val="24292E"/>
                </a:solidFill>
                <a:highlight>
                  <a:srgbClr val="FFFFFF"/>
                </a:highlight>
              </a:rPr>
              <a:t>: un evento se produce sobre un elemento y todos su padres. Por ejemplo si hacemos click en un &lt;span&gt; que está en un &lt;p&gt; que está en un &lt;div&gt; que está en el BODY el evento se va propagando por todos estos elementos y saltarían los escuchadores asociados a todos ellos (si los hubiera). Si alguno llama a este método el evento no se propagará a los demás elementos padre.</a:t>
            </a:r>
            <a:endParaRPr sz="1400">
              <a:solidFill>
                <a:srgbClr val="24292E"/>
              </a:solidFill>
              <a:highlight>
                <a:srgbClr val="FFFFFF"/>
              </a:highlight>
            </a:endParaRPr>
          </a:p>
          <a:p>
            <a:pPr indent="0" lvl="0" marL="457200" rtl="0" algn="l">
              <a:lnSpc>
                <a:spcPct val="105000"/>
              </a:lnSpc>
              <a:spcBef>
                <a:spcPts val="0"/>
              </a:spcBef>
              <a:spcAft>
                <a:spcPts val="0"/>
              </a:spcAft>
              <a:buSzPts val="1300"/>
              <a:buNone/>
            </a:pPr>
            <a:r>
              <a:t/>
            </a:r>
            <a:endParaRPr sz="1400">
              <a:solidFill>
                <a:srgbClr val="24292E"/>
              </a:solidFill>
              <a:highlight>
                <a:srgbClr val="FFFFFF"/>
              </a:highlight>
            </a:endParaRPr>
          </a:p>
          <a:p>
            <a:pPr indent="0" lvl="0" marL="0" rtl="0" algn="l">
              <a:lnSpc>
                <a:spcPct val="105000"/>
              </a:lnSpc>
              <a:spcBef>
                <a:spcPts val="1200"/>
              </a:spcBef>
              <a:spcAft>
                <a:spcPts val="1200"/>
              </a:spcAft>
              <a:buSzPts val="1300"/>
              <a:buNone/>
            </a:pPr>
            <a:r>
              <a:t/>
            </a:r>
            <a:endParaRPr/>
          </a:p>
        </p:txBody>
      </p:sp>
      <p:sp>
        <p:nvSpPr>
          <p:cNvPr id="212" name="Google Shape;212;p20"/>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5.1 Modelo de gestión de eventos</a:t>
            </a:r>
            <a:endParaRPr/>
          </a:p>
          <a:p>
            <a:pPr indent="0" lvl="0" marL="76200" rtl="0" algn="l">
              <a:lnSpc>
                <a:spcPct val="100000"/>
              </a:lnSpc>
              <a:spcBef>
                <a:spcPts val="1800"/>
              </a:spcBef>
              <a:spcAft>
                <a:spcPts val="1200"/>
              </a:spcAft>
              <a:buSzPts val="2600"/>
              <a:buNone/>
            </a:pPr>
            <a:r>
              <a:rPr lang="es" sz="1700">
                <a:solidFill>
                  <a:srgbClr val="24292E"/>
                </a:solidFill>
                <a:highlight>
                  <a:srgbClr val="FFFFFF"/>
                </a:highlight>
                <a:latin typeface="Arial"/>
                <a:ea typeface="Arial"/>
                <a:cs typeface="Arial"/>
                <a:sym typeface="Arial"/>
              </a:rPr>
              <a:t>Los objetos </a:t>
            </a:r>
            <a:r>
              <a:rPr i="1" lang="es" sz="1700">
                <a:solidFill>
                  <a:srgbClr val="24292E"/>
                </a:solidFill>
                <a:highlight>
                  <a:srgbClr val="FFFFFF"/>
                </a:highlight>
                <a:latin typeface="Arial"/>
                <a:ea typeface="Arial"/>
                <a:cs typeface="Arial"/>
                <a:sym typeface="Arial"/>
              </a:rPr>
              <a:t>this</a:t>
            </a:r>
            <a:r>
              <a:rPr lang="es" sz="1700">
                <a:solidFill>
                  <a:srgbClr val="24292E"/>
                </a:solidFill>
                <a:highlight>
                  <a:srgbClr val="FFFFFF"/>
                </a:highlight>
                <a:latin typeface="Arial"/>
                <a:ea typeface="Arial"/>
                <a:cs typeface="Arial"/>
                <a:sym typeface="Arial"/>
              </a:rPr>
              <a:t> y </a:t>
            </a:r>
            <a:r>
              <a:rPr i="1" lang="es" sz="1700">
                <a:solidFill>
                  <a:srgbClr val="24292E"/>
                </a:solidFill>
                <a:highlight>
                  <a:srgbClr val="FFFFFF"/>
                </a:highlight>
                <a:latin typeface="Arial"/>
                <a:ea typeface="Arial"/>
                <a:cs typeface="Arial"/>
                <a:sym typeface="Arial"/>
              </a:rPr>
              <a:t>event</a:t>
            </a:r>
            <a:endParaRPr sz="2400">
              <a:solidFill>
                <a:srgbClr val="24292E"/>
              </a:solidFill>
              <a:highlight>
                <a:srgbClr val="FFFFFF"/>
              </a:high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1"/>
          <p:cNvSpPr txBox="1"/>
          <p:nvPr>
            <p:ph idx="1" type="body"/>
          </p:nvPr>
        </p:nvSpPr>
        <p:spPr>
          <a:xfrm>
            <a:off x="729450" y="1778000"/>
            <a:ext cx="7688700" cy="25620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300"/>
              </a:spcBef>
              <a:spcAft>
                <a:spcPts val="0"/>
              </a:spcAft>
              <a:buSzPct val="85537"/>
              <a:buNone/>
            </a:pPr>
            <a:r>
              <a:rPr lang="es" sz="1787">
                <a:solidFill>
                  <a:srgbClr val="24292E"/>
                </a:solidFill>
                <a:highlight>
                  <a:srgbClr val="FFFFFF"/>
                </a:highlight>
              </a:rPr>
              <a:t>Dependiendo del tipo de evento el objeto event  tendrá más propiedades:</a:t>
            </a:r>
            <a:endParaRPr sz="1787">
              <a:solidFill>
                <a:srgbClr val="24292E"/>
              </a:solidFill>
              <a:highlight>
                <a:srgbClr val="FFFFFF"/>
              </a:highlight>
            </a:endParaRPr>
          </a:p>
          <a:p>
            <a:pPr indent="0" lvl="0" marL="0" rtl="0" algn="l">
              <a:lnSpc>
                <a:spcPct val="115000"/>
              </a:lnSpc>
              <a:spcBef>
                <a:spcPts val="0"/>
              </a:spcBef>
              <a:spcAft>
                <a:spcPts val="0"/>
              </a:spcAft>
              <a:buSzPct val="89544"/>
              <a:buNone/>
            </a:pPr>
            <a:r>
              <a:rPr b="1" lang="es" sz="1708">
                <a:solidFill>
                  <a:srgbClr val="24292E"/>
                </a:solidFill>
                <a:highlight>
                  <a:srgbClr val="FFFFFF"/>
                </a:highlight>
              </a:rPr>
              <a:t>Eventos de ratón</a:t>
            </a:r>
            <a:r>
              <a:rPr lang="es" sz="1708">
                <a:solidFill>
                  <a:srgbClr val="24292E"/>
                </a:solidFill>
                <a:highlight>
                  <a:srgbClr val="FFFFFF"/>
                </a:highlight>
              </a:rPr>
              <a:t>:</a:t>
            </a:r>
            <a:endParaRPr sz="1708">
              <a:solidFill>
                <a:srgbClr val="24292E"/>
              </a:solidFill>
              <a:highlight>
                <a:srgbClr val="FFFFFF"/>
              </a:highlight>
            </a:endParaRPr>
          </a:p>
          <a:p>
            <a:pPr indent="-320845" lvl="1" marL="914400" rtl="0" algn="l">
              <a:lnSpc>
                <a:spcPct val="115000"/>
              </a:lnSpc>
              <a:spcBef>
                <a:spcPts val="0"/>
              </a:spcBef>
              <a:spcAft>
                <a:spcPts val="0"/>
              </a:spcAft>
              <a:buClr>
                <a:srgbClr val="24292E"/>
              </a:buClr>
              <a:buSzPct val="100000"/>
              <a:buChar char="○"/>
            </a:pPr>
            <a:r>
              <a:rPr lang="es" sz="1708">
                <a:solidFill>
                  <a:srgbClr val="24292E"/>
                </a:solidFill>
                <a:highlight>
                  <a:srgbClr val="FFFFFF"/>
                </a:highlight>
              </a:rPr>
              <a:t>.button: qué botón del ratón se ha pulsado (0: izq, 1: rueda; 2: dcho).</a:t>
            </a:r>
            <a:endParaRPr sz="1708">
              <a:solidFill>
                <a:srgbClr val="24292E"/>
              </a:solidFill>
              <a:highlight>
                <a:srgbClr val="FFFFFF"/>
              </a:highlight>
            </a:endParaRPr>
          </a:p>
          <a:p>
            <a:pPr indent="-320845" lvl="1" marL="914400" rtl="0" algn="l">
              <a:lnSpc>
                <a:spcPct val="115000"/>
              </a:lnSpc>
              <a:spcBef>
                <a:spcPts val="0"/>
              </a:spcBef>
              <a:spcAft>
                <a:spcPts val="0"/>
              </a:spcAft>
              <a:buClr>
                <a:srgbClr val="24292E"/>
              </a:buClr>
              <a:buSzPct val="100000"/>
              <a:buChar char="○"/>
            </a:pPr>
            <a:r>
              <a:rPr lang="es" sz="1708">
                <a:solidFill>
                  <a:srgbClr val="24292E"/>
                </a:solidFill>
                <a:highlight>
                  <a:srgbClr val="FFFFFF"/>
                </a:highlight>
              </a:rPr>
              <a:t>.screenX / .screenY: las corrdenadas del ratón respecto a la pantalla</a:t>
            </a:r>
            <a:endParaRPr sz="1708">
              <a:solidFill>
                <a:srgbClr val="24292E"/>
              </a:solidFill>
              <a:highlight>
                <a:srgbClr val="FFFFFF"/>
              </a:highlight>
            </a:endParaRPr>
          </a:p>
          <a:p>
            <a:pPr indent="-320845" lvl="1" marL="914400" rtl="0" algn="l">
              <a:lnSpc>
                <a:spcPct val="115000"/>
              </a:lnSpc>
              <a:spcBef>
                <a:spcPts val="0"/>
              </a:spcBef>
              <a:spcAft>
                <a:spcPts val="0"/>
              </a:spcAft>
              <a:buClr>
                <a:srgbClr val="24292E"/>
              </a:buClr>
              <a:buSzPct val="100000"/>
              <a:buChar char="○"/>
            </a:pPr>
            <a:r>
              <a:rPr lang="es" sz="1708">
                <a:solidFill>
                  <a:srgbClr val="24292E"/>
                </a:solidFill>
                <a:highlight>
                  <a:srgbClr val="FFFFFF"/>
                </a:highlight>
              </a:rPr>
              <a:t>.clientX / .clientY: las coordenadas del ratón respecto a la ventana cuando se produjo el evento</a:t>
            </a:r>
            <a:endParaRPr sz="1708">
              <a:solidFill>
                <a:srgbClr val="24292E"/>
              </a:solidFill>
              <a:highlight>
                <a:srgbClr val="FFFFFF"/>
              </a:highlight>
            </a:endParaRPr>
          </a:p>
          <a:p>
            <a:pPr indent="-320845" lvl="1" marL="914400" rtl="0" algn="l">
              <a:lnSpc>
                <a:spcPct val="115000"/>
              </a:lnSpc>
              <a:spcBef>
                <a:spcPts val="0"/>
              </a:spcBef>
              <a:spcAft>
                <a:spcPts val="0"/>
              </a:spcAft>
              <a:buClr>
                <a:srgbClr val="24292E"/>
              </a:buClr>
              <a:buSzPct val="100000"/>
              <a:buChar char="○"/>
            </a:pPr>
            <a:r>
              <a:rPr lang="es" sz="1708">
                <a:solidFill>
                  <a:srgbClr val="24292E"/>
                </a:solidFill>
                <a:highlight>
                  <a:srgbClr val="FFFFFF"/>
                </a:highlight>
              </a:rPr>
              <a:t>.pageX / .pageY: las coordenadas del ratón respecto al documento (si se ha hecho un scroll será el clientX/Y más el scroll)</a:t>
            </a:r>
            <a:endParaRPr sz="1708">
              <a:solidFill>
                <a:srgbClr val="24292E"/>
              </a:solidFill>
              <a:highlight>
                <a:srgbClr val="FFFFFF"/>
              </a:highlight>
            </a:endParaRPr>
          </a:p>
          <a:p>
            <a:pPr indent="-320845" lvl="1" marL="914400" rtl="0" algn="l">
              <a:lnSpc>
                <a:spcPct val="115000"/>
              </a:lnSpc>
              <a:spcBef>
                <a:spcPts val="0"/>
              </a:spcBef>
              <a:spcAft>
                <a:spcPts val="0"/>
              </a:spcAft>
              <a:buClr>
                <a:srgbClr val="24292E"/>
              </a:buClr>
              <a:buSzPct val="100000"/>
              <a:buChar char="○"/>
            </a:pPr>
            <a:r>
              <a:rPr lang="es" sz="1708">
                <a:solidFill>
                  <a:srgbClr val="24292E"/>
                </a:solidFill>
                <a:highlight>
                  <a:srgbClr val="FFFFFF"/>
                </a:highlight>
              </a:rPr>
              <a:t>.offsetX / .offsetY: las coordenadas del ratón respecto al elemento sobre el que se produce el evento</a:t>
            </a:r>
            <a:endParaRPr sz="1708">
              <a:solidFill>
                <a:srgbClr val="24292E"/>
              </a:solidFill>
              <a:highlight>
                <a:srgbClr val="FFFFFF"/>
              </a:highlight>
            </a:endParaRPr>
          </a:p>
          <a:p>
            <a:pPr indent="-320845" lvl="1" marL="914400" rtl="0" algn="l">
              <a:lnSpc>
                <a:spcPct val="115000"/>
              </a:lnSpc>
              <a:spcBef>
                <a:spcPts val="0"/>
              </a:spcBef>
              <a:spcAft>
                <a:spcPts val="0"/>
              </a:spcAft>
              <a:buClr>
                <a:srgbClr val="24292E"/>
              </a:buClr>
              <a:buSzPct val="100000"/>
              <a:buChar char="○"/>
            </a:pPr>
            <a:r>
              <a:rPr lang="es" sz="1708">
                <a:solidFill>
                  <a:srgbClr val="24292E"/>
                </a:solidFill>
                <a:highlight>
                  <a:srgbClr val="FFFFFF"/>
                </a:highlight>
              </a:rPr>
              <a:t>.detail: si se ha hecho click, doble click o triple click</a:t>
            </a:r>
            <a:endParaRPr/>
          </a:p>
        </p:txBody>
      </p:sp>
      <p:sp>
        <p:nvSpPr>
          <p:cNvPr id="218" name="Google Shape;218;p21"/>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5.1 Modelo de gestión de eventos</a:t>
            </a:r>
            <a:endParaRPr/>
          </a:p>
          <a:p>
            <a:pPr indent="0" lvl="0" marL="76200" rtl="0" algn="l">
              <a:lnSpc>
                <a:spcPct val="100000"/>
              </a:lnSpc>
              <a:spcBef>
                <a:spcPts val="1800"/>
              </a:spcBef>
              <a:spcAft>
                <a:spcPts val="1200"/>
              </a:spcAft>
              <a:buSzPts val="2600"/>
              <a:buNone/>
            </a:pPr>
            <a:r>
              <a:rPr lang="es" sz="1700">
                <a:solidFill>
                  <a:srgbClr val="24292E"/>
                </a:solidFill>
                <a:highlight>
                  <a:srgbClr val="FFFFFF"/>
                </a:highlight>
                <a:latin typeface="Arial"/>
                <a:ea typeface="Arial"/>
                <a:cs typeface="Arial"/>
                <a:sym typeface="Arial"/>
              </a:rPr>
              <a:t>Los objetos </a:t>
            </a:r>
            <a:r>
              <a:rPr i="1" lang="es" sz="1700">
                <a:solidFill>
                  <a:srgbClr val="24292E"/>
                </a:solidFill>
                <a:highlight>
                  <a:srgbClr val="FFFFFF"/>
                </a:highlight>
                <a:latin typeface="Arial"/>
                <a:ea typeface="Arial"/>
                <a:cs typeface="Arial"/>
                <a:sym typeface="Arial"/>
              </a:rPr>
              <a:t>this</a:t>
            </a:r>
            <a:r>
              <a:rPr lang="es" sz="1700">
                <a:solidFill>
                  <a:srgbClr val="24292E"/>
                </a:solidFill>
                <a:highlight>
                  <a:srgbClr val="FFFFFF"/>
                </a:highlight>
                <a:latin typeface="Arial"/>
                <a:ea typeface="Arial"/>
                <a:cs typeface="Arial"/>
                <a:sym typeface="Arial"/>
              </a:rPr>
              <a:t> y </a:t>
            </a:r>
            <a:r>
              <a:rPr i="1" lang="es" sz="1700">
                <a:solidFill>
                  <a:srgbClr val="24292E"/>
                </a:solidFill>
                <a:highlight>
                  <a:srgbClr val="FFFFFF"/>
                </a:highlight>
                <a:latin typeface="Arial"/>
                <a:ea typeface="Arial"/>
                <a:cs typeface="Arial"/>
                <a:sym typeface="Arial"/>
              </a:rPr>
              <a:t>event</a:t>
            </a:r>
            <a:endParaRPr sz="2400">
              <a:solidFill>
                <a:srgbClr val="24292E"/>
              </a:solidFill>
              <a:highlight>
                <a:srgbClr val="FFFFFF"/>
              </a:high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2"/>
          <p:cNvSpPr txBox="1"/>
          <p:nvPr>
            <p:ph idx="1" type="body"/>
          </p:nvPr>
        </p:nvSpPr>
        <p:spPr>
          <a:xfrm>
            <a:off x="729450" y="1897775"/>
            <a:ext cx="7688700" cy="30051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Clr>
                <a:schemeClr val="dk1"/>
              </a:buClr>
              <a:buSzPts val="1100"/>
              <a:buFont typeface="Arial"/>
              <a:buNone/>
            </a:pPr>
            <a:r>
              <a:rPr b="1" lang="es" sz="1600">
                <a:solidFill>
                  <a:srgbClr val="24292E"/>
                </a:solidFill>
                <a:highlight>
                  <a:srgbClr val="FFFFFF"/>
                </a:highlight>
              </a:rPr>
              <a:t>Eventos de teclado:</a:t>
            </a:r>
            <a:r>
              <a:rPr lang="es" sz="1600">
                <a:solidFill>
                  <a:srgbClr val="24292E"/>
                </a:solidFill>
                <a:highlight>
                  <a:srgbClr val="FFFFFF"/>
                </a:highlight>
              </a:rPr>
              <a:t> son los más incompatibles entre diferentes navegadores. En el teclado hay teclas normales y especiales (Alt, Ctrl, Shift, Enter, Tab, flechas, Supr, …). En la información del teclado hay que distinguir entre el código del carácter pulsado (e=101, E=69, €=8364) y el código de la tecla pulsada (para los 3 caracteres es el 69 ya que se pulsa la misma tecla). Las principales propiedades de </a:t>
            </a:r>
            <a:r>
              <a:rPr i="1" lang="es" sz="1600">
                <a:solidFill>
                  <a:srgbClr val="24292E"/>
                </a:solidFill>
                <a:highlight>
                  <a:srgbClr val="FFFFFF"/>
                </a:highlight>
              </a:rPr>
              <a:t>event</a:t>
            </a:r>
            <a:r>
              <a:rPr lang="es" sz="1600">
                <a:solidFill>
                  <a:srgbClr val="24292E"/>
                </a:solidFill>
                <a:highlight>
                  <a:srgbClr val="FFFFFF"/>
                </a:highlight>
              </a:rPr>
              <a:t> son:</a:t>
            </a:r>
            <a:endParaRPr sz="1600">
              <a:solidFill>
                <a:srgbClr val="24292E"/>
              </a:solidFill>
              <a:highlight>
                <a:srgbClr val="FFFFFF"/>
              </a:highlight>
            </a:endParaRPr>
          </a:p>
          <a:p>
            <a:pPr indent="-330200" lvl="0" marL="457200" rtl="0" algn="l">
              <a:lnSpc>
                <a:spcPct val="115000"/>
              </a:lnSpc>
              <a:spcBef>
                <a:spcPts val="1200"/>
              </a:spcBef>
              <a:spcAft>
                <a:spcPts val="0"/>
              </a:spcAft>
              <a:buClr>
                <a:srgbClr val="24292E"/>
              </a:buClr>
              <a:buSzPts val="1600"/>
              <a:buChar char="●"/>
            </a:pPr>
            <a:r>
              <a:rPr lang="es" sz="1600">
                <a:solidFill>
                  <a:srgbClr val="24292E"/>
                </a:solidFill>
                <a:highlight>
                  <a:srgbClr val="FFFFFF"/>
                </a:highlight>
              </a:rPr>
              <a:t>.key: devuelve el nombre de la tecla pulsada</a:t>
            </a:r>
            <a:endParaRPr sz="1600">
              <a:solidFill>
                <a:srgbClr val="24292E"/>
              </a:solidFill>
              <a:highlight>
                <a:srgbClr val="FFFFFF"/>
              </a:highlight>
            </a:endParaRPr>
          </a:p>
          <a:p>
            <a:pPr indent="-330200" lvl="0" marL="457200" rtl="0" algn="l">
              <a:lnSpc>
                <a:spcPct val="115000"/>
              </a:lnSpc>
              <a:spcBef>
                <a:spcPts val="0"/>
              </a:spcBef>
              <a:spcAft>
                <a:spcPts val="0"/>
              </a:spcAft>
              <a:buClr>
                <a:srgbClr val="24292E"/>
              </a:buClr>
              <a:buSzPts val="1600"/>
              <a:buChar char="●"/>
            </a:pPr>
            <a:r>
              <a:rPr lang="es" sz="1600">
                <a:solidFill>
                  <a:srgbClr val="24292E"/>
                </a:solidFill>
                <a:highlight>
                  <a:srgbClr val="FFFFFF"/>
                </a:highlight>
              </a:rPr>
              <a:t>.which: devuelve el código de la tecla pulsada</a:t>
            </a:r>
            <a:endParaRPr sz="1600">
              <a:solidFill>
                <a:srgbClr val="24292E"/>
              </a:solidFill>
              <a:highlight>
                <a:srgbClr val="FFFFFF"/>
              </a:highlight>
            </a:endParaRPr>
          </a:p>
          <a:p>
            <a:pPr indent="-330200" lvl="0" marL="457200" rtl="0" algn="l">
              <a:lnSpc>
                <a:spcPct val="115000"/>
              </a:lnSpc>
              <a:spcBef>
                <a:spcPts val="0"/>
              </a:spcBef>
              <a:spcAft>
                <a:spcPts val="0"/>
              </a:spcAft>
              <a:buClr>
                <a:srgbClr val="24292E"/>
              </a:buClr>
              <a:buSzPts val="1600"/>
              <a:buChar char="●"/>
            </a:pPr>
            <a:r>
              <a:rPr lang="es" sz="1600">
                <a:solidFill>
                  <a:srgbClr val="24292E"/>
                </a:solidFill>
                <a:highlight>
                  <a:srgbClr val="FFFFFF"/>
                </a:highlight>
              </a:rPr>
              <a:t>.keyCode / .charCode: código de la tecla pulsada y del carácter pulsado (según navegadores)</a:t>
            </a:r>
            <a:endParaRPr sz="1600">
              <a:solidFill>
                <a:srgbClr val="24292E"/>
              </a:solidFill>
              <a:highlight>
                <a:srgbClr val="FFFFFF"/>
              </a:highlight>
            </a:endParaRPr>
          </a:p>
          <a:p>
            <a:pPr indent="-304800" lvl="0" marL="457200" rtl="0" algn="l">
              <a:lnSpc>
                <a:spcPct val="115000"/>
              </a:lnSpc>
              <a:spcBef>
                <a:spcPts val="0"/>
              </a:spcBef>
              <a:spcAft>
                <a:spcPts val="0"/>
              </a:spcAft>
              <a:buClr>
                <a:srgbClr val="24292E"/>
              </a:buClr>
              <a:buSzPts val="1200"/>
              <a:buChar char="●"/>
            </a:pPr>
            <a:r>
              <a:rPr lang="es" sz="1600">
                <a:solidFill>
                  <a:srgbClr val="24292E"/>
                </a:solidFill>
                <a:highlight>
                  <a:srgbClr val="FFFFFF"/>
                </a:highlight>
              </a:rPr>
              <a:t>.shiftKey / .ctrlKey / .altKey / .metaKey: si está o no pulsada la tecla SHIFT / CTRL / ALT / META. Esta propiedad también la tienen los eventos de</a:t>
            </a:r>
            <a:r>
              <a:rPr lang="es" sz="1200">
                <a:solidFill>
                  <a:srgbClr val="24292E"/>
                </a:solidFill>
                <a:highlight>
                  <a:srgbClr val="FFFFFF"/>
                </a:highlight>
              </a:rPr>
              <a:t> ratón</a:t>
            </a:r>
            <a:endParaRPr/>
          </a:p>
        </p:txBody>
      </p:sp>
      <p:sp>
        <p:nvSpPr>
          <p:cNvPr id="224" name="Google Shape;224;p22"/>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5.1 Modelo de gestión de eventos</a:t>
            </a:r>
            <a:endParaRPr/>
          </a:p>
          <a:p>
            <a:pPr indent="0" lvl="0" marL="76200" rtl="0" algn="l">
              <a:lnSpc>
                <a:spcPct val="100000"/>
              </a:lnSpc>
              <a:spcBef>
                <a:spcPts val="1800"/>
              </a:spcBef>
              <a:spcAft>
                <a:spcPts val="1200"/>
              </a:spcAft>
              <a:buSzPts val="2600"/>
              <a:buNone/>
            </a:pPr>
            <a:r>
              <a:rPr lang="es" sz="1700">
                <a:solidFill>
                  <a:srgbClr val="24292E"/>
                </a:solidFill>
                <a:highlight>
                  <a:srgbClr val="FFFFFF"/>
                </a:highlight>
                <a:latin typeface="Arial"/>
                <a:ea typeface="Arial"/>
                <a:cs typeface="Arial"/>
                <a:sym typeface="Arial"/>
              </a:rPr>
              <a:t>Los objetos </a:t>
            </a:r>
            <a:r>
              <a:rPr i="1" lang="es" sz="1700">
                <a:solidFill>
                  <a:srgbClr val="24292E"/>
                </a:solidFill>
                <a:highlight>
                  <a:srgbClr val="FFFFFF"/>
                </a:highlight>
                <a:latin typeface="Arial"/>
                <a:ea typeface="Arial"/>
                <a:cs typeface="Arial"/>
                <a:sym typeface="Arial"/>
              </a:rPr>
              <a:t>this</a:t>
            </a:r>
            <a:r>
              <a:rPr lang="es" sz="1700">
                <a:solidFill>
                  <a:srgbClr val="24292E"/>
                </a:solidFill>
                <a:highlight>
                  <a:srgbClr val="FFFFFF"/>
                </a:highlight>
                <a:latin typeface="Arial"/>
                <a:ea typeface="Arial"/>
                <a:cs typeface="Arial"/>
                <a:sym typeface="Arial"/>
              </a:rPr>
              <a:t> y </a:t>
            </a:r>
            <a:r>
              <a:rPr i="1" lang="es" sz="1700">
                <a:solidFill>
                  <a:srgbClr val="24292E"/>
                </a:solidFill>
                <a:highlight>
                  <a:srgbClr val="FFFFFF"/>
                </a:highlight>
                <a:latin typeface="Arial"/>
                <a:ea typeface="Arial"/>
                <a:cs typeface="Arial"/>
                <a:sym typeface="Arial"/>
              </a:rPr>
              <a:t>event</a:t>
            </a:r>
            <a:endParaRPr sz="2400">
              <a:solidFill>
                <a:srgbClr val="24292E"/>
              </a:solidFill>
              <a:highlight>
                <a:srgbClr val="FFFFFF"/>
              </a:high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3"/>
          <p:cNvSpPr txBox="1"/>
          <p:nvPr>
            <p:ph idx="1" type="body"/>
          </p:nvPr>
        </p:nvSpPr>
        <p:spPr>
          <a:xfrm>
            <a:off x="852225" y="1897775"/>
            <a:ext cx="7566000" cy="300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300"/>
              </a:spcBef>
              <a:spcAft>
                <a:spcPts val="0"/>
              </a:spcAft>
              <a:buSzPts val="1300"/>
              <a:buNone/>
            </a:pPr>
            <a:r>
              <a:rPr lang="es" sz="1500">
                <a:solidFill>
                  <a:srgbClr val="24292E"/>
                </a:solidFill>
                <a:highlight>
                  <a:srgbClr val="FFFFFF"/>
                </a:highlight>
                <a:latin typeface="Arial"/>
                <a:ea typeface="Arial"/>
                <a:cs typeface="Arial"/>
                <a:sym typeface="Arial"/>
              </a:rPr>
              <a:t>Lo mejor para familiarizarse con los diferentes eventos es consultar los </a:t>
            </a:r>
            <a:r>
              <a:rPr lang="es" sz="1500">
                <a:solidFill>
                  <a:srgbClr val="0366D6"/>
                </a:solidFill>
                <a:highlight>
                  <a:srgbClr val="FFFFFF"/>
                </a:highlight>
                <a:uFill>
                  <a:noFill/>
                </a:uFill>
                <a:latin typeface="Arial"/>
                <a:ea typeface="Arial"/>
                <a:cs typeface="Arial"/>
                <a:sym typeface="Arial"/>
                <a:hlinkClick r:id="rId3">
                  <a:extLst>
                    <a:ext uri="{A12FA001-AC4F-418D-AE19-62706E023703}">
                      <ahyp:hlinkClr val="tx"/>
                    </a:ext>
                  </a:extLst>
                </a:hlinkClick>
              </a:rPr>
              <a:t>ejemplos de w3schools</a:t>
            </a:r>
            <a:r>
              <a:rPr lang="es" sz="1500">
                <a:solidFill>
                  <a:srgbClr val="24292E"/>
                </a:solidFill>
                <a:highlight>
                  <a:srgbClr val="FFFFFF"/>
                </a:highlight>
                <a:latin typeface="Arial"/>
                <a:ea typeface="Arial"/>
                <a:cs typeface="Arial"/>
                <a:sym typeface="Arial"/>
              </a:rPr>
              <a:t>.</a:t>
            </a:r>
            <a:endParaRPr sz="1500">
              <a:solidFill>
                <a:srgbClr val="24292E"/>
              </a:solidFill>
              <a:highlight>
                <a:srgbClr val="FFFFFF"/>
              </a:highlight>
              <a:latin typeface="Arial"/>
              <a:ea typeface="Arial"/>
              <a:cs typeface="Arial"/>
              <a:sym typeface="Arial"/>
            </a:endParaRPr>
          </a:p>
          <a:p>
            <a:pPr indent="0" lvl="0" marL="139700" marR="139700" rtl="0" algn="l">
              <a:lnSpc>
                <a:spcPct val="115000"/>
              </a:lnSpc>
              <a:spcBef>
                <a:spcPts val="0"/>
              </a:spcBef>
              <a:spcAft>
                <a:spcPts val="0"/>
              </a:spcAft>
              <a:buSzPts val="1300"/>
              <a:buNone/>
            </a:pPr>
            <a:r>
              <a:t/>
            </a:r>
            <a:endParaRPr sz="1500">
              <a:solidFill>
                <a:srgbClr val="6A737D"/>
              </a:solidFill>
              <a:highlight>
                <a:srgbClr val="FFFFFF"/>
              </a:highlight>
              <a:latin typeface="Arial"/>
              <a:ea typeface="Arial"/>
              <a:cs typeface="Arial"/>
              <a:sym typeface="Arial"/>
            </a:endParaRPr>
          </a:p>
          <a:p>
            <a:pPr indent="0" lvl="0" marL="0" marR="139700" rtl="0" algn="l">
              <a:lnSpc>
                <a:spcPct val="115000"/>
              </a:lnSpc>
              <a:spcBef>
                <a:spcPts val="1200"/>
              </a:spcBef>
              <a:spcAft>
                <a:spcPts val="0"/>
              </a:spcAft>
              <a:buSzPts val="1300"/>
              <a:buNone/>
            </a:pPr>
            <a:r>
              <a:rPr lang="es" sz="1500">
                <a:solidFill>
                  <a:srgbClr val="6A737D"/>
                </a:solidFill>
                <a:highlight>
                  <a:srgbClr val="FFFFFF"/>
                </a:highlight>
                <a:latin typeface="Arial"/>
                <a:ea typeface="Arial"/>
                <a:cs typeface="Arial"/>
                <a:sym typeface="Arial"/>
              </a:rPr>
              <a:t>EJERCICIO 2: Pon desde la consola un escuchador al BODY de la página de ejemplo para que al mover el ratón en cualquier punto de la ventana del navegador, se muestre por consola la posición del puntero respecto del navegador y respecto de la página.</a:t>
            </a:r>
            <a:endParaRPr sz="1500">
              <a:solidFill>
                <a:srgbClr val="6A737D"/>
              </a:solidFill>
              <a:highlight>
                <a:srgbClr val="FFFFFF"/>
              </a:highlight>
              <a:latin typeface="Arial"/>
              <a:ea typeface="Arial"/>
              <a:cs typeface="Arial"/>
              <a:sym typeface="Arial"/>
            </a:endParaRPr>
          </a:p>
          <a:p>
            <a:pPr indent="0" lvl="0" marL="0" marR="139700" rtl="0" algn="l">
              <a:lnSpc>
                <a:spcPct val="115000"/>
              </a:lnSpc>
              <a:spcBef>
                <a:spcPts val="1200"/>
              </a:spcBef>
              <a:spcAft>
                <a:spcPts val="1200"/>
              </a:spcAft>
              <a:buSzPts val="1300"/>
              <a:buNone/>
            </a:pPr>
            <a:r>
              <a:rPr lang="es" sz="1500">
                <a:solidFill>
                  <a:srgbClr val="6A737D"/>
                </a:solidFill>
                <a:highlight>
                  <a:srgbClr val="FFFFFF"/>
                </a:highlight>
                <a:latin typeface="Arial"/>
                <a:ea typeface="Arial"/>
                <a:cs typeface="Arial"/>
                <a:sym typeface="Arial"/>
              </a:rPr>
              <a:t>EJERCICIO 3: Pon desde la consola un escuchador al BODY de la página de ejemplo para que al pulsar cualquier tecla nos muestre en un alert el </a:t>
            </a:r>
            <a:r>
              <a:rPr i="1" lang="es" sz="1500">
                <a:solidFill>
                  <a:srgbClr val="6A737D"/>
                </a:solidFill>
                <a:highlight>
                  <a:srgbClr val="FFFFFF"/>
                </a:highlight>
                <a:latin typeface="Arial"/>
                <a:ea typeface="Arial"/>
                <a:cs typeface="Arial"/>
                <a:sym typeface="Arial"/>
              </a:rPr>
              <a:t>key</a:t>
            </a:r>
            <a:r>
              <a:rPr lang="es" sz="1500">
                <a:solidFill>
                  <a:srgbClr val="6A737D"/>
                </a:solidFill>
                <a:highlight>
                  <a:srgbClr val="FFFFFF"/>
                </a:highlight>
                <a:latin typeface="Arial"/>
                <a:ea typeface="Arial"/>
                <a:cs typeface="Arial"/>
                <a:sym typeface="Arial"/>
              </a:rPr>
              <a:t> y el </a:t>
            </a:r>
            <a:r>
              <a:rPr i="1" lang="es" sz="1500">
                <a:solidFill>
                  <a:srgbClr val="6A737D"/>
                </a:solidFill>
                <a:highlight>
                  <a:srgbClr val="FFFFFF"/>
                </a:highlight>
                <a:latin typeface="Arial"/>
                <a:ea typeface="Arial"/>
                <a:cs typeface="Arial"/>
                <a:sym typeface="Arial"/>
              </a:rPr>
              <a:t>keyCode</a:t>
            </a:r>
            <a:r>
              <a:rPr lang="es" sz="1500">
                <a:solidFill>
                  <a:srgbClr val="6A737D"/>
                </a:solidFill>
                <a:highlight>
                  <a:srgbClr val="FFFFFF"/>
                </a:highlight>
                <a:latin typeface="Arial"/>
                <a:ea typeface="Arial"/>
                <a:cs typeface="Arial"/>
                <a:sym typeface="Arial"/>
              </a:rPr>
              <a:t> de la tecla pulsada. Pruébalo con diferentes teclas</a:t>
            </a:r>
            <a:endParaRPr sz="1500">
              <a:solidFill>
                <a:srgbClr val="24292E"/>
              </a:solidFill>
              <a:highlight>
                <a:srgbClr val="FFFFFF"/>
              </a:highlight>
              <a:latin typeface="Arial"/>
              <a:ea typeface="Arial"/>
              <a:cs typeface="Arial"/>
              <a:sym typeface="Arial"/>
            </a:endParaRPr>
          </a:p>
        </p:txBody>
      </p:sp>
      <p:sp>
        <p:nvSpPr>
          <p:cNvPr id="230" name="Google Shape;230;p23"/>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5.1 Modelo de gestión de eventos</a:t>
            </a:r>
            <a:endParaRPr/>
          </a:p>
          <a:p>
            <a:pPr indent="0" lvl="0" marL="76200" rtl="0" algn="l">
              <a:lnSpc>
                <a:spcPct val="100000"/>
              </a:lnSpc>
              <a:spcBef>
                <a:spcPts val="1800"/>
              </a:spcBef>
              <a:spcAft>
                <a:spcPts val="1200"/>
              </a:spcAft>
              <a:buSzPts val="2600"/>
              <a:buNone/>
            </a:pPr>
            <a:r>
              <a:rPr lang="es" sz="1700">
                <a:solidFill>
                  <a:srgbClr val="24292E"/>
                </a:solidFill>
                <a:highlight>
                  <a:srgbClr val="FFFFFF"/>
                </a:highlight>
                <a:latin typeface="Arial"/>
                <a:ea typeface="Arial"/>
                <a:cs typeface="Arial"/>
                <a:sym typeface="Arial"/>
              </a:rPr>
              <a:t>Los objetos </a:t>
            </a:r>
            <a:r>
              <a:rPr i="1" lang="es" sz="1700">
                <a:solidFill>
                  <a:srgbClr val="24292E"/>
                </a:solidFill>
                <a:highlight>
                  <a:srgbClr val="FFFFFF"/>
                </a:highlight>
                <a:latin typeface="Arial"/>
                <a:ea typeface="Arial"/>
                <a:cs typeface="Arial"/>
                <a:sym typeface="Arial"/>
              </a:rPr>
              <a:t>this</a:t>
            </a:r>
            <a:r>
              <a:rPr lang="es" sz="1700">
                <a:solidFill>
                  <a:srgbClr val="24292E"/>
                </a:solidFill>
                <a:highlight>
                  <a:srgbClr val="FFFFFF"/>
                </a:highlight>
                <a:latin typeface="Arial"/>
                <a:ea typeface="Arial"/>
                <a:cs typeface="Arial"/>
                <a:sym typeface="Arial"/>
              </a:rPr>
              <a:t> y </a:t>
            </a:r>
            <a:r>
              <a:rPr i="1" lang="es" sz="1700">
                <a:solidFill>
                  <a:srgbClr val="24292E"/>
                </a:solidFill>
                <a:highlight>
                  <a:srgbClr val="FFFFFF"/>
                </a:highlight>
                <a:latin typeface="Arial"/>
                <a:ea typeface="Arial"/>
                <a:cs typeface="Arial"/>
                <a:sym typeface="Arial"/>
              </a:rPr>
              <a:t>event</a:t>
            </a:r>
            <a:endParaRPr sz="2400">
              <a:solidFill>
                <a:srgbClr val="24292E"/>
              </a:solidFill>
              <a:highlight>
                <a:srgbClr val="FFFFFF"/>
              </a:high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4"/>
          <p:cNvSpPr txBox="1"/>
          <p:nvPr>
            <p:ph idx="1" type="body"/>
          </p:nvPr>
        </p:nvSpPr>
        <p:spPr>
          <a:xfrm>
            <a:off x="729450" y="1828125"/>
            <a:ext cx="7688700" cy="3315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 sz="1200">
                <a:solidFill>
                  <a:srgbClr val="24292E"/>
                </a:solidFill>
                <a:highlight>
                  <a:srgbClr val="FFFFFF"/>
                </a:highlight>
                <a:latin typeface="Arial"/>
                <a:ea typeface="Arial"/>
                <a:cs typeface="Arial"/>
                <a:sym typeface="Arial"/>
              </a:rPr>
              <a:t>Normalmente en una página web los elementos HTML se solapan unos con otros, por ejemplo, un &lt;span&gt; está en un &lt;p&gt; que está en un &lt;div&gt; que está en el &lt;body&gt;. Si ponemos un escuchador del evento </a:t>
            </a:r>
            <a:r>
              <a:rPr i="1" lang="es" sz="1200">
                <a:solidFill>
                  <a:srgbClr val="24292E"/>
                </a:solidFill>
                <a:highlight>
                  <a:srgbClr val="FFFFFF"/>
                </a:highlight>
                <a:latin typeface="Arial"/>
                <a:ea typeface="Arial"/>
                <a:cs typeface="Arial"/>
                <a:sym typeface="Arial"/>
              </a:rPr>
              <a:t>click</a:t>
            </a:r>
            <a:r>
              <a:rPr lang="es" sz="1200">
                <a:solidFill>
                  <a:srgbClr val="24292E"/>
                </a:solidFill>
                <a:highlight>
                  <a:srgbClr val="FFFFFF"/>
                </a:highlight>
                <a:latin typeface="Arial"/>
                <a:ea typeface="Arial"/>
                <a:cs typeface="Arial"/>
                <a:sym typeface="Arial"/>
              </a:rPr>
              <a:t> a todos ellos se ejecutarán todos ellos, pero ¿en qué orden?.</a:t>
            </a:r>
            <a:endParaRPr sz="1200">
              <a:solidFill>
                <a:srgbClr val="24292E"/>
              </a:solidFill>
              <a:highlight>
                <a:srgbClr val="FFFFFF"/>
              </a:highlight>
              <a:latin typeface="Arial"/>
              <a:ea typeface="Arial"/>
              <a:cs typeface="Arial"/>
              <a:sym typeface="Arial"/>
            </a:endParaRPr>
          </a:p>
          <a:p>
            <a:pPr indent="0" lvl="0" marL="0" rtl="0" algn="l">
              <a:lnSpc>
                <a:spcPct val="115000"/>
              </a:lnSpc>
              <a:spcBef>
                <a:spcPts val="1200"/>
              </a:spcBef>
              <a:spcAft>
                <a:spcPts val="0"/>
              </a:spcAft>
              <a:buSzPts val="1300"/>
              <a:buNone/>
            </a:pPr>
            <a:r>
              <a:rPr lang="es" sz="1200">
                <a:solidFill>
                  <a:srgbClr val="24292E"/>
                </a:solidFill>
                <a:highlight>
                  <a:srgbClr val="FFFFFF"/>
                </a:highlight>
                <a:latin typeface="Arial"/>
                <a:ea typeface="Arial"/>
                <a:cs typeface="Arial"/>
                <a:sym typeface="Arial"/>
              </a:rPr>
              <a:t>Pues el W3C establecíó un modelo en el que primero se disparan los eventos de fuera hacia dentro (primero el &lt;body&gt;) y al llegar al más interno (el &lt;span&gt;) se vuelven a disparar de nuevo pero de dentro hacia afuera. La primera fase se conoce como fase de captura y la segunda como fase de burbujeo (</a:t>
            </a:r>
            <a:r>
              <a:rPr i="1" lang="es" sz="1200">
                <a:solidFill>
                  <a:srgbClr val="24292E"/>
                </a:solidFill>
                <a:highlight>
                  <a:srgbClr val="FFFFFF"/>
                </a:highlight>
                <a:latin typeface="Arial"/>
                <a:ea typeface="Arial"/>
                <a:cs typeface="Arial"/>
                <a:sym typeface="Arial"/>
              </a:rPr>
              <a:t>bubbling</a:t>
            </a:r>
            <a:r>
              <a:rPr lang="es" sz="1200">
                <a:solidFill>
                  <a:srgbClr val="24292E"/>
                </a:solidFill>
                <a:highlight>
                  <a:srgbClr val="FFFFFF"/>
                </a:highlight>
                <a:latin typeface="Arial"/>
                <a:ea typeface="Arial"/>
                <a:cs typeface="Arial"/>
                <a:sym typeface="Arial"/>
              </a:rPr>
              <a:t>). Cuando ponemos un escuchador con </a:t>
            </a:r>
            <a:r>
              <a:rPr lang="es" sz="1000">
                <a:solidFill>
                  <a:srgbClr val="24292E"/>
                </a:solidFill>
                <a:highlight>
                  <a:srgbClr val="FFFFFF"/>
                </a:highlight>
                <a:latin typeface="Courier New"/>
                <a:ea typeface="Courier New"/>
                <a:cs typeface="Courier New"/>
                <a:sym typeface="Courier New"/>
              </a:rPr>
              <a:t>addEventListener</a:t>
            </a:r>
            <a:r>
              <a:rPr lang="es" sz="1200">
                <a:solidFill>
                  <a:srgbClr val="24292E"/>
                </a:solidFill>
                <a:highlight>
                  <a:srgbClr val="FFFFFF"/>
                </a:highlight>
                <a:latin typeface="Arial"/>
                <a:ea typeface="Arial"/>
                <a:cs typeface="Arial"/>
                <a:sym typeface="Arial"/>
              </a:rPr>
              <a:t> el tercer parámetro indica en qué fase debe dispararse:</a:t>
            </a:r>
            <a:endParaRPr sz="1200">
              <a:solidFill>
                <a:srgbClr val="24292E"/>
              </a:solidFill>
              <a:highlight>
                <a:srgbClr val="FFFFFF"/>
              </a:highlight>
              <a:latin typeface="Arial"/>
              <a:ea typeface="Arial"/>
              <a:cs typeface="Arial"/>
              <a:sym typeface="Arial"/>
            </a:endParaRPr>
          </a:p>
          <a:p>
            <a:pPr indent="-304800" lvl="0" marL="457200" rtl="0" algn="l">
              <a:lnSpc>
                <a:spcPct val="115000"/>
              </a:lnSpc>
              <a:spcBef>
                <a:spcPts val="1200"/>
              </a:spcBef>
              <a:spcAft>
                <a:spcPts val="0"/>
              </a:spcAft>
              <a:buClr>
                <a:srgbClr val="24292E"/>
              </a:buClr>
              <a:buSzPts val="1200"/>
              <a:buFont typeface="Arial"/>
              <a:buChar char="●"/>
            </a:pPr>
            <a:r>
              <a:rPr lang="es" sz="1200">
                <a:solidFill>
                  <a:srgbClr val="24292E"/>
                </a:solidFill>
                <a:highlight>
                  <a:srgbClr val="FFFFFF"/>
                </a:highlight>
                <a:latin typeface="Arial"/>
                <a:ea typeface="Arial"/>
                <a:cs typeface="Arial"/>
                <a:sym typeface="Arial"/>
              </a:rPr>
              <a:t>true: en fase de captura</a:t>
            </a:r>
            <a:endParaRPr sz="1200">
              <a:solidFill>
                <a:srgbClr val="24292E"/>
              </a:solidFill>
              <a:highlight>
                <a:srgbClr val="FFFFFF"/>
              </a:highlight>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200">
                <a:solidFill>
                  <a:srgbClr val="24292E"/>
                </a:solidFill>
                <a:highlight>
                  <a:srgbClr val="FFFFFF"/>
                </a:highlight>
                <a:latin typeface="Arial"/>
                <a:ea typeface="Arial"/>
                <a:cs typeface="Arial"/>
                <a:sym typeface="Arial"/>
              </a:rPr>
              <a:t>false (valor por defecto): en fase de burbujeo</a:t>
            </a:r>
            <a:endParaRPr sz="1200">
              <a:solidFill>
                <a:srgbClr val="24292E"/>
              </a:solidFill>
              <a:highlight>
                <a:srgbClr val="FFFFFF"/>
              </a:highlight>
              <a:latin typeface="Arial"/>
              <a:ea typeface="Arial"/>
              <a:cs typeface="Arial"/>
              <a:sym typeface="Arial"/>
            </a:endParaRPr>
          </a:p>
          <a:p>
            <a:pPr indent="0" lvl="0" marL="0" rtl="0" algn="l">
              <a:lnSpc>
                <a:spcPct val="115000"/>
              </a:lnSpc>
              <a:spcBef>
                <a:spcPts val="1200"/>
              </a:spcBef>
              <a:spcAft>
                <a:spcPts val="0"/>
              </a:spcAft>
              <a:buSzPts val="1300"/>
              <a:buNone/>
            </a:pPr>
            <a:r>
              <a:rPr lang="es" sz="1200">
                <a:solidFill>
                  <a:srgbClr val="24292E"/>
                </a:solidFill>
                <a:highlight>
                  <a:srgbClr val="FFFFFF"/>
                </a:highlight>
                <a:latin typeface="Arial"/>
                <a:ea typeface="Arial"/>
                <a:cs typeface="Arial"/>
                <a:sym typeface="Arial"/>
              </a:rPr>
              <a:t>Por tanto, por defecto se disparará el escuchador más interno (el del &lt;span&gt;) y continuará el resto hasta el más externo (&lt;body&gt;) como si fuera una burbuja que sale afuera desde el interior.</a:t>
            </a:r>
            <a:endParaRPr sz="1200">
              <a:solidFill>
                <a:srgbClr val="24292E"/>
              </a:solidFill>
              <a:highlight>
                <a:srgbClr val="FFFFFF"/>
              </a:highlight>
              <a:latin typeface="Arial"/>
              <a:ea typeface="Arial"/>
              <a:cs typeface="Arial"/>
              <a:sym typeface="Arial"/>
            </a:endParaRPr>
          </a:p>
          <a:p>
            <a:pPr indent="0" lvl="0" marL="0" rtl="0" algn="l">
              <a:lnSpc>
                <a:spcPct val="115000"/>
              </a:lnSpc>
              <a:spcBef>
                <a:spcPts val="1200"/>
              </a:spcBef>
              <a:spcAft>
                <a:spcPts val="1200"/>
              </a:spcAft>
              <a:buSzPts val="1300"/>
              <a:buNone/>
            </a:pPr>
            <a:r>
              <a:rPr lang="es" sz="1200" u="sng">
                <a:solidFill>
                  <a:schemeClr val="hlink"/>
                </a:solidFill>
                <a:highlight>
                  <a:srgbClr val="FFFFFF"/>
                </a:highlight>
                <a:latin typeface="Arial"/>
                <a:ea typeface="Arial"/>
                <a:cs typeface="Arial"/>
                <a:sym typeface="Arial"/>
                <a:hlinkClick r:id="rId3"/>
              </a:rPr>
              <a:t>https://jsfiddle.net/juansegura/n3b6fph0/</a:t>
            </a:r>
            <a:r>
              <a:rPr lang="es" sz="1200">
                <a:solidFill>
                  <a:srgbClr val="24292E"/>
                </a:solidFill>
                <a:highlight>
                  <a:srgbClr val="FFFFFF"/>
                </a:highlight>
                <a:latin typeface="Arial"/>
                <a:ea typeface="Arial"/>
                <a:cs typeface="Arial"/>
                <a:sym typeface="Arial"/>
              </a:rPr>
              <a:t> </a:t>
            </a:r>
            <a:endParaRPr sz="1200">
              <a:solidFill>
                <a:srgbClr val="24292E"/>
              </a:solidFill>
              <a:highlight>
                <a:srgbClr val="FFFFFF"/>
              </a:highlight>
              <a:latin typeface="Arial"/>
              <a:ea typeface="Arial"/>
              <a:cs typeface="Arial"/>
              <a:sym typeface="Arial"/>
            </a:endParaRPr>
          </a:p>
        </p:txBody>
      </p:sp>
      <p:sp>
        <p:nvSpPr>
          <p:cNvPr id="236" name="Google Shape;236;p24"/>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5.1 Modelo de gestión de eventos</a:t>
            </a:r>
            <a:endParaRPr/>
          </a:p>
          <a:p>
            <a:pPr indent="0" lvl="0" marL="0" rtl="0" algn="l">
              <a:lnSpc>
                <a:spcPct val="100000"/>
              </a:lnSpc>
              <a:spcBef>
                <a:spcPts val="1800"/>
              </a:spcBef>
              <a:spcAft>
                <a:spcPts val="1200"/>
              </a:spcAft>
              <a:buSzPts val="2600"/>
              <a:buNone/>
            </a:pPr>
            <a:r>
              <a:rPr lang="es" sz="1700">
                <a:solidFill>
                  <a:srgbClr val="24292E"/>
                </a:solidFill>
                <a:highlight>
                  <a:srgbClr val="FFFFFF"/>
                </a:highlight>
                <a:latin typeface="Arial"/>
                <a:ea typeface="Arial"/>
                <a:cs typeface="Arial"/>
                <a:sym typeface="Arial"/>
              </a:rPr>
              <a:t>Propagación de eventos</a:t>
            </a:r>
            <a:endParaRPr sz="2400">
              <a:solidFill>
                <a:srgbClr val="24292E"/>
              </a:solidFill>
              <a:highlight>
                <a:srgbClr val="FFFFFF"/>
              </a:high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5"/>
          <p:cNvSpPr txBox="1"/>
          <p:nvPr>
            <p:ph idx="1" type="body"/>
          </p:nvPr>
        </p:nvSpPr>
        <p:spPr>
          <a:xfrm>
            <a:off x="729450" y="1828125"/>
            <a:ext cx="7688700" cy="3315300"/>
          </a:xfrm>
          <a:prstGeom prst="rect">
            <a:avLst/>
          </a:prstGeom>
          <a:noFill/>
          <a:ln>
            <a:noFill/>
          </a:ln>
        </p:spPr>
        <p:txBody>
          <a:bodyPr anchorCtr="0" anchor="t" bIns="91425" lIns="91425" spcFirstLastPara="1" rIns="91425" wrap="square" tIns="91425">
            <a:normAutofit/>
          </a:bodyPr>
          <a:lstStyle/>
          <a:p>
            <a:pPr indent="-323850" lvl="0" marL="457200" rtl="0" algn="l">
              <a:lnSpc>
                <a:spcPct val="115000"/>
              </a:lnSpc>
              <a:spcBef>
                <a:spcPts val="0"/>
              </a:spcBef>
              <a:spcAft>
                <a:spcPts val="0"/>
              </a:spcAft>
              <a:buClr>
                <a:srgbClr val="24292E"/>
              </a:buClr>
              <a:buSzPts val="1500"/>
              <a:buFont typeface="Arial"/>
              <a:buChar char="●"/>
            </a:pPr>
            <a:r>
              <a:rPr lang="es" sz="1500">
                <a:solidFill>
                  <a:srgbClr val="24292E"/>
                </a:solidFill>
                <a:highlight>
                  <a:srgbClr val="FFFFFF"/>
                </a:highlight>
                <a:latin typeface="Arial"/>
                <a:ea typeface="Arial"/>
                <a:cs typeface="Arial"/>
                <a:sym typeface="Arial"/>
              </a:rPr>
              <a:t>Como los escuchadores de eventos se asocian a un elemento, si lo borramos desaparecerá el escuchador aunque luego lo volvamos a pintar no tendrá escuchador a menos que se lo pongamos de nuevo.</a:t>
            </a:r>
            <a:endParaRPr sz="1500">
              <a:solidFill>
                <a:srgbClr val="24292E"/>
              </a:solidFill>
              <a:highlight>
                <a:srgbClr val="FFFFFF"/>
              </a:highlight>
              <a:latin typeface="Arial"/>
              <a:ea typeface="Arial"/>
              <a:cs typeface="Arial"/>
              <a:sym typeface="Arial"/>
            </a:endParaRPr>
          </a:p>
          <a:p>
            <a:pPr indent="-323850" lvl="0" marL="457200" rtl="0" algn="l">
              <a:lnSpc>
                <a:spcPct val="115000"/>
              </a:lnSpc>
              <a:spcBef>
                <a:spcPts val="0"/>
              </a:spcBef>
              <a:spcAft>
                <a:spcPts val="0"/>
              </a:spcAft>
              <a:buClr>
                <a:srgbClr val="24292E"/>
              </a:buClr>
              <a:buSzPts val="1500"/>
              <a:buFont typeface="Arial"/>
              <a:buChar char="●"/>
            </a:pPr>
            <a:r>
              <a:rPr lang="es" sz="1500">
                <a:solidFill>
                  <a:srgbClr val="24292E"/>
                </a:solidFill>
                <a:highlight>
                  <a:srgbClr val="FFFFFF"/>
                </a:highlight>
                <a:latin typeface="Arial"/>
                <a:ea typeface="Arial"/>
                <a:cs typeface="Arial"/>
                <a:sym typeface="Arial"/>
              </a:rPr>
              <a:t>Por ejemplo, si cambiamos el contenido de la propiedad </a:t>
            </a:r>
            <a:r>
              <a:rPr i="1" lang="es" sz="1500">
                <a:solidFill>
                  <a:srgbClr val="24292E"/>
                </a:solidFill>
                <a:highlight>
                  <a:srgbClr val="FFFFFF"/>
                </a:highlight>
                <a:latin typeface="Arial"/>
                <a:ea typeface="Arial"/>
                <a:cs typeface="Arial"/>
                <a:sym typeface="Arial"/>
              </a:rPr>
              <a:t>innerHTML</a:t>
            </a:r>
            <a:r>
              <a:rPr lang="es" sz="1500">
                <a:solidFill>
                  <a:srgbClr val="24292E"/>
                </a:solidFill>
                <a:highlight>
                  <a:srgbClr val="FFFFFF"/>
                </a:highlight>
                <a:latin typeface="Arial"/>
                <a:ea typeface="Arial"/>
                <a:cs typeface="Arial"/>
                <a:sym typeface="Arial"/>
              </a:rPr>
              <a:t> de un elemento todos los escuchadores de eventos de sus elementos hijos desaparecen ya que es como eliminar su contenido y volverlo a renderizar.</a:t>
            </a:r>
            <a:endParaRPr sz="1500">
              <a:solidFill>
                <a:srgbClr val="24292E"/>
              </a:solidFill>
              <a:highlight>
                <a:srgbClr val="FFFFFF"/>
              </a:highlight>
              <a:latin typeface="Arial"/>
              <a:ea typeface="Arial"/>
              <a:cs typeface="Arial"/>
              <a:sym typeface="Arial"/>
            </a:endParaRPr>
          </a:p>
          <a:p>
            <a:pPr indent="0" lvl="0" marL="0" rtl="0" algn="l">
              <a:lnSpc>
                <a:spcPct val="115000"/>
              </a:lnSpc>
              <a:spcBef>
                <a:spcPts val="1200"/>
              </a:spcBef>
              <a:spcAft>
                <a:spcPts val="1200"/>
              </a:spcAft>
              <a:buSzPts val="1300"/>
              <a:buNone/>
            </a:pPr>
            <a:r>
              <a:t/>
            </a:r>
            <a:endParaRPr sz="1200">
              <a:solidFill>
                <a:srgbClr val="24292E"/>
              </a:solidFill>
              <a:highlight>
                <a:srgbClr val="FFFFFF"/>
              </a:highlight>
              <a:latin typeface="Arial"/>
              <a:ea typeface="Arial"/>
              <a:cs typeface="Arial"/>
              <a:sym typeface="Arial"/>
            </a:endParaRPr>
          </a:p>
        </p:txBody>
      </p:sp>
      <p:sp>
        <p:nvSpPr>
          <p:cNvPr id="242" name="Google Shape;242;p25"/>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5.1 Modelo de gestión de eventos</a:t>
            </a:r>
            <a:endParaRPr/>
          </a:p>
          <a:p>
            <a:pPr indent="0" lvl="0" marL="0" rtl="0" algn="l">
              <a:lnSpc>
                <a:spcPct val="100000"/>
              </a:lnSpc>
              <a:spcBef>
                <a:spcPts val="1800"/>
              </a:spcBef>
              <a:spcAft>
                <a:spcPts val="1200"/>
              </a:spcAft>
              <a:buSzPts val="2600"/>
              <a:buNone/>
            </a:pPr>
            <a:r>
              <a:rPr lang="es" sz="1700">
                <a:solidFill>
                  <a:srgbClr val="24292E"/>
                </a:solidFill>
                <a:highlight>
                  <a:srgbClr val="FFFFFF"/>
                </a:highlight>
                <a:latin typeface="Arial"/>
                <a:ea typeface="Arial"/>
                <a:cs typeface="Arial"/>
                <a:sym typeface="Arial"/>
              </a:rPr>
              <a:t>innerHTML y escuchadores de eventos</a:t>
            </a:r>
            <a:endParaRPr sz="1700">
              <a:solidFill>
                <a:srgbClr val="24292E"/>
              </a:solidFill>
              <a:highlight>
                <a:srgbClr val="FFFFFF"/>
              </a:highlight>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6"/>
          <p:cNvSpPr txBox="1"/>
          <p:nvPr>
            <p:ph idx="1" type="body"/>
          </p:nvPr>
        </p:nvSpPr>
        <p:spPr>
          <a:xfrm>
            <a:off x="729450" y="1828125"/>
            <a:ext cx="7688700" cy="33153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300"/>
              <a:buNone/>
            </a:pPr>
            <a:r>
              <a:rPr lang="es" sz="1200">
                <a:solidFill>
                  <a:srgbClr val="24292E"/>
                </a:solidFill>
                <a:highlight>
                  <a:srgbClr val="FFFFFF"/>
                </a:highlight>
                <a:latin typeface="Arial"/>
                <a:ea typeface="Arial"/>
                <a:cs typeface="Arial"/>
                <a:sym typeface="Arial"/>
              </a:rPr>
              <a:t>Por ejemplo, tenemos una tabla de datos y queremos que al hacer doble click en cada fila se muestre su id. La función que añade una nueva fila podría ser:</a:t>
            </a:r>
            <a:endParaRPr sz="1200">
              <a:solidFill>
                <a:srgbClr val="24292E"/>
              </a:solidFill>
              <a:highlight>
                <a:srgbClr val="FFFFFF"/>
              </a:highlight>
              <a:latin typeface="Arial"/>
              <a:ea typeface="Arial"/>
              <a:cs typeface="Arial"/>
              <a:sym typeface="Arial"/>
            </a:endParaRPr>
          </a:p>
          <a:p>
            <a:pPr indent="0" lvl="0" marL="0" rtl="0" algn="l">
              <a:lnSpc>
                <a:spcPct val="115000"/>
              </a:lnSpc>
              <a:spcBef>
                <a:spcPts val="1200"/>
              </a:spcBef>
              <a:spcAft>
                <a:spcPts val="0"/>
              </a:spcAft>
              <a:buSzPts val="1300"/>
              <a:buNone/>
            </a:pPr>
            <a:r>
              <a:t/>
            </a:r>
            <a:endParaRPr sz="1200">
              <a:solidFill>
                <a:srgbClr val="24292E"/>
              </a:solidFill>
              <a:highlight>
                <a:srgbClr val="FFFFFF"/>
              </a:highlight>
              <a:latin typeface="Arial"/>
              <a:ea typeface="Arial"/>
              <a:cs typeface="Arial"/>
              <a:sym typeface="Arial"/>
            </a:endParaRPr>
          </a:p>
          <a:p>
            <a:pPr indent="0" lvl="0" marL="0" rtl="0" algn="l">
              <a:lnSpc>
                <a:spcPct val="115000"/>
              </a:lnSpc>
              <a:spcBef>
                <a:spcPts val="1200"/>
              </a:spcBef>
              <a:spcAft>
                <a:spcPts val="0"/>
              </a:spcAft>
              <a:buSzPts val="1300"/>
              <a:buNone/>
            </a:pPr>
            <a:r>
              <a:t/>
            </a:r>
            <a:endParaRPr sz="1200">
              <a:solidFill>
                <a:srgbClr val="24292E"/>
              </a:solidFill>
              <a:highlight>
                <a:srgbClr val="FFFFFF"/>
              </a:highlight>
              <a:latin typeface="Arial"/>
              <a:ea typeface="Arial"/>
              <a:cs typeface="Arial"/>
              <a:sym typeface="Arial"/>
            </a:endParaRPr>
          </a:p>
          <a:p>
            <a:pPr indent="0" lvl="0" marL="0" rtl="0" algn="l">
              <a:lnSpc>
                <a:spcPct val="115000"/>
              </a:lnSpc>
              <a:spcBef>
                <a:spcPts val="1200"/>
              </a:spcBef>
              <a:spcAft>
                <a:spcPts val="0"/>
              </a:spcAft>
              <a:buSzPts val="1300"/>
              <a:buNone/>
            </a:pPr>
            <a:r>
              <a:t/>
            </a:r>
            <a:endParaRPr sz="1200">
              <a:solidFill>
                <a:srgbClr val="24292E"/>
              </a:solidFill>
              <a:highlight>
                <a:srgbClr val="FFFFFF"/>
              </a:highlight>
              <a:latin typeface="Arial"/>
              <a:ea typeface="Arial"/>
              <a:cs typeface="Arial"/>
              <a:sym typeface="Arial"/>
            </a:endParaRPr>
          </a:p>
          <a:p>
            <a:pPr indent="0" lvl="0" marL="0" rtl="0" algn="l">
              <a:lnSpc>
                <a:spcPct val="115000"/>
              </a:lnSpc>
              <a:spcBef>
                <a:spcPts val="1200"/>
              </a:spcBef>
              <a:spcAft>
                <a:spcPts val="0"/>
              </a:spcAft>
              <a:buSzPts val="1300"/>
              <a:buNone/>
            </a:pPr>
            <a:r>
              <a:t/>
            </a:r>
            <a:endParaRPr sz="1200">
              <a:solidFill>
                <a:srgbClr val="24292E"/>
              </a:solidFill>
              <a:highlight>
                <a:srgbClr val="FFFFFF"/>
              </a:highlight>
              <a:latin typeface="Arial"/>
              <a:ea typeface="Arial"/>
              <a:cs typeface="Arial"/>
              <a:sym typeface="Arial"/>
            </a:endParaRPr>
          </a:p>
          <a:p>
            <a:pPr indent="0" lvl="0" marL="0" rtl="0" algn="l">
              <a:lnSpc>
                <a:spcPct val="115000"/>
              </a:lnSpc>
              <a:spcBef>
                <a:spcPts val="1200"/>
              </a:spcBef>
              <a:spcAft>
                <a:spcPts val="0"/>
              </a:spcAft>
              <a:buSzPts val="1300"/>
              <a:buNone/>
            </a:pPr>
            <a:r>
              <a:rPr lang="es" sz="1200">
                <a:solidFill>
                  <a:srgbClr val="24292E"/>
                </a:solidFill>
                <a:highlight>
                  <a:srgbClr val="FFFFFF"/>
                </a:highlight>
                <a:latin typeface="Arial"/>
                <a:ea typeface="Arial"/>
                <a:cs typeface="Arial"/>
                <a:sym typeface="Arial"/>
              </a:rPr>
              <a:t>Sin embargo esto sólo funcionaría para la última fila añadida ya que la línea </a:t>
            </a:r>
            <a:r>
              <a:rPr lang="es" sz="1000">
                <a:solidFill>
                  <a:srgbClr val="24292E"/>
                </a:solidFill>
                <a:latin typeface="Courier New"/>
                <a:ea typeface="Courier New"/>
                <a:cs typeface="Courier New"/>
                <a:sym typeface="Courier New"/>
              </a:rPr>
              <a:t>miTabla.innerHTML += nuevaFila</a:t>
            </a:r>
            <a:r>
              <a:rPr lang="es" sz="1200">
                <a:solidFill>
                  <a:srgbClr val="24292E"/>
                </a:solidFill>
                <a:highlight>
                  <a:srgbClr val="FFFFFF"/>
                </a:highlight>
                <a:latin typeface="Arial"/>
                <a:ea typeface="Arial"/>
                <a:cs typeface="Arial"/>
                <a:sym typeface="Arial"/>
              </a:rPr>
              <a:t> equivale a </a:t>
            </a:r>
            <a:r>
              <a:rPr lang="es" sz="1000">
                <a:solidFill>
                  <a:srgbClr val="24292E"/>
                </a:solidFill>
                <a:latin typeface="Courier New"/>
                <a:ea typeface="Courier New"/>
                <a:cs typeface="Courier New"/>
                <a:sym typeface="Courier New"/>
              </a:rPr>
              <a:t>miTabla.innerHTML = miTabla.innerHTML + nuevaFila</a:t>
            </a:r>
            <a:r>
              <a:rPr lang="es" sz="1200">
                <a:solidFill>
                  <a:srgbClr val="24292E"/>
                </a:solidFill>
                <a:highlight>
                  <a:srgbClr val="FFFFFF"/>
                </a:highlight>
                <a:latin typeface="Arial"/>
                <a:ea typeface="Arial"/>
                <a:cs typeface="Arial"/>
                <a:sym typeface="Arial"/>
              </a:rPr>
              <a:t>. Por tanto estamos asignando a </a:t>
            </a:r>
            <a:r>
              <a:rPr i="1" lang="es" sz="1200">
                <a:solidFill>
                  <a:srgbClr val="24292E"/>
                </a:solidFill>
                <a:highlight>
                  <a:srgbClr val="FFFFFF"/>
                </a:highlight>
                <a:latin typeface="Arial"/>
                <a:ea typeface="Arial"/>
                <a:cs typeface="Arial"/>
                <a:sym typeface="Arial"/>
              </a:rPr>
              <a:t>miTabla</a:t>
            </a:r>
            <a:r>
              <a:rPr lang="es" sz="1200">
                <a:solidFill>
                  <a:srgbClr val="24292E"/>
                </a:solidFill>
                <a:highlight>
                  <a:srgbClr val="FFFFFF"/>
                </a:highlight>
                <a:latin typeface="Arial"/>
                <a:ea typeface="Arial"/>
                <a:cs typeface="Arial"/>
                <a:sym typeface="Arial"/>
              </a:rPr>
              <a:t> un código HTML que ya no contiene escuchadores, excepto el de </a:t>
            </a:r>
            <a:r>
              <a:rPr i="1" lang="es" sz="1200">
                <a:solidFill>
                  <a:srgbClr val="24292E"/>
                </a:solidFill>
                <a:highlight>
                  <a:srgbClr val="FFFFFF"/>
                </a:highlight>
                <a:latin typeface="Arial"/>
                <a:ea typeface="Arial"/>
                <a:cs typeface="Arial"/>
                <a:sym typeface="Arial"/>
              </a:rPr>
              <a:t>nuevaFila</a:t>
            </a:r>
            <a:r>
              <a:rPr lang="es" sz="1200">
                <a:solidFill>
                  <a:srgbClr val="24292E"/>
                </a:solidFill>
                <a:highlight>
                  <a:srgbClr val="FFFFFF"/>
                </a:highlight>
                <a:latin typeface="Arial"/>
                <a:ea typeface="Arial"/>
                <a:cs typeface="Arial"/>
                <a:sym typeface="Arial"/>
              </a:rPr>
              <a:t> que lo ponemos después de hacer la asignación.</a:t>
            </a:r>
            <a:endParaRPr sz="1200">
              <a:solidFill>
                <a:srgbClr val="24292E"/>
              </a:solidFill>
              <a:highlight>
                <a:srgbClr val="FFFFFF"/>
              </a:highlight>
              <a:latin typeface="Arial"/>
              <a:ea typeface="Arial"/>
              <a:cs typeface="Arial"/>
              <a:sym typeface="Arial"/>
            </a:endParaRPr>
          </a:p>
          <a:p>
            <a:pPr indent="0" lvl="0" marL="0" rtl="0" algn="l">
              <a:lnSpc>
                <a:spcPct val="115000"/>
              </a:lnSpc>
              <a:spcBef>
                <a:spcPts val="1200"/>
              </a:spcBef>
              <a:spcAft>
                <a:spcPts val="1200"/>
              </a:spcAft>
              <a:buSzPts val="1300"/>
              <a:buNone/>
            </a:pPr>
            <a:r>
              <a:t/>
            </a:r>
            <a:endParaRPr sz="1200">
              <a:solidFill>
                <a:srgbClr val="24292E"/>
              </a:solidFill>
              <a:highlight>
                <a:srgbClr val="FFFFFF"/>
              </a:highlight>
              <a:latin typeface="Arial"/>
              <a:ea typeface="Arial"/>
              <a:cs typeface="Arial"/>
              <a:sym typeface="Arial"/>
            </a:endParaRPr>
          </a:p>
        </p:txBody>
      </p:sp>
      <p:sp>
        <p:nvSpPr>
          <p:cNvPr id="248" name="Google Shape;248;p26"/>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5.1 Modelo de gestión de eventos</a:t>
            </a:r>
            <a:endParaRPr/>
          </a:p>
          <a:p>
            <a:pPr indent="0" lvl="0" marL="0" rtl="0" algn="l">
              <a:lnSpc>
                <a:spcPct val="100000"/>
              </a:lnSpc>
              <a:spcBef>
                <a:spcPts val="1800"/>
              </a:spcBef>
              <a:spcAft>
                <a:spcPts val="1200"/>
              </a:spcAft>
              <a:buSzPts val="2600"/>
              <a:buNone/>
            </a:pPr>
            <a:r>
              <a:rPr lang="es" sz="1700">
                <a:solidFill>
                  <a:srgbClr val="24292E"/>
                </a:solidFill>
                <a:highlight>
                  <a:srgbClr val="FFFFFF"/>
                </a:highlight>
                <a:latin typeface="Arial"/>
                <a:ea typeface="Arial"/>
                <a:cs typeface="Arial"/>
                <a:sym typeface="Arial"/>
              </a:rPr>
              <a:t>innerHTML y escuchadores de eventos</a:t>
            </a:r>
            <a:endParaRPr sz="1700">
              <a:solidFill>
                <a:srgbClr val="24292E"/>
              </a:solidFill>
              <a:highlight>
                <a:srgbClr val="FFFFFF"/>
              </a:highlight>
              <a:latin typeface="Arial"/>
              <a:ea typeface="Arial"/>
              <a:cs typeface="Arial"/>
              <a:sym typeface="Arial"/>
            </a:endParaRPr>
          </a:p>
        </p:txBody>
      </p:sp>
      <p:pic>
        <p:nvPicPr>
          <p:cNvPr id="249" name="Google Shape;249;p26"/>
          <p:cNvPicPr preferRelativeResize="0"/>
          <p:nvPr/>
        </p:nvPicPr>
        <p:blipFill rotWithShape="1">
          <a:blip r:embed="rId3">
            <a:alphaModFix/>
          </a:blip>
          <a:srcRect b="0" l="0" r="0" t="0"/>
          <a:stretch/>
        </p:blipFill>
        <p:spPr>
          <a:xfrm>
            <a:off x="752475" y="2488788"/>
            <a:ext cx="7639050" cy="11334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7"/>
          <p:cNvSpPr txBox="1"/>
          <p:nvPr>
            <p:ph idx="1" type="body"/>
          </p:nvPr>
        </p:nvSpPr>
        <p:spPr>
          <a:xfrm>
            <a:off x="729425" y="1828125"/>
            <a:ext cx="7688700" cy="3315300"/>
          </a:xfrm>
          <a:prstGeom prst="rect">
            <a:avLst/>
          </a:prstGeom>
          <a:noFill/>
          <a:ln>
            <a:noFill/>
          </a:ln>
        </p:spPr>
        <p:txBody>
          <a:bodyPr anchorCtr="0" anchor="t" bIns="91425" lIns="91425" spcFirstLastPara="1" rIns="91425" wrap="square" tIns="91425">
            <a:normAutofit/>
          </a:bodyPr>
          <a:lstStyle/>
          <a:p>
            <a:pPr indent="-323850" lvl="0" marL="457200" rtl="0" algn="l">
              <a:lnSpc>
                <a:spcPct val="115000"/>
              </a:lnSpc>
              <a:spcBef>
                <a:spcPts val="0"/>
              </a:spcBef>
              <a:spcAft>
                <a:spcPts val="0"/>
              </a:spcAft>
              <a:buClr>
                <a:srgbClr val="24292E"/>
              </a:buClr>
              <a:buSzPts val="1500"/>
              <a:buFont typeface="Arial"/>
              <a:buChar char="●"/>
            </a:pPr>
            <a:r>
              <a:rPr lang="es" sz="1500">
                <a:solidFill>
                  <a:srgbClr val="24292E"/>
                </a:solidFill>
                <a:highlight>
                  <a:srgbClr val="FFFFFF"/>
                </a:highlight>
                <a:latin typeface="Arial"/>
                <a:ea typeface="Arial"/>
                <a:cs typeface="Arial"/>
                <a:sym typeface="Arial"/>
              </a:rPr>
              <a:t>Es un patrón de diseño que nos permite no tener que poner un escuchador a cada elemento sino uno global que haga el trabajo de todos.</a:t>
            </a:r>
            <a:endParaRPr sz="1500">
              <a:solidFill>
                <a:srgbClr val="24292E"/>
              </a:solidFill>
              <a:highlight>
                <a:srgbClr val="FFFFFF"/>
              </a:highlight>
              <a:latin typeface="Arial"/>
              <a:ea typeface="Arial"/>
              <a:cs typeface="Arial"/>
              <a:sym typeface="Arial"/>
            </a:endParaRPr>
          </a:p>
          <a:p>
            <a:pPr indent="-323850" lvl="0" marL="457200" rtl="0" algn="l">
              <a:lnSpc>
                <a:spcPct val="115000"/>
              </a:lnSpc>
              <a:spcBef>
                <a:spcPts val="0"/>
              </a:spcBef>
              <a:spcAft>
                <a:spcPts val="0"/>
              </a:spcAft>
              <a:buClr>
                <a:srgbClr val="24292E"/>
              </a:buClr>
              <a:buSzPts val="1500"/>
              <a:buFont typeface="Arial"/>
              <a:buChar char="●"/>
            </a:pPr>
            <a:r>
              <a:rPr lang="es" sz="1500">
                <a:solidFill>
                  <a:srgbClr val="24292E"/>
                </a:solidFill>
                <a:highlight>
                  <a:srgbClr val="FFFFFF"/>
                </a:highlight>
                <a:latin typeface="Arial"/>
                <a:ea typeface="Arial"/>
                <a:cs typeface="Arial"/>
                <a:sym typeface="Arial"/>
              </a:rPr>
              <a:t>Por ejemplo si queremos escuchar cuándo hacemos click en cada celda de la tabla en lugar de poner un escuchador en cada una (que podría tener cientos) pongo sólo 1 en la tabla y mediante la propiedad event.target puedo saber sobre qué celda en concreto se ha hecho click. Esto además seguirá funcionando si dinámicamente añado nuevas celdas a la tabla ya que no son ellas las que tienen el escuchador sino la propia tabla.</a:t>
            </a:r>
            <a:endParaRPr sz="1500">
              <a:solidFill>
                <a:srgbClr val="24292E"/>
              </a:solidFill>
              <a:highlight>
                <a:srgbClr val="FFFFFF"/>
              </a:highlight>
              <a:latin typeface="Arial"/>
              <a:ea typeface="Arial"/>
              <a:cs typeface="Arial"/>
              <a:sym typeface="Arial"/>
            </a:endParaRPr>
          </a:p>
          <a:p>
            <a:pPr indent="0" lvl="0" marL="0" rtl="0" algn="l">
              <a:lnSpc>
                <a:spcPct val="115000"/>
              </a:lnSpc>
              <a:spcBef>
                <a:spcPts val="1200"/>
              </a:spcBef>
              <a:spcAft>
                <a:spcPts val="1200"/>
              </a:spcAft>
              <a:buSzPts val="1300"/>
              <a:buNone/>
            </a:pPr>
            <a:r>
              <a:t/>
            </a:r>
            <a:endParaRPr sz="1500">
              <a:solidFill>
                <a:srgbClr val="24292E"/>
              </a:solidFill>
              <a:highlight>
                <a:srgbClr val="FFFFFF"/>
              </a:highlight>
              <a:latin typeface="Arial"/>
              <a:ea typeface="Arial"/>
              <a:cs typeface="Arial"/>
              <a:sym typeface="Arial"/>
            </a:endParaRPr>
          </a:p>
        </p:txBody>
      </p:sp>
      <p:sp>
        <p:nvSpPr>
          <p:cNvPr id="255" name="Google Shape;255;p27"/>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5.1 Modelo de gestión de eventos</a:t>
            </a:r>
            <a:endParaRPr/>
          </a:p>
          <a:p>
            <a:pPr indent="0" lvl="0" marL="0" rtl="0" algn="l">
              <a:lnSpc>
                <a:spcPct val="100000"/>
              </a:lnSpc>
              <a:spcBef>
                <a:spcPts val="1800"/>
              </a:spcBef>
              <a:spcAft>
                <a:spcPts val="1200"/>
              </a:spcAft>
              <a:buSzPts val="2600"/>
              <a:buNone/>
            </a:pPr>
            <a:r>
              <a:rPr lang="es" sz="1700">
                <a:solidFill>
                  <a:srgbClr val="24292E"/>
                </a:solidFill>
                <a:highlight>
                  <a:srgbClr val="FFFFFF"/>
                </a:highlight>
                <a:latin typeface="Arial"/>
                <a:ea typeface="Arial"/>
                <a:cs typeface="Arial"/>
                <a:sym typeface="Arial"/>
              </a:rPr>
              <a:t>Delegación de eventos</a:t>
            </a:r>
            <a:endParaRPr sz="1700">
              <a:solidFill>
                <a:srgbClr val="24292E"/>
              </a:solidFill>
              <a:highlight>
                <a:srgbClr val="FFFFFF"/>
              </a:highlight>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8"/>
          <p:cNvSpPr txBox="1"/>
          <p:nvPr>
            <p:ph idx="1" type="body"/>
          </p:nvPr>
        </p:nvSpPr>
        <p:spPr>
          <a:xfrm>
            <a:off x="835525" y="1828125"/>
            <a:ext cx="7582500" cy="331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s" sz="1400">
                <a:solidFill>
                  <a:srgbClr val="24292E"/>
                </a:solidFill>
                <a:highlight>
                  <a:srgbClr val="FFFFFF"/>
                </a:highlight>
                <a:latin typeface="Arial"/>
                <a:ea typeface="Arial"/>
                <a:cs typeface="Arial"/>
                <a:sym typeface="Arial"/>
              </a:rPr>
              <a:t>Se trata de una verificación útil porque evita enviar datos al servidor que sabemos que no son válidos pero </a:t>
            </a:r>
            <a:r>
              <a:rPr b="1" lang="es" sz="1400">
                <a:solidFill>
                  <a:srgbClr val="24292E"/>
                </a:solidFill>
                <a:highlight>
                  <a:srgbClr val="FFFFFF"/>
                </a:highlight>
                <a:latin typeface="Arial"/>
                <a:ea typeface="Arial"/>
                <a:cs typeface="Arial"/>
                <a:sym typeface="Arial"/>
              </a:rPr>
              <a:t>NUNCA puede sustituir a la validación en el lado servido</a:t>
            </a:r>
            <a:r>
              <a:rPr lang="es" sz="1400">
                <a:solidFill>
                  <a:srgbClr val="24292E"/>
                </a:solidFill>
                <a:highlight>
                  <a:srgbClr val="FFFFFF"/>
                </a:highlight>
                <a:latin typeface="Arial"/>
                <a:ea typeface="Arial"/>
                <a:cs typeface="Arial"/>
                <a:sym typeface="Arial"/>
              </a:rPr>
              <a:t>r ya que en el lado cliente se puede manipular el código desde la consola para que se salte las validaciones que le pongamos.</a:t>
            </a:r>
            <a:endParaRPr sz="1400">
              <a:solidFill>
                <a:srgbClr val="24292E"/>
              </a:solidFill>
              <a:highlight>
                <a:srgbClr val="FFFFFF"/>
              </a:highlight>
              <a:latin typeface="Arial"/>
              <a:ea typeface="Arial"/>
              <a:cs typeface="Arial"/>
              <a:sym typeface="Arial"/>
            </a:endParaRPr>
          </a:p>
          <a:p>
            <a:pPr indent="0" lvl="0" marL="0" rtl="0" algn="l">
              <a:lnSpc>
                <a:spcPct val="115000"/>
              </a:lnSpc>
              <a:spcBef>
                <a:spcPts val="1200"/>
              </a:spcBef>
              <a:spcAft>
                <a:spcPts val="0"/>
              </a:spcAft>
              <a:buSzPts val="1300"/>
              <a:buNone/>
            </a:pPr>
            <a:r>
              <a:rPr lang="es" sz="1400">
                <a:solidFill>
                  <a:srgbClr val="24292E"/>
                </a:solidFill>
                <a:highlight>
                  <a:srgbClr val="FFFFFF"/>
                </a:highlight>
                <a:latin typeface="Arial"/>
                <a:ea typeface="Arial"/>
                <a:cs typeface="Arial"/>
                <a:sym typeface="Arial"/>
              </a:rPr>
              <a:t>Podéis encontrar una guía muy completa de validación de formularios en el lado cliente el la página de </a:t>
            </a:r>
            <a:r>
              <a:rPr lang="es" sz="1400">
                <a:solidFill>
                  <a:srgbClr val="0366D6"/>
                </a:solidFill>
                <a:highlight>
                  <a:srgbClr val="FFFFFF"/>
                </a:highlight>
                <a:uFill>
                  <a:noFill/>
                </a:uFill>
                <a:latin typeface="Arial"/>
                <a:ea typeface="Arial"/>
                <a:cs typeface="Arial"/>
                <a:sym typeface="Arial"/>
                <a:hlinkClick r:id="rId3">
                  <a:extLst>
                    <a:ext uri="{A12FA001-AC4F-418D-AE19-62706E023703}">
                      <ahyp:hlinkClr val="tx"/>
                    </a:ext>
                  </a:extLst>
                </a:hlinkClick>
              </a:rPr>
              <a:t>MDN web docs</a:t>
            </a:r>
            <a:r>
              <a:rPr lang="es" sz="1400">
                <a:solidFill>
                  <a:srgbClr val="24292E"/>
                </a:solidFill>
                <a:highlight>
                  <a:srgbClr val="FFFFFF"/>
                </a:highlight>
                <a:latin typeface="Arial"/>
                <a:ea typeface="Arial"/>
                <a:cs typeface="Arial"/>
                <a:sym typeface="Arial"/>
              </a:rPr>
              <a:t> que ha servido como base para estos apuntes.</a:t>
            </a:r>
            <a:endParaRPr sz="1400">
              <a:solidFill>
                <a:srgbClr val="24292E"/>
              </a:solidFill>
              <a:highlight>
                <a:srgbClr val="FFFFFF"/>
              </a:highlight>
              <a:latin typeface="Arial"/>
              <a:ea typeface="Arial"/>
              <a:cs typeface="Arial"/>
              <a:sym typeface="Arial"/>
            </a:endParaRPr>
          </a:p>
          <a:p>
            <a:pPr indent="0" lvl="0" marL="0" rtl="0" algn="l">
              <a:lnSpc>
                <a:spcPct val="115000"/>
              </a:lnSpc>
              <a:spcBef>
                <a:spcPts val="1200"/>
              </a:spcBef>
              <a:spcAft>
                <a:spcPts val="0"/>
              </a:spcAft>
              <a:buSzPts val="1300"/>
              <a:buNone/>
            </a:pPr>
            <a:r>
              <a:rPr lang="es" sz="1400">
                <a:solidFill>
                  <a:srgbClr val="24292E"/>
                </a:solidFill>
                <a:highlight>
                  <a:srgbClr val="FFFFFF"/>
                </a:highlight>
                <a:latin typeface="Arial"/>
                <a:ea typeface="Arial"/>
                <a:cs typeface="Arial"/>
                <a:sym typeface="Arial"/>
              </a:rPr>
              <a:t>Básicamente tenemos 2 maneras de validar un formulario en el lado cliente:</a:t>
            </a:r>
            <a:endParaRPr sz="1400">
              <a:solidFill>
                <a:srgbClr val="24292E"/>
              </a:solidFill>
              <a:highlight>
                <a:srgbClr val="FFFFFF"/>
              </a:highlight>
              <a:latin typeface="Arial"/>
              <a:ea typeface="Arial"/>
              <a:cs typeface="Arial"/>
              <a:sym typeface="Arial"/>
            </a:endParaRPr>
          </a:p>
          <a:p>
            <a:pPr indent="-317500" lvl="0" marL="457200" rtl="0" algn="l">
              <a:lnSpc>
                <a:spcPct val="115000"/>
              </a:lnSpc>
              <a:spcBef>
                <a:spcPts val="1200"/>
              </a:spcBef>
              <a:spcAft>
                <a:spcPts val="0"/>
              </a:spcAft>
              <a:buClr>
                <a:srgbClr val="24292E"/>
              </a:buClr>
              <a:buSzPts val="1400"/>
              <a:buFont typeface="Arial"/>
              <a:buChar char="●"/>
            </a:pPr>
            <a:r>
              <a:rPr lang="es" sz="1400">
                <a:solidFill>
                  <a:srgbClr val="24292E"/>
                </a:solidFill>
                <a:highlight>
                  <a:srgbClr val="FFFFFF"/>
                </a:highlight>
                <a:latin typeface="Arial"/>
                <a:ea typeface="Arial"/>
                <a:cs typeface="Arial"/>
                <a:sym typeface="Arial"/>
              </a:rPr>
              <a:t>usar la validación incorporada en HTML5 y dejar que sea el navegador quien se encargue de todo</a:t>
            </a:r>
            <a:endParaRPr sz="1400">
              <a:solidFill>
                <a:srgbClr val="24292E"/>
              </a:solidFill>
              <a:highlight>
                <a:srgbClr val="FFFFFF"/>
              </a:highlight>
              <a:latin typeface="Arial"/>
              <a:ea typeface="Arial"/>
              <a:cs typeface="Arial"/>
              <a:sym typeface="Arial"/>
            </a:endParaRPr>
          </a:p>
          <a:p>
            <a:pPr indent="-317500" lvl="0" marL="457200" rtl="0" algn="l">
              <a:lnSpc>
                <a:spcPct val="115000"/>
              </a:lnSpc>
              <a:spcBef>
                <a:spcPts val="0"/>
              </a:spcBef>
              <a:spcAft>
                <a:spcPts val="0"/>
              </a:spcAft>
              <a:buClr>
                <a:srgbClr val="24292E"/>
              </a:buClr>
              <a:buSzPts val="1400"/>
              <a:buFont typeface="Arial"/>
              <a:buChar char="●"/>
            </a:pPr>
            <a:r>
              <a:rPr lang="es" sz="1400">
                <a:solidFill>
                  <a:srgbClr val="24292E"/>
                </a:solidFill>
                <a:highlight>
                  <a:srgbClr val="FFFFFF"/>
                </a:highlight>
                <a:latin typeface="Arial"/>
                <a:ea typeface="Arial"/>
                <a:cs typeface="Arial"/>
                <a:sym typeface="Arial"/>
              </a:rPr>
              <a:t>realizar nosotros la validación mediante Javascript</a:t>
            </a:r>
            <a:endParaRPr sz="1400">
              <a:solidFill>
                <a:srgbClr val="24292E"/>
              </a:solidFill>
              <a:highlight>
                <a:srgbClr val="FFFFFF"/>
              </a:highlight>
              <a:latin typeface="Arial"/>
              <a:ea typeface="Arial"/>
              <a:cs typeface="Arial"/>
              <a:sym typeface="Arial"/>
            </a:endParaRPr>
          </a:p>
          <a:p>
            <a:pPr indent="0" lvl="0" marL="0" rtl="0" algn="l">
              <a:lnSpc>
                <a:spcPct val="115000"/>
              </a:lnSpc>
              <a:spcBef>
                <a:spcPts val="1200"/>
              </a:spcBef>
              <a:spcAft>
                <a:spcPts val="1200"/>
              </a:spcAft>
              <a:buSzPts val="1300"/>
              <a:buNone/>
            </a:pPr>
            <a:r>
              <a:t/>
            </a:r>
            <a:endParaRPr sz="1200">
              <a:solidFill>
                <a:srgbClr val="24292E"/>
              </a:solidFill>
              <a:highlight>
                <a:srgbClr val="FFFFFF"/>
              </a:highlight>
              <a:latin typeface="Arial"/>
              <a:ea typeface="Arial"/>
              <a:cs typeface="Arial"/>
              <a:sym typeface="Arial"/>
            </a:endParaRPr>
          </a:p>
        </p:txBody>
      </p:sp>
      <p:sp>
        <p:nvSpPr>
          <p:cNvPr id="261" name="Google Shape;261;p28"/>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5.2 Validación de formularios</a:t>
            </a:r>
            <a:endParaRPr/>
          </a:p>
          <a:p>
            <a:pPr indent="0" lvl="0" marL="76200" rtl="0" algn="l">
              <a:lnSpc>
                <a:spcPct val="100000"/>
              </a:lnSpc>
              <a:spcBef>
                <a:spcPts val="1800"/>
              </a:spcBef>
              <a:spcAft>
                <a:spcPts val="1200"/>
              </a:spcAft>
              <a:buSzPts val="2600"/>
              <a:buNone/>
            </a:pPr>
            <a:r>
              <a:rPr lang="es" sz="1800">
                <a:solidFill>
                  <a:srgbClr val="24292E"/>
                </a:solidFill>
                <a:highlight>
                  <a:srgbClr val="FFFFFF"/>
                </a:highlight>
                <a:latin typeface="Arial"/>
                <a:ea typeface="Arial"/>
                <a:cs typeface="Arial"/>
                <a:sym typeface="Arial"/>
              </a:rPr>
              <a:t>Introducción</a:t>
            </a:r>
            <a:endParaRPr sz="1800">
              <a:solidFill>
                <a:srgbClr val="24292E"/>
              </a:solidFill>
              <a:highlight>
                <a:srgbClr val="FFFFFF"/>
              </a:highlight>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9"/>
          <p:cNvSpPr txBox="1"/>
          <p:nvPr>
            <p:ph idx="1" type="body"/>
          </p:nvPr>
        </p:nvSpPr>
        <p:spPr>
          <a:xfrm>
            <a:off x="835525" y="1828125"/>
            <a:ext cx="7582500" cy="331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s" sz="1400">
                <a:solidFill>
                  <a:srgbClr val="24292E"/>
                </a:solidFill>
                <a:highlight>
                  <a:srgbClr val="FFFFFF"/>
                </a:highlight>
                <a:latin typeface="Arial"/>
                <a:ea typeface="Arial"/>
                <a:cs typeface="Arial"/>
                <a:sym typeface="Arial"/>
              </a:rPr>
              <a:t>La </a:t>
            </a:r>
            <a:r>
              <a:rPr b="1" lang="es" sz="1400">
                <a:solidFill>
                  <a:srgbClr val="24292E"/>
                </a:solidFill>
                <a:highlight>
                  <a:srgbClr val="FFFFFF"/>
                </a:highlight>
                <a:latin typeface="Arial"/>
                <a:ea typeface="Arial"/>
                <a:cs typeface="Arial"/>
                <a:sym typeface="Arial"/>
              </a:rPr>
              <a:t>ventaja </a:t>
            </a:r>
            <a:r>
              <a:rPr lang="es" sz="1400">
                <a:solidFill>
                  <a:srgbClr val="24292E"/>
                </a:solidFill>
                <a:highlight>
                  <a:srgbClr val="FFFFFF"/>
                </a:highlight>
                <a:latin typeface="Arial"/>
                <a:ea typeface="Arial"/>
                <a:cs typeface="Arial"/>
                <a:sym typeface="Arial"/>
              </a:rPr>
              <a:t>de la primera opción es que no tenemos que escribir código sino simplemente poner unos atributos a los INPUT que indiquen qué se ha de validar. </a:t>
            </a:r>
            <a:endParaRPr sz="1400">
              <a:solidFill>
                <a:srgbClr val="24292E"/>
              </a:solidFill>
              <a:highlight>
                <a:srgbClr val="FFFFFF"/>
              </a:highlight>
              <a:latin typeface="Arial"/>
              <a:ea typeface="Arial"/>
              <a:cs typeface="Arial"/>
              <a:sym typeface="Arial"/>
            </a:endParaRPr>
          </a:p>
          <a:p>
            <a:pPr indent="0" lvl="0" marL="0" rtl="0" algn="l">
              <a:lnSpc>
                <a:spcPct val="115000"/>
              </a:lnSpc>
              <a:spcBef>
                <a:spcPts val="1200"/>
              </a:spcBef>
              <a:spcAft>
                <a:spcPts val="0"/>
              </a:spcAft>
              <a:buSzPts val="1300"/>
              <a:buNone/>
            </a:pPr>
            <a:r>
              <a:rPr lang="es" sz="1400">
                <a:solidFill>
                  <a:srgbClr val="24292E"/>
                </a:solidFill>
                <a:highlight>
                  <a:srgbClr val="FFFFFF"/>
                </a:highlight>
                <a:latin typeface="Arial"/>
                <a:ea typeface="Arial"/>
                <a:cs typeface="Arial"/>
                <a:sym typeface="Arial"/>
              </a:rPr>
              <a:t>La principal </a:t>
            </a:r>
            <a:r>
              <a:rPr b="1" lang="es" sz="1400">
                <a:solidFill>
                  <a:srgbClr val="24292E"/>
                </a:solidFill>
                <a:highlight>
                  <a:srgbClr val="FFFFFF"/>
                </a:highlight>
                <a:latin typeface="Arial"/>
                <a:ea typeface="Arial"/>
                <a:cs typeface="Arial"/>
                <a:sym typeface="Arial"/>
              </a:rPr>
              <a:t>desventaja </a:t>
            </a:r>
            <a:r>
              <a:rPr lang="es" sz="1400">
                <a:solidFill>
                  <a:srgbClr val="24292E"/>
                </a:solidFill>
                <a:highlight>
                  <a:srgbClr val="FFFFFF"/>
                </a:highlight>
                <a:latin typeface="Arial"/>
                <a:ea typeface="Arial"/>
                <a:cs typeface="Arial"/>
                <a:sym typeface="Arial"/>
              </a:rPr>
              <a:t>es que no tenemos ningún control sobre el proceso, lo que provocará cosas como:</a:t>
            </a:r>
            <a:endParaRPr sz="1400">
              <a:solidFill>
                <a:srgbClr val="24292E"/>
              </a:solidFill>
              <a:highlight>
                <a:srgbClr val="FFFFFF"/>
              </a:highlight>
              <a:latin typeface="Arial"/>
              <a:ea typeface="Arial"/>
              <a:cs typeface="Arial"/>
              <a:sym typeface="Arial"/>
            </a:endParaRPr>
          </a:p>
          <a:p>
            <a:pPr indent="-317500" lvl="0" marL="457200" rtl="0" algn="l">
              <a:lnSpc>
                <a:spcPct val="115000"/>
              </a:lnSpc>
              <a:spcBef>
                <a:spcPts val="1200"/>
              </a:spcBef>
              <a:spcAft>
                <a:spcPts val="0"/>
              </a:spcAft>
              <a:buClr>
                <a:srgbClr val="24292E"/>
              </a:buClr>
              <a:buSzPts val="1400"/>
              <a:buFont typeface="Arial"/>
              <a:buChar char="●"/>
            </a:pPr>
            <a:r>
              <a:rPr lang="es" sz="1400">
                <a:solidFill>
                  <a:srgbClr val="24292E"/>
                </a:solidFill>
                <a:highlight>
                  <a:srgbClr val="FFFFFF"/>
                </a:highlight>
                <a:latin typeface="Arial"/>
                <a:ea typeface="Arial"/>
                <a:cs typeface="Arial"/>
                <a:sym typeface="Arial"/>
              </a:rPr>
              <a:t>el navegador valida campo a campo: cuando encuentra un error en un campo lo muestra y hasta que no se soluciona no valida el siguiente lo que hace que el proceso sea molesto para el usuario que no ve todo lo que hay mal de una vez</a:t>
            </a:r>
            <a:endParaRPr sz="1400">
              <a:solidFill>
                <a:srgbClr val="24292E"/>
              </a:solidFill>
              <a:highlight>
                <a:srgbClr val="FFFFFF"/>
              </a:highlight>
              <a:latin typeface="Arial"/>
              <a:ea typeface="Arial"/>
              <a:cs typeface="Arial"/>
              <a:sym typeface="Arial"/>
            </a:endParaRPr>
          </a:p>
          <a:p>
            <a:pPr indent="-317500" lvl="0" marL="457200" rtl="0" algn="l">
              <a:lnSpc>
                <a:spcPct val="115000"/>
              </a:lnSpc>
              <a:spcBef>
                <a:spcPts val="0"/>
              </a:spcBef>
              <a:spcAft>
                <a:spcPts val="0"/>
              </a:spcAft>
              <a:buClr>
                <a:srgbClr val="24292E"/>
              </a:buClr>
              <a:buSzPts val="1400"/>
              <a:buFont typeface="Arial"/>
              <a:buChar char="●"/>
            </a:pPr>
            <a:r>
              <a:rPr lang="es" sz="1400">
                <a:solidFill>
                  <a:srgbClr val="24292E"/>
                </a:solidFill>
                <a:highlight>
                  <a:srgbClr val="FFFFFF"/>
                </a:highlight>
                <a:latin typeface="Arial"/>
                <a:ea typeface="Arial"/>
                <a:cs typeface="Arial"/>
                <a:sym typeface="Arial"/>
              </a:rPr>
              <a:t>los mensajes son los predeterminados del navegador y en ocasiones pueden no ser muy claros para el usuario</a:t>
            </a:r>
            <a:endParaRPr sz="1400">
              <a:solidFill>
                <a:srgbClr val="24292E"/>
              </a:solidFill>
              <a:highlight>
                <a:srgbClr val="FFFFFF"/>
              </a:highlight>
              <a:latin typeface="Arial"/>
              <a:ea typeface="Arial"/>
              <a:cs typeface="Arial"/>
              <a:sym typeface="Arial"/>
            </a:endParaRPr>
          </a:p>
          <a:p>
            <a:pPr indent="-317500" lvl="0" marL="457200" rtl="0" algn="l">
              <a:lnSpc>
                <a:spcPct val="115000"/>
              </a:lnSpc>
              <a:spcBef>
                <a:spcPts val="0"/>
              </a:spcBef>
              <a:spcAft>
                <a:spcPts val="0"/>
              </a:spcAft>
              <a:buClr>
                <a:srgbClr val="24292E"/>
              </a:buClr>
              <a:buSzPts val="1400"/>
              <a:buFont typeface="Arial"/>
              <a:buChar char="●"/>
            </a:pPr>
            <a:r>
              <a:rPr lang="es" sz="1400">
                <a:solidFill>
                  <a:srgbClr val="24292E"/>
                </a:solidFill>
                <a:highlight>
                  <a:srgbClr val="FFFFFF"/>
                </a:highlight>
                <a:latin typeface="Arial"/>
                <a:ea typeface="Arial"/>
                <a:cs typeface="Arial"/>
                <a:sym typeface="Arial"/>
              </a:rPr>
              <a:t>los mensajes se muestran en el idioma en que está configurado el navegador, no en el de nuestra página</a:t>
            </a:r>
            <a:endParaRPr sz="1600">
              <a:solidFill>
                <a:srgbClr val="24292E"/>
              </a:solidFill>
              <a:highlight>
                <a:srgbClr val="FFFFFF"/>
              </a:highlight>
              <a:latin typeface="Arial"/>
              <a:ea typeface="Arial"/>
              <a:cs typeface="Arial"/>
              <a:sym typeface="Arial"/>
            </a:endParaRPr>
          </a:p>
        </p:txBody>
      </p:sp>
      <p:sp>
        <p:nvSpPr>
          <p:cNvPr id="267" name="Google Shape;267;p29"/>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5.2 Validación de formularios</a:t>
            </a:r>
            <a:endParaRPr/>
          </a:p>
          <a:p>
            <a:pPr indent="0" lvl="0" marL="76200" rtl="0" algn="l">
              <a:lnSpc>
                <a:spcPct val="100000"/>
              </a:lnSpc>
              <a:spcBef>
                <a:spcPts val="1800"/>
              </a:spcBef>
              <a:spcAft>
                <a:spcPts val="1200"/>
              </a:spcAft>
              <a:buSzPts val="2600"/>
              <a:buNone/>
            </a:pPr>
            <a:r>
              <a:rPr lang="es" sz="1800">
                <a:solidFill>
                  <a:srgbClr val="24292E"/>
                </a:solidFill>
                <a:highlight>
                  <a:srgbClr val="FFFFFF"/>
                </a:highlight>
                <a:latin typeface="Arial"/>
                <a:ea typeface="Arial"/>
                <a:cs typeface="Arial"/>
                <a:sym typeface="Arial"/>
              </a:rPr>
              <a:t>Introducción</a:t>
            </a:r>
            <a:endParaRPr sz="1800">
              <a:solidFill>
                <a:srgbClr val="24292E"/>
              </a:solidFill>
              <a:highlight>
                <a:srgbClr val="FFFFFF"/>
              </a:highlight>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0"/>
          <p:cNvSpPr txBox="1"/>
          <p:nvPr>
            <p:ph idx="1" type="body"/>
          </p:nvPr>
        </p:nvSpPr>
        <p:spPr>
          <a:xfrm>
            <a:off x="835525" y="1828125"/>
            <a:ext cx="7582500" cy="331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s" sz="1500">
                <a:solidFill>
                  <a:srgbClr val="24292E"/>
                </a:solidFill>
                <a:highlight>
                  <a:srgbClr val="FFFFFF"/>
                </a:highlight>
                <a:latin typeface="Arial"/>
                <a:ea typeface="Arial"/>
                <a:cs typeface="Arial"/>
                <a:sym typeface="Arial"/>
              </a:rPr>
              <a:t>Funciona añadiendo atributos a los campos del formulario que queremos validar. Los más usados son:</a:t>
            </a:r>
            <a:endParaRPr sz="1500">
              <a:solidFill>
                <a:srgbClr val="24292E"/>
              </a:solidFill>
              <a:highlight>
                <a:srgbClr val="FFFFFF"/>
              </a:highlight>
              <a:latin typeface="Arial"/>
              <a:ea typeface="Arial"/>
              <a:cs typeface="Arial"/>
              <a:sym typeface="Arial"/>
            </a:endParaRPr>
          </a:p>
          <a:p>
            <a:pPr indent="-323850" lvl="0" marL="457200" rtl="0" algn="l">
              <a:lnSpc>
                <a:spcPct val="115000"/>
              </a:lnSpc>
              <a:spcBef>
                <a:spcPts val="1200"/>
              </a:spcBef>
              <a:spcAft>
                <a:spcPts val="0"/>
              </a:spcAft>
              <a:buClr>
                <a:srgbClr val="24292E"/>
              </a:buClr>
              <a:buSzPts val="1500"/>
              <a:buFont typeface="Arial"/>
              <a:buChar char="●"/>
            </a:pPr>
            <a:r>
              <a:rPr b="1" lang="es" sz="1500">
                <a:solidFill>
                  <a:srgbClr val="24292E"/>
                </a:solidFill>
                <a:highlight>
                  <a:srgbClr val="FFFFFF"/>
                </a:highlight>
                <a:latin typeface="Arial"/>
                <a:ea typeface="Arial"/>
                <a:cs typeface="Arial"/>
                <a:sym typeface="Arial"/>
              </a:rPr>
              <a:t>required</a:t>
            </a:r>
            <a:r>
              <a:rPr lang="es" sz="1500">
                <a:solidFill>
                  <a:srgbClr val="24292E"/>
                </a:solidFill>
                <a:highlight>
                  <a:srgbClr val="FFFFFF"/>
                </a:highlight>
                <a:latin typeface="Arial"/>
                <a:ea typeface="Arial"/>
                <a:cs typeface="Arial"/>
                <a:sym typeface="Arial"/>
              </a:rPr>
              <a:t>: indica que el campo es obligatorio. La validación fallará si no hay nada escrito en el input. En el caso de un grupo de </a:t>
            </a:r>
            <a:r>
              <a:rPr i="1" lang="es" sz="1500">
                <a:solidFill>
                  <a:srgbClr val="24292E"/>
                </a:solidFill>
                <a:highlight>
                  <a:srgbClr val="FFFFFF"/>
                </a:highlight>
                <a:latin typeface="Arial"/>
                <a:ea typeface="Arial"/>
                <a:cs typeface="Arial"/>
                <a:sym typeface="Arial"/>
              </a:rPr>
              <a:t>radiobuttons</a:t>
            </a:r>
            <a:r>
              <a:rPr lang="es" sz="1500">
                <a:solidFill>
                  <a:srgbClr val="24292E"/>
                </a:solidFill>
                <a:highlight>
                  <a:srgbClr val="FFFFFF"/>
                </a:highlight>
                <a:latin typeface="Arial"/>
                <a:ea typeface="Arial"/>
                <a:cs typeface="Arial"/>
                <a:sym typeface="Arial"/>
              </a:rPr>
              <a:t> se pone sobre cualquiera de ellos (o sobre todos) y obliga a que haya seleccionada una opción cualquiera del grupo</a:t>
            </a:r>
            <a:endParaRPr sz="1500">
              <a:solidFill>
                <a:srgbClr val="24292E"/>
              </a:solidFill>
              <a:highlight>
                <a:srgbClr val="FFFFFF"/>
              </a:highlight>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b="1" lang="es" sz="1500">
                <a:solidFill>
                  <a:srgbClr val="24292E"/>
                </a:solidFill>
                <a:highlight>
                  <a:srgbClr val="FFFFFF"/>
                </a:highlight>
                <a:latin typeface="Arial"/>
                <a:ea typeface="Arial"/>
                <a:cs typeface="Arial"/>
                <a:sym typeface="Arial"/>
              </a:rPr>
              <a:t>pattern</a:t>
            </a:r>
            <a:r>
              <a:rPr lang="es" sz="1500">
                <a:solidFill>
                  <a:srgbClr val="24292E"/>
                </a:solidFill>
                <a:highlight>
                  <a:srgbClr val="FFFFFF"/>
                </a:highlight>
                <a:latin typeface="Arial"/>
                <a:ea typeface="Arial"/>
                <a:cs typeface="Arial"/>
                <a:sym typeface="Arial"/>
              </a:rPr>
              <a:t>: obliga a que el contenido del campo cumpla la expresión regular indicada. Por ejemplo para un código postal sería </a:t>
            </a:r>
            <a:r>
              <a:rPr lang="es">
                <a:solidFill>
                  <a:srgbClr val="24292E"/>
                </a:solidFill>
                <a:highlight>
                  <a:srgbClr val="FFFFFF"/>
                </a:highlight>
                <a:latin typeface="Courier New"/>
                <a:ea typeface="Courier New"/>
                <a:cs typeface="Courier New"/>
                <a:sym typeface="Courier New"/>
              </a:rPr>
              <a:t>pattern="^[0-9]{5}$"</a:t>
            </a:r>
            <a:endParaRPr>
              <a:solidFill>
                <a:srgbClr val="24292E"/>
              </a:solidFill>
              <a:highlight>
                <a:srgbClr val="FFFFFF"/>
              </a:highlight>
              <a:latin typeface="Courier New"/>
              <a:ea typeface="Courier New"/>
              <a:cs typeface="Courier New"/>
              <a:sym typeface="Courier New"/>
            </a:endParaRPr>
          </a:p>
          <a:p>
            <a:pPr indent="-323850" lvl="0" marL="457200" rtl="0" algn="l">
              <a:lnSpc>
                <a:spcPct val="115000"/>
              </a:lnSpc>
              <a:spcBef>
                <a:spcPts val="0"/>
              </a:spcBef>
              <a:spcAft>
                <a:spcPts val="0"/>
              </a:spcAft>
              <a:buClr>
                <a:srgbClr val="24292E"/>
              </a:buClr>
              <a:buSzPts val="1500"/>
              <a:buFont typeface="Arial"/>
              <a:buChar char="●"/>
            </a:pPr>
            <a:r>
              <a:rPr b="1" lang="es" sz="1500">
                <a:solidFill>
                  <a:srgbClr val="24292E"/>
                </a:solidFill>
                <a:highlight>
                  <a:srgbClr val="FFFFFF"/>
                </a:highlight>
                <a:latin typeface="Arial"/>
                <a:ea typeface="Arial"/>
                <a:cs typeface="Arial"/>
                <a:sym typeface="Arial"/>
              </a:rPr>
              <a:t>minlength / maxlength</a:t>
            </a:r>
            <a:r>
              <a:rPr lang="es" sz="1500">
                <a:solidFill>
                  <a:srgbClr val="24292E"/>
                </a:solidFill>
                <a:highlight>
                  <a:srgbClr val="FFFFFF"/>
                </a:highlight>
                <a:latin typeface="Arial"/>
                <a:ea typeface="Arial"/>
                <a:cs typeface="Arial"/>
                <a:sym typeface="Arial"/>
              </a:rPr>
              <a:t>: indica la longitud mínima/máxima del contenido del campo</a:t>
            </a:r>
            <a:endParaRPr sz="1500">
              <a:solidFill>
                <a:srgbClr val="24292E"/>
              </a:solidFill>
              <a:highlight>
                <a:srgbClr val="FFFFFF"/>
              </a:highlight>
              <a:latin typeface="Arial"/>
              <a:ea typeface="Arial"/>
              <a:cs typeface="Arial"/>
              <a:sym typeface="Arial"/>
            </a:endParaRPr>
          </a:p>
          <a:p>
            <a:pPr indent="-323850" lvl="0" marL="457200" rtl="0" algn="l">
              <a:lnSpc>
                <a:spcPct val="115000"/>
              </a:lnSpc>
              <a:spcBef>
                <a:spcPts val="0"/>
              </a:spcBef>
              <a:spcAft>
                <a:spcPts val="0"/>
              </a:spcAft>
              <a:buClr>
                <a:srgbClr val="24292E"/>
              </a:buClr>
              <a:buSzPts val="1500"/>
              <a:buFont typeface="Arial"/>
              <a:buChar char="●"/>
            </a:pPr>
            <a:r>
              <a:rPr b="1" lang="es" sz="1500">
                <a:solidFill>
                  <a:srgbClr val="24292E"/>
                </a:solidFill>
                <a:highlight>
                  <a:srgbClr val="FFFFFF"/>
                </a:highlight>
                <a:latin typeface="Arial"/>
                <a:ea typeface="Arial"/>
                <a:cs typeface="Arial"/>
                <a:sym typeface="Arial"/>
              </a:rPr>
              <a:t>min / max:</a:t>
            </a:r>
            <a:r>
              <a:rPr lang="es" sz="1500">
                <a:solidFill>
                  <a:srgbClr val="24292E"/>
                </a:solidFill>
                <a:highlight>
                  <a:srgbClr val="FFFFFF"/>
                </a:highlight>
                <a:latin typeface="Arial"/>
                <a:ea typeface="Arial"/>
                <a:cs typeface="Arial"/>
                <a:sym typeface="Arial"/>
              </a:rPr>
              <a:t> indica el valor mínimo/máximo del contenido de un campo numérico</a:t>
            </a:r>
            <a:endParaRPr sz="1900">
              <a:solidFill>
                <a:srgbClr val="24292E"/>
              </a:solidFill>
              <a:highlight>
                <a:srgbClr val="FFFFFF"/>
              </a:highlight>
              <a:latin typeface="Arial"/>
              <a:ea typeface="Arial"/>
              <a:cs typeface="Arial"/>
              <a:sym typeface="Arial"/>
            </a:endParaRPr>
          </a:p>
        </p:txBody>
      </p:sp>
      <p:sp>
        <p:nvSpPr>
          <p:cNvPr id="273" name="Google Shape;273;p30"/>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5.2 Validación de formularios</a:t>
            </a:r>
            <a:endParaRPr/>
          </a:p>
          <a:p>
            <a:pPr indent="0" lvl="0" marL="76200" rtl="0" algn="l">
              <a:lnSpc>
                <a:spcPct val="100000"/>
              </a:lnSpc>
              <a:spcBef>
                <a:spcPts val="1800"/>
              </a:spcBef>
              <a:spcAft>
                <a:spcPts val="1200"/>
              </a:spcAft>
              <a:buSzPts val="2600"/>
              <a:buNone/>
            </a:pPr>
            <a:r>
              <a:rPr lang="es" sz="1650">
                <a:solidFill>
                  <a:srgbClr val="24292E"/>
                </a:solidFill>
                <a:highlight>
                  <a:srgbClr val="FFFFFF"/>
                </a:highlight>
                <a:latin typeface="Arial"/>
                <a:ea typeface="Arial"/>
                <a:cs typeface="Arial"/>
                <a:sym typeface="Arial"/>
              </a:rPr>
              <a:t>Validación del navegador incorporada en HTML5</a:t>
            </a:r>
            <a:endParaRPr sz="1800">
              <a:solidFill>
                <a:srgbClr val="24292E"/>
              </a:solidFill>
              <a:highlight>
                <a:srgbClr val="FFFFFF"/>
              </a:highlight>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1"/>
          <p:cNvSpPr txBox="1"/>
          <p:nvPr>
            <p:ph idx="1" type="body"/>
          </p:nvPr>
        </p:nvSpPr>
        <p:spPr>
          <a:xfrm>
            <a:off x="835525" y="1828125"/>
            <a:ext cx="7582500" cy="331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s">
                <a:solidFill>
                  <a:srgbClr val="24292E"/>
                </a:solidFill>
                <a:highlight>
                  <a:srgbClr val="FFFFFF"/>
                </a:highlight>
                <a:latin typeface="Arial"/>
                <a:ea typeface="Arial"/>
                <a:cs typeface="Arial"/>
                <a:sym typeface="Arial"/>
              </a:rPr>
              <a:t>Cuando el contenido de un campo es válido dicho campo obtiene automáticamente la pseudoclase </a:t>
            </a:r>
            <a:r>
              <a:rPr b="1" lang="es">
                <a:solidFill>
                  <a:srgbClr val="24292E"/>
                </a:solidFill>
                <a:highlight>
                  <a:srgbClr val="FFFFFF"/>
                </a:highlight>
                <a:latin typeface="Arial"/>
                <a:ea typeface="Arial"/>
                <a:cs typeface="Arial"/>
                <a:sym typeface="Arial"/>
              </a:rPr>
              <a:t>:valid </a:t>
            </a:r>
            <a:r>
              <a:rPr lang="es">
                <a:solidFill>
                  <a:srgbClr val="24292E"/>
                </a:solidFill>
                <a:highlight>
                  <a:srgbClr val="FFFFFF"/>
                </a:highlight>
                <a:latin typeface="Arial"/>
                <a:ea typeface="Arial"/>
                <a:cs typeface="Arial"/>
                <a:sym typeface="Arial"/>
              </a:rPr>
              <a:t>y si no lo es tendrá la pseudoclase</a:t>
            </a:r>
            <a:r>
              <a:rPr b="1" lang="es">
                <a:solidFill>
                  <a:srgbClr val="24292E"/>
                </a:solidFill>
                <a:highlight>
                  <a:srgbClr val="FFFFFF"/>
                </a:highlight>
                <a:latin typeface="Arial"/>
                <a:ea typeface="Arial"/>
                <a:cs typeface="Arial"/>
                <a:sym typeface="Arial"/>
              </a:rPr>
              <a:t> :invalid</a:t>
            </a:r>
            <a:r>
              <a:rPr lang="es">
                <a:solidFill>
                  <a:srgbClr val="24292E"/>
                </a:solidFill>
                <a:highlight>
                  <a:srgbClr val="FFFFFF"/>
                </a:highlight>
                <a:latin typeface="Arial"/>
                <a:ea typeface="Arial"/>
                <a:cs typeface="Arial"/>
                <a:sym typeface="Arial"/>
              </a:rPr>
              <a:t> lo que nos permite poner reglas en nuestro CSS para destacar dichos campos, por ejemplo:</a:t>
            </a:r>
            <a:endParaRPr>
              <a:solidFill>
                <a:srgbClr val="24292E"/>
              </a:solidFill>
              <a:highlight>
                <a:srgbClr val="FFFFFF"/>
              </a:highlight>
              <a:latin typeface="Arial"/>
              <a:ea typeface="Arial"/>
              <a:cs typeface="Arial"/>
              <a:sym typeface="Arial"/>
            </a:endParaRPr>
          </a:p>
          <a:p>
            <a:pPr indent="0" lvl="0" marL="0" rtl="0" algn="l">
              <a:lnSpc>
                <a:spcPct val="115000"/>
              </a:lnSpc>
              <a:spcBef>
                <a:spcPts val="1200"/>
              </a:spcBef>
              <a:spcAft>
                <a:spcPts val="0"/>
              </a:spcAft>
              <a:buSzPts val="1300"/>
              <a:buNone/>
            </a:pPr>
            <a:r>
              <a:rPr lang="es" sz="1100">
                <a:solidFill>
                  <a:srgbClr val="000080"/>
                </a:solidFill>
                <a:highlight>
                  <a:srgbClr val="F6F8FA"/>
                </a:highlight>
                <a:latin typeface="Courier New"/>
                <a:ea typeface="Courier New"/>
                <a:cs typeface="Courier New"/>
                <a:sym typeface="Courier New"/>
              </a:rPr>
              <a:t>input</a:t>
            </a:r>
            <a:r>
              <a:rPr b="1" lang="es" sz="1100">
                <a:solidFill>
                  <a:srgbClr val="3C5D5D"/>
                </a:solidFill>
                <a:highlight>
                  <a:srgbClr val="F6F8FA"/>
                </a:highlight>
                <a:latin typeface="Courier New"/>
                <a:ea typeface="Courier New"/>
                <a:cs typeface="Courier New"/>
                <a:sym typeface="Courier New"/>
              </a:rPr>
              <a:t>:invalid</a:t>
            </a:r>
            <a:r>
              <a:rPr lang="es" sz="1100">
                <a:solidFill>
                  <a:srgbClr val="24292E"/>
                </a:solidFill>
                <a:highlight>
                  <a:srgbClr val="F6F8FA"/>
                </a:highlight>
                <a:latin typeface="Courier New"/>
                <a:ea typeface="Courier New"/>
                <a:cs typeface="Courier New"/>
                <a:sym typeface="Courier New"/>
              </a:rPr>
              <a:t> {</a:t>
            </a:r>
            <a:endParaRPr sz="1100">
              <a:solidFill>
                <a:srgbClr val="24292E"/>
              </a:solidFill>
              <a:highlight>
                <a:srgbClr val="F6F8FA"/>
              </a:highlight>
              <a:latin typeface="Courier New"/>
              <a:ea typeface="Courier New"/>
              <a:cs typeface="Courier New"/>
              <a:sym typeface="Courier New"/>
            </a:endParaRPr>
          </a:p>
          <a:p>
            <a:pPr indent="0" lvl="0" marL="0" rtl="0" algn="l">
              <a:lnSpc>
                <a:spcPct val="115000"/>
              </a:lnSpc>
              <a:spcBef>
                <a:spcPts val="1200"/>
              </a:spcBef>
              <a:spcAft>
                <a:spcPts val="0"/>
              </a:spcAft>
              <a:buSzPts val="1300"/>
              <a:buNone/>
            </a:pPr>
            <a:r>
              <a:rPr lang="es" sz="1100">
                <a:solidFill>
                  <a:srgbClr val="24292E"/>
                </a:solidFill>
                <a:highlight>
                  <a:srgbClr val="F6F8FA"/>
                </a:highlight>
                <a:latin typeface="Courier New"/>
                <a:ea typeface="Courier New"/>
                <a:cs typeface="Courier New"/>
                <a:sym typeface="Courier New"/>
              </a:rPr>
              <a:t>  </a:t>
            </a:r>
            <a:r>
              <a:rPr b="1" lang="es" sz="1100">
                <a:solidFill>
                  <a:srgbClr val="990000"/>
                </a:solidFill>
                <a:highlight>
                  <a:srgbClr val="F6F8FA"/>
                </a:highlight>
                <a:latin typeface="Courier New"/>
                <a:ea typeface="Courier New"/>
                <a:cs typeface="Courier New"/>
                <a:sym typeface="Courier New"/>
              </a:rPr>
              <a:t>border</a:t>
            </a:r>
            <a:r>
              <a:rPr lang="es" sz="1100">
                <a:solidFill>
                  <a:srgbClr val="24292E"/>
                </a:solidFill>
                <a:highlight>
                  <a:srgbClr val="F6F8FA"/>
                </a:highlight>
                <a:latin typeface="Courier New"/>
                <a:ea typeface="Courier New"/>
                <a:cs typeface="Courier New"/>
                <a:sym typeface="Courier New"/>
              </a:rPr>
              <a:t>: </a:t>
            </a:r>
            <a:r>
              <a:rPr lang="es" sz="1100">
                <a:solidFill>
                  <a:srgbClr val="009999"/>
                </a:solidFill>
                <a:highlight>
                  <a:srgbClr val="F6F8FA"/>
                </a:highlight>
                <a:latin typeface="Courier New"/>
                <a:ea typeface="Courier New"/>
                <a:cs typeface="Courier New"/>
                <a:sym typeface="Courier New"/>
              </a:rPr>
              <a:t>2px</a:t>
            </a:r>
            <a:r>
              <a:rPr lang="es" sz="1100">
                <a:solidFill>
                  <a:srgbClr val="24292E"/>
                </a:solidFill>
                <a:highlight>
                  <a:srgbClr val="F6F8FA"/>
                </a:highlight>
                <a:latin typeface="Courier New"/>
                <a:ea typeface="Courier New"/>
                <a:cs typeface="Courier New"/>
                <a:sym typeface="Courier New"/>
              </a:rPr>
              <a:t> </a:t>
            </a:r>
            <a:r>
              <a:rPr lang="es" sz="1100">
                <a:solidFill>
                  <a:srgbClr val="0086B3"/>
                </a:solidFill>
                <a:highlight>
                  <a:srgbClr val="F6F8FA"/>
                </a:highlight>
                <a:latin typeface="Courier New"/>
                <a:ea typeface="Courier New"/>
                <a:cs typeface="Courier New"/>
                <a:sym typeface="Courier New"/>
              </a:rPr>
              <a:t>dashed</a:t>
            </a:r>
            <a:r>
              <a:rPr lang="es" sz="1100">
                <a:solidFill>
                  <a:srgbClr val="24292E"/>
                </a:solidFill>
                <a:highlight>
                  <a:srgbClr val="F6F8FA"/>
                </a:highlight>
                <a:latin typeface="Courier New"/>
                <a:ea typeface="Courier New"/>
                <a:cs typeface="Courier New"/>
                <a:sym typeface="Courier New"/>
              </a:rPr>
              <a:t> </a:t>
            </a:r>
            <a:r>
              <a:rPr lang="es" sz="1100">
                <a:solidFill>
                  <a:srgbClr val="008080"/>
                </a:solidFill>
                <a:highlight>
                  <a:srgbClr val="F6F8FA"/>
                </a:highlight>
                <a:latin typeface="Courier New"/>
                <a:ea typeface="Courier New"/>
                <a:cs typeface="Courier New"/>
                <a:sym typeface="Courier New"/>
              </a:rPr>
              <a:t>red</a:t>
            </a:r>
            <a:r>
              <a:rPr lang="es" sz="1100">
                <a:solidFill>
                  <a:srgbClr val="24292E"/>
                </a:solidFill>
                <a:highlight>
                  <a:srgbClr val="F6F8FA"/>
                </a:highlight>
                <a:latin typeface="Courier New"/>
                <a:ea typeface="Courier New"/>
                <a:cs typeface="Courier New"/>
                <a:sym typeface="Courier New"/>
              </a:rPr>
              <a:t>;</a:t>
            </a:r>
            <a:endParaRPr sz="1100">
              <a:solidFill>
                <a:srgbClr val="24292E"/>
              </a:solidFill>
              <a:highlight>
                <a:srgbClr val="F6F8FA"/>
              </a:highlight>
              <a:latin typeface="Courier New"/>
              <a:ea typeface="Courier New"/>
              <a:cs typeface="Courier New"/>
              <a:sym typeface="Courier New"/>
            </a:endParaRPr>
          </a:p>
          <a:p>
            <a:pPr indent="0" lvl="0" marL="0" rtl="0" algn="l">
              <a:lnSpc>
                <a:spcPct val="115000"/>
              </a:lnSpc>
              <a:spcBef>
                <a:spcPts val="1200"/>
              </a:spcBef>
              <a:spcAft>
                <a:spcPts val="0"/>
              </a:spcAft>
              <a:buSzPts val="1300"/>
              <a:buNone/>
            </a:pPr>
            <a:r>
              <a:rPr lang="es" sz="1100">
                <a:solidFill>
                  <a:srgbClr val="24292E"/>
                </a:solidFill>
                <a:highlight>
                  <a:srgbClr val="F6F8FA"/>
                </a:highlight>
                <a:latin typeface="Courier New"/>
                <a:ea typeface="Courier New"/>
                <a:cs typeface="Courier New"/>
                <a:sym typeface="Courier New"/>
              </a:rPr>
              <a:t>}</a:t>
            </a:r>
            <a:endParaRPr sz="1100">
              <a:solidFill>
                <a:srgbClr val="24292E"/>
              </a:solidFill>
              <a:highlight>
                <a:srgbClr val="F6F8FA"/>
              </a:highlight>
              <a:latin typeface="Courier New"/>
              <a:ea typeface="Courier New"/>
              <a:cs typeface="Courier New"/>
              <a:sym typeface="Courier New"/>
            </a:endParaRPr>
          </a:p>
          <a:p>
            <a:pPr indent="0" lvl="0" marL="0" rtl="0" algn="l">
              <a:lnSpc>
                <a:spcPct val="115000"/>
              </a:lnSpc>
              <a:spcBef>
                <a:spcPts val="1200"/>
              </a:spcBef>
              <a:spcAft>
                <a:spcPts val="0"/>
              </a:spcAft>
              <a:buSzPts val="1300"/>
              <a:buNone/>
            </a:pPr>
            <a:r>
              <a:rPr lang="es">
                <a:solidFill>
                  <a:srgbClr val="24292E"/>
                </a:solidFill>
                <a:highlight>
                  <a:srgbClr val="FFFFFF"/>
                </a:highlight>
                <a:latin typeface="Arial"/>
                <a:ea typeface="Arial"/>
                <a:cs typeface="Arial"/>
                <a:sym typeface="Arial"/>
              </a:rPr>
              <a:t>Además de las anteriores tenemos las pseudoclases </a:t>
            </a:r>
            <a:r>
              <a:rPr b="1" lang="es">
                <a:solidFill>
                  <a:srgbClr val="24292E"/>
                </a:solidFill>
                <a:highlight>
                  <a:srgbClr val="FFFFFF"/>
                </a:highlight>
                <a:latin typeface="Arial"/>
                <a:ea typeface="Arial"/>
                <a:cs typeface="Arial"/>
                <a:sym typeface="Arial"/>
              </a:rPr>
              <a:t>:required, :optional</a:t>
            </a:r>
            <a:r>
              <a:rPr lang="es">
                <a:solidFill>
                  <a:srgbClr val="24292E"/>
                </a:solidFill>
                <a:highlight>
                  <a:srgbClr val="FFFFFF"/>
                </a:highlight>
                <a:latin typeface="Arial"/>
                <a:ea typeface="Arial"/>
                <a:cs typeface="Arial"/>
                <a:sym typeface="Arial"/>
              </a:rPr>
              <a:t>, que nos permiten poner reglas de estilo a los campos obligatorios o no, y </a:t>
            </a:r>
            <a:r>
              <a:rPr b="1" lang="es">
                <a:solidFill>
                  <a:srgbClr val="24292E"/>
                </a:solidFill>
                <a:highlight>
                  <a:srgbClr val="FFFFFF"/>
                </a:highlight>
                <a:latin typeface="Arial"/>
                <a:ea typeface="Arial"/>
                <a:cs typeface="Arial"/>
                <a:sym typeface="Arial"/>
              </a:rPr>
              <a:t>:focus</a:t>
            </a:r>
            <a:r>
              <a:rPr lang="es">
                <a:solidFill>
                  <a:srgbClr val="24292E"/>
                </a:solidFill>
                <a:highlight>
                  <a:srgbClr val="FFFFFF"/>
                </a:highlight>
                <a:latin typeface="Arial"/>
                <a:ea typeface="Arial"/>
                <a:cs typeface="Arial"/>
                <a:sym typeface="Arial"/>
              </a:rPr>
              <a:t> para el campo con el foco.</a:t>
            </a:r>
            <a:endParaRPr>
              <a:solidFill>
                <a:srgbClr val="24292E"/>
              </a:solidFill>
              <a:highlight>
                <a:srgbClr val="FFFFFF"/>
              </a:highlight>
              <a:latin typeface="Arial"/>
              <a:ea typeface="Arial"/>
              <a:cs typeface="Arial"/>
              <a:sym typeface="Arial"/>
            </a:endParaRPr>
          </a:p>
          <a:p>
            <a:pPr indent="0" lvl="0" marL="0" rtl="0" algn="l">
              <a:lnSpc>
                <a:spcPct val="115000"/>
              </a:lnSpc>
              <a:spcBef>
                <a:spcPts val="1200"/>
              </a:spcBef>
              <a:spcAft>
                <a:spcPts val="1200"/>
              </a:spcAft>
              <a:buSzPts val="1300"/>
              <a:buNone/>
            </a:pPr>
            <a:r>
              <a:rPr lang="es">
                <a:solidFill>
                  <a:srgbClr val="24292E"/>
                </a:solidFill>
                <a:highlight>
                  <a:srgbClr val="FFFFFF"/>
                </a:highlight>
                <a:latin typeface="Arial"/>
                <a:ea typeface="Arial"/>
                <a:cs typeface="Arial"/>
                <a:sym typeface="Arial"/>
              </a:rPr>
              <a:t>La validación del navegador se realiza al enviar el formulario. Si encuentra un error lo muestra, se detiene la validación del resto de campos y no se envía el formulario.</a:t>
            </a:r>
            <a:endParaRPr sz="1600">
              <a:solidFill>
                <a:srgbClr val="24292E"/>
              </a:solidFill>
              <a:highlight>
                <a:srgbClr val="FFFFFF"/>
              </a:highlight>
              <a:latin typeface="Arial"/>
              <a:ea typeface="Arial"/>
              <a:cs typeface="Arial"/>
              <a:sym typeface="Arial"/>
            </a:endParaRPr>
          </a:p>
        </p:txBody>
      </p:sp>
      <p:sp>
        <p:nvSpPr>
          <p:cNvPr id="279" name="Google Shape;279;p31"/>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5.2 Validación de formularios</a:t>
            </a:r>
            <a:endParaRPr/>
          </a:p>
          <a:p>
            <a:pPr indent="0" lvl="0" marL="76200" rtl="0" algn="l">
              <a:lnSpc>
                <a:spcPct val="100000"/>
              </a:lnSpc>
              <a:spcBef>
                <a:spcPts val="1800"/>
              </a:spcBef>
              <a:spcAft>
                <a:spcPts val="1200"/>
              </a:spcAft>
              <a:buSzPts val="2600"/>
              <a:buNone/>
            </a:pPr>
            <a:r>
              <a:rPr lang="es" sz="1650">
                <a:solidFill>
                  <a:srgbClr val="24292E"/>
                </a:solidFill>
                <a:highlight>
                  <a:srgbClr val="FFFFFF"/>
                </a:highlight>
                <a:latin typeface="Arial"/>
                <a:ea typeface="Arial"/>
                <a:cs typeface="Arial"/>
                <a:sym typeface="Arial"/>
              </a:rPr>
              <a:t>Validación del navegador incorporada en HTML5</a:t>
            </a:r>
            <a:endParaRPr sz="1800">
              <a:solidFill>
                <a:srgbClr val="24292E"/>
              </a:solidFill>
              <a:highlight>
                <a:srgbClr val="FFFFFF"/>
              </a:highlight>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2"/>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t/>
            </a:r>
            <a:endParaRPr/>
          </a:p>
        </p:txBody>
      </p:sp>
      <p:sp>
        <p:nvSpPr>
          <p:cNvPr id="285" name="Google Shape;285;p32"/>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5.2 Validación de formularios</a:t>
            </a:r>
            <a:endParaRPr/>
          </a:p>
          <a:p>
            <a:pPr indent="0" lvl="0" marL="76200" rtl="0" algn="l">
              <a:lnSpc>
                <a:spcPct val="100000"/>
              </a:lnSpc>
              <a:spcBef>
                <a:spcPts val="1800"/>
              </a:spcBef>
              <a:spcAft>
                <a:spcPts val="0"/>
              </a:spcAft>
              <a:buSzPct val="175084"/>
              <a:buNone/>
            </a:pPr>
            <a:r>
              <a:rPr lang="es" sz="1650">
                <a:solidFill>
                  <a:srgbClr val="24292E"/>
                </a:solidFill>
                <a:highlight>
                  <a:srgbClr val="FFFFFF"/>
                </a:highlight>
                <a:latin typeface="Arial"/>
                <a:ea typeface="Arial"/>
                <a:cs typeface="Arial"/>
                <a:sym typeface="Arial"/>
              </a:rPr>
              <a:t>Validación manual</a:t>
            </a:r>
            <a:endParaRPr sz="1650">
              <a:solidFill>
                <a:srgbClr val="24292E"/>
              </a:solidFill>
              <a:highlight>
                <a:srgbClr val="FFFFFF"/>
              </a:highlight>
              <a:latin typeface="Arial"/>
              <a:ea typeface="Arial"/>
              <a:cs typeface="Arial"/>
              <a:sym typeface="Arial"/>
            </a:endParaRPr>
          </a:p>
          <a:p>
            <a:pPr indent="0" lvl="0" marL="76200" rtl="0" algn="l">
              <a:lnSpc>
                <a:spcPct val="100000"/>
              </a:lnSpc>
              <a:spcBef>
                <a:spcPts val="1800"/>
              </a:spcBef>
              <a:spcAft>
                <a:spcPts val="1200"/>
              </a:spcAft>
              <a:buSzPct val="175084"/>
              <a:buNone/>
            </a:pPr>
            <a:r>
              <a:rPr lang="es" sz="1650">
                <a:solidFill>
                  <a:srgbClr val="24292E"/>
                </a:solidFill>
                <a:highlight>
                  <a:srgbClr val="FFFFFF"/>
                </a:highlight>
                <a:latin typeface="Arial"/>
                <a:ea typeface="Arial"/>
                <a:cs typeface="Arial"/>
                <a:sym typeface="Arial"/>
              </a:rPr>
              <a:t>Validación de un campo como obligatorio</a:t>
            </a:r>
            <a:endParaRPr sz="1650">
              <a:solidFill>
                <a:srgbClr val="24292E"/>
              </a:solidFill>
              <a:highlight>
                <a:srgbClr val="FFFFFF"/>
              </a:highlight>
              <a:latin typeface="Arial"/>
              <a:ea typeface="Arial"/>
              <a:cs typeface="Arial"/>
              <a:sym typeface="Arial"/>
            </a:endParaRPr>
          </a:p>
        </p:txBody>
      </p:sp>
      <p:pic>
        <p:nvPicPr>
          <p:cNvPr id="286" name="Google Shape;286;p32"/>
          <p:cNvPicPr preferRelativeResize="0"/>
          <p:nvPr/>
        </p:nvPicPr>
        <p:blipFill rotWithShape="1">
          <a:blip r:embed="rId3">
            <a:alphaModFix/>
          </a:blip>
          <a:srcRect b="0" l="0" r="0" t="0"/>
          <a:stretch/>
        </p:blipFill>
        <p:spPr>
          <a:xfrm>
            <a:off x="945159" y="2078875"/>
            <a:ext cx="6929166" cy="2987425"/>
          </a:xfrm>
          <a:prstGeom prst="rect">
            <a:avLst/>
          </a:prstGeom>
          <a:noFill/>
          <a:ln>
            <a:noFill/>
          </a:ln>
        </p:spPr>
      </p:pic>
      <p:sp>
        <p:nvSpPr>
          <p:cNvPr id="287" name="Google Shape;287;p32"/>
          <p:cNvSpPr txBox="1"/>
          <p:nvPr/>
        </p:nvSpPr>
        <p:spPr>
          <a:xfrm>
            <a:off x="4763600" y="2392900"/>
            <a:ext cx="38853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000000"/>
                </a:solidFill>
                <a:highlight>
                  <a:schemeClr val="lt1"/>
                </a:highlight>
                <a:latin typeface="Arial"/>
                <a:ea typeface="Arial"/>
                <a:cs typeface="Arial"/>
                <a:sym typeface="Arial"/>
              </a:rPr>
              <a:t>let formulario =document.getElementById("formu");</a:t>
            </a:r>
            <a:endParaRPr b="0" i="0" sz="1100" u="none" cap="none" strike="noStrike">
              <a:solidFill>
                <a:srgbClr val="000000"/>
              </a:solidFill>
              <a:highlight>
                <a:schemeClr val="lt1"/>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3"/>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t/>
            </a:r>
            <a:endParaRPr/>
          </a:p>
        </p:txBody>
      </p:sp>
      <p:sp>
        <p:nvSpPr>
          <p:cNvPr id="293" name="Google Shape;293;p33"/>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5.2 Validación de formularios</a:t>
            </a:r>
            <a:endParaRPr/>
          </a:p>
          <a:p>
            <a:pPr indent="0" lvl="0" marL="76200" rtl="0" algn="l">
              <a:lnSpc>
                <a:spcPct val="100000"/>
              </a:lnSpc>
              <a:spcBef>
                <a:spcPts val="1800"/>
              </a:spcBef>
              <a:spcAft>
                <a:spcPts val="0"/>
              </a:spcAft>
              <a:buSzPct val="175084"/>
              <a:buNone/>
            </a:pPr>
            <a:r>
              <a:rPr lang="es" sz="1650">
                <a:solidFill>
                  <a:srgbClr val="24292E"/>
                </a:solidFill>
                <a:highlight>
                  <a:schemeClr val="lt1"/>
                </a:highlight>
                <a:latin typeface="Arial"/>
                <a:ea typeface="Arial"/>
                <a:cs typeface="Arial"/>
                <a:sym typeface="Arial"/>
              </a:rPr>
              <a:t>Validación manual</a:t>
            </a:r>
            <a:endParaRPr sz="1650">
              <a:solidFill>
                <a:srgbClr val="24292E"/>
              </a:solidFill>
              <a:highlight>
                <a:schemeClr val="lt1"/>
              </a:highlight>
              <a:latin typeface="Arial"/>
              <a:ea typeface="Arial"/>
              <a:cs typeface="Arial"/>
              <a:sym typeface="Arial"/>
            </a:endParaRPr>
          </a:p>
          <a:p>
            <a:pPr indent="0" lvl="0" marL="76200" rtl="0" algn="l">
              <a:lnSpc>
                <a:spcPct val="100000"/>
              </a:lnSpc>
              <a:spcBef>
                <a:spcPts val="1800"/>
              </a:spcBef>
              <a:spcAft>
                <a:spcPts val="1200"/>
              </a:spcAft>
              <a:buSzPct val="175084"/>
              <a:buNone/>
            </a:pPr>
            <a:r>
              <a:rPr lang="es" sz="1650">
                <a:solidFill>
                  <a:srgbClr val="24292E"/>
                </a:solidFill>
                <a:highlight>
                  <a:schemeClr val="lt1"/>
                </a:highlight>
                <a:latin typeface="Arial"/>
                <a:ea typeface="Arial"/>
                <a:cs typeface="Arial"/>
                <a:sym typeface="Arial"/>
              </a:rPr>
              <a:t>Validación de un campo de texto como numérico</a:t>
            </a:r>
            <a:endParaRPr/>
          </a:p>
        </p:txBody>
      </p:sp>
      <p:pic>
        <p:nvPicPr>
          <p:cNvPr id="294" name="Google Shape;294;p33"/>
          <p:cNvPicPr preferRelativeResize="0"/>
          <p:nvPr/>
        </p:nvPicPr>
        <p:blipFill rotWithShape="1">
          <a:blip r:embed="rId3">
            <a:alphaModFix/>
          </a:blip>
          <a:srcRect b="0" l="0" r="0" t="0"/>
          <a:stretch/>
        </p:blipFill>
        <p:spPr>
          <a:xfrm>
            <a:off x="1217013" y="2123075"/>
            <a:ext cx="6713574" cy="273979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4"/>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t/>
            </a:r>
            <a:endParaRPr/>
          </a:p>
        </p:txBody>
      </p:sp>
      <p:sp>
        <p:nvSpPr>
          <p:cNvPr id="300" name="Google Shape;300;p34"/>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5.2 Validación de formularios</a:t>
            </a:r>
            <a:endParaRPr/>
          </a:p>
          <a:p>
            <a:pPr indent="0" lvl="0" marL="76200" rtl="0" algn="l">
              <a:lnSpc>
                <a:spcPct val="100000"/>
              </a:lnSpc>
              <a:spcBef>
                <a:spcPts val="1800"/>
              </a:spcBef>
              <a:spcAft>
                <a:spcPts val="0"/>
              </a:spcAft>
              <a:buSzPct val="175084"/>
              <a:buNone/>
            </a:pPr>
            <a:r>
              <a:rPr lang="es" sz="1650">
                <a:solidFill>
                  <a:srgbClr val="24292E"/>
                </a:solidFill>
                <a:highlight>
                  <a:schemeClr val="lt1"/>
                </a:highlight>
                <a:latin typeface="Arial"/>
                <a:ea typeface="Arial"/>
                <a:cs typeface="Arial"/>
                <a:sym typeface="Arial"/>
              </a:rPr>
              <a:t>Validación manual</a:t>
            </a:r>
            <a:endParaRPr sz="1650">
              <a:solidFill>
                <a:srgbClr val="24292E"/>
              </a:solidFill>
              <a:highlight>
                <a:schemeClr val="lt1"/>
              </a:highlight>
              <a:latin typeface="Arial"/>
              <a:ea typeface="Arial"/>
              <a:cs typeface="Arial"/>
              <a:sym typeface="Arial"/>
            </a:endParaRPr>
          </a:p>
          <a:p>
            <a:pPr indent="0" lvl="0" marL="76200" rtl="0" algn="l">
              <a:lnSpc>
                <a:spcPct val="100000"/>
              </a:lnSpc>
              <a:spcBef>
                <a:spcPts val="1800"/>
              </a:spcBef>
              <a:spcAft>
                <a:spcPts val="1200"/>
              </a:spcAft>
              <a:buSzPct val="175084"/>
              <a:buNone/>
            </a:pPr>
            <a:r>
              <a:rPr lang="es" sz="1650">
                <a:solidFill>
                  <a:srgbClr val="24292E"/>
                </a:solidFill>
                <a:highlight>
                  <a:schemeClr val="lt1"/>
                </a:highlight>
                <a:latin typeface="Arial"/>
                <a:ea typeface="Arial"/>
                <a:cs typeface="Arial"/>
                <a:sym typeface="Arial"/>
              </a:rPr>
              <a:t>Validación de un campo fecha</a:t>
            </a:r>
            <a:endParaRPr/>
          </a:p>
        </p:txBody>
      </p:sp>
      <p:pic>
        <p:nvPicPr>
          <p:cNvPr id="301" name="Google Shape;301;p34"/>
          <p:cNvPicPr preferRelativeResize="0"/>
          <p:nvPr/>
        </p:nvPicPr>
        <p:blipFill rotWithShape="1">
          <a:blip r:embed="rId3">
            <a:alphaModFix/>
          </a:blip>
          <a:srcRect b="0" l="0" r="0" t="0"/>
          <a:stretch/>
        </p:blipFill>
        <p:spPr>
          <a:xfrm>
            <a:off x="4387800" y="1509287"/>
            <a:ext cx="3412225" cy="340027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5"/>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t/>
            </a:r>
            <a:endParaRPr/>
          </a:p>
        </p:txBody>
      </p:sp>
      <p:sp>
        <p:nvSpPr>
          <p:cNvPr id="307" name="Google Shape;307;p35"/>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5.2 Validación de formularios</a:t>
            </a:r>
            <a:endParaRPr/>
          </a:p>
          <a:p>
            <a:pPr indent="0" lvl="0" marL="76200" rtl="0" algn="l">
              <a:lnSpc>
                <a:spcPct val="100000"/>
              </a:lnSpc>
              <a:spcBef>
                <a:spcPts val="1800"/>
              </a:spcBef>
              <a:spcAft>
                <a:spcPts val="0"/>
              </a:spcAft>
              <a:buSzPct val="175084"/>
              <a:buNone/>
            </a:pPr>
            <a:r>
              <a:rPr lang="es" sz="1650">
                <a:solidFill>
                  <a:srgbClr val="24292E"/>
                </a:solidFill>
                <a:highlight>
                  <a:schemeClr val="lt1"/>
                </a:highlight>
                <a:latin typeface="Arial"/>
                <a:ea typeface="Arial"/>
                <a:cs typeface="Arial"/>
                <a:sym typeface="Arial"/>
              </a:rPr>
              <a:t>Validación manual</a:t>
            </a:r>
            <a:endParaRPr sz="1650">
              <a:solidFill>
                <a:srgbClr val="24292E"/>
              </a:solidFill>
              <a:highlight>
                <a:schemeClr val="lt1"/>
              </a:highlight>
              <a:latin typeface="Arial"/>
              <a:ea typeface="Arial"/>
              <a:cs typeface="Arial"/>
              <a:sym typeface="Arial"/>
            </a:endParaRPr>
          </a:p>
          <a:p>
            <a:pPr indent="0" lvl="0" marL="76200" rtl="0" algn="l">
              <a:lnSpc>
                <a:spcPct val="100000"/>
              </a:lnSpc>
              <a:spcBef>
                <a:spcPts val="1800"/>
              </a:spcBef>
              <a:spcAft>
                <a:spcPts val="1200"/>
              </a:spcAft>
              <a:buSzPct val="175084"/>
              <a:buNone/>
            </a:pPr>
            <a:r>
              <a:rPr lang="es" sz="1650">
                <a:solidFill>
                  <a:srgbClr val="24292E"/>
                </a:solidFill>
                <a:highlight>
                  <a:schemeClr val="lt1"/>
                </a:highlight>
                <a:latin typeface="Arial"/>
                <a:ea typeface="Arial"/>
                <a:cs typeface="Arial"/>
                <a:sym typeface="Arial"/>
              </a:rPr>
              <a:t>Validación de un checkbox</a:t>
            </a:r>
            <a:endParaRPr/>
          </a:p>
        </p:txBody>
      </p:sp>
      <p:pic>
        <p:nvPicPr>
          <p:cNvPr id="308" name="Google Shape;308;p35"/>
          <p:cNvPicPr preferRelativeResize="0"/>
          <p:nvPr/>
        </p:nvPicPr>
        <p:blipFill rotWithShape="1">
          <a:blip r:embed="rId3">
            <a:alphaModFix/>
          </a:blip>
          <a:srcRect b="0" l="0" r="0" t="0"/>
          <a:stretch/>
        </p:blipFill>
        <p:spPr>
          <a:xfrm>
            <a:off x="839641" y="2131200"/>
            <a:ext cx="4054008" cy="29100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6"/>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t/>
            </a:r>
            <a:endParaRPr/>
          </a:p>
        </p:txBody>
      </p:sp>
      <p:sp>
        <p:nvSpPr>
          <p:cNvPr id="314" name="Google Shape;314;p36"/>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5.2 Validación de formularios</a:t>
            </a:r>
            <a:endParaRPr/>
          </a:p>
          <a:p>
            <a:pPr indent="0" lvl="0" marL="76200" rtl="0" algn="l">
              <a:lnSpc>
                <a:spcPct val="100000"/>
              </a:lnSpc>
              <a:spcBef>
                <a:spcPts val="1800"/>
              </a:spcBef>
              <a:spcAft>
                <a:spcPts val="0"/>
              </a:spcAft>
              <a:buSzPct val="175084"/>
              <a:buNone/>
            </a:pPr>
            <a:r>
              <a:rPr lang="es" sz="1650">
                <a:solidFill>
                  <a:srgbClr val="24292E"/>
                </a:solidFill>
                <a:highlight>
                  <a:schemeClr val="lt1"/>
                </a:highlight>
                <a:latin typeface="Arial"/>
                <a:ea typeface="Arial"/>
                <a:cs typeface="Arial"/>
                <a:sym typeface="Arial"/>
              </a:rPr>
              <a:t>Validación manual</a:t>
            </a:r>
            <a:endParaRPr sz="1650">
              <a:solidFill>
                <a:srgbClr val="24292E"/>
              </a:solidFill>
              <a:highlight>
                <a:schemeClr val="lt1"/>
              </a:highlight>
              <a:latin typeface="Arial"/>
              <a:ea typeface="Arial"/>
              <a:cs typeface="Arial"/>
              <a:sym typeface="Arial"/>
            </a:endParaRPr>
          </a:p>
          <a:p>
            <a:pPr indent="0" lvl="0" marL="76200" rtl="0" algn="l">
              <a:lnSpc>
                <a:spcPct val="100000"/>
              </a:lnSpc>
              <a:spcBef>
                <a:spcPts val="1800"/>
              </a:spcBef>
              <a:spcAft>
                <a:spcPts val="1200"/>
              </a:spcAft>
              <a:buSzPct val="175084"/>
              <a:buNone/>
            </a:pPr>
            <a:r>
              <a:rPr lang="es" sz="1650">
                <a:solidFill>
                  <a:srgbClr val="24292E"/>
                </a:solidFill>
                <a:highlight>
                  <a:schemeClr val="lt1"/>
                </a:highlight>
                <a:latin typeface="Arial"/>
                <a:ea typeface="Arial"/>
                <a:cs typeface="Arial"/>
                <a:sym typeface="Arial"/>
              </a:rPr>
              <a:t>Modificación del aspecto de un campo erróneo</a:t>
            </a:r>
            <a:endParaRPr/>
          </a:p>
        </p:txBody>
      </p:sp>
      <p:pic>
        <p:nvPicPr>
          <p:cNvPr id="315" name="Google Shape;315;p36"/>
          <p:cNvPicPr preferRelativeResize="0"/>
          <p:nvPr/>
        </p:nvPicPr>
        <p:blipFill rotWithShape="1">
          <a:blip r:embed="rId3">
            <a:alphaModFix/>
          </a:blip>
          <a:srcRect b="0" l="0" r="0" t="0"/>
          <a:stretch/>
        </p:blipFill>
        <p:spPr>
          <a:xfrm>
            <a:off x="881300" y="2078875"/>
            <a:ext cx="6451901" cy="285747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7"/>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rPr lang="es" sz="1200">
                <a:solidFill>
                  <a:srgbClr val="24292E"/>
                </a:solidFill>
                <a:highlight>
                  <a:srgbClr val="FFFFFF"/>
                </a:highlight>
                <a:latin typeface="Arial"/>
                <a:ea typeface="Arial"/>
                <a:cs typeface="Arial"/>
                <a:sym typeface="Arial"/>
              </a:rPr>
              <a:t>Las expresiones regulares permiten buscar un patrón dado en una cadena de texto. Se usan mucho a la hora de validar formularios o para buscar y reemplazar texto. En Javascript se crean poniéndolas entre caracteres </a:t>
            </a:r>
            <a:r>
              <a:rPr lang="es" sz="1000">
                <a:solidFill>
                  <a:srgbClr val="24292E"/>
                </a:solidFill>
                <a:latin typeface="Courier New"/>
                <a:ea typeface="Courier New"/>
                <a:cs typeface="Courier New"/>
                <a:sym typeface="Courier New"/>
              </a:rPr>
              <a:t>/</a:t>
            </a:r>
            <a:r>
              <a:rPr lang="es" sz="1200">
                <a:solidFill>
                  <a:srgbClr val="24292E"/>
                </a:solidFill>
                <a:highlight>
                  <a:srgbClr val="FFFFFF"/>
                </a:highlight>
                <a:latin typeface="Arial"/>
                <a:ea typeface="Arial"/>
                <a:cs typeface="Arial"/>
                <a:sym typeface="Arial"/>
              </a:rPr>
              <a:t> (o instanciándolas de la clase </a:t>
            </a:r>
            <a:r>
              <a:rPr i="1" lang="es" sz="1200">
                <a:solidFill>
                  <a:srgbClr val="24292E"/>
                </a:solidFill>
                <a:highlight>
                  <a:srgbClr val="FFFFFF"/>
                </a:highlight>
                <a:latin typeface="Arial"/>
                <a:ea typeface="Arial"/>
                <a:cs typeface="Arial"/>
                <a:sym typeface="Arial"/>
              </a:rPr>
              <a:t>RegExp</a:t>
            </a:r>
            <a:r>
              <a:rPr lang="es" sz="1200">
                <a:solidFill>
                  <a:srgbClr val="24292E"/>
                </a:solidFill>
                <a:highlight>
                  <a:srgbClr val="FFFFFF"/>
                </a:highlight>
                <a:latin typeface="Arial"/>
                <a:ea typeface="Arial"/>
                <a:cs typeface="Arial"/>
                <a:sym typeface="Arial"/>
              </a:rPr>
              <a:t>, aunque es mejor de la otra forma):</a:t>
            </a:r>
            <a:endParaRPr/>
          </a:p>
        </p:txBody>
      </p:sp>
      <p:sp>
        <p:nvSpPr>
          <p:cNvPr id="321" name="Google Shape;321;p37"/>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5.2 Validación de formularios</a:t>
            </a:r>
            <a:endParaRPr/>
          </a:p>
          <a:p>
            <a:pPr indent="0" lvl="0" marL="76200" rtl="0" algn="l">
              <a:lnSpc>
                <a:spcPct val="100000"/>
              </a:lnSpc>
              <a:spcBef>
                <a:spcPts val="1800"/>
              </a:spcBef>
              <a:spcAft>
                <a:spcPts val="1200"/>
              </a:spcAft>
              <a:buSzPts val="2600"/>
              <a:buNone/>
            </a:pPr>
            <a:r>
              <a:rPr lang="es" sz="1650">
                <a:solidFill>
                  <a:srgbClr val="24292E"/>
                </a:solidFill>
                <a:highlight>
                  <a:schemeClr val="lt1"/>
                </a:highlight>
                <a:latin typeface="Arial"/>
                <a:ea typeface="Arial"/>
                <a:cs typeface="Arial"/>
                <a:sym typeface="Arial"/>
              </a:rPr>
              <a:t>Expresiones regulares</a:t>
            </a:r>
            <a:endParaRPr/>
          </a:p>
        </p:txBody>
      </p:sp>
      <p:pic>
        <p:nvPicPr>
          <p:cNvPr id="322" name="Google Shape;322;p37"/>
          <p:cNvPicPr preferRelativeResize="0"/>
          <p:nvPr/>
        </p:nvPicPr>
        <p:blipFill rotWithShape="1">
          <a:blip r:embed="rId3">
            <a:alphaModFix/>
          </a:blip>
          <a:srcRect b="0" l="0" r="0" t="0"/>
          <a:stretch/>
        </p:blipFill>
        <p:spPr>
          <a:xfrm>
            <a:off x="320875" y="3267800"/>
            <a:ext cx="8505825" cy="9525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8"/>
          <p:cNvSpPr txBox="1"/>
          <p:nvPr>
            <p:ph idx="1" type="body"/>
          </p:nvPr>
        </p:nvSpPr>
        <p:spPr>
          <a:xfrm>
            <a:off x="729450" y="1808700"/>
            <a:ext cx="7688700" cy="31716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rgbClr val="24292E"/>
              </a:buClr>
              <a:buSzPts val="1600"/>
              <a:buFont typeface="Arial"/>
              <a:buChar char="●"/>
            </a:pPr>
            <a:r>
              <a:rPr lang="es" sz="1600">
                <a:solidFill>
                  <a:srgbClr val="24292E"/>
                </a:solidFill>
                <a:highlight>
                  <a:srgbClr val="FFFFFF"/>
                </a:highlight>
                <a:latin typeface="Arial"/>
                <a:ea typeface="Arial"/>
                <a:cs typeface="Arial"/>
                <a:sym typeface="Arial"/>
              </a:rPr>
              <a:t>[..] (corchetes): dentro se ponen varios caracteres o un rango y permiten comprobar si el carácter de esa posición de la cadena coincide con alguno de ellos. Ejemplos:</a:t>
            </a:r>
            <a:endParaRPr sz="1600">
              <a:solidFill>
                <a:srgbClr val="24292E"/>
              </a:solidFill>
              <a:highlight>
                <a:srgbClr val="FFFFFF"/>
              </a:highlight>
              <a:latin typeface="Arial"/>
              <a:ea typeface="Arial"/>
              <a:cs typeface="Arial"/>
              <a:sym typeface="Arial"/>
            </a:endParaRPr>
          </a:p>
          <a:p>
            <a:pPr indent="-304800" lvl="1" marL="914400" rtl="0" algn="l">
              <a:lnSpc>
                <a:spcPct val="115000"/>
              </a:lnSpc>
              <a:spcBef>
                <a:spcPts val="0"/>
              </a:spcBef>
              <a:spcAft>
                <a:spcPts val="0"/>
              </a:spcAft>
              <a:buClr>
                <a:srgbClr val="24292E"/>
              </a:buClr>
              <a:buSzPts val="1200"/>
              <a:buFont typeface="Arial"/>
              <a:buChar char="○"/>
            </a:pPr>
            <a:r>
              <a:rPr lang="es" sz="1400">
                <a:solidFill>
                  <a:srgbClr val="24292E"/>
                </a:solidFill>
                <a:highlight>
                  <a:srgbClr val="FFFFFF"/>
                </a:highlight>
                <a:latin typeface="Courier New"/>
                <a:ea typeface="Courier New"/>
                <a:cs typeface="Courier New"/>
                <a:sym typeface="Courier New"/>
              </a:rPr>
              <a:t>[abc]</a:t>
            </a:r>
            <a:r>
              <a:rPr lang="es" sz="1600">
                <a:solidFill>
                  <a:srgbClr val="24292E"/>
                </a:solidFill>
                <a:highlight>
                  <a:srgbClr val="FFFFFF"/>
                </a:highlight>
                <a:latin typeface="Arial"/>
                <a:ea typeface="Arial"/>
                <a:cs typeface="Arial"/>
                <a:sym typeface="Arial"/>
              </a:rPr>
              <a:t>: cualquier carácter de los indicados (‘a’ o ‘b’ o ‘c’)</a:t>
            </a:r>
            <a:endParaRPr sz="1600">
              <a:solidFill>
                <a:srgbClr val="24292E"/>
              </a:solidFill>
              <a:highlight>
                <a:srgbClr val="FFFFFF"/>
              </a:highlight>
              <a:latin typeface="Arial"/>
              <a:ea typeface="Arial"/>
              <a:cs typeface="Arial"/>
              <a:sym typeface="Arial"/>
            </a:endParaRPr>
          </a:p>
          <a:p>
            <a:pPr indent="-304800" lvl="1" marL="914400" rtl="0" algn="l">
              <a:lnSpc>
                <a:spcPct val="115000"/>
              </a:lnSpc>
              <a:spcBef>
                <a:spcPts val="0"/>
              </a:spcBef>
              <a:spcAft>
                <a:spcPts val="0"/>
              </a:spcAft>
              <a:buClr>
                <a:srgbClr val="24292E"/>
              </a:buClr>
              <a:buSzPts val="1200"/>
              <a:buFont typeface="Arial"/>
              <a:buChar char="○"/>
            </a:pPr>
            <a:r>
              <a:rPr lang="es" sz="1400">
                <a:solidFill>
                  <a:srgbClr val="24292E"/>
                </a:solidFill>
                <a:highlight>
                  <a:srgbClr val="FFFFFF"/>
                </a:highlight>
                <a:latin typeface="Courier New"/>
                <a:ea typeface="Courier New"/>
                <a:cs typeface="Courier New"/>
                <a:sym typeface="Courier New"/>
              </a:rPr>
              <a:t>[^abc]</a:t>
            </a:r>
            <a:r>
              <a:rPr lang="es" sz="1600">
                <a:solidFill>
                  <a:srgbClr val="24292E"/>
                </a:solidFill>
                <a:highlight>
                  <a:srgbClr val="FFFFFF"/>
                </a:highlight>
                <a:latin typeface="Arial"/>
                <a:ea typeface="Arial"/>
                <a:cs typeface="Arial"/>
                <a:sym typeface="Arial"/>
              </a:rPr>
              <a:t>: cualquiera excepto los indicados</a:t>
            </a:r>
            <a:endParaRPr sz="1600">
              <a:solidFill>
                <a:srgbClr val="24292E"/>
              </a:solidFill>
              <a:highlight>
                <a:srgbClr val="FFFFFF"/>
              </a:highlight>
              <a:latin typeface="Arial"/>
              <a:ea typeface="Arial"/>
              <a:cs typeface="Arial"/>
              <a:sym typeface="Arial"/>
            </a:endParaRPr>
          </a:p>
          <a:p>
            <a:pPr indent="-304800" lvl="1" marL="914400" rtl="0" algn="l">
              <a:lnSpc>
                <a:spcPct val="115000"/>
              </a:lnSpc>
              <a:spcBef>
                <a:spcPts val="0"/>
              </a:spcBef>
              <a:spcAft>
                <a:spcPts val="0"/>
              </a:spcAft>
              <a:buClr>
                <a:srgbClr val="24292E"/>
              </a:buClr>
              <a:buSzPts val="1200"/>
              <a:buFont typeface="Arial"/>
              <a:buChar char="○"/>
            </a:pPr>
            <a:r>
              <a:rPr lang="es" sz="1400">
                <a:solidFill>
                  <a:srgbClr val="24292E"/>
                </a:solidFill>
                <a:highlight>
                  <a:srgbClr val="FFFFFF"/>
                </a:highlight>
                <a:latin typeface="Courier New"/>
                <a:ea typeface="Courier New"/>
                <a:cs typeface="Courier New"/>
                <a:sym typeface="Courier New"/>
              </a:rPr>
              <a:t>[a-z]</a:t>
            </a:r>
            <a:r>
              <a:rPr lang="es" sz="1600">
                <a:solidFill>
                  <a:srgbClr val="24292E"/>
                </a:solidFill>
                <a:highlight>
                  <a:srgbClr val="FFFFFF"/>
                </a:highlight>
                <a:latin typeface="Arial"/>
                <a:ea typeface="Arial"/>
                <a:cs typeface="Arial"/>
                <a:sym typeface="Arial"/>
              </a:rPr>
              <a:t>: cualquier minúscula (el carácter ‘-‘ indica el rango entre ‘a’ y ‘z’, incluidas)</a:t>
            </a:r>
            <a:endParaRPr sz="1600">
              <a:solidFill>
                <a:srgbClr val="24292E"/>
              </a:solidFill>
              <a:highlight>
                <a:srgbClr val="FFFFFF"/>
              </a:highlight>
              <a:latin typeface="Arial"/>
              <a:ea typeface="Arial"/>
              <a:cs typeface="Arial"/>
              <a:sym typeface="Arial"/>
            </a:endParaRPr>
          </a:p>
          <a:p>
            <a:pPr indent="-304800" lvl="1" marL="914400" rtl="0" algn="l">
              <a:lnSpc>
                <a:spcPct val="115000"/>
              </a:lnSpc>
              <a:spcBef>
                <a:spcPts val="0"/>
              </a:spcBef>
              <a:spcAft>
                <a:spcPts val="0"/>
              </a:spcAft>
              <a:buClr>
                <a:srgbClr val="24292E"/>
              </a:buClr>
              <a:buSzPts val="1200"/>
              <a:buFont typeface="Arial"/>
              <a:buChar char="○"/>
            </a:pPr>
            <a:r>
              <a:rPr lang="es" sz="1400">
                <a:solidFill>
                  <a:srgbClr val="24292E"/>
                </a:solidFill>
                <a:highlight>
                  <a:srgbClr val="FFFFFF"/>
                </a:highlight>
                <a:latin typeface="Courier New"/>
                <a:ea typeface="Courier New"/>
                <a:cs typeface="Courier New"/>
                <a:sym typeface="Courier New"/>
              </a:rPr>
              <a:t>[a-zA-Z]</a:t>
            </a:r>
            <a:r>
              <a:rPr lang="es" sz="1600">
                <a:solidFill>
                  <a:srgbClr val="24292E"/>
                </a:solidFill>
                <a:highlight>
                  <a:srgbClr val="FFFFFF"/>
                </a:highlight>
                <a:latin typeface="Arial"/>
                <a:ea typeface="Arial"/>
                <a:cs typeface="Arial"/>
                <a:sym typeface="Arial"/>
              </a:rPr>
              <a:t>: cualquier letra</a:t>
            </a:r>
            <a:endParaRPr sz="1600">
              <a:solidFill>
                <a:srgbClr val="24292E"/>
              </a:solidFill>
              <a:highlight>
                <a:srgbClr val="FFFFFF"/>
              </a:highlight>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400">
                <a:solidFill>
                  <a:srgbClr val="24292E"/>
                </a:solidFill>
                <a:highlight>
                  <a:srgbClr val="FFFFFF"/>
                </a:highlight>
                <a:latin typeface="Courier New"/>
                <a:ea typeface="Courier New"/>
                <a:cs typeface="Courier New"/>
                <a:sym typeface="Courier New"/>
              </a:rPr>
              <a:t>( | )</a:t>
            </a:r>
            <a:r>
              <a:rPr lang="es" sz="1600">
                <a:solidFill>
                  <a:srgbClr val="24292E"/>
                </a:solidFill>
                <a:highlight>
                  <a:srgbClr val="FFFFFF"/>
                </a:highlight>
                <a:latin typeface="Arial"/>
                <a:ea typeface="Arial"/>
                <a:cs typeface="Arial"/>
                <a:sym typeface="Arial"/>
              </a:rPr>
              <a:t> (</a:t>
            </a:r>
            <a:r>
              <a:rPr i="1" lang="es" sz="1600">
                <a:solidFill>
                  <a:srgbClr val="24292E"/>
                </a:solidFill>
                <a:highlight>
                  <a:srgbClr val="FFFFFF"/>
                </a:highlight>
                <a:latin typeface="Arial"/>
                <a:ea typeface="Arial"/>
                <a:cs typeface="Arial"/>
                <a:sym typeface="Arial"/>
              </a:rPr>
              <a:t>pipe</a:t>
            </a:r>
            <a:r>
              <a:rPr lang="es" sz="1600">
                <a:solidFill>
                  <a:srgbClr val="24292E"/>
                </a:solidFill>
                <a:highlight>
                  <a:srgbClr val="FFFFFF"/>
                </a:highlight>
                <a:latin typeface="Arial"/>
                <a:ea typeface="Arial"/>
                <a:cs typeface="Arial"/>
                <a:sym typeface="Arial"/>
              </a:rPr>
              <a:t>): debe coincidir con una de las opciones indicadas:</a:t>
            </a:r>
            <a:endParaRPr sz="1600">
              <a:solidFill>
                <a:srgbClr val="24292E"/>
              </a:solidFill>
              <a:highlight>
                <a:srgbClr val="FFFFFF"/>
              </a:highlight>
              <a:latin typeface="Arial"/>
              <a:ea typeface="Arial"/>
              <a:cs typeface="Arial"/>
              <a:sym typeface="Arial"/>
            </a:endParaRPr>
          </a:p>
          <a:p>
            <a:pPr indent="-304800" lvl="1" marL="914400" rtl="0" algn="l">
              <a:lnSpc>
                <a:spcPct val="115000"/>
              </a:lnSpc>
              <a:spcBef>
                <a:spcPts val="0"/>
              </a:spcBef>
              <a:spcAft>
                <a:spcPts val="0"/>
              </a:spcAft>
              <a:buClr>
                <a:srgbClr val="24292E"/>
              </a:buClr>
              <a:buSzPts val="1200"/>
              <a:buFont typeface="Arial"/>
              <a:buChar char="○"/>
            </a:pPr>
            <a:r>
              <a:rPr lang="es" sz="1400">
                <a:solidFill>
                  <a:srgbClr val="24292E"/>
                </a:solidFill>
                <a:highlight>
                  <a:srgbClr val="FFFFFF"/>
                </a:highlight>
                <a:latin typeface="Courier New"/>
                <a:ea typeface="Courier New"/>
                <a:cs typeface="Courier New"/>
                <a:sym typeface="Courier New"/>
              </a:rPr>
              <a:t>(x|y)</a:t>
            </a:r>
            <a:r>
              <a:rPr lang="es" sz="1600">
                <a:solidFill>
                  <a:srgbClr val="24292E"/>
                </a:solidFill>
                <a:highlight>
                  <a:srgbClr val="FFFFFF"/>
                </a:highlight>
                <a:latin typeface="Arial"/>
                <a:ea typeface="Arial"/>
                <a:cs typeface="Arial"/>
                <a:sym typeface="Arial"/>
              </a:rPr>
              <a:t>: la letra x o la y (sería equivalente a </a:t>
            </a:r>
            <a:r>
              <a:rPr lang="es" sz="1400">
                <a:solidFill>
                  <a:srgbClr val="24292E"/>
                </a:solidFill>
                <a:highlight>
                  <a:srgbClr val="FFFFFF"/>
                </a:highlight>
                <a:latin typeface="Courier New"/>
                <a:ea typeface="Courier New"/>
                <a:cs typeface="Courier New"/>
                <a:sym typeface="Courier New"/>
              </a:rPr>
              <a:t>[xy]</a:t>
            </a:r>
            <a:endParaRPr sz="1400">
              <a:solidFill>
                <a:srgbClr val="24292E"/>
              </a:solidFill>
              <a:highlight>
                <a:srgbClr val="FFFFFF"/>
              </a:highlight>
              <a:latin typeface="Courier New"/>
              <a:ea typeface="Courier New"/>
              <a:cs typeface="Courier New"/>
              <a:sym typeface="Courier New"/>
            </a:endParaRPr>
          </a:p>
          <a:p>
            <a:pPr indent="-304800" lvl="1" marL="914400" rtl="0" algn="l">
              <a:lnSpc>
                <a:spcPct val="115000"/>
              </a:lnSpc>
              <a:spcBef>
                <a:spcPts val="0"/>
              </a:spcBef>
              <a:spcAft>
                <a:spcPts val="0"/>
              </a:spcAft>
              <a:buClr>
                <a:srgbClr val="24292E"/>
              </a:buClr>
              <a:buSzPts val="1200"/>
              <a:buFont typeface="Arial"/>
              <a:buChar char="○"/>
            </a:pPr>
            <a:r>
              <a:rPr lang="es" sz="1400">
                <a:solidFill>
                  <a:srgbClr val="24292E"/>
                </a:solidFill>
                <a:highlight>
                  <a:srgbClr val="FFFFFF"/>
                </a:highlight>
                <a:latin typeface="Courier New"/>
                <a:ea typeface="Courier New"/>
                <a:cs typeface="Courier New"/>
                <a:sym typeface="Courier New"/>
              </a:rPr>
              <a:t>(http|https)</a:t>
            </a:r>
            <a:r>
              <a:rPr lang="es" sz="1600">
                <a:solidFill>
                  <a:srgbClr val="24292E"/>
                </a:solidFill>
                <a:highlight>
                  <a:srgbClr val="FFFFFF"/>
                </a:highlight>
                <a:latin typeface="Arial"/>
                <a:ea typeface="Arial"/>
                <a:cs typeface="Arial"/>
                <a:sym typeface="Arial"/>
              </a:rPr>
              <a:t>: cualquiera de las 2 palabras</a:t>
            </a:r>
            <a:endParaRPr sz="1500"/>
          </a:p>
        </p:txBody>
      </p:sp>
      <p:sp>
        <p:nvSpPr>
          <p:cNvPr id="328" name="Google Shape;328;p38"/>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5.2 Validación de formularios</a:t>
            </a:r>
            <a:endParaRPr/>
          </a:p>
          <a:p>
            <a:pPr indent="0" lvl="0" marL="76200" rtl="0" algn="l">
              <a:lnSpc>
                <a:spcPct val="100000"/>
              </a:lnSpc>
              <a:spcBef>
                <a:spcPts val="1800"/>
              </a:spcBef>
              <a:spcAft>
                <a:spcPts val="1200"/>
              </a:spcAft>
              <a:buSzPts val="2600"/>
              <a:buNone/>
            </a:pPr>
            <a:r>
              <a:rPr lang="es" sz="1650">
                <a:solidFill>
                  <a:srgbClr val="24292E"/>
                </a:solidFill>
                <a:highlight>
                  <a:schemeClr val="lt1"/>
                </a:highlight>
                <a:latin typeface="Arial"/>
                <a:ea typeface="Arial"/>
                <a:cs typeface="Arial"/>
                <a:sym typeface="Arial"/>
              </a:rPr>
              <a:t>Expresiones regulares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9"/>
          <p:cNvSpPr txBox="1"/>
          <p:nvPr>
            <p:ph idx="1" type="body"/>
          </p:nvPr>
        </p:nvSpPr>
        <p:spPr>
          <a:xfrm>
            <a:off x="729450" y="1808700"/>
            <a:ext cx="7688700" cy="31716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300"/>
              </a:spcBef>
              <a:spcAft>
                <a:spcPts val="0"/>
              </a:spcAft>
              <a:buClr>
                <a:srgbClr val="24292E"/>
              </a:buClr>
              <a:buSzPts val="1600"/>
              <a:buFont typeface="Arial"/>
              <a:buChar char="●"/>
            </a:pPr>
            <a:r>
              <a:rPr b="1" lang="es" sz="1600">
                <a:solidFill>
                  <a:srgbClr val="24292E"/>
                </a:solidFill>
                <a:highlight>
                  <a:srgbClr val="FFFFFF"/>
                </a:highlight>
                <a:latin typeface="Arial"/>
                <a:ea typeface="Arial"/>
                <a:cs typeface="Arial"/>
                <a:sym typeface="Arial"/>
              </a:rPr>
              <a:t>Metacaracteres</a:t>
            </a:r>
            <a:r>
              <a:rPr lang="es" sz="1600">
                <a:solidFill>
                  <a:srgbClr val="24292E"/>
                </a:solidFill>
                <a:highlight>
                  <a:srgbClr val="FFFFFF"/>
                </a:highlight>
                <a:latin typeface="Arial"/>
                <a:ea typeface="Arial"/>
                <a:cs typeface="Arial"/>
                <a:sym typeface="Arial"/>
              </a:rPr>
              <a:t>:</a:t>
            </a:r>
            <a:endParaRPr sz="1600">
              <a:solidFill>
                <a:srgbClr val="24292E"/>
              </a:solidFill>
              <a:highlight>
                <a:srgbClr val="FFFFFF"/>
              </a:highlight>
              <a:latin typeface="Arial"/>
              <a:ea typeface="Arial"/>
              <a:cs typeface="Arial"/>
              <a:sym typeface="Arial"/>
            </a:endParaRPr>
          </a:p>
          <a:p>
            <a:pPr indent="-304800" lvl="1" marL="914400" rtl="0" algn="l">
              <a:lnSpc>
                <a:spcPct val="115000"/>
              </a:lnSpc>
              <a:spcBef>
                <a:spcPts val="0"/>
              </a:spcBef>
              <a:spcAft>
                <a:spcPts val="0"/>
              </a:spcAft>
              <a:buClr>
                <a:srgbClr val="24292E"/>
              </a:buClr>
              <a:buSzPts val="1200"/>
              <a:buFont typeface="Arial"/>
              <a:buChar char="○"/>
            </a:pPr>
            <a:r>
              <a:rPr lang="es" sz="1400">
                <a:solidFill>
                  <a:srgbClr val="24292E"/>
                </a:solidFill>
                <a:highlight>
                  <a:srgbClr val="FFFFFF"/>
                </a:highlight>
                <a:latin typeface="Courier New"/>
                <a:ea typeface="Courier New"/>
                <a:cs typeface="Courier New"/>
                <a:sym typeface="Courier New"/>
              </a:rPr>
              <a:t>.</a:t>
            </a:r>
            <a:r>
              <a:rPr lang="es" sz="1600">
                <a:solidFill>
                  <a:srgbClr val="24292E"/>
                </a:solidFill>
                <a:highlight>
                  <a:srgbClr val="FFFFFF"/>
                </a:highlight>
                <a:latin typeface="Arial"/>
                <a:ea typeface="Arial"/>
                <a:cs typeface="Arial"/>
                <a:sym typeface="Arial"/>
              </a:rPr>
              <a:t> (punto): un único carácter, sea el que sea</a:t>
            </a:r>
            <a:endParaRPr sz="1600">
              <a:solidFill>
                <a:srgbClr val="24292E"/>
              </a:solidFill>
              <a:highlight>
                <a:srgbClr val="FFFFFF"/>
              </a:highlight>
              <a:latin typeface="Arial"/>
              <a:ea typeface="Arial"/>
              <a:cs typeface="Arial"/>
              <a:sym typeface="Arial"/>
            </a:endParaRPr>
          </a:p>
          <a:p>
            <a:pPr indent="-304800" lvl="1" marL="914400" rtl="0" algn="l">
              <a:lnSpc>
                <a:spcPct val="115000"/>
              </a:lnSpc>
              <a:spcBef>
                <a:spcPts val="0"/>
              </a:spcBef>
              <a:spcAft>
                <a:spcPts val="0"/>
              </a:spcAft>
              <a:buClr>
                <a:srgbClr val="24292E"/>
              </a:buClr>
              <a:buSzPts val="1200"/>
              <a:buFont typeface="Arial"/>
              <a:buChar char="○"/>
            </a:pPr>
            <a:r>
              <a:rPr lang="es" sz="1400">
                <a:solidFill>
                  <a:srgbClr val="24292E"/>
                </a:solidFill>
                <a:highlight>
                  <a:srgbClr val="FFFFFF"/>
                </a:highlight>
                <a:latin typeface="Courier New"/>
                <a:ea typeface="Courier New"/>
                <a:cs typeface="Courier New"/>
                <a:sym typeface="Courier New"/>
              </a:rPr>
              <a:t>\d</a:t>
            </a:r>
            <a:r>
              <a:rPr lang="es" sz="1600">
                <a:solidFill>
                  <a:srgbClr val="24292E"/>
                </a:solidFill>
                <a:highlight>
                  <a:srgbClr val="FFFFFF"/>
                </a:highlight>
                <a:latin typeface="Arial"/>
                <a:ea typeface="Arial"/>
                <a:cs typeface="Arial"/>
                <a:sym typeface="Arial"/>
              </a:rPr>
              <a:t>: un dígito (</a:t>
            </a:r>
            <a:r>
              <a:rPr lang="es" sz="1400">
                <a:solidFill>
                  <a:srgbClr val="24292E"/>
                </a:solidFill>
                <a:highlight>
                  <a:srgbClr val="FFFFFF"/>
                </a:highlight>
                <a:latin typeface="Courier New"/>
                <a:ea typeface="Courier New"/>
                <a:cs typeface="Courier New"/>
                <a:sym typeface="Courier New"/>
              </a:rPr>
              <a:t>\D</a:t>
            </a:r>
            <a:r>
              <a:rPr lang="es" sz="1600">
                <a:solidFill>
                  <a:srgbClr val="24292E"/>
                </a:solidFill>
                <a:highlight>
                  <a:srgbClr val="FFFFFF"/>
                </a:highlight>
                <a:latin typeface="Arial"/>
                <a:ea typeface="Arial"/>
                <a:cs typeface="Arial"/>
                <a:sym typeface="Arial"/>
              </a:rPr>
              <a:t>: cualquier cosa menos dígito)</a:t>
            </a:r>
            <a:endParaRPr sz="1600">
              <a:solidFill>
                <a:srgbClr val="24292E"/>
              </a:solidFill>
              <a:highlight>
                <a:srgbClr val="FFFFFF"/>
              </a:highlight>
              <a:latin typeface="Arial"/>
              <a:ea typeface="Arial"/>
              <a:cs typeface="Arial"/>
              <a:sym typeface="Arial"/>
            </a:endParaRPr>
          </a:p>
          <a:p>
            <a:pPr indent="-304800" lvl="1" marL="914400" rtl="0" algn="l">
              <a:lnSpc>
                <a:spcPct val="115000"/>
              </a:lnSpc>
              <a:spcBef>
                <a:spcPts val="0"/>
              </a:spcBef>
              <a:spcAft>
                <a:spcPts val="0"/>
              </a:spcAft>
              <a:buClr>
                <a:srgbClr val="24292E"/>
              </a:buClr>
              <a:buSzPts val="1200"/>
              <a:buFont typeface="Arial"/>
              <a:buChar char="○"/>
            </a:pPr>
            <a:r>
              <a:rPr lang="es" sz="1400">
                <a:solidFill>
                  <a:srgbClr val="24292E"/>
                </a:solidFill>
                <a:highlight>
                  <a:srgbClr val="FFFFFF"/>
                </a:highlight>
                <a:latin typeface="Courier New"/>
                <a:ea typeface="Courier New"/>
                <a:cs typeface="Courier New"/>
                <a:sym typeface="Courier New"/>
              </a:rPr>
              <a:t>\s</a:t>
            </a:r>
            <a:r>
              <a:rPr lang="es" sz="1600">
                <a:solidFill>
                  <a:srgbClr val="24292E"/>
                </a:solidFill>
                <a:highlight>
                  <a:srgbClr val="FFFFFF"/>
                </a:highlight>
                <a:latin typeface="Arial"/>
                <a:ea typeface="Arial"/>
                <a:cs typeface="Arial"/>
                <a:sym typeface="Arial"/>
              </a:rPr>
              <a:t>: espacio en blanco (</a:t>
            </a:r>
            <a:r>
              <a:rPr lang="es" sz="1400">
                <a:solidFill>
                  <a:srgbClr val="24292E"/>
                </a:solidFill>
                <a:highlight>
                  <a:srgbClr val="FFFFFF"/>
                </a:highlight>
                <a:latin typeface="Courier New"/>
                <a:ea typeface="Courier New"/>
                <a:cs typeface="Courier New"/>
                <a:sym typeface="Courier New"/>
              </a:rPr>
              <a:t>\S</a:t>
            </a:r>
            <a:r>
              <a:rPr lang="es" sz="1600">
                <a:solidFill>
                  <a:srgbClr val="24292E"/>
                </a:solidFill>
                <a:highlight>
                  <a:srgbClr val="FFFFFF"/>
                </a:highlight>
                <a:latin typeface="Arial"/>
                <a:ea typeface="Arial"/>
                <a:cs typeface="Arial"/>
                <a:sym typeface="Arial"/>
              </a:rPr>
              <a:t>: lo opuesto)</a:t>
            </a:r>
            <a:endParaRPr sz="1600">
              <a:solidFill>
                <a:srgbClr val="24292E"/>
              </a:solidFill>
              <a:highlight>
                <a:srgbClr val="FFFFFF"/>
              </a:highlight>
              <a:latin typeface="Arial"/>
              <a:ea typeface="Arial"/>
              <a:cs typeface="Arial"/>
              <a:sym typeface="Arial"/>
            </a:endParaRPr>
          </a:p>
          <a:p>
            <a:pPr indent="-304800" lvl="1" marL="914400" rtl="0" algn="l">
              <a:lnSpc>
                <a:spcPct val="115000"/>
              </a:lnSpc>
              <a:spcBef>
                <a:spcPts val="0"/>
              </a:spcBef>
              <a:spcAft>
                <a:spcPts val="0"/>
              </a:spcAft>
              <a:buClr>
                <a:srgbClr val="24292E"/>
              </a:buClr>
              <a:buSzPts val="1200"/>
              <a:buFont typeface="Arial"/>
              <a:buChar char="○"/>
            </a:pPr>
            <a:r>
              <a:rPr lang="es" sz="1400">
                <a:solidFill>
                  <a:srgbClr val="24292E"/>
                </a:solidFill>
                <a:highlight>
                  <a:srgbClr val="FFFFFF"/>
                </a:highlight>
                <a:latin typeface="Courier New"/>
                <a:ea typeface="Courier New"/>
                <a:cs typeface="Courier New"/>
                <a:sym typeface="Courier New"/>
              </a:rPr>
              <a:t>\w</a:t>
            </a:r>
            <a:r>
              <a:rPr lang="es" sz="1600">
                <a:solidFill>
                  <a:srgbClr val="24292E"/>
                </a:solidFill>
                <a:highlight>
                  <a:srgbClr val="FFFFFF"/>
                </a:highlight>
                <a:latin typeface="Arial"/>
                <a:ea typeface="Arial"/>
                <a:cs typeface="Arial"/>
                <a:sym typeface="Arial"/>
              </a:rPr>
              <a:t>: una palabra o carácter alfanumérico (</a:t>
            </a:r>
            <a:r>
              <a:rPr lang="es" sz="1400">
                <a:solidFill>
                  <a:srgbClr val="24292E"/>
                </a:solidFill>
                <a:highlight>
                  <a:srgbClr val="FFFFFF"/>
                </a:highlight>
                <a:latin typeface="Courier New"/>
                <a:ea typeface="Courier New"/>
                <a:cs typeface="Courier New"/>
                <a:sym typeface="Courier New"/>
              </a:rPr>
              <a:t>\W</a:t>
            </a:r>
            <a:r>
              <a:rPr lang="es" sz="1600">
                <a:solidFill>
                  <a:srgbClr val="24292E"/>
                </a:solidFill>
                <a:highlight>
                  <a:srgbClr val="FFFFFF"/>
                </a:highlight>
                <a:latin typeface="Arial"/>
                <a:ea typeface="Arial"/>
                <a:cs typeface="Arial"/>
                <a:sym typeface="Arial"/>
              </a:rPr>
              <a:t> lo contrario)</a:t>
            </a:r>
            <a:endParaRPr sz="1600">
              <a:solidFill>
                <a:srgbClr val="24292E"/>
              </a:solidFill>
              <a:highlight>
                <a:srgbClr val="FFFFFF"/>
              </a:highlight>
              <a:latin typeface="Arial"/>
              <a:ea typeface="Arial"/>
              <a:cs typeface="Arial"/>
              <a:sym typeface="Arial"/>
            </a:endParaRPr>
          </a:p>
          <a:p>
            <a:pPr indent="-304800" lvl="1" marL="914400" rtl="0" algn="l">
              <a:lnSpc>
                <a:spcPct val="115000"/>
              </a:lnSpc>
              <a:spcBef>
                <a:spcPts val="0"/>
              </a:spcBef>
              <a:spcAft>
                <a:spcPts val="0"/>
              </a:spcAft>
              <a:buClr>
                <a:srgbClr val="24292E"/>
              </a:buClr>
              <a:buSzPts val="1200"/>
              <a:buFont typeface="Arial"/>
              <a:buChar char="○"/>
            </a:pPr>
            <a:r>
              <a:rPr lang="es" sz="1400">
                <a:solidFill>
                  <a:srgbClr val="24292E"/>
                </a:solidFill>
                <a:highlight>
                  <a:srgbClr val="FFFFFF"/>
                </a:highlight>
                <a:latin typeface="Courier New"/>
                <a:ea typeface="Courier New"/>
                <a:cs typeface="Courier New"/>
                <a:sym typeface="Courier New"/>
              </a:rPr>
              <a:t>\b</a:t>
            </a:r>
            <a:r>
              <a:rPr lang="es" sz="1600">
                <a:solidFill>
                  <a:srgbClr val="24292E"/>
                </a:solidFill>
                <a:highlight>
                  <a:srgbClr val="FFFFFF"/>
                </a:highlight>
                <a:latin typeface="Arial"/>
                <a:ea typeface="Arial"/>
                <a:cs typeface="Arial"/>
                <a:sym typeface="Arial"/>
              </a:rPr>
              <a:t>: delimitador de palabra (espacio, ppio, fin)</a:t>
            </a:r>
            <a:endParaRPr sz="1600">
              <a:solidFill>
                <a:srgbClr val="24292E"/>
              </a:solidFill>
              <a:highlight>
                <a:srgbClr val="FFFFFF"/>
              </a:highlight>
              <a:latin typeface="Arial"/>
              <a:ea typeface="Arial"/>
              <a:cs typeface="Arial"/>
              <a:sym typeface="Arial"/>
            </a:endParaRPr>
          </a:p>
          <a:p>
            <a:pPr indent="-304800" lvl="1" marL="914400" rtl="0" algn="l">
              <a:lnSpc>
                <a:spcPct val="115000"/>
              </a:lnSpc>
              <a:spcBef>
                <a:spcPts val="0"/>
              </a:spcBef>
              <a:spcAft>
                <a:spcPts val="0"/>
              </a:spcAft>
              <a:buClr>
                <a:srgbClr val="24292E"/>
              </a:buClr>
              <a:buSzPts val="1200"/>
              <a:buFont typeface="Arial"/>
              <a:buChar char="○"/>
            </a:pPr>
            <a:r>
              <a:rPr lang="es" sz="1400">
                <a:solidFill>
                  <a:srgbClr val="24292E"/>
                </a:solidFill>
                <a:highlight>
                  <a:srgbClr val="FFFFFF"/>
                </a:highlight>
                <a:latin typeface="Courier New"/>
                <a:ea typeface="Courier New"/>
                <a:cs typeface="Courier New"/>
                <a:sym typeface="Courier New"/>
              </a:rPr>
              <a:t>\n</a:t>
            </a:r>
            <a:r>
              <a:rPr lang="es" sz="1600">
                <a:solidFill>
                  <a:srgbClr val="24292E"/>
                </a:solidFill>
                <a:highlight>
                  <a:srgbClr val="FFFFFF"/>
                </a:highlight>
                <a:latin typeface="Arial"/>
                <a:ea typeface="Arial"/>
                <a:cs typeface="Arial"/>
                <a:sym typeface="Arial"/>
              </a:rPr>
              <a:t>: nueva línea</a:t>
            </a:r>
            <a:endParaRPr sz="1800">
              <a:solidFill>
                <a:srgbClr val="24292E"/>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1200"/>
              </a:spcAft>
              <a:buSzPts val="1300"/>
              <a:buNone/>
            </a:pPr>
            <a:r>
              <a:t/>
            </a:r>
            <a:endParaRPr sz="1500"/>
          </a:p>
        </p:txBody>
      </p:sp>
      <p:sp>
        <p:nvSpPr>
          <p:cNvPr id="334" name="Google Shape;334;p39"/>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5.2 Validación de formularios</a:t>
            </a:r>
            <a:endParaRPr/>
          </a:p>
          <a:p>
            <a:pPr indent="0" lvl="0" marL="76200" rtl="0" algn="l">
              <a:lnSpc>
                <a:spcPct val="100000"/>
              </a:lnSpc>
              <a:spcBef>
                <a:spcPts val="1800"/>
              </a:spcBef>
              <a:spcAft>
                <a:spcPts val="1200"/>
              </a:spcAft>
              <a:buSzPts val="2600"/>
              <a:buNone/>
            </a:pPr>
            <a:r>
              <a:rPr lang="es" sz="1650">
                <a:solidFill>
                  <a:srgbClr val="24292E"/>
                </a:solidFill>
                <a:highlight>
                  <a:schemeClr val="lt1"/>
                </a:highlight>
                <a:latin typeface="Arial"/>
                <a:ea typeface="Arial"/>
                <a:cs typeface="Arial"/>
                <a:sym typeface="Arial"/>
              </a:rPr>
              <a:t>Expresiones regulares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0"/>
          <p:cNvSpPr txBox="1"/>
          <p:nvPr>
            <p:ph idx="1" type="body"/>
          </p:nvPr>
        </p:nvSpPr>
        <p:spPr>
          <a:xfrm>
            <a:off x="729450" y="1808700"/>
            <a:ext cx="7688700" cy="31716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300"/>
              </a:spcBef>
              <a:spcAft>
                <a:spcPts val="0"/>
              </a:spcAft>
              <a:buClr>
                <a:srgbClr val="24292E"/>
              </a:buClr>
              <a:buSzPts val="1500"/>
              <a:buFont typeface="Arial"/>
              <a:buChar char="●"/>
            </a:pPr>
            <a:r>
              <a:rPr b="1" lang="es" sz="1500">
                <a:solidFill>
                  <a:srgbClr val="24292E"/>
                </a:solidFill>
                <a:highlight>
                  <a:srgbClr val="FFFFFF"/>
                </a:highlight>
                <a:latin typeface="Arial"/>
                <a:ea typeface="Arial"/>
                <a:cs typeface="Arial"/>
                <a:sym typeface="Arial"/>
              </a:rPr>
              <a:t>Cuantificadores:</a:t>
            </a:r>
            <a:endParaRPr b="1" sz="1500">
              <a:solidFill>
                <a:srgbClr val="24292E"/>
              </a:solidFill>
              <a:highlight>
                <a:srgbClr val="FFFFFF"/>
              </a:highlight>
              <a:latin typeface="Arial"/>
              <a:ea typeface="Arial"/>
              <a:cs typeface="Arial"/>
              <a:sym typeface="Arial"/>
            </a:endParaRPr>
          </a:p>
          <a:p>
            <a:pPr indent="-304800" lvl="1" marL="914400" rtl="0" algn="l">
              <a:lnSpc>
                <a:spcPct val="115000"/>
              </a:lnSpc>
              <a:spcBef>
                <a:spcPts val="0"/>
              </a:spcBef>
              <a:spcAft>
                <a:spcPts val="0"/>
              </a:spcAft>
              <a:buClr>
                <a:srgbClr val="24292E"/>
              </a:buClr>
              <a:buSzPts val="1200"/>
              <a:buFont typeface="Arial"/>
              <a:buChar char="○"/>
            </a:pPr>
            <a:r>
              <a:rPr lang="es" sz="1300">
                <a:solidFill>
                  <a:srgbClr val="24292E"/>
                </a:solidFill>
                <a:highlight>
                  <a:srgbClr val="FFFFFF"/>
                </a:highlight>
                <a:latin typeface="Courier New"/>
                <a:ea typeface="Courier New"/>
                <a:cs typeface="Courier New"/>
                <a:sym typeface="Courier New"/>
              </a:rPr>
              <a:t>+</a:t>
            </a:r>
            <a:r>
              <a:rPr lang="es" sz="1500">
                <a:solidFill>
                  <a:srgbClr val="24292E"/>
                </a:solidFill>
                <a:highlight>
                  <a:srgbClr val="FFFFFF"/>
                </a:highlight>
                <a:latin typeface="Arial"/>
                <a:ea typeface="Arial"/>
                <a:cs typeface="Arial"/>
                <a:sym typeface="Arial"/>
              </a:rPr>
              <a:t>: al menos 1 vez (ej. </a:t>
            </a:r>
            <a:r>
              <a:rPr lang="es" sz="1300">
                <a:solidFill>
                  <a:srgbClr val="24292E"/>
                </a:solidFill>
                <a:highlight>
                  <a:srgbClr val="FFFFFF"/>
                </a:highlight>
                <a:latin typeface="Courier New"/>
                <a:ea typeface="Courier New"/>
                <a:cs typeface="Courier New"/>
                <a:sym typeface="Courier New"/>
              </a:rPr>
              <a:t>[0-9]+</a:t>
            </a:r>
            <a:r>
              <a:rPr lang="es" sz="1500">
                <a:solidFill>
                  <a:srgbClr val="24292E"/>
                </a:solidFill>
                <a:highlight>
                  <a:srgbClr val="FFFFFF"/>
                </a:highlight>
                <a:latin typeface="Arial"/>
                <a:ea typeface="Arial"/>
                <a:cs typeface="Arial"/>
                <a:sym typeface="Arial"/>
              </a:rPr>
              <a:t> al menos un dígito)</a:t>
            </a:r>
            <a:endParaRPr sz="1500">
              <a:solidFill>
                <a:srgbClr val="24292E"/>
              </a:solidFill>
              <a:highlight>
                <a:srgbClr val="FFFFFF"/>
              </a:highlight>
              <a:latin typeface="Arial"/>
              <a:ea typeface="Arial"/>
              <a:cs typeface="Arial"/>
              <a:sym typeface="Arial"/>
            </a:endParaRPr>
          </a:p>
          <a:p>
            <a:pPr indent="-304800" lvl="1" marL="914400" rtl="0" algn="l">
              <a:lnSpc>
                <a:spcPct val="115000"/>
              </a:lnSpc>
              <a:spcBef>
                <a:spcPts val="0"/>
              </a:spcBef>
              <a:spcAft>
                <a:spcPts val="0"/>
              </a:spcAft>
              <a:buClr>
                <a:srgbClr val="24292E"/>
              </a:buClr>
              <a:buSzPts val="1200"/>
              <a:buFont typeface="Arial"/>
              <a:buChar char="○"/>
            </a:pPr>
            <a:r>
              <a:rPr lang="es" sz="1300">
                <a:solidFill>
                  <a:srgbClr val="24292E"/>
                </a:solidFill>
                <a:highlight>
                  <a:srgbClr val="FFFFFF"/>
                </a:highlight>
                <a:latin typeface="Courier New"/>
                <a:ea typeface="Courier New"/>
                <a:cs typeface="Courier New"/>
                <a:sym typeface="Courier New"/>
              </a:rPr>
              <a:t>*</a:t>
            </a:r>
            <a:r>
              <a:rPr lang="es" sz="1500">
                <a:solidFill>
                  <a:srgbClr val="24292E"/>
                </a:solidFill>
                <a:highlight>
                  <a:srgbClr val="FFFFFF"/>
                </a:highlight>
                <a:latin typeface="Arial"/>
                <a:ea typeface="Arial"/>
                <a:cs typeface="Arial"/>
                <a:sym typeface="Arial"/>
              </a:rPr>
              <a:t>: 0 o más veces</a:t>
            </a:r>
            <a:endParaRPr sz="1500">
              <a:solidFill>
                <a:srgbClr val="24292E"/>
              </a:solidFill>
              <a:highlight>
                <a:srgbClr val="FFFFFF"/>
              </a:highlight>
              <a:latin typeface="Arial"/>
              <a:ea typeface="Arial"/>
              <a:cs typeface="Arial"/>
              <a:sym typeface="Arial"/>
            </a:endParaRPr>
          </a:p>
          <a:p>
            <a:pPr indent="-304800" lvl="1" marL="914400" rtl="0" algn="l">
              <a:lnSpc>
                <a:spcPct val="115000"/>
              </a:lnSpc>
              <a:spcBef>
                <a:spcPts val="0"/>
              </a:spcBef>
              <a:spcAft>
                <a:spcPts val="0"/>
              </a:spcAft>
              <a:buClr>
                <a:srgbClr val="24292E"/>
              </a:buClr>
              <a:buSzPts val="1200"/>
              <a:buFont typeface="Arial"/>
              <a:buChar char="○"/>
            </a:pPr>
            <a:r>
              <a:rPr lang="es" sz="1300">
                <a:solidFill>
                  <a:srgbClr val="24292E"/>
                </a:solidFill>
                <a:highlight>
                  <a:srgbClr val="FFFFFF"/>
                </a:highlight>
                <a:latin typeface="Courier New"/>
                <a:ea typeface="Courier New"/>
                <a:cs typeface="Courier New"/>
                <a:sym typeface="Courier New"/>
              </a:rPr>
              <a:t>?</a:t>
            </a:r>
            <a:r>
              <a:rPr lang="es" sz="1500">
                <a:solidFill>
                  <a:srgbClr val="24292E"/>
                </a:solidFill>
                <a:highlight>
                  <a:srgbClr val="FFFFFF"/>
                </a:highlight>
                <a:latin typeface="Arial"/>
                <a:ea typeface="Arial"/>
                <a:cs typeface="Arial"/>
                <a:sym typeface="Arial"/>
              </a:rPr>
              <a:t>: 0 o 1 vez</a:t>
            </a:r>
            <a:endParaRPr sz="1500">
              <a:solidFill>
                <a:srgbClr val="24292E"/>
              </a:solidFill>
              <a:highlight>
                <a:srgbClr val="FFFFFF"/>
              </a:highlight>
              <a:latin typeface="Arial"/>
              <a:ea typeface="Arial"/>
              <a:cs typeface="Arial"/>
              <a:sym typeface="Arial"/>
            </a:endParaRPr>
          </a:p>
          <a:p>
            <a:pPr indent="-304800" lvl="1" marL="914400" rtl="0" algn="l">
              <a:lnSpc>
                <a:spcPct val="115000"/>
              </a:lnSpc>
              <a:spcBef>
                <a:spcPts val="0"/>
              </a:spcBef>
              <a:spcAft>
                <a:spcPts val="0"/>
              </a:spcAft>
              <a:buClr>
                <a:srgbClr val="24292E"/>
              </a:buClr>
              <a:buSzPts val="1200"/>
              <a:buFont typeface="Arial"/>
              <a:buChar char="○"/>
            </a:pPr>
            <a:r>
              <a:rPr lang="es" sz="1300">
                <a:solidFill>
                  <a:srgbClr val="24292E"/>
                </a:solidFill>
                <a:highlight>
                  <a:srgbClr val="FFFFFF"/>
                </a:highlight>
                <a:latin typeface="Courier New"/>
                <a:ea typeface="Courier New"/>
                <a:cs typeface="Courier New"/>
                <a:sym typeface="Courier New"/>
              </a:rPr>
              <a:t>{n}</a:t>
            </a:r>
            <a:r>
              <a:rPr lang="es" sz="1500">
                <a:solidFill>
                  <a:srgbClr val="24292E"/>
                </a:solidFill>
                <a:highlight>
                  <a:srgbClr val="FFFFFF"/>
                </a:highlight>
                <a:latin typeface="Arial"/>
                <a:ea typeface="Arial"/>
                <a:cs typeface="Arial"/>
                <a:sym typeface="Arial"/>
              </a:rPr>
              <a:t>: n caracteres (ej. </a:t>
            </a:r>
            <a:r>
              <a:rPr lang="es" sz="1300">
                <a:solidFill>
                  <a:srgbClr val="24292E"/>
                </a:solidFill>
                <a:highlight>
                  <a:srgbClr val="FFFFFF"/>
                </a:highlight>
                <a:latin typeface="Courier New"/>
                <a:ea typeface="Courier New"/>
                <a:cs typeface="Courier New"/>
                <a:sym typeface="Courier New"/>
              </a:rPr>
              <a:t>[0-9]{5}</a:t>
            </a:r>
            <a:r>
              <a:rPr lang="es" sz="1500">
                <a:solidFill>
                  <a:srgbClr val="24292E"/>
                </a:solidFill>
                <a:highlight>
                  <a:srgbClr val="FFFFFF"/>
                </a:highlight>
                <a:latin typeface="Arial"/>
                <a:ea typeface="Arial"/>
                <a:cs typeface="Arial"/>
                <a:sym typeface="Arial"/>
              </a:rPr>
              <a:t> = 5 dígitos)</a:t>
            </a:r>
            <a:endParaRPr sz="1500">
              <a:solidFill>
                <a:srgbClr val="24292E"/>
              </a:solidFill>
              <a:highlight>
                <a:srgbClr val="FFFFFF"/>
              </a:highlight>
              <a:latin typeface="Arial"/>
              <a:ea typeface="Arial"/>
              <a:cs typeface="Arial"/>
              <a:sym typeface="Arial"/>
            </a:endParaRPr>
          </a:p>
          <a:p>
            <a:pPr indent="-304800" lvl="1" marL="914400" rtl="0" algn="l">
              <a:lnSpc>
                <a:spcPct val="115000"/>
              </a:lnSpc>
              <a:spcBef>
                <a:spcPts val="0"/>
              </a:spcBef>
              <a:spcAft>
                <a:spcPts val="0"/>
              </a:spcAft>
              <a:buClr>
                <a:srgbClr val="24292E"/>
              </a:buClr>
              <a:buSzPts val="1200"/>
              <a:buFont typeface="Arial"/>
              <a:buChar char="○"/>
            </a:pPr>
            <a:r>
              <a:rPr lang="es" sz="1300">
                <a:solidFill>
                  <a:srgbClr val="24292E"/>
                </a:solidFill>
                <a:highlight>
                  <a:srgbClr val="FFFFFF"/>
                </a:highlight>
                <a:latin typeface="Courier New"/>
                <a:ea typeface="Courier New"/>
                <a:cs typeface="Courier New"/>
                <a:sym typeface="Courier New"/>
              </a:rPr>
              <a:t>{n,}</a:t>
            </a:r>
            <a:r>
              <a:rPr lang="es" sz="1500">
                <a:solidFill>
                  <a:srgbClr val="24292E"/>
                </a:solidFill>
                <a:highlight>
                  <a:srgbClr val="FFFFFF"/>
                </a:highlight>
                <a:latin typeface="Arial"/>
                <a:ea typeface="Arial"/>
                <a:cs typeface="Arial"/>
                <a:sym typeface="Arial"/>
              </a:rPr>
              <a:t>: n o más caracteres</a:t>
            </a:r>
            <a:endParaRPr sz="1500">
              <a:solidFill>
                <a:srgbClr val="24292E"/>
              </a:solidFill>
              <a:highlight>
                <a:srgbClr val="FFFFFF"/>
              </a:highlight>
              <a:latin typeface="Arial"/>
              <a:ea typeface="Arial"/>
              <a:cs typeface="Arial"/>
              <a:sym typeface="Arial"/>
            </a:endParaRPr>
          </a:p>
          <a:p>
            <a:pPr indent="-304800" lvl="1" marL="914400" rtl="0" algn="l">
              <a:lnSpc>
                <a:spcPct val="115000"/>
              </a:lnSpc>
              <a:spcBef>
                <a:spcPts val="0"/>
              </a:spcBef>
              <a:spcAft>
                <a:spcPts val="0"/>
              </a:spcAft>
              <a:buClr>
                <a:srgbClr val="24292E"/>
              </a:buClr>
              <a:buSzPts val="1200"/>
              <a:buFont typeface="Arial"/>
              <a:buChar char="○"/>
            </a:pPr>
            <a:r>
              <a:rPr lang="es" sz="1300">
                <a:solidFill>
                  <a:srgbClr val="24292E"/>
                </a:solidFill>
                <a:highlight>
                  <a:srgbClr val="FFFFFF"/>
                </a:highlight>
                <a:latin typeface="Courier New"/>
                <a:ea typeface="Courier New"/>
                <a:cs typeface="Courier New"/>
                <a:sym typeface="Courier New"/>
              </a:rPr>
              <a:t>{n,m}</a:t>
            </a:r>
            <a:r>
              <a:rPr lang="es" sz="1500">
                <a:solidFill>
                  <a:srgbClr val="24292E"/>
                </a:solidFill>
                <a:highlight>
                  <a:srgbClr val="FFFFFF"/>
                </a:highlight>
                <a:latin typeface="Arial"/>
                <a:ea typeface="Arial"/>
                <a:cs typeface="Arial"/>
                <a:sym typeface="Arial"/>
              </a:rPr>
              <a:t>: entre n y m caracteres</a:t>
            </a:r>
            <a:endParaRPr sz="1500">
              <a:solidFill>
                <a:srgbClr val="24292E"/>
              </a:solidFill>
              <a:highlight>
                <a:srgbClr val="FFFFFF"/>
              </a:highlight>
              <a:latin typeface="Arial"/>
              <a:ea typeface="Arial"/>
              <a:cs typeface="Arial"/>
              <a:sym typeface="Arial"/>
            </a:endParaRPr>
          </a:p>
          <a:p>
            <a:pPr indent="-304800" lvl="1" marL="914400" rtl="0" algn="l">
              <a:lnSpc>
                <a:spcPct val="115000"/>
              </a:lnSpc>
              <a:spcBef>
                <a:spcPts val="0"/>
              </a:spcBef>
              <a:spcAft>
                <a:spcPts val="0"/>
              </a:spcAft>
              <a:buClr>
                <a:srgbClr val="24292E"/>
              </a:buClr>
              <a:buSzPts val="1200"/>
              <a:buFont typeface="Arial"/>
              <a:buChar char="○"/>
            </a:pPr>
            <a:r>
              <a:rPr lang="es" sz="1300">
                <a:solidFill>
                  <a:srgbClr val="24292E"/>
                </a:solidFill>
                <a:highlight>
                  <a:srgbClr val="FFFFFF"/>
                </a:highlight>
                <a:latin typeface="Courier New"/>
                <a:ea typeface="Courier New"/>
                <a:cs typeface="Courier New"/>
                <a:sym typeface="Courier New"/>
              </a:rPr>
              <a:t>^</a:t>
            </a:r>
            <a:r>
              <a:rPr lang="es" sz="1500">
                <a:solidFill>
                  <a:srgbClr val="24292E"/>
                </a:solidFill>
                <a:highlight>
                  <a:srgbClr val="FFFFFF"/>
                </a:highlight>
                <a:latin typeface="Arial"/>
                <a:ea typeface="Arial"/>
                <a:cs typeface="Arial"/>
                <a:sym typeface="Arial"/>
              </a:rPr>
              <a:t>: al ppio de la cadena (ej.: </a:t>
            </a:r>
            <a:r>
              <a:rPr lang="es" sz="1300">
                <a:solidFill>
                  <a:srgbClr val="24292E"/>
                </a:solidFill>
                <a:highlight>
                  <a:srgbClr val="FFFFFF"/>
                </a:highlight>
                <a:latin typeface="Courier New"/>
                <a:ea typeface="Courier New"/>
                <a:cs typeface="Courier New"/>
                <a:sym typeface="Courier New"/>
              </a:rPr>
              <a:t>^[a-zA-Z]</a:t>
            </a:r>
            <a:r>
              <a:rPr lang="es" sz="1500">
                <a:solidFill>
                  <a:srgbClr val="24292E"/>
                </a:solidFill>
                <a:highlight>
                  <a:srgbClr val="FFFFFF"/>
                </a:highlight>
                <a:latin typeface="Arial"/>
                <a:ea typeface="Arial"/>
                <a:cs typeface="Arial"/>
                <a:sym typeface="Arial"/>
              </a:rPr>
              <a:t> = empieza por letra)</a:t>
            </a:r>
            <a:endParaRPr sz="1500">
              <a:solidFill>
                <a:srgbClr val="24292E"/>
              </a:solidFill>
              <a:highlight>
                <a:srgbClr val="FFFFFF"/>
              </a:highlight>
              <a:latin typeface="Arial"/>
              <a:ea typeface="Arial"/>
              <a:cs typeface="Arial"/>
              <a:sym typeface="Arial"/>
            </a:endParaRPr>
          </a:p>
          <a:p>
            <a:pPr indent="-304800" lvl="1" marL="914400" rtl="0" algn="l">
              <a:lnSpc>
                <a:spcPct val="115000"/>
              </a:lnSpc>
              <a:spcBef>
                <a:spcPts val="0"/>
              </a:spcBef>
              <a:spcAft>
                <a:spcPts val="0"/>
              </a:spcAft>
              <a:buClr>
                <a:srgbClr val="24292E"/>
              </a:buClr>
              <a:buSzPts val="1200"/>
              <a:buFont typeface="Arial"/>
              <a:buChar char="○"/>
            </a:pPr>
            <a:r>
              <a:rPr lang="es" sz="1300">
                <a:solidFill>
                  <a:srgbClr val="24292E"/>
                </a:solidFill>
                <a:highlight>
                  <a:srgbClr val="FFFFFF"/>
                </a:highlight>
                <a:latin typeface="Courier New"/>
                <a:ea typeface="Courier New"/>
                <a:cs typeface="Courier New"/>
                <a:sym typeface="Courier New"/>
              </a:rPr>
              <a:t>$</a:t>
            </a:r>
            <a:r>
              <a:rPr lang="es" sz="1500">
                <a:solidFill>
                  <a:srgbClr val="24292E"/>
                </a:solidFill>
                <a:highlight>
                  <a:srgbClr val="FFFFFF"/>
                </a:highlight>
                <a:latin typeface="Arial"/>
                <a:ea typeface="Arial"/>
                <a:cs typeface="Arial"/>
                <a:sym typeface="Arial"/>
              </a:rPr>
              <a:t>: al final de la cadena (ej.: </a:t>
            </a:r>
            <a:r>
              <a:rPr lang="es" sz="1300">
                <a:solidFill>
                  <a:srgbClr val="24292E"/>
                </a:solidFill>
                <a:highlight>
                  <a:srgbClr val="FFFFFF"/>
                </a:highlight>
                <a:latin typeface="Courier New"/>
                <a:ea typeface="Courier New"/>
                <a:cs typeface="Courier New"/>
                <a:sym typeface="Courier New"/>
              </a:rPr>
              <a:t>[0-9]$</a:t>
            </a:r>
            <a:r>
              <a:rPr lang="es" sz="1500">
                <a:solidFill>
                  <a:srgbClr val="24292E"/>
                </a:solidFill>
                <a:highlight>
                  <a:srgbClr val="FFFFFF"/>
                </a:highlight>
                <a:latin typeface="Arial"/>
                <a:ea typeface="Arial"/>
                <a:cs typeface="Arial"/>
                <a:sym typeface="Arial"/>
              </a:rPr>
              <a:t> = que acabe en dígito)</a:t>
            </a:r>
            <a:endParaRPr sz="1500">
              <a:solidFill>
                <a:srgbClr val="24292E"/>
              </a:solidFill>
              <a:highlight>
                <a:srgbClr val="FFFFFF"/>
              </a:highlight>
              <a:latin typeface="Arial"/>
              <a:ea typeface="Arial"/>
              <a:cs typeface="Arial"/>
              <a:sym typeface="Arial"/>
            </a:endParaRPr>
          </a:p>
          <a:p>
            <a:pPr indent="0" lvl="0" marL="0" rtl="0" algn="l">
              <a:lnSpc>
                <a:spcPct val="115000"/>
              </a:lnSpc>
              <a:spcBef>
                <a:spcPts val="1200"/>
              </a:spcBef>
              <a:spcAft>
                <a:spcPts val="0"/>
              </a:spcAft>
              <a:buSzPts val="1300"/>
              <a:buNone/>
            </a:pPr>
            <a:r>
              <a:t/>
            </a:r>
            <a:endParaRPr b="1" sz="1600">
              <a:solidFill>
                <a:srgbClr val="24292E"/>
              </a:solidFill>
              <a:highlight>
                <a:srgbClr val="FFFFFF"/>
              </a:highlight>
              <a:latin typeface="Arial"/>
              <a:ea typeface="Arial"/>
              <a:cs typeface="Arial"/>
              <a:sym typeface="Arial"/>
            </a:endParaRPr>
          </a:p>
          <a:p>
            <a:pPr indent="0" lvl="0" marL="0" rtl="0" algn="l">
              <a:lnSpc>
                <a:spcPct val="115000"/>
              </a:lnSpc>
              <a:spcBef>
                <a:spcPts val="1200"/>
              </a:spcBef>
              <a:spcAft>
                <a:spcPts val="1200"/>
              </a:spcAft>
              <a:buSzPts val="1300"/>
              <a:buNone/>
            </a:pPr>
            <a:r>
              <a:t/>
            </a:r>
            <a:endParaRPr sz="1500"/>
          </a:p>
        </p:txBody>
      </p:sp>
      <p:sp>
        <p:nvSpPr>
          <p:cNvPr id="340" name="Google Shape;340;p40"/>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5.2 Validación de formularios</a:t>
            </a:r>
            <a:endParaRPr/>
          </a:p>
          <a:p>
            <a:pPr indent="0" lvl="0" marL="76200" rtl="0" algn="l">
              <a:lnSpc>
                <a:spcPct val="100000"/>
              </a:lnSpc>
              <a:spcBef>
                <a:spcPts val="1800"/>
              </a:spcBef>
              <a:spcAft>
                <a:spcPts val="1200"/>
              </a:spcAft>
              <a:buSzPts val="2600"/>
              <a:buNone/>
            </a:pPr>
            <a:r>
              <a:rPr lang="es" sz="1650">
                <a:solidFill>
                  <a:srgbClr val="24292E"/>
                </a:solidFill>
                <a:highlight>
                  <a:schemeClr val="lt1"/>
                </a:highlight>
                <a:latin typeface="Arial"/>
                <a:ea typeface="Arial"/>
                <a:cs typeface="Arial"/>
                <a:sym typeface="Arial"/>
              </a:rPr>
              <a:t>Expresiones regulares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1"/>
          <p:cNvSpPr txBox="1"/>
          <p:nvPr>
            <p:ph idx="1" type="body"/>
          </p:nvPr>
        </p:nvSpPr>
        <p:spPr>
          <a:xfrm>
            <a:off x="729450" y="1808700"/>
            <a:ext cx="7688700" cy="31716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300"/>
              </a:spcBef>
              <a:spcAft>
                <a:spcPts val="0"/>
              </a:spcAft>
              <a:buClr>
                <a:srgbClr val="24292E"/>
              </a:buClr>
              <a:buSzPts val="1400"/>
              <a:buFont typeface="Arial"/>
              <a:buChar char="●"/>
            </a:pPr>
            <a:r>
              <a:rPr b="1" lang="es" sz="1400">
                <a:solidFill>
                  <a:srgbClr val="24292E"/>
                </a:solidFill>
                <a:highlight>
                  <a:srgbClr val="FFFFFF"/>
                </a:highlight>
                <a:latin typeface="Arial"/>
                <a:ea typeface="Arial"/>
                <a:cs typeface="Arial"/>
                <a:sym typeface="Arial"/>
              </a:rPr>
              <a:t>Modificadores</a:t>
            </a:r>
            <a:r>
              <a:rPr lang="es" sz="1400">
                <a:solidFill>
                  <a:srgbClr val="24292E"/>
                </a:solidFill>
                <a:highlight>
                  <a:srgbClr val="FFFFFF"/>
                </a:highlight>
                <a:latin typeface="Arial"/>
                <a:ea typeface="Arial"/>
                <a:cs typeface="Arial"/>
                <a:sym typeface="Arial"/>
              </a:rPr>
              <a:t>:</a:t>
            </a:r>
            <a:endParaRPr sz="1400">
              <a:solidFill>
                <a:srgbClr val="24292E"/>
              </a:solidFill>
              <a:highlight>
                <a:srgbClr val="FFFFFF"/>
              </a:highlight>
              <a:latin typeface="Arial"/>
              <a:ea typeface="Arial"/>
              <a:cs typeface="Arial"/>
              <a:sym typeface="Arial"/>
            </a:endParaRPr>
          </a:p>
          <a:p>
            <a:pPr indent="-304800" lvl="1" marL="914400" rtl="0" algn="l">
              <a:lnSpc>
                <a:spcPct val="115000"/>
              </a:lnSpc>
              <a:spcBef>
                <a:spcPts val="0"/>
              </a:spcBef>
              <a:spcAft>
                <a:spcPts val="0"/>
              </a:spcAft>
              <a:buClr>
                <a:srgbClr val="24292E"/>
              </a:buClr>
              <a:buSzPts val="1200"/>
              <a:buFont typeface="Arial"/>
              <a:buChar char="○"/>
            </a:pPr>
            <a:r>
              <a:rPr lang="es" sz="1200">
                <a:solidFill>
                  <a:srgbClr val="24292E"/>
                </a:solidFill>
                <a:highlight>
                  <a:srgbClr val="FFFFFF"/>
                </a:highlight>
                <a:latin typeface="Courier New"/>
                <a:ea typeface="Courier New"/>
                <a:cs typeface="Courier New"/>
                <a:sym typeface="Courier New"/>
              </a:rPr>
              <a:t>/i</a:t>
            </a:r>
            <a:r>
              <a:rPr lang="es" sz="1400">
                <a:solidFill>
                  <a:srgbClr val="24292E"/>
                </a:solidFill>
                <a:highlight>
                  <a:srgbClr val="FFFFFF"/>
                </a:highlight>
                <a:latin typeface="Arial"/>
                <a:ea typeface="Arial"/>
                <a:cs typeface="Arial"/>
                <a:sym typeface="Arial"/>
              </a:rPr>
              <a:t>: que no distinga entre Maysc y minsc (Ej. </a:t>
            </a:r>
            <a:r>
              <a:rPr lang="es" sz="1200">
                <a:solidFill>
                  <a:srgbClr val="24292E"/>
                </a:solidFill>
                <a:highlight>
                  <a:srgbClr val="FFFFFF"/>
                </a:highlight>
                <a:latin typeface="Courier New"/>
                <a:ea typeface="Courier New"/>
                <a:cs typeface="Courier New"/>
                <a:sym typeface="Courier New"/>
              </a:rPr>
              <a:t>/html/i</a:t>
            </a:r>
            <a:r>
              <a:rPr lang="es" sz="1400">
                <a:solidFill>
                  <a:srgbClr val="24292E"/>
                </a:solidFill>
                <a:highlight>
                  <a:srgbClr val="FFFFFF"/>
                </a:highlight>
                <a:latin typeface="Arial"/>
                <a:ea typeface="Arial"/>
                <a:cs typeface="Arial"/>
                <a:sym typeface="Arial"/>
              </a:rPr>
              <a:t> = buscará html, Html, HTML, …)</a:t>
            </a:r>
            <a:endParaRPr sz="1400">
              <a:solidFill>
                <a:srgbClr val="24292E"/>
              </a:solidFill>
              <a:highlight>
                <a:srgbClr val="FFFFFF"/>
              </a:highlight>
              <a:latin typeface="Arial"/>
              <a:ea typeface="Arial"/>
              <a:cs typeface="Arial"/>
              <a:sym typeface="Arial"/>
            </a:endParaRPr>
          </a:p>
          <a:p>
            <a:pPr indent="-304800" lvl="1" marL="914400" rtl="0" algn="l">
              <a:lnSpc>
                <a:spcPct val="115000"/>
              </a:lnSpc>
              <a:spcBef>
                <a:spcPts val="0"/>
              </a:spcBef>
              <a:spcAft>
                <a:spcPts val="0"/>
              </a:spcAft>
              <a:buClr>
                <a:srgbClr val="24292E"/>
              </a:buClr>
              <a:buSzPts val="1200"/>
              <a:buFont typeface="Arial"/>
              <a:buChar char="○"/>
            </a:pPr>
            <a:r>
              <a:rPr lang="es" sz="1200">
                <a:solidFill>
                  <a:srgbClr val="24292E"/>
                </a:solidFill>
                <a:highlight>
                  <a:srgbClr val="FFFFFF"/>
                </a:highlight>
                <a:latin typeface="Courier New"/>
                <a:ea typeface="Courier New"/>
                <a:cs typeface="Courier New"/>
                <a:sym typeface="Courier New"/>
              </a:rPr>
              <a:t>/g</a:t>
            </a:r>
            <a:r>
              <a:rPr lang="es" sz="1400">
                <a:solidFill>
                  <a:srgbClr val="24292E"/>
                </a:solidFill>
                <a:highlight>
                  <a:srgbClr val="FFFFFF"/>
                </a:highlight>
                <a:latin typeface="Arial"/>
                <a:ea typeface="Arial"/>
                <a:cs typeface="Arial"/>
                <a:sym typeface="Arial"/>
              </a:rPr>
              <a:t>: búsqueda global, busca todas las coincidencias y no sólo la primera</a:t>
            </a:r>
            <a:endParaRPr sz="1400">
              <a:solidFill>
                <a:srgbClr val="24292E"/>
              </a:solidFill>
              <a:highlight>
                <a:srgbClr val="FFFFFF"/>
              </a:highlight>
              <a:latin typeface="Arial"/>
              <a:ea typeface="Arial"/>
              <a:cs typeface="Arial"/>
              <a:sym typeface="Arial"/>
            </a:endParaRPr>
          </a:p>
          <a:p>
            <a:pPr indent="-304800" lvl="1" marL="914400" rtl="0" algn="l">
              <a:lnSpc>
                <a:spcPct val="115000"/>
              </a:lnSpc>
              <a:spcBef>
                <a:spcPts val="0"/>
              </a:spcBef>
              <a:spcAft>
                <a:spcPts val="0"/>
              </a:spcAft>
              <a:buClr>
                <a:srgbClr val="24292E"/>
              </a:buClr>
              <a:buSzPts val="1200"/>
              <a:buFont typeface="Arial"/>
              <a:buChar char="○"/>
            </a:pPr>
            <a:r>
              <a:rPr lang="es" sz="1200">
                <a:solidFill>
                  <a:srgbClr val="24292E"/>
                </a:solidFill>
                <a:highlight>
                  <a:srgbClr val="FFFFFF"/>
                </a:highlight>
                <a:latin typeface="Courier New"/>
                <a:ea typeface="Courier New"/>
                <a:cs typeface="Courier New"/>
                <a:sym typeface="Courier New"/>
              </a:rPr>
              <a:t>/m</a:t>
            </a:r>
            <a:r>
              <a:rPr lang="es" sz="1400">
                <a:solidFill>
                  <a:srgbClr val="24292E"/>
                </a:solidFill>
                <a:highlight>
                  <a:srgbClr val="FFFFFF"/>
                </a:highlight>
                <a:latin typeface="Arial"/>
                <a:ea typeface="Arial"/>
                <a:cs typeface="Arial"/>
                <a:sym typeface="Arial"/>
              </a:rPr>
              <a:t>: busca en más de 1 línea (para cadenas con saltos de línea)</a:t>
            </a:r>
            <a:endParaRPr sz="1400">
              <a:solidFill>
                <a:srgbClr val="24292E"/>
              </a:solidFill>
              <a:highlight>
                <a:srgbClr val="FFFFFF"/>
              </a:highlight>
              <a:latin typeface="Arial"/>
              <a:ea typeface="Arial"/>
              <a:cs typeface="Arial"/>
              <a:sym typeface="Arial"/>
            </a:endParaRPr>
          </a:p>
          <a:p>
            <a:pPr indent="0" lvl="0" marL="0" rtl="0" algn="l">
              <a:lnSpc>
                <a:spcPct val="115000"/>
              </a:lnSpc>
              <a:spcBef>
                <a:spcPts val="1200"/>
              </a:spcBef>
              <a:spcAft>
                <a:spcPts val="0"/>
              </a:spcAft>
              <a:buSzPts val="1300"/>
              <a:buNone/>
            </a:pPr>
            <a:r>
              <a:rPr lang="es" sz="1200">
                <a:solidFill>
                  <a:srgbClr val="6A737D"/>
                </a:solidFill>
                <a:highlight>
                  <a:srgbClr val="FFFFFF"/>
                </a:highlight>
                <a:latin typeface="Arial"/>
                <a:ea typeface="Arial"/>
                <a:cs typeface="Arial"/>
                <a:sym typeface="Arial"/>
              </a:rPr>
              <a:t>EJERCICIO 4: construye una expresión regular para lo que se pide a continuación y pruébala con distintas cadenas:</a:t>
            </a:r>
            <a:endParaRPr sz="1200">
              <a:solidFill>
                <a:srgbClr val="6A737D"/>
              </a:solidFill>
              <a:highlight>
                <a:srgbClr val="FFFFFF"/>
              </a:highlight>
              <a:latin typeface="Arial"/>
              <a:ea typeface="Arial"/>
              <a:cs typeface="Arial"/>
              <a:sym typeface="Arial"/>
            </a:endParaRPr>
          </a:p>
          <a:p>
            <a:pPr indent="-304800" lvl="0" marL="457200" rtl="0" algn="l">
              <a:lnSpc>
                <a:spcPct val="115000"/>
              </a:lnSpc>
              <a:spcBef>
                <a:spcPts val="1200"/>
              </a:spcBef>
              <a:spcAft>
                <a:spcPts val="0"/>
              </a:spcAft>
              <a:buClr>
                <a:srgbClr val="6A737D"/>
              </a:buClr>
              <a:buSzPts val="1200"/>
              <a:buFont typeface="Arial"/>
              <a:buChar char="●"/>
            </a:pPr>
            <a:r>
              <a:rPr lang="es" sz="1200">
                <a:solidFill>
                  <a:srgbClr val="6A737D"/>
                </a:solidFill>
                <a:highlight>
                  <a:srgbClr val="FFFFFF"/>
                </a:highlight>
                <a:latin typeface="Arial"/>
                <a:ea typeface="Arial"/>
                <a:cs typeface="Arial"/>
                <a:sym typeface="Arial"/>
              </a:rPr>
              <a:t>un código postal</a:t>
            </a:r>
            <a:endParaRPr sz="1200">
              <a:solidFill>
                <a:srgbClr val="6A737D"/>
              </a:solidFill>
              <a:highlight>
                <a:srgbClr val="FFFFFF"/>
              </a:highlight>
              <a:latin typeface="Arial"/>
              <a:ea typeface="Arial"/>
              <a:cs typeface="Arial"/>
              <a:sym typeface="Arial"/>
            </a:endParaRPr>
          </a:p>
          <a:p>
            <a:pPr indent="-304800" lvl="0" marL="457200" rtl="0" algn="l">
              <a:lnSpc>
                <a:spcPct val="115000"/>
              </a:lnSpc>
              <a:spcBef>
                <a:spcPts val="0"/>
              </a:spcBef>
              <a:spcAft>
                <a:spcPts val="0"/>
              </a:spcAft>
              <a:buClr>
                <a:srgbClr val="6A737D"/>
              </a:buClr>
              <a:buSzPts val="1200"/>
              <a:buFont typeface="Arial"/>
              <a:buChar char="●"/>
            </a:pPr>
            <a:r>
              <a:rPr lang="es" sz="1200">
                <a:solidFill>
                  <a:srgbClr val="6A737D"/>
                </a:solidFill>
                <a:highlight>
                  <a:srgbClr val="FFFFFF"/>
                </a:highlight>
                <a:latin typeface="Arial"/>
                <a:ea typeface="Arial"/>
                <a:cs typeface="Arial"/>
                <a:sym typeface="Arial"/>
              </a:rPr>
              <a:t>un NIF formado por 8 números, un guión y una letra mayúscula o minúscula</a:t>
            </a:r>
            <a:endParaRPr sz="1200">
              <a:solidFill>
                <a:srgbClr val="6A737D"/>
              </a:solidFill>
              <a:highlight>
                <a:srgbClr val="FFFFFF"/>
              </a:highlight>
              <a:latin typeface="Arial"/>
              <a:ea typeface="Arial"/>
              <a:cs typeface="Arial"/>
              <a:sym typeface="Arial"/>
            </a:endParaRPr>
          </a:p>
          <a:p>
            <a:pPr indent="-304800" lvl="0" marL="457200" rtl="0" algn="l">
              <a:lnSpc>
                <a:spcPct val="115000"/>
              </a:lnSpc>
              <a:spcBef>
                <a:spcPts val="0"/>
              </a:spcBef>
              <a:spcAft>
                <a:spcPts val="0"/>
              </a:spcAft>
              <a:buClr>
                <a:srgbClr val="6A737D"/>
              </a:buClr>
              <a:buSzPts val="1200"/>
              <a:buFont typeface="Arial"/>
              <a:buChar char="●"/>
            </a:pPr>
            <a:r>
              <a:rPr lang="es" sz="1200">
                <a:solidFill>
                  <a:srgbClr val="6A737D"/>
                </a:solidFill>
                <a:highlight>
                  <a:srgbClr val="FFFFFF"/>
                </a:highlight>
                <a:latin typeface="Arial"/>
                <a:ea typeface="Arial"/>
                <a:cs typeface="Arial"/>
                <a:sym typeface="Arial"/>
              </a:rPr>
              <a:t>un número de teléfono y aceptamos 2 formatos: XXX XX XX XX o XXX XXX XXX. EL primer número debe ser un 6, un 7, un 8 o un 9</a:t>
            </a:r>
            <a:endParaRPr sz="1200">
              <a:solidFill>
                <a:srgbClr val="6A737D"/>
              </a:solidFill>
              <a:highlight>
                <a:srgbClr val="FFFFFF"/>
              </a:highlight>
              <a:latin typeface="Arial"/>
              <a:ea typeface="Arial"/>
              <a:cs typeface="Arial"/>
              <a:sym typeface="Arial"/>
            </a:endParaRPr>
          </a:p>
          <a:p>
            <a:pPr indent="0" lvl="0" marL="0" rtl="0" algn="l">
              <a:lnSpc>
                <a:spcPct val="115000"/>
              </a:lnSpc>
              <a:spcBef>
                <a:spcPts val="600"/>
              </a:spcBef>
              <a:spcAft>
                <a:spcPts val="0"/>
              </a:spcAft>
              <a:buSzPts val="1300"/>
              <a:buNone/>
            </a:pPr>
            <a:r>
              <a:t/>
            </a:r>
            <a:endParaRPr sz="1400">
              <a:solidFill>
                <a:srgbClr val="24292E"/>
              </a:solidFill>
              <a:highlight>
                <a:srgbClr val="FFFFFF"/>
              </a:highlight>
              <a:latin typeface="Arial"/>
              <a:ea typeface="Arial"/>
              <a:cs typeface="Arial"/>
              <a:sym typeface="Arial"/>
            </a:endParaRPr>
          </a:p>
          <a:p>
            <a:pPr indent="0" lvl="0" marL="0" rtl="0" algn="l">
              <a:lnSpc>
                <a:spcPct val="115000"/>
              </a:lnSpc>
              <a:spcBef>
                <a:spcPts val="1200"/>
              </a:spcBef>
              <a:spcAft>
                <a:spcPts val="1200"/>
              </a:spcAft>
              <a:buSzPts val="1300"/>
              <a:buNone/>
            </a:pPr>
            <a:r>
              <a:t/>
            </a:r>
            <a:endParaRPr sz="1500"/>
          </a:p>
        </p:txBody>
      </p:sp>
      <p:sp>
        <p:nvSpPr>
          <p:cNvPr id="346" name="Google Shape;346;p41"/>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5.2 Validación de formularios</a:t>
            </a:r>
            <a:endParaRPr/>
          </a:p>
          <a:p>
            <a:pPr indent="0" lvl="0" marL="76200" rtl="0" algn="l">
              <a:lnSpc>
                <a:spcPct val="100000"/>
              </a:lnSpc>
              <a:spcBef>
                <a:spcPts val="1800"/>
              </a:spcBef>
              <a:spcAft>
                <a:spcPts val="1200"/>
              </a:spcAft>
              <a:buSzPts val="2600"/>
              <a:buNone/>
            </a:pPr>
            <a:r>
              <a:rPr lang="es" sz="1650">
                <a:solidFill>
                  <a:srgbClr val="24292E"/>
                </a:solidFill>
                <a:highlight>
                  <a:schemeClr val="lt1"/>
                </a:highlight>
                <a:latin typeface="Arial"/>
                <a:ea typeface="Arial"/>
                <a:cs typeface="Arial"/>
                <a:sym typeface="Arial"/>
              </a:rPr>
              <a:t>Expresiones regulares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2"/>
          <p:cNvSpPr txBox="1"/>
          <p:nvPr>
            <p:ph idx="1" type="body"/>
          </p:nvPr>
        </p:nvSpPr>
        <p:spPr>
          <a:xfrm>
            <a:off x="729450" y="1808700"/>
            <a:ext cx="7688700" cy="3171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s" sz="1200">
                <a:solidFill>
                  <a:srgbClr val="24292E"/>
                </a:solidFill>
                <a:highlight>
                  <a:srgbClr val="FFFFFF"/>
                </a:highlight>
                <a:latin typeface="Arial"/>
                <a:ea typeface="Arial"/>
                <a:cs typeface="Arial"/>
                <a:sym typeface="Arial"/>
              </a:rPr>
              <a:t>Para saber si la cadena coincide con determinada expresión o para buscar y reemplazar texto:</a:t>
            </a:r>
            <a:endParaRPr sz="1200">
              <a:solidFill>
                <a:srgbClr val="24292E"/>
              </a:solidFill>
              <a:highlight>
                <a:srgbClr val="FFFFFF"/>
              </a:highlight>
              <a:latin typeface="Arial"/>
              <a:ea typeface="Arial"/>
              <a:cs typeface="Arial"/>
              <a:sym typeface="Arial"/>
            </a:endParaRPr>
          </a:p>
          <a:p>
            <a:pPr indent="-304800" lvl="0" marL="457200" rtl="0" algn="l">
              <a:lnSpc>
                <a:spcPct val="115000"/>
              </a:lnSpc>
              <a:spcBef>
                <a:spcPts val="1200"/>
              </a:spcBef>
              <a:spcAft>
                <a:spcPts val="0"/>
              </a:spcAft>
              <a:buClr>
                <a:srgbClr val="24292E"/>
              </a:buClr>
              <a:buSzPts val="1200"/>
              <a:buFont typeface="Arial"/>
              <a:buChar char="●"/>
            </a:pPr>
            <a:r>
              <a:rPr lang="es" sz="1000">
                <a:solidFill>
                  <a:srgbClr val="24292E"/>
                </a:solidFill>
                <a:highlight>
                  <a:srgbClr val="FFFFFF"/>
                </a:highlight>
                <a:latin typeface="Courier New"/>
                <a:ea typeface="Courier New"/>
                <a:cs typeface="Courier New"/>
                <a:sym typeface="Courier New"/>
              </a:rPr>
              <a:t>expr.test(cadena)</a:t>
            </a:r>
            <a:r>
              <a:rPr lang="es" sz="1200">
                <a:solidFill>
                  <a:srgbClr val="24292E"/>
                </a:solidFill>
                <a:highlight>
                  <a:srgbClr val="FFFFFF"/>
                </a:highlight>
                <a:latin typeface="Arial"/>
                <a:ea typeface="Arial"/>
                <a:cs typeface="Arial"/>
                <a:sym typeface="Arial"/>
              </a:rPr>
              <a:t>: devuelve true si la cadena coincide con la expresión. Con el modificador </a:t>
            </a:r>
            <a:r>
              <a:rPr i="1" lang="es" sz="1200">
                <a:solidFill>
                  <a:srgbClr val="24292E"/>
                </a:solidFill>
                <a:highlight>
                  <a:srgbClr val="FFFFFF"/>
                </a:highlight>
                <a:latin typeface="Arial"/>
                <a:ea typeface="Arial"/>
                <a:cs typeface="Arial"/>
                <a:sym typeface="Arial"/>
              </a:rPr>
              <a:t>/g</a:t>
            </a:r>
            <a:r>
              <a:rPr lang="es" sz="1200">
                <a:solidFill>
                  <a:srgbClr val="24292E"/>
                </a:solidFill>
                <a:highlight>
                  <a:srgbClr val="FFFFFF"/>
                </a:highlight>
                <a:latin typeface="Arial"/>
                <a:ea typeface="Arial"/>
                <a:cs typeface="Arial"/>
                <a:sym typeface="Arial"/>
              </a:rPr>
              <a:t> hará que cada vez que se llama busque desde la posición de la última coincidencia. Ejemplo:</a:t>
            </a:r>
            <a:endParaRPr sz="1200">
              <a:solidFill>
                <a:srgbClr val="24292E"/>
              </a:solidFill>
              <a:highlight>
                <a:srgbClr val="FFFFFF"/>
              </a:highlight>
              <a:latin typeface="Arial"/>
              <a:ea typeface="Arial"/>
              <a:cs typeface="Arial"/>
              <a:sym typeface="Arial"/>
            </a:endParaRPr>
          </a:p>
          <a:p>
            <a:pPr indent="0" lvl="0" marL="0" rtl="0" algn="l">
              <a:lnSpc>
                <a:spcPct val="115000"/>
              </a:lnSpc>
              <a:spcBef>
                <a:spcPts val="1200"/>
              </a:spcBef>
              <a:spcAft>
                <a:spcPts val="1200"/>
              </a:spcAft>
              <a:buSzPts val="1300"/>
              <a:buNone/>
            </a:pPr>
            <a:r>
              <a:t/>
            </a:r>
            <a:endParaRPr sz="1500"/>
          </a:p>
        </p:txBody>
      </p:sp>
      <p:sp>
        <p:nvSpPr>
          <p:cNvPr id="352" name="Google Shape;352;p42"/>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5.2 Validación de formularios</a:t>
            </a:r>
            <a:endParaRPr/>
          </a:p>
          <a:p>
            <a:pPr indent="0" lvl="0" marL="0" rtl="0" algn="l">
              <a:lnSpc>
                <a:spcPct val="100000"/>
              </a:lnSpc>
              <a:spcBef>
                <a:spcPts val="1800"/>
              </a:spcBef>
              <a:spcAft>
                <a:spcPts val="1200"/>
              </a:spcAft>
              <a:buSzPts val="2600"/>
              <a:buNone/>
            </a:pPr>
            <a:r>
              <a:rPr lang="es" sz="1650">
                <a:solidFill>
                  <a:srgbClr val="24292E"/>
                </a:solidFill>
                <a:highlight>
                  <a:schemeClr val="lt1"/>
                </a:highlight>
                <a:latin typeface="Arial"/>
                <a:ea typeface="Arial"/>
                <a:cs typeface="Arial"/>
                <a:sym typeface="Arial"/>
              </a:rPr>
              <a:t>Expresiones regulares: Métodos</a:t>
            </a:r>
            <a:endParaRPr/>
          </a:p>
        </p:txBody>
      </p:sp>
      <p:pic>
        <p:nvPicPr>
          <p:cNvPr id="353" name="Google Shape;353;p42"/>
          <p:cNvPicPr preferRelativeResize="0"/>
          <p:nvPr/>
        </p:nvPicPr>
        <p:blipFill rotWithShape="1">
          <a:blip r:embed="rId3">
            <a:alphaModFix/>
          </a:blip>
          <a:srcRect b="0" l="0" r="0" t="0"/>
          <a:stretch/>
        </p:blipFill>
        <p:spPr>
          <a:xfrm>
            <a:off x="1247513" y="2673400"/>
            <a:ext cx="6648974" cy="24701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3"/>
          <p:cNvSpPr txBox="1"/>
          <p:nvPr>
            <p:ph idx="1" type="body"/>
          </p:nvPr>
        </p:nvSpPr>
        <p:spPr>
          <a:xfrm>
            <a:off x="729450" y="1808700"/>
            <a:ext cx="7688700" cy="3171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s" sz="1200">
                <a:solidFill>
                  <a:srgbClr val="24292E"/>
                </a:solidFill>
                <a:highlight>
                  <a:srgbClr val="FFFFFF"/>
                </a:highlight>
                <a:latin typeface="Arial"/>
                <a:ea typeface="Arial"/>
                <a:cs typeface="Arial"/>
                <a:sym typeface="Arial"/>
              </a:rPr>
              <a:t>Para saber si la cadena coincide con determinada expresión o para buscar y reemplazar texto:</a:t>
            </a:r>
            <a:endParaRPr sz="1200">
              <a:solidFill>
                <a:srgbClr val="24292E"/>
              </a:solidFill>
              <a:highlight>
                <a:srgbClr val="FFFFFF"/>
              </a:highlight>
              <a:latin typeface="Arial"/>
              <a:ea typeface="Arial"/>
              <a:cs typeface="Arial"/>
              <a:sym typeface="Arial"/>
            </a:endParaRPr>
          </a:p>
          <a:p>
            <a:pPr indent="-304800" lvl="0" marL="457200" rtl="0" algn="l">
              <a:lnSpc>
                <a:spcPct val="115000"/>
              </a:lnSpc>
              <a:spcBef>
                <a:spcPts val="1200"/>
              </a:spcBef>
              <a:spcAft>
                <a:spcPts val="0"/>
              </a:spcAft>
              <a:buClr>
                <a:srgbClr val="24292E"/>
              </a:buClr>
              <a:buSzPts val="1200"/>
              <a:buFont typeface="Arial"/>
              <a:buChar char="●"/>
            </a:pPr>
            <a:r>
              <a:rPr lang="es" sz="1000">
                <a:solidFill>
                  <a:srgbClr val="24292E"/>
                </a:solidFill>
                <a:highlight>
                  <a:srgbClr val="FFFFFF"/>
                </a:highlight>
                <a:latin typeface="Courier New"/>
                <a:ea typeface="Courier New"/>
                <a:cs typeface="Courier New"/>
                <a:sym typeface="Courier New"/>
              </a:rPr>
              <a:t>expr.exec(cadena)</a:t>
            </a:r>
            <a:r>
              <a:rPr lang="es" sz="1200">
                <a:solidFill>
                  <a:srgbClr val="24292E"/>
                </a:solidFill>
                <a:highlight>
                  <a:srgbClr val="FFFFFF"/>
                </a:highlight>
                <a:latin typeface="Arial"/>
                <a:ea typeface="Arial"/>
                <a:cs typeface="Arial"/>
                <a:sym typeface="Arial"/>
              </a:rPr>
              <a:t>: igual pero en vez de </a:t>
            </a:r>
            <a:r>
              <a:rPr i="1" lang="es" sz="1200">
                <a:solidFill>
                  <a:srgbClr val="24292E"/>
                </a:solidFill>
                <a:highlight>
                  <a:srgbClr val="FFFFFF"/>
                </a:highlight>
                <a:latin typeface="Arial"/>
                <a:ea typeface="Arial"/>
                <a:cs typeface="Arial"/>
                <a:sym typeface="Arial"/>
              </a:rPr>
              <a:t>true</a:t>
            </a:r>
            <a:r>
              <a:rPr lang="es" sz="1200">
                <a:solidFill>
                  <a:srgbClr val="24292E"/>
                </a:solidFill>
                <a:highlight>
                  <a:srgbClr val="FFFFFF"/>
                </a:highlight>
                <a:latin typeface="Arial"/>
                <a:ea typeface="Arial"/>
                <a:cs typeface="Arial"/>
                <a:sym typeface="Arial"/>
              </a:rPr>
              <a:t> o </a:t>
            </a:r>
            <a:r>
              <a:rPr i="1" lang="es" sz="1200">
                <a:solidFill>
                  <a:srgbClr val="24292E"/>
                </a:solidFill>
                <a:highlight>
                  <a:srgbClr val="FFFFFF"/>
                </a:highlight>
                <a:latin typeface="Arial"/>
                <a:ea typeface="Arial"/>
                <a:cs typeface="Arial"/>
                <a:sym typeface="Arial"/>
              </a:rPr>
              <a:t>false</a:t>
            </a:r>
            <a:r>
              <a:rPr lang="es" sz="1200">
                <a:solidFill>
                  <a:srgbClr val="24292E"/>
                </a:solidFill>
                <a:highlight>
                  <a:srgbClr val="FFFFFF"/>
                </a:highlight>
                <a:latin typeface="Arial"/>
                <a:ea typeface="Arial"/>
                <a:cs typeface="Arial"/>
                <a:sym typeface="Arial"/>
              </a:rPr>
              <a:t> devuelve un objeto con la coincidencia encontrada, su posición y la cadena completa:</a:t>
            </a:r>
            <a:endParaRPr sz="1200">
              <a:solidFill>
                <a:srgbClr val="24292E"/>
              </a:solidFill>
              <a:highlight>
                <a:srgbClr val="FFFFFF"/>
              </a:highlight>
              <a:latin typeface="Arial"/>
              <a:ea typeface="Arial"/>
              <a:cs typeface="Arial"/>
              <a:sym typeface="Arial"/>
            </a:endParaRPr>
          </a:p>
          <a:p>
            <a:pPr indent="0" lvl="0" marL="0" rtl="0" algn="l">
              <a:lnSpc>
                <a:spcPct val="115000"/>
              </a:lnSpc>
              <a:spcBef>
                <a:spcPts val="1200"/>
              </a:spcBef>
              <a:spcAft>
                <a:spcPts val="0"/>
              </a:spcAft>
              <a:buSzPts val="1300"/>
              <a:buNone/>
            </a:pPr>
            <a:r>
              <a:t/>
            </a:r>
            <a:endParaRPr sz="1000">
              <a:solidFill>
                <a:srgbClr val="24292E"/>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1200"/>
              </a:spcAft>
              <a:buSzPts val="1300"/>
              <a:buNone/>
            </a:pPr>
            <a:r>
              <a:t/>
            </a:r>
            <a:endParaRPr sz="1500"/>
          </a:p>
        </p:txBody>
      </p:sp>
      <p:sp>
        <p:nvSpPr>
          <p:cNvPr id="359" name="Google Shape;359;p43"/>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5.2 Validación de formularios</a:t>
            </a:r>
            <a:endParaRPr/>
          </a:p>
          <a:p>
            <a:pPr indent="0" lvl="0" marL="0" rtl="0" algn="l">
              <a:lnSpc>
                <a:spcPct val="100000"/>
              </a:lnSpc>
              <a:spcBef>
                <a:spcPts val="1800"/>
              </a:spcBef>
              <a:spcAft>
                <a:spcPts val="1200"/>
              </a:spcAft>
              <a:buSzPts val="2600"/>
              <a:buNone/>
            </a:pPr>
            <a:r>
              <a:rPr lang="es" sz="1650">
                <a:solidFill>
                  <a:srgbClr val="24292E"/>
                </a:solidFill>
                <a:highlight>
                  <a:schemeClr val="lt1"/>
                </a:highlight>
                <a:latin typeface="Arial"/>
                <a:ea typeface="Arial"/>
                <a:cs typeface="Arial"/>
                <a:sym typeface="Arial"/>
              </a:rPr>
              <a:t>Expresiones regulares: Métodos</a:t>
            </a:r>
            <a:endParaRPr/>
          </a:p>
        </p:txBody>
      </p:sp>
      <p:pic>
        <p:nvPicPr>
          <p:cNvPr id="360" name="Google Shape;360;p43"/>
          <p:cNvPicPr preferRelativeResize="0"/>
          <p:nvPr/>
        </p:nvPicPr>
        <p:blipFill rotWithShape="1">
          <a:blip r:embed="rId3">
            <a:alphaModFix/>
          </a:blip>
          <a:srcRect b="0" l="0" r="0" t="0"/>
          <a:stretch/>
        </p:blipFill>
        <p:spPr>
          <a:xfrm>
            <a:off x="542925" y="2841275"/>
            <a:ext cx="8058150" cy="14287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4"/>
          <p:cNvSpPr txBox="1"/>
          <p:nvPr>
            <p:ph idx="1" type="body"/>
          </p:nvPr>
        </p:nvSpPr>
        <p:spPr>
          <a:xfrm>
            <a:off x="729450" y="1808700"/>
            <a:ext cx="7688700" cy="3171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s" sz="1200">
                <a:solidFill>
                  <a:srgbClr val="24292E"/>
                </a:solidFill>
                <a:highlight>
                  <a:srgbClr val="FFFFFF"/>
                </a:highlight>
                <a:latin typeface="Arial"/>
                <a:ea typeface="Arial"/>
                <a:cs typeface="Arial"/>
                <a:sym typeface="Arial"/>
              </a:rPr>
              <a:t>Para saber si la cadena coincide con determinada expresión o para buscar y reemplazar texto:</a:t>
            </a:r>
            <a:endParaRPr sz="1200">
              <a:solidFill>
                <a:srgbClr val="24292E"/>
              </a:solidFill>
              <a:highlight>
                <a:srgbClr val="FFFFFF"/>
              </a:highlight>
              <a:latin typeface="Arial"/>
              <a:ea typeface="Arial"/>
              <a:cs typeface="Arial"/>
              <a:sym typeface="Arial"/>
            </a:endParaRPr>
          </a:p>
          <a:p>
            <a:pPr indent="-304800" lvl="0" marL="457200" rtl="0" algn="l">
              <a:lnSpc>
                <a:spcPct val="115000"/>
              </a:lnSpc>
              <a:spcBef>
                <a:spcPts val="1200"/>
              </a:spcBef>
              <a:spcAft>
                <a:spcPts val="0"/>
              </a:spcAft>
              <a:buClr>
                <a:srgbClr val="24292E"/>
              </a:buClr>
              <a:buSzPts val="1200"/>
              <a:buFont typeface="Arial"/>
              <a:buChar char="●"/>
            </a:pPr>
            <a:r>
              <a:rPr lang="es" sz="1000">
                <a:solidFill>
                  <a:srgbClr val="24292E"/>
                </a:solidFill>
                <a:highlight>
                  <a:srgbClr val="FFFFFF"/>
                </a:highlight>
                <a:latin typeface="Courier New"/>
                <a:ea typeface="Courier New"/>
                <a:cs typeface="Courier New"/>
                <a:sym typeface="Courier New"/>
              </a:rPr>
              <a:t>cadena.match(expr)</a:t>
            </a:r>
            <a:r>
              <a:rPr lang="es" sz="1200">
                <a:solidFill>
                  <a:srgbClr val="24292E"/>
                </a:solidFill>
                <a:highlight>
                  <a:srgbClr val="FFFFFF"/>
                </a:highlight>
                <a:latin typeface="Arial"/>
                <a:ea typeface="Arial"/>
                <a:cs typeface="Arial"/>
                <a:sym typeface="Arial"/>
              </a:rPr>
              <a:t>: igual que </a:t>
            </a:r>
            <a:r>
              <a:rPr i="1" lang="es" sz="1200">
                <a:solidFill>
                  <a:srgbClr val="24292E"/>
                </a:solidFill>
                <a:highlight>
                  <a:srgbClr val="FFFFFF"/>
                </a:highlight>
                <a:latin typeface="Arial"/>
                <a:ea typeface="Arial"/>
                <a:cs typeface="Arial"/>
                <a:sym typeface="Arial"/>
              </a:rPr>
              <a:t>exec</a:t>
            </a:r>
            <a:r>
              <a:rPr lang="es" sz="1200">
                <a:solidFill>
                  <a:srgbClr val="24292E"/>
                </a:solidFill>
                <a:highlight>
                  <a:srgbClr val="FFFFFF"/>
                </a:highlight>
                <a:latin typeface="Arial"/>
                <a:ea typeface="Arial"/>
                <a:cs typeface="Arial"/>
                <a:sym typeface="Arial"/>
              </a:rPr>
              <a:t> pero se aplica a la cadena y se le pasa la expresión. Si ésta tiene el modificador </a:t>
            </a:r>
            <a:r>
              <a:rPr i="1" lang="es" sz="1200">
                <a:solidFill>
                  <a:srgbClr val="24292E"/>
                </a:solidFill>
                <a:highlight>
                  <a:srgbClr val="FFFFFF"/>
                </a:highlight>
                <a:latin typeface="Arial"/>
                <a:ea typeface="Arial"/>
                <a:cs typeface="Arial"/>
                <a:sym typeface="Arial"/>
              </a:rPr>
              <a:t>/g</a:t>
            </a:r>
            <a:r>
              <a:rPr lang="es" sz="1200">
                <a:solidFill>
                  <a:srgbClr val="24292E"/>
                </a:solidFill>
                <a:highlight>
                  <a:srgbClr val="FFFFFF"/>
                </a:highlight>
                <a:latin typeface="Arial"/>
                <a:ea typeface="Arial"/>
                <a:cs typeface="Arial"/>
                <a:sym typeface="Arial"/>
              </a:rPr>
              <a:t> devolverá un array con todas las coincidencias:</a:t>
            </a:r>
            <a:endParaRPr sz="1200">
              <a:solidFill>
                <a:srgbClr val="24292E"/>
              </a:solidFill>
              <a:highlight>
                <a:srgbClr val="FFFFFF"/>
              </a:highlight>
              <a:latin typeface="Arial"/>
              <a:ea typeface="Arial"/>
              <a:cs typeface="Arial"/>
              <a:sym typeface="Arial"/>
            </a:endParaRPr>
          </a:p>
          <a:p>
            <a:pPr indent="0" lvl="0" marL="0" rtl="0" algn="l">
              <a:lnSpc>
                <a:spcPct val="115000"/>
              </a:lnSpc>
              <a:spcBef>
                <a:spcPts val="1200"/>
              </a:spcBef>
              <a:spcAft>
                <a:spcPts val="0"/>
              </a:spcAft>
              <a:buSzPts val="1300"/>
              <a:buNone/>
            </a:pPr>
            <a:r>
              <a:t/>
            </a:r>
            <a:endParaRPr sz="1200">
              <a:solidFill>
                <a:srgbClr val="24292E"/>
              </a:solidFill>
              <a:highlight>
                <a:srgbClr val="FFFFFF"/>
              </a:highlight>
              <a:latin typeface="Arial"/>
              <a:ea typeface="Arial"/>
              <a:cs typeface="Arial"/>
              <a:sym typeface="Arial"/>
            </a:endParaRPr>
          </a:p>
          <a:p>
            <a:pPr indent="0" lvl="0" marL="0" rtl="0" algn="l">
              <a:lnSpc>
                <a:spcPct val="115000"/>
              </a:lnSpc>
              <a:spcBef>
                <a:spcPts val="1200"/>
              </a:spcBef>
              <a:spcAft>
                <a:spcPts val="0"/>
              </a:spcAft>
              <a:buSzPts val="1300"/>
              <a:buNone/>
            </a:pPr>
            <a:r>
              <a:t/>
            </a:r>
            <a:endParaRPr sz="1200">
              <a:solidFill>
                <a:srgbClr val="24292E"/>
              </a:solidFill>
              <a:highlight>
                <a:srgbClr val="FFFFFF"/>
              </a:highlight>
              <a:latin typeface="Arial"/>
              <a:ea typeface="Arial"/>
              <a:cs typeface="Arial"/>
              <a:sym typeface="Arial"/>
            </a:endParaRPr>
          </a:p>
          <a:p>
            <a:pPr indent="0" lvl="0" marL="0" rtl="0" algn="l">
              <a:lnSpc>
                <a:spcPct val="115000"/>
              </a:lnSpc>
              <a:spcBef>
                <a:spcPts val="1200"/>
              </a:spcBef>
              <a:spcAft>
                <a:spcPts val="0"/>
              </a:spcAft>
              <a:buSzPts val="1300"/>
              <a:buNone/>
            </a:pPr>
            <a:r>
              <a:t/>
            </a:r>
            <a:endParaRPr sz="1200">
              <a:solidFill>
                <a:srgbClr val="24292E"/>
              </a:solidFill>
              <a:highlight>
                <a:srgbClr val="FFFFFF"/>
              </a:highlight>
              <a:latin typeface="Arial"/>
              <a:ea typeface="Arial"/>
              <a:cs typeface="Arial"/>
              <a:sym typeface="Arial"/>
            </a:endParaRPr>
          </a:p>
          <a:p>
            <a:pPr indent="-304800" lvl="0" marL="457200" rtl="0" algn="l">
              <a:lnSpc>
                <a:spcPct val="115000"/>
              </a:lnSpc>
              <a:spcBef>
                <a:spcPts val="1200"/>
              </a:spcBef>
              <a:spcAft>
                <a:spcPts val="0"/>
              </a:spcAft>
              <a:buClr>
                <a:srgbClr val="24292E"/>
              </a:buClr>
              <a:buSzPts val="1200"/>
              <a:buFont typeface="Arial"/>
              <a:buChar char="●"/>
            </a:pPr>
            <a:r>
              <a:rPr lang="es" sz="1000">
                <a:solidFill>
                  <a:srgbClr val="24292E"/>
                </a:solidFill>
                <a:highlight>
                  <a:srgbClr val="FFFFFF"/>
                </a:highlight>
                <a:latin typeface="Courier New"/>
                <a:ea typeface="Courier New"/>
                <a:cs typeface="Courier New"/>
                <a:sym typeface="Courier New"/>
              </a:rPr>
              <a:t>cadena.search(expr)</a:t>
            </a:r>
            <a:r>
              <a:rPr lang="es" sz="1200">
                <a:solidFill>
                  <a:srgbClr val="24292E"/>
                </a:solidFill>
                <a:highlight>
                  <a:srgbClr val="FFFFFF"/>
                </a:highlight>
                <a:latin typeface="Arial"/>
                <a:ea typeface="Arial"/>
                <a:cs typeface="Arial"/>
                <a:sym typeface="Arial"/>
              </a:rPr>
              <a:t>: devuelve la posición donde se encuentra la coincidencia buscada o -1 si no aparece</a:t>
            </a:r>
            <a:endParaRPr sz="1200">
              <a:solidFill>
                <a:srgbClr val="24292E"/>
              </a:solidFill>
              <a:highlight>
                <a:srgbClr val="FFFFFF"/>
              </a:highlight>
              <a:latin typeface="Arial"/>
              <a:ea typeface="Arial"/>
              <a:cs typeface="Arial"/>
              <a:sym typeface="Arial"/>
            </a:endParaRPr>
          </a:p>
          <a:p>
            <a:pPr indent="0" lvl="0" marL="457200" rtl="0" algn="l">
              <a:lnSpc>
                <a:spcPct val="115000"/>
              </a:lnSpc>
              <a:spcBef>
                <a:spcPts val="1200"/>
              </a:spcBef>
              <a:spcAft>
                <a:spcPts val="0"/>
              </a:spcAft>
              <a:buSzPts val="1300"/>
              <a:buNone/>
            </a:pPr>
            <a:r>
              <a:t/>
            </a:r>
            <a:endParaRPr sz="1200">
              <a:solidFill>
                <a:srgbClr val="24292E"/>
              </a:solidFill>
              <a:highlight>
                <a:srgbClr val="FFFFFF"/>
              </a:highlight>
              <a:latin typeface="Arial"/>
              <a:ea typeface="Arial"/>
              <a:cs typeface="Arial"/>
              <a:sym typeface="Arial"/>
            </a:endParaRPr>
          </a:p>
          <a:p>
            <a:pPr indent="0" lvl="0" marL="457200" rtl="0" algn="l">
              <a:lnSpc>
                <a:spcPct val="115000"/>
              </a:lnSpc>
              <a:spcBef>
                <a:spcPts val="1200"/>
              </a:spcBef>
              <a:spcAft>
                <a:spcPts val="0"/>
              </a:spcAft>
              <a:buSzPts val="1300"/>
              <a:buNone/>
            </a:pPr>
            <a:r>
              <a:t/>
            </a:r>
            <a:endParaRPr sz="1200">
              <a:solidFill>
                <a:srgbClr val="24292E"/>
              </a:solidFill>
              <a:highlight>
                <a:srgbClr val="FFFFFF"/>
              </a:highlight>
              <a:latin typeface="Arial"/>
              <a:ea typeface="Arial"/>
              <a:cs typeface="Arial"/>
              <a:sym typeface="Arial"/>
            </a:endParaRPr>
          </a:p>
          <a:p>
            <a:pPr indent="0" lvl="0" marL="0" rtl="0" algn="l">
              <a:lnSpc>
                <a:spcPct val="115000"/>
              </a:lnSpc>
              <a:spcBef>
                <a:spcPts val="1200"/>
              </a:spcBef>
              <a:spcAft>
                <a:spcPts val="0"/>
              </a:spcAft>
              <a:buSzPts val="1300"/>
              <a:buNone/>
            </a:pPr>
            <a:r>
              <a:t/>
            </a:r>
            <a:endParaRPr sz="1000">
              <a:solidFill>
                <a:srgbClr val="24292E"/>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0"/>
              </a:spcAft>
              <a:buSzPts val="1300"/>
              <a:buNone/>
            </a:pPr>
            <a:r>
              <a:t/>
            </a:r>
            <a:endParaRPr sz="1000">
              <a:solidFill>
                <a:srgbClr val="24292E"/>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1200"/>
              </a:spcAft>
              <a:buSzPts val="1300"/>
              <a:buNone/>
            </a:pPr>
            <a:r>
              <a:t/>
            </a:r>
            <a:endParaRPr sz="1500"/>
          </a:p>
        </p:txBody>
      </p:sp>
      <p:sp>
        <p:nvSpPr>
          <p:cNvPr id="366" name="Google Shape;366;p44"/>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5.2 Validación de formularios</a:t>
            </a:r>
            <a:endParaRPr/>
          </a:p>
          <a:p>
            <a:pPr indent="0" lvl="0" marL="0" rtl="0" algn="l">
              <a:lnSpc>
                <a:spcPct val="100000"/>
              </a:lnSpc>
              <a:spcBef>
                <a:spcPts val="1800"/>
              </a:spcBef>
              <a:spcAft>
                <a:spcPts val="1200"/>
              </a:spcAft>
              <a:buSzPts val="2600"/>
              <a:buNone/>
            </a:pPr>
            <a:r>
              <a:rPr lang="es" sz="1650">
                <a:solidFill>
                  <a:srgbClr val="24292E"/>
                </a:solidFill>
                <a:highlight>
                  <a:schemeClr val="lt1"/>
                </a:highlight>
                <a:latin typeface="Arial"/>
                <a:ea typeface="Arial"/>
                <a:cs typeface="Arial"/>
                <a:sym typeface="Arial"/>
              </a:rPr>
              <a:t>Expresiones regulares: Métodos</a:t>
            </a:r>
            <a:endParaRPr/>
          </a:p>
        </p:txBody>
      </p:sp>
      <p:pic>
        <p:nvPicPr>
          <p:cNvPr id="367" name="Google Shape;367;p44"/>
          <p:cNvPicPr preferRelativeResize="0"/>
          <p:nvPr/>
        </p:nvPicPr>
        <p:blipFill rotWithShape="1">
          <a:blip r:embed="rId3">
            <a:alphaModFix/>
          </a:blip>
          <a:srcRect b="0" l="0" r="0" t="0"/>
          <a:stretch/>
        </p:blipFill>
        <p:spPr>
          <a:xfrm>
            <a:off x="1916325" y="2766388"/>
            <a:ext cx="5314950" cy="8667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5"/>
          <p:cNvSpPr txBox="1"/>
          <p:nvPr>
            <p:ph idx="1" type="body"/>
          </p:nvPr>
        </p:nvSpPr>
        <p:spPr>
          <a:xfrm>
            <a:off x="729450" y="1808700"/>
            <a:ext cx="7688700" cy="3171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s" sz="1200">
                <a:solidFill>
                  <a:srgbClr val="24292E"/>
                </a:solidFill>
                <a:highlight>
                  <a:srgbClr val="FFFFFF"/>
                </a:highlight>
                <a:latin typeface="Arial"/>
                <a:ea typeface="Arial"/>
                <a:cs typeface="Arial"/>
                <a:sym typeface="Arial"/>
              </a:rPr>
              <a:t>Para saber si la cadena coincide con determinada expresión o para buscar y reemplazar texto:</a:t>
            </a:r>
            <a:endParaRPr sz="1200">
              <a:solidFill>
                <a:srgbClr val="24292E"/>
              </a:solidFill>
              <a:highlight>
                <a:srgbClr val="FFFFFF"/>
              </a:highlight>
              <a:latin typeface="Arial"/>
              <a:ea typeface="Arial"/>
              <a:cs typeface="Arial"/>
              <a:sym typeface="Arial"/>
            </a:endParaRPr>
          </a:p>
          <a:p>
            <a:pPr indent="-304800" lvl="0" marL="457200" rtl="0" algn="l">
              <a:lnSpc>
                <a:spcPct val="115000"/>
              </a:lnSpc>
              <a:spcBef>
                <a:spcPts val="1200"/>
              </a:spcBef>
              <a:spcAft>
                <a:spcPts val="0"/>
              </a:spcAft>
              <a:buClr>
                <a:srgbClr val="24292E"/>
              </a:buClr>
              <a:buSzPts val="1200"/>
              <a:buFont typeface="Arial"/>
              <a:buChar char="●"/>
            </a:pPr>
            <a:r>
              <a:rPr lang="es" sz="1000">
                <a:solidFill>
                  <a:srgbClr val="24292E"/>
                </a:solidFill>
                <a:highlight>
                  <a:srgbClr val="FFFFFF"/>
                </a:highlight>
                <a:latin typeface="Courier New"/>
                <a:ea typeface="Courier New"/>
                <a:cs typeface="Courier New"/>
                <a:sym typeface="Courier New"/>
              </a:rPr>
              <a:t>cadena.replace(expr, cadena2)</a:t>
            </a:r>
            <a:r>
              <a:rPr lang="es" sz="1200">
                <a:solidFill>
                  <a:srgbClr val="24292E"/>
                </a:solidFill>
                <a:highlight>
                  <a:srgbClr val="FFFFFF"/>
                </a:highlight>
                <a:latin typeface="Arial"/>
                <a:ea typeface="Arial"/>
                <a:cs typeface="Arial"/>
                <a:sym typeface="Arial"/>
              </a:rPr>
              <a:t>: devuelve una nueva cadena xon las coincidncias de la cadena reemplazadas por la cedena pasada como 2º parámetro:</a:t>
            </a:r>
            <a:endParaRPr sz="1200">
              <a:solidFill>
                <a:srgbClr val="24292E"/>
              </a:solidFill>
              <a:highlight>
                <a:srgbClr val="FFFFFF"/>
              </a:highlight>
              <a:latin typeface="Arial"/>
              <a:ea typeface="Arial"/>
              <a:cs typeface="Arial"/>
              <a:sym typeface="Arial"/>
            </a:endParaRPr>
          </a:p>
          <a:p>
            <a:pPr indent="0" lvl="0" marL="457200" rtl="0" algn="l">
              <a:lnSpc>
                <a:spcPct val="115000"/>
              </a:lnSpc>
              <a:spcBef>
                <a:spcPts val="1200"/>
              </a:spcBef>
              <a:spcAft>
                <a:spcPts val="0"/>
              </a:spcAft>
              <a:buSzPts val="1300"/>
              <a:buNone/>
            </a:pPr>
            <a:r>
              <a:t/>
            </a:r>
            <a:endParaRPr sz="1000">
              <a:solidFill>
                <a:srgbClr val="24292E"/>
              </a:solidFill>
              <a:highlight>
                <a:srgbClr val="FFFFFF"/>
              </a:highlight>
              <a:latin typeface="Courier New"/>
              <a:ea typeface="Courier New"/>
              <a:cs typeface="Courier New"/>
              <a:sym typeface="Courier New"/>
            </a:endParaRPr>
          </a:p>
          <a:p>
            <a:pPr indent="0" lvl="0" marL="457200" rtl="0" algn="l">
              <a:lnSpc>
                <a:spcPct val="115000"/>
              </a:lnSpc>
              <a:spcBef>
                <a:spcPts val="1200"/>
              </a:spcBef>
              <a:spcAft>
                <a:spcPts val="0"/>
              </a:spcAft>
              <a:buSzPts val="1300"/>
              <a:buNone/>
            </a:pPr>
            <a:r>
              <a:t/>
            </a:r>
            <a:endParaRPr sz="1200">
              <a:solidFill>
                <a:srgbClr val="24292E"/>
              </a:solidFill>
              <a:highlight>
                <a:srgbClr val="FFFFFF"/>
              </a:highlight>
              <a:latin typeface="Arial"/>
              <a:ea typeface="Arial"/>
              <a:cs typeface="Arial"/>
              <a:sym typeface="Arial"/>
            </a:endParaRPr>
          </a:p>
          <a:p>
            <a:pPr indent="0" lvl="0" marL="457200" rtl="0" algn="l">
              <a:lnSpc>
                <a:spcPct val="115000"/>
              </a:lnSpc>
              <a:spcBef>
                <a:spcPts val="1200"/>
              </a:spcBef>
              <a:spcAft>
                <a:spcPts val="0"/>
              </a:spcAft>
              <a:buSzPts val="1300"/>
              <a:buNone/>
            </a:pPr>
            <a:r>
              <a:t/>
            </a:r>
            <a:endParaRPr sz="1200">
              <a:solidFill>
                <a:srgbClr val="24292E"/>
              </a:solidFill>
              <a:highlight>
                <a:srgbClr val="FFFFFF"/>
              </a:highlight>
              <a:latin typeface="Arial"/>
              <a:ea typeface="Arial"/>
              <a:cs typeface="Arial"/>
              <a:sym typeface="Arial"/>
            </a:endParaRPr>
          </a:p>
          <a:p>
            <a:pPr indent="0" lvl="0" marL="0" rtl="0" algn="l">
              <a:lnSpc>
                <a:spcPct val="115000"/>
              </a:lnSpc>
              <a:spcBef>
                <a:spcPts val="1200"/>
              </a:spcBef>
              <a:spcAft>
                <a:spcPts val="0"/>
              </a:spcAft>
              <a:buSzPts val="1300"/>
              <a:buNone/>
            </a:pPr>
            <a:r>
              <a:t/>
            </a:r>
            <a:endParaRPr sz="1000">
              <a:solidFill>
                <a:srgbClr val="24292E"/>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0"/>
              </a:spcAft>
              <a:buSzPts val="1300"/>
              <a:buNone/>
            </a:pPr>
            <a:r>
              <a:t/>
            </a:r>
            <a:endParaRPr sz="1000">
              <a:solidFill>
                <a:srgbClr val="24292E"/>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1200"/>
              </a:spcAft>
              <a:buSzPts val="1300"/>
              <a:buNone/>
            </a:pPr>
            <a:r>
              <a:t/>
            </a:r>
            <a:endParaRPr sz="1500"/>
          </a:p>
        </p:txBody>
      </p:sp>
      <p:sp>
        <p:nvSpPr>
          <p:cNvPr id="373" name="Google Shape;373;p45"/>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5.2 Validación de formularios</a:t>
            </a:r>
            <a:endParaRPr/>
          </a:p>
          <a:p>
            <a:pPr indent="0" lvl="0" marL="0" rtl="0" algn="l">
              <a:lnSpc>
                <a:spcPct val="100000"/>
              </a:lnSpc>
              <a:spcBef>
                <a:spcPts val="1800"/>
              </a:spcBef>
              <a:spcAft>
                <a:spcPts val="1200"/>
              </a:spcAft>
              <a:buSzPts val="2600"/>
              <a:buNone/>
            </a:pPr>
            <a:r>
              <a:rPr lang="es" sz="1650">
                <a:solidFill>
                  <a:srgbClr val="24292E"/>
                </a:solidFill>
                <a:highlight>
                  <a:schemeClr val="lt1"/>
                </a:highlight>
                <a:latin typeface="Arial"/>
                <a:ea typeface="Arial"/>
                <a:cs typeface="Arial"/>
                <a:sym typeface="Arial"/>
              </a:rPr>
              <a:t>Expresiones regulares: Métodos</a:t>
            </a:r>
            <a:endParaRPr/>
          </a:p>
        </p:txBody>
      </p:sp>
      <p:pic>
        <p:nvPicPr>
          <p:cNvPr id="374" name="Google Shape;374;p45"/>
          <p:cNvPicPr preferRelativeResize="0"/>
          <p:nvPr/>
        </p:nvPicPr>
        <p:blipFill rotWithShape="1">
          <a:blip r:embed="rId3">
            <a:alphaModFix/>
          </a:blip>
          <a:srcRect b="0" l="0" r="0" t="0"/>
          <a:stretch/>
        </p:blipFill>
        <p:spPr>
          <a:xfrm>
            <a:off x="729450" y="3161059"/>
            <a:ext cx="7376274" cy="6331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6"/>
          <p:cNvSpPr txBox="1"/>
          <p:nvPr>
            <p:ph idx="1" type="body"/>
          </p:nvPr>
        </p:nvSpPr>
        <p:spPr>
          <a:xfrm>
            <a:off x="729450" y="1808700"/>
            <a:ext cx="7688700" cy="3171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s" sz="1050">
                <a:solidFill>
                  <a:srgbClr val="000000"/>
                </a:solidFill>
                <a:highlight>
                  <a:srgbClr val="FFFFFF"/>
                </a:highlight>
                <a:latin typeface="Roboto"/>
                <a:ea typeface="Roboto"/>
                <a:cs typeface="Roboto"/>
                <a:sym typeface="Roboto"/>
              </a:rPr>
              <a:t>White y Jesse Pinkman tienen que controlar las bolsas de producto azul que cocinan para distribuir en Alburquerque. Para ello tienen que crear un formulario que almacene la información de cada bolsa y validarlo teniendo en cuenta lo siguiente:</a:t>
            </a:r>
            <a:endParaRPr sz="1050">
              <a:solidFill>
                <a:srgbClr val="000000"/>
              </a:solidFill>
              <a:highlight>
                <a:srgbClr val="FFFFFF"/>
              </a:highlight>
              <a:latin typeface="Roboto"/>
              <a:ea typeface="Roboto"/>
              <a:cs typeface="Roboto"/>
              <a:sym typeface="Roboto"/>
            </a:endParaRPr>
          </a:p>
          <a:p>
            <a:pPr indent="457200" lvl="0" marL="0" rtl="0" algn="l">
              <a:lnSpc>
                <a:spcPct val="115000"/>
              </a:lnSpc>
              <a:spcBef>
                <a:spcPts val="1200"/>
              </a:spcBef>
              <a:spcAft>
                <a:spcPts val="0"/>
              </a:spcAft>
              <a:buSzPts val="1300"/>
              <a:buNone/>
            </a:pPr>
            <a:r>
              <a:rPr lang="es" sz="1050">
                <a:solidFill>
                  <a:srgbClr val="000000"/>
                </a:solidFill>
                <a:highlight>
                  <a:srgbClr val="FFFFFF"/>
                </a:highlight>
                <a:latin typeface="Roboto"/>
                <a:ea typeface="Roboto"/>
                <a:cs typeface="Roboto"/>
                <a:sym typeface="Roboto"/>
              </a:rPr>
              <a:t>• Fecha de creación: obligatorio y con formato dd/mm/aaaa. </a:t>
            </a:r>
            <a:endParaRPr sz="1050">
              <a:solidFill>
                <a:srgbClr val="000000"/>
              </a:solidFill>
              <a:highlight>
                <a:srgbClr val="FFFFFF"/>
              </a:highlight>
              <a:latin typeface="Roboto"/>
              <a:ea typeface="Roboto"/>
              <a:cs typeface="Roboto"/>
              <a:sym typeface="Roboto"/>
            </a:endParaRPr>
          </a:p>
          <a:p>
            <a:pPr indent="457200" lvl="0" marL="0" rtl="0" algn="l">
              <a:lnSpc>
                <a:spcPct val="115000"/>
              </a:lnSpc>
              <a:spcBef>
                <a:spcPts val="1200"/>
              </a:spcBef>
              <a:spcAft>
                <a:spcPts val="0"/>
              </a:spcAft>
              <a:buSzPts val="1300"/>
              <a:buNone/>
            </a:pPr>
            <a:r>
              <a:rPr lang="es" sz="1050">
                <a:solidFill>
                  <a:srgbClr val="000000"/>
                </a:solidFill>
                <a:highlight>
                  <a:srgbClr val="FFFFFF"/>
                </a:highlight>
                <a:latin typeface="Roboto"/>
                <a:ea typeface="Roboto"/>
                <a:cs typeface="Roboto"/>
                <a:sym typeface="Roboto"/>
              </a:rPr>
              <a:t>• Cocinero: será un nombre en clave formado por dos letras en mayúscula, un símbolo y cuatro dígitos (ej. WW$1234) </a:t>
            </a:r>
            <a:endParaRPr sz="1050">
              <a:solidFill>
                <a:srgbClr val="000000"/>
              </a:solidFill>
              <a:highlight>
                <a:srgbClr val="FFFFFF"/>
              </a:highlight>
              <a:latin typeface="Roboto"/>
              <a:ea typeface="Roboto"/>
              <a:cs typeface="Roboto"/>
              <a:sym typeface="Roboto"/>
            </a:endParaRPr>
          </a:p>
          <a:p>
            <a:pPr indent="457200" lvl="0" marL="0" rtl="0" algn="l">
              <a:lnSpc>
                <a:spcPct val="115000"/>
              </a:lnSpc>
              <a:spcBef>
                <a:spcPts val="1200"/>
              </a:spcBef>
              <a:spcAft>
                <a:spcPts val="0"/>
              </a:spcAft>
              <a:buSzPts val="1300"/>
              <a:buNone/>
            </a:pPr>
            <a:r>
              <a:rPr lang="es" sz="1050">
                <a:solidFill>
                  <a:srgbClr val="000000"/>
                </a:solidFill>
                <a:highlight>
                  <a:srgbClr val="FFFFFF"/>
                </a:highlight>
                <a:latin typeface="Roboto"/>
                <a:ea typeface="Roboto"/>
                <a:cs typeface="Roboto"/>
                <a:sym typeface="Roboto"/>
              </a:rPr>
              <a:t>• Destinatario: estará formado por dos o tres letras mayúsculas correspondientes al estado, un guión bajo, el nombre de la ciudad en minúsculas, dos puntos, y el código de distrito de 4 digitos (ej. NM_alburquerque:1234). </a:t>
            </a:r>
            <a:endParaRPr sz="1050">
              <a:solidFill>
                <a:srgbClr val="000000"/>
              </a:solidFill>
              <a:highlight>
                <a:srgbClr val="FFFFFF"/>
              </a:highlight>
              <a:latin typeface="Roboto"/>
              <a:ea typeface="Roboto"/>
              <a:cs typeface="Roboto"/>
              <a:sym typeface="Roboto"/>
            </a:endParaRPr>
          </a:p>
          <a:p>
            <a:pPr indent="457200" lvl="0" marL="0" rtl="0" algn="l">
              <a:lnSpc>
                <a:spcPct val="115000"/>
              </a:lnSpc>
              <a:spcBef>
                <a:spcPts val="1200"/>
              </a:spcBef>
              <a:spcAft>
                <a:spcPts val="0"/>
              </a:spcAft>
              <a:buSzPts val="1300"/>
              <a:buNone/>
            </a:pPr>
            <a:r>
              <a:rPr lang="es" sz="1050">
                <a:solidFill>
                  <a:srgbClr val="000000"/>
                </a:solidFill>
                <a:highlight>
                  <a:srgbClr val="FFFFFF"/>
                </a:highlight>
                <a:latin typeface="Roboto"/>
                <a:ea typeface="Roboto"/>
                <a:cs typeface="Roboto"/>
                <a:sym typeface="Roboto"/>
              </a:rPr>
              <a:t>• Gramos: será un número del 100 al 5000. </a:t>
            </a:r>
            <a:endParaRPr sz="1050">
              <a:solidFill>
                <a:srgbClr val="000000"/>
              </a:solidFill>
              <a:highlight>
                <a:srgbClr val="FFFFFF"/>
              </a:highlight>
              <a:latin typeface="Roboto"/>
              <a:ea typeface="Roboto"/>
              <a:cs typeface="Roboto"/>
              <a:sym typeface="Roboto"/>
            </a:endParaRPr>
          </a:p>
          <a:p>
            <a:pPr indent="457200" lvl="0" marL="0" rtl="0" algn="l">
              <a:lnSpc>
                <a:spcPct val="115000"/>
              </a:lnSpc>
              <a:spcBef>
                <a:spcPts val="1200"/>
              </a:spcBef>
              <a:spcAft>
                <a:spcPts val="0"/>
              </a:spcAft>
              <a:buSzPts val="1300"/>
              <a:buNone/>
            </a:pPr>
            <a:r>
              <a:rPr lang="es" sz="1050">
                <a:solidFill>
                  <a:srgbClr val="000000"/>
                </a:solidFill>
                <a:highlight>
                  <a:srgbClr val="FFFFFF"/>
                </a:highlight>
                <a:latin typeface="Roboto"/>
                <a:ea typeface="Roboto"/>
                <a:cs typeface="Roboto"/>
                <a:sym typeface="Roboto"/>
              </a:rPr>
              <a:t>• Composición: estará formado por una cantidad en gramos seguida de dos conjuntos de una o dos letras seguidas o no de un número. (ej. 200gC3OH7) </a:t>
            </a:r>
            <a:endParaRPr sz="1050">
              <a:solidFill>
                <a:srgbClr val="000000"/>
              </a:solidFill>
              <a:highlight>
                <a:srgbClr val="FFFFFF"/>
              </a:highlight>
              <a:latin typeface="Roboto"/>
              <a:ea typeface="Roboto"/>
              <a:cs typeface="Roboto"/>
              <a:sym typeface="Roboto"/>
            </a:endParaRPr>
          </a:p>
          <a:p>
            <a:pPr indent="457200" lvl="0" marL="0" rtl="0" algn="l">
              <a:lnSpc>
                <a:spcPct val="115000"/>
              </a:lnSpc>
              <a:spcBef>
                <a:spcPts val="1200"/>
              </a:spcBef>
              <a:spcAft>
                <a:spcPts val="1200"/>
              </a:spcAft>
              <a:buSzPts val="1300"/>
              <a:buNone/>
            </a:pPr>
            <a:r>
              <a:rPr lang="es" sz="1050">
                <a:solidFill>
                  <a:srgbClr val="000000"/>
                </a:solidFill>
                <a:highlight>
                  <a:srgbClr val="FFFFFF"/>
                </a:highlight>
                <a:latin typeface="Roboto"/>
                <a:ea typeface="Roboto"/>
                <a:cs typeface="Roboto"/>
                <a:sym typeface="Roboto"/>
              </a:rPr>
              <a:t>• Número de cuenta de EEUU: ver diapositiva siguiente</a:t>
            </a:r>
            <a:endParaRPr sz="1500"/>
          </a:p>
        </p:txBody>
      </p:sp>
      <p:sp>
        <p:nvSpPr>
          <p:cNvPr id="380" name="Google Shape;380;p46"/>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5.2 Validación de formularios</a:t>
            </a:r>
            <a:endParaRPr/>
          </a:p>
          <a:p>
            <a:pPr indent="0" lvl="0" marL="0" rtl="0" algn="l">
              <a:lnSpc>
                <a:spcPct val="100000"/>
              </a:lnSpc>
              <a:spcBef>
                <a:spcPts val="1800"/>
              </a:spcBef>
              <a:spcAft>
                <a:spcPts val="1200"/>
              </a:spcAft>
              <a:buSzPts val="2600"/>
              <a:buNone/>
            </a:pPr>
            <a:r>
              <a:rPr lang="es" sz="1650">
                <a:solidFill>
                  <a:srgbClr val="24292E"/>
                </a:solidFill>
                <a:highlight>
                  <a:schemeClr val="lt1"/>
                </a:highlight>
                <a:latin typeface="Arial"/>
                <a:ea typeface="Arial"/>
                <a:cs typeface="Arial"/>
                <a:sym typeface="Arial"/>
              </a:rPr>
              <a:t>Expresiones regulares: EJERCICIO 5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7"/>
          <p:cNvSpPr txBox="1"/>
          <p:nvPr>
            <p:ph idx="1" type="body"/>
          </p:nvPr>
        </p:nvSpPr>
        <p:spPr>
          <a:xfrm>
            <a:off x="727650" y="1679350"/>
            <a:ext cx="7688700" cy="3171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s" sz="1050">
                <a:highlight>
                  <a:srgbClr val="FFFFFF"/>
                </a:highlight>
                <a:latin typeface="Roboto"/>
                <a:ea typeface="Roboto"/>
                <a:cs typeface="Roboto"/>
                <a:sym typeface="Roboto"/>
              </a:rPr>
              <a:t>Supongamos </a:t>
            </a:r>
            <a:r>
              <a:rPr lang="es" sz="1050">
                <a:solidFill>
                  <a:srgbClr val="000000"/>
                </a:solidFill>
                <a:highlight>
                  <a:srgbClr val="FFFFFF"/>
                </a:highlight>
                <a:latin typeface="Roboto"/>
                <a:ea typeface="Roboto"/>
                <a:cs typeface="Roboto"/>
                <a:sym typeface="Roboto"/>
              </a:rPr>
              <a:t>que un número de cuenta estadounidense tiene el siguiente formato:  AY26-123456789012-34</a:t>
            </a:r>
            <a:endParaRPr sz="1050">
              <a:solidFill>
                <a:srgbClr val="000000"/>
              </a:solidFill>
              <a:highlight>
                <a:srgbClr val="FFFFFF"/>
              </a:highlight>
              <a:latin typeface="Roboto"/>
              <a:ea typeface="Roboto"/>
              <a:cs typeface="Roboto"/>
              <a:sym typeface="Roboto"/>
            </a:endParaRPr>
          </a:p>
          <a:p>
            <a:pPr indent="457200" lvl="0" marL="0" rtl="0" algn="l">
              <a:lnSpc>
                <a:spcPct val="115000"/>
              </a:lnSpc>
              <a:spcBef>
                <a:spcPts val="1200"/>
              </a:spcBef>
              <a:spcAft>
                <a:spcPts val="0"/>
              </a:spcAft>
              <a:buSzPts val="1300"/>
              <a:buNone/>
            </a:pPr>
            <a:r>
              <a:rPr lang="es" sz="1050">
                <a:solidFill>
                  <a:srgbClr val="000000"/>
                </a:solidFill>
                <a:highlight>
                  <a:srgbClr val="FFFFFF"/>
                </a:highlight>
                <a:latin typeface="Roboto"/>
                <a:ea typeface="Roboto"/>
                <a:cs typeface="Roboto"/>
                <a:sym typeface="Roboto"/>
              </a:rPr>
              <a:t>•</a:t>
            </a:r>
            <a:r>
              <a:rPr lang="es" sz="950">
                <a:solidFill>
                  <a:srgbClr val="000000"/>
                </a:solidFill>
                <a:highlight>
                  <a:srgbClr val="FFFFFF"/>
                </a:highlight>
                <a:latin typeface="Roboto"/>
                <a:ea typeface="Roboto"/>
                <a:cs typeface="Roboto"/>
                <a:sym typeface="Roboto"/>
              </a:rPr>
              <a:t> Dos letras: suponemos que el valor de cada letra es del 1 al 26 (no hay ñ ni ll). </a:t>
            </a:r>
            <a:endParaRPr sz="950">
              <a:solidFill>
                <a:srgbClr val="000000"/>
              </a:solidFill>
              <a:highlight>
                <a:srgbClr val="FFFFFF"/>
              </a:highlight>
              <a:latin typeface="Roboto"/>
              <a:ea typeface="Roboto"/>
              <a:cs typeface="Roboto"/>
              <a:sym typeface="Roboto"/>
            </a:endParaRPr>
          </a:p>
          <a:p>
            <a:pPr indent="457200" lvl="0" marL="0" rtl="0" algn="l">
              <a:lnSpc>
                <a:spcPct val="115000"/>
              </a:lnSpc>
              <a:spcBef>
                <a:spcPts val="1200"/>
              </a:spcBef>
              <a:spcAft>
                <a:spcPts val="0"/>
              </a:spcAft>
              <a:buSzPts val="1300"/>
              <a:buNone/>
            </a:pPr>
            <a:r>
              <a:rPr lang="es" sz="950">
                <a:solidFill>
                  <a:srgbClr val="000000"/>
                </a:solidFill>
                <a:highlight>
                  <a:srgbClr val="FFFFFF"/>
                </a:highlight>
                <a:latin typeface="Roboto"/>
                <a:ea typeface="Roboto"/>
                <a:cs typeface="Roboto"/>
                <a:sym typeface="Roboto"/>
              </a:rPr>
              <a:t>• Dos dígitos: debe corresponderse con la suma de la primera letra y la segunda: en caso de que sea menor que 10 se pone el 0 delante. </a:t>
            </a:r>
            <a:endParaRPr sz="950">
              <a:solidFill>
                <a:srgbClr val="000000"/>
              </a:solidFill>
              <a:highlight>
                <a:srgbClr val="FFFFFF"/>
              </a:highlight>
              <a:latin typeface="Roboto"/>
              <a:ea typeface="Roboto"/>
              <a:cs typeface="Roboto"/>
              <a:sym typeface="Roboto"/>
            </a:endParaRPr>
          </a:p>
          <a:p>
            <a:pPr indent="457200" lvl="0" marL="0" rtl="0" algn="l">
              <a:lnSpc>
                <a:spcPct val="115000"/>
              </a:lnSpc>
              <a:spcBef>
                <a:spcPts val="1200"/>
              </a:spcBef>
              <a:spcAft>
                <a:spcPts val="0"/>
              </a:spcAft>
              <a:buSzPts val="1300"/>
              <a:buNone/>
            </a:pPr>
            <a:r>
              <a:rPr lang="es" sz="950">
                <a:solidFill>
                  <a:srgbClr val="000000"/>
                </a:solidFill>
                <a:highlight>
                  <a:srgbClr val="FFFFFF"/>
                </a:highlight>
                <a:latin typeface="Roboto"/>
                <a:ea typeface="Roboto"/>
                <a:cs typeface="Roboto"/>
                <a:sym typeface="Roboto"/>
              </a:rPr>
              <a:t>• Un guión. </a:t>
            </a:r>
            <a:endParaRPr sz="950">
              <a:solidFill>
                <a:srgbClr val="000000"/>
              </a:solidFill>
              <a:highlight>
                <a:srgbClr val="FFFFFF"/>
              </a:highlight>
              <a:latin typeface="Roboto"/>
              <a:ea typeface="Roboto"/>
              <a:cs typeface="Roboto"/>
              <a:sym typeface="Roboto"/>
            </a:endParaRPr>
          </a:p>
          <a:p>
            <a:pPr indent="457200" lvl="0" marL="0" rtl="0" algn="l">
              <a:lnSpc>
                <a:spcPct val="115000"/>
              </a:lnSpc>
              <a:spcBef>
                <a:spcPts val="1200"/>
              </a:spcBef>
              <a:spcAft>
                <a:spcPts val="0"/>
              </a:spcAft>
              <a:buSzPts val="1300"/>
              <a:buNone/>
            </a:pPr>
            <a:r>
              <a:rPr lang="es" sz="950">
                <a:solidFill>
                  <a:srgbClr val="000000"/>
                </a:solidFill>
                <a:highlight>
                  <a:srgbClr val="FFFFFF"/>
                </a:highlight>
                <a:latin typeface="Roboto"/>
                <a:ea typeface="Roboto"/>
                <a:cs typeface="Roboto"/>
                <a:sym typeface="Roboto"/>
              </a:rPr>
              <a:t>• Doce dígitos de cuenta. </a:t>
            </a:r>
            <a:endParaRPr sz="950">
              <a:solidFill>
                <a:srgbClr val="000000"/>
              </a:solidFill>
              <a:highlight>
                <a:srgbClr val="FFFFFF"/>
              </a:highlight>
              <a:latin typeface="Roboto"/>
              <a:ea typeface="Roboto"/>
              <a:cs typeface="Roboto"/>
              <a:sym typeface="Roboto"/>
            </a:endParaRPr>
          </a:p>
          <a:p>
            <a:pPr indent="457200" lvl="0" marL="0" rtl="0" algn="l">
              <a:lnSpc>
                <a:spcPct val="115000"/>
              </a:lnSpc>
              <a:spcBef>
                <a:spcPts val="1200"/>
              </a:spcBef>
              <a:spcAft>
                <a:spcPts val="0"/>
              </a:spcAft>
              <a:buSzPts val="1300"/>
              <a:buNone/>
            </a:pPr>
            <a:r>
              <a:rPr lang="es" sz="950">
                <a:solidFill>
                  <a:srgbClr val="000000"/>
                </a:solidFill>
                <a:highlight>
                  <a:srgbClr val="FFFFFF"/>
                </a:highlight>
                <a:latin typeface="Roboto"/>
                <a:ea typeface="Roboto"/>
                <a:cs typeface="Roboto"/>
                <a:sym typeface="Roboto"/>
              </a:rPr>
              <a:t>• Un guión.</a:t>
            </a:r>
            <a:endParaRPr sz="950">
              <a:solidFill>
                <a:srgbClr val="000000"/>
              </a:solidFill>
              <a:highlight>
                <a:srgbClr val="FFFFFF"/>
              </a:highlight>
              <a:latin typeface="Roboto"/>
              <a:ea typeface="Roboto"/>
              <a:cs typeface="Roboto"/>
              <a:sym typeface="Roboto"/>
            </a:endParaRPr>
          </a:p>
          <a:p>
            <a:pPr indent="0" lvl="0" marL="457200" rtl="0" algn="l">
              <a:lnSpc>
                <a:spcPct val="115000"/>
              </a:lnSpc>
              <a:spcBef>
                <a:spcPts val="1200"/>
              </a:spcBef>
              <a:spcAft>
                <a:spcPts val="0"/>
              </a:spcAft>
              <a:buSzPts val="1300"/>
              <a:buNone/>
            </a:pPr>
            <a:r>
              <a:rPr lang="es" sz="950">
                <a:solidFill>
                  <a:srgbClr val="000000"/>
                </a:solidFill>
                <a:highlight>
                  <a:srgbClr val="FFFFFF"/>
                </a:highlight>
                <a:latin typeface="Roboto"/>
                <a:ea typeface="Roboto"/>
                <a:cs typeface="Roboto"/>
                <a:sym typeface="Roboto"/>
              </a:rPr>
              <a:t>• Dos dígitos de control: los dos primeros deben ser la suma de los 6 primeros dígitos de la cuenta dividido entre 6 y extrayendo solamente su parte entera; y los dos últimos exactamente igual, pero con los 6 siguientes. </a:t>
            </a:r>
            <a:endParaRPr sz="950">
              <a:solidFill>
                <a:srgbClr val="000000"/>
              </a:solidFill>
              <a:highlight>
                <a:srgbClr val="FFFFFF"/>
              </a:highlight>
              <a:latin typeface="Roboto"/>
              <a:ea typeface="Roboto"/>
              <a:cs typeface="Roboto"/>
              <a:sym typeface="Roboto"/>
            </a:endParaRPr>
          </a:p>
          <a:p>
            <a:pPr indent="0" lvl="0" marL="457200" rtl="0" algn="l">
              <a:lnSpc>
                <a:spcPct val="115000"/>
              </a:lnSpc>
              <a:spcBef>
                <a:spcPts val="1200"/>
              </a:spcBef>
              <a:spcAft>
                <a:spcPts val="0"/>
              </a:spcAft>
              <a:buSzPts val="1300"/>
              <a:buNone/>
            </a:pPr>
            <a:r>
              <a:rPr lang="es" sz="950">
                <a:solidFill>
                  <a:srgbClr val="000000"/>
                </a:solidFill>
                <a:highlight>
                  <a:srgbClr val="FFFFFF"/>
                </a:highlight>
                <a:latin typeface="Roboto"/>
                <a:ea typeface="Roboto"/>
                <a:cs typeface="Roboto"/>
                <a:sym typeface="Roboto"/>
              </a:rPr>
              <a:t>• Si el número está correcto se colocará en un campo de texto al lado del anterior, pero sin guiones: solamente los números y las letras</a:t>
            </a:r>
            <a:endParaRPr sz="950">
              <a:solidFill>
                <a:srgbClr val="000000"/>
              </a:solidFill>
              <a:highlight>
                <a:srgbClr val="FFFFFF"/>
              </a:highlight>
              <a:latin typeface="Roboto"/>
              <a:ea typeface="Roboto"/>
              <a:cs typeface="Roboto"/>
              <a:sym typeface="Roboto"/>
            </a:endParaRPr>
          </a:p>
          <a:p>
            <a:pPr indent="0" lvl="0" marL="457200" rtl="0" algn="l">
              <a:lnSpc>
                <a:spcPct val="115000"/>
              </a:lnSpc>
              <a:spcBef>
                <a:spcPts val="1200"/>
              </a:spcBef>
              <a:spcAft>
                <a:spcPts val="0"/>
              </a:spcAft>
              <a:buSzPts val="1300"/>
              <a:buNone/>
            </a:pPr>
            <a:r>
              <a:rPr lang="es" sz="950">
                <a:solidFill>
                  <a:srgbClr val="000000"/>
                </a:solidFill>
                <a:highlight>
                  <a:schemeClr val="lt1"/>
                </a:highlight>
                <a:latin typeface="Roboto"/>
                <a:ea typeface="Roboto"/>
                <a:cs typeface="Roboto"/>
                <a:sym typeface="Roboto"/>
              </a:rPr>
              <a:t>• Si el número está incorrecto se pondrá el borde del input rojo y un mensaje en pequeño debajo diciendo error de formato</a:t>
            </a:r>
            <a:endParaRPr sz="950">
              <a:solidFill>
                <a:srgbClr val="000000"/>
              </a:solidFill>
              <a:highlight>
                <a:srgbClr val="FFFFFF"/>
              </a:highlight>
              <a:latin typeface="Roboto"/>
              <a:ea typeface="Roboto"/>
              <a:cs typeface="Roboto"/>
              <a:sym typeface="Roboto"/>
            </a:endParaRPr>
          </a:p>
          <a:p>
            <a:pPr indent="457200" lvl="0" marL="0" rtl="0" algn="l">
              <a:lnSpc>
                <a:spcPct val="115000"/>
              </a:lnSpc>
              <a:spcBef>
                <a:spcPts val="1200"/>
              </a:spcBef>
              <a:spcAft>
                <a:spcPts val="0"/>
              </a:spcAft>
              <a:buSzPts val="1300"/>
              <a:buNone/>
            </a:pPr>
            <a:r>
              <a:t/>
            </a:r>
            <a:endParaRPr sz="1050">
              <a:solidFill>
                <a:srgbClr val="000000"/>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SzPts val="1300"/>
              <a:buNone/>
            </a:pPr>
            <a:r>
              <a:t/>
            </a:r>
            <a:endParaRPr sz="1000">
              <a:solidFill>
                <a:srgbClr val="24292E"/>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1200"/>
              </a:spcAft>
              <a:buSzPts val="1300"/>
              <a:buNone/>
            </a:pPr>
            <a:r>
              <a:t/>
            </a:r>
            <a:endParaRPr sz="1500"/>
          </a:p>
        </p:txBody>
      </p:sp>
      <p:sp>
        <p:nvSpPr>
          <p:cNvPr id="386" name="Google Shape;386;p47"/>
          <p:cNvSpPr txBox="1"/>
          <p:nvPr>
            <p:ph type="title"/>
          </p:nvPr>
        </p:nvSpPr>
        <p:spPr>
          <a:xfrm>
            <a:off x="727650" y="640950"/>
            <a:ext cx="7688700" cy="9585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5.2 Validación de formularios</a:t>
            </a:r>
            <a:endParaRPr/>
          </a:p>
          <a:p>
            <a:pPr indent="0" lvl="0" marL="0" rtl="0" algn="l">
              <a:lnSpc>
                <a:spcPct val="100000"/>
              </a:lnSpc>
              <a:spcBef>
                <a:spcPts val="1800"/>
              </a:spcBef>
              <a:spcAft>
                <a:spcPts val="1200"/>
              </a:spcAft>
              <a:buSzPct val="175084"/>
              <a:buNone/>
            </a:pPr>
            <a:r>
              <a:rPr lang="es" sz="1650">
                <a:solidFill>
                  <a:srgbClr val="24292E"/>
                </a:solidFill>
                <a:highlight>
                  <a:schemeClr val="lt1"/>
                </a:highlight>
                <a:latin typeface="Arial"/>
                <a:ea typeface="Arial"/>
                <a:cs typeface="Arial"/>
                <a:sym typeface="Arial"/>
              </a:rPr>
              <a:t>Expresiones regulares: EJERCICIO 5 </a:t>
            </a:r>
            <a:endParaRPr sz="1650">
              <a:solidFill>
                <a:srgbClr val="24292E"/>
              </a:solidFill>
              <a:highlight>
                <a:schemeClr val="lt1"/>
              </a:highlight>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8"/>
          <p:cNvSpPr txBox="1"/>
          <p:nvPr>
            <p:ph idx="1" type="body"/>
          </p:nvPr>
        </p:nvSpPr>
        <p:spPr>
          <a:xfrm>
            <a:off x="729450" y="1808800"/>
            <a:ext cx="7688700" cy="29922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s" sz="1400">
                <a:solidFill>
                  <a:srgbClr val="000000"/>
                </a:solidFill>
                <a:latin typeface="Arial"/>
                <a:ea typeface="Arial"/>
                <a:cs typeface="Arial"/>
                <a:sym typeface="Arial"/>
              </a:rPr>
              <a:t>Las </a:t>
            </a:r>
            <a:r>
              <a:rPr b="1" lang="es" sz="1400">
                <a:solidFill>
                  <a:srgbClr val="000000"/>
                </a:solidFill>
                <a:latin typeface="Arial"/>
                <a:ea typeface="Arial"/>
                <a:cs typeface="Arial"/>
                <a:sym typeface="Arial"/>
              </a:rPr>
              <a:t>cookies</a:t>
            </a:r>
            <a:r>
              <a:rPr lang="es" sz="1400">
                <a:solidFill>
                  <a:srgbClr val="000000"/>
                </a:solidFill>
                <a:latin typeface="Arial"/>
                <a:ea typeface="Arial"/>
                <a:cs typeface="Arial"/>
                <a:sym typeface="Arial"/>
              </a:rPr>
              <a:t> son pequeños archivos de texto que se almacenan en el navegador del usuario. </a:t>
            </a:r>
            <a:br>
              <a:rPr lang="es"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342900" lvl="0" marL="457200" rtl="0" algn="l">
              <a:lnSpc>
                <a:spcPct val="115000"/>
              </a:lnSpc>
              <a:spcBef>
                <a:spcPts val="0"/>
              </a:spcBef>
              <a:spcAft>
                <a:spcPts val="0"/>
              </a:spcAft>
              <a:buSzPts val="1800"/>
              <a:buChar char="-"/>
            </a:pPr>
            <a:r>
              <a:rPr lang="es" sz="1400">
                <a:solidFill>
                  <a:srgbClr val="000000"/>
                </a:solidFill>
                <a:latin typeface="Arial"/>
                <a:ea typeface="Arial"/>
                <a:cs typeface="Arial"/>
                <a:sym typeface="Arial"/>
              </a:rPr>
              <a:t>Se utilizan principalmente para guardar información sobre la sesión o preferencias del usuario en un sitio web. Este almacenamiento permite que los sitios web puedan "recordar" al usuario entre visitas y proporcionar una </a:t>
            </a:r>
            <a:r>
              <a:rPr b="1" lang="es" sz="1400">
                <a:solidFill>
                  <a:srgbClr val="000000"/>
                </a:solidFill>
                <a:latin typeface="Arial"/>
                <a:ea typeface="Arial"/>
                <a:cs typeface="Arial"/>
                <a:sym typeface="Arial"/>
              </a:rPr>
              <a:t>experiencia más personalizada</a:t>
            </a:r>
            <a:r>
              <a:rPr lang="es" sz="1400">
                <a:solidFill>
                  <a:srgbClr val="000000"/>
                </a:solidFill>
                <a:latin typeface="Arial"/>
                <a:ea typeface="Arial"/>
                <a:cs typeface="Arial"/>
                <a:sym typeface="Arial"/>
              </a:rPr>
              <a:t>.</a:t>
            </a:r>
            <a:br>
              <a:rPr lang="es"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lang="es" sz="1400">
                <a:solidFill>
                  <a:srgbClr val="000000"/>
                </a:solidFill>
                <a:latin typeface="Arial"/>
                <a:ea typeface="Arial"/>
                <a:cs typeface="Arial"/>
                <a:sym typeface="Arial"/>
              </a:rPr>
              <a:t>Las cookies se envían automáticamente al servidor cada vez que el navegador realiza una solicitud HTTP al mismo dominio, lo que permite a los servidores mantener el estado entre las páginas, como por ejemplo el estado de autenticación del usuario o las preferencias de idioma.</a:t>
            </a:r>
            <a:endParaRPr sz="1400">
              <a:solidFill>
                <a:srgbClr val="000000"/>
              </a:solidFill>
              <a:latin typeface="Arial"/>
              <a:ea typeface="Arial"/>
              <a:cs typeface="Arial"/>
              <a:sym typeface="Arial"/>
            </a:endParaRPr>
          </a:p>
        </p:txBody>
      </p:sp>
      <p:sp>
        <p:nvSpPr>
          <p:cNvPr id="392" name="Google Shape;392;p48"/>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
              <a:t>5.3 Cookies</a:t>
            </a:r>
            <a:endParaRPr/>
          </a:p>
        </p:txBody>
      </p:sp>
      <p:pic>
        <p:nvPicPr>
          <p:cNvPr id="393" name="Google Shape;393;p48"/>
          <p:cNvPicPr preferRelativeResize="0"/>
          <p:nvPr/>
        </p:nvPicPr>
        <p:blipFill rotWithShape="1">
          <a:blip r:embed="rId3">
            <a:alphaModFix/>
          </a:blip>
          <a:srcRect b="0" l="0" r="0" t="0"/>
          <a:stretch/>
        </p:blipFill>
        <p:spPr>
          <a:xfrm>
            <a:off x="6869550" y="0"/>
            <a:ext cx="2274451" cy="1705851"/>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9"/>
          <p:cNvSpPr txBox="1"/>
          <p:nvPr>
            <p:ph idx="1" type="body"/>
          </p:nvPr>
        </p:nvSpPr>
        <p:spPr>
          <a:xfrm>
            <a:off x="729450" y="2078875"/>
            <a:ext cx="5591700" cy="2261100"/>
          </a:xfrm>
          <a:prstGeom prst="rect">
            <a:avLst/>
          </a:prstGeom>
          <a:noFill/>
          <a:ln>
            <a:noFill/>
          </a:ln>
        </p:spPr>
        <p:txBody>
          <a:bodyPr anchorCtr="0" anchor="t" bIns="91425" lIns="91425" spcFirstLastPara="1" rIns="91425" wrap="square" tIns="91425">
            <a:normAutofit/>
          </a:bodyPr>
          <a:lstStyle/>
          <a:p>
            <a:pPr indent="-349250" lvl="0" marL="457200" rtl="0" algn="l">
              <a:lnSpc>
                <a:spcPct val="115000"/>
              </a:lnSpc>
              <a:spcBef>
                <a:spcPts val="0"/>
              </a:spcBef>
              <a:spcAft>
                <a:spcPts val="0"/>
              </a:spcAft>
              <a:buSzPts val="1900"/>
              <a:buChar char="-"/>
            </a:pPr>
            <a:r>
              <a:rPr lang="es" sz="1500">
                <a:solidFill>
                  <a:srgbClr val="000000"/>
                </a:solidFill>
                <a:latin typeface="Arial"/>
                <a:ea typeface="Arial"/>
                <a:cs typeface="Arial"/>
                <a:sym typeface="Arial"/>
              </a:rPr>
              <a:t>En JavaScript, las cookies se pueden gestionar a través de la propiedad </a:t>
            </a:r>
            <a:r>
              <a:rPr lang="es" sz="1500">
                <a:solidFill>
                  <a:srgbClr val="188038"/>
                </a:solidFill>
                <a:latin typeface="Roboto Mono"/>
                <a:ea typeface="Roboto Mono"/>
                <a:cs typeface="Roboto Mono"/>
                <a:sym typeface="Roboto Mono"/>
              </a:rPr>
              <a:t>document.cookie</a:t>
            </a:r>
            <a:r>
              <a:rPr lang="es" sz="1500">
                <a:solidFill>
                  <a:srgbClr val="000000"/>
                </a:solidFill>
                <a:latin typeface="Arial"/>
                <a:ea typeface="Arial"/>
                <a:cs typeface="Arial"/>
                <a:sym typeface="Arial"/>
              </a:rPr>
              <a:t>. Con esta propiedad, puedes leer, escribir y eliminar cookies directamente desde el navegador del usuario.</a:t>
            </a:r>
            <a:endParaRPr sz="1900"/>
          </a:p>
        </p:txBody>
      </p:sp>
      <p:sp>
        <p:nvSpPr>
          <p:cNvPr id="399" name="Google Shape;399;p49"/>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5.3 Cookies</a:t>
            </a:r>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11111"/>
              <a:buNone/>
            </a:pPr>
            <a:r>
              <a:rPr lang="es"/>
              <a:t>Uso de las cookies en JS</a:t>
            </a:r>
            <a:endParaRPr/>
          </a:p>
        </p:txBody>
      </p:sp>
      <p:pic>
        <p:nvPicPr>
          <p:cNvPr id="400" name="Google Shape;400;p49"/>
          <p:cNvPicPr preferRelativeResize="0"/>
          <p:nvPr/>
        </p:nvPicPr>
        <p:blipFill rotWithShape="1">
          <a:blip r:embed="rId3">
            <a:alphaModFix/>
          </a:blip>
          <a:srcRect b="0" l="0" r="0" t="0"/>
          <a:stretch/>
        </p:blipFill>
        <p:spPr>
          <a:xfrm>
            <a:off x="6379007" y="497999"/>
            <a:ext cx="2764993" cy="2073751"/>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50"/>
          <p:cNvSpPr txBox="1"/>
          <p:nvPr>
            <p:ph idx="1" type="body"/>
          </p:nvPr>
        </p:nvSpPr>
        <p:spPr>
          <a:xfrm>
            <a:off x="729450" y="1897775"/>
            <a:ext cx="7688700" cy="3047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400"/>
              </a:spcBef>
              <a:spcAft>
                <a:spcPts val="0"/>
              </a:spcAft>
              <a:buSzPts val="1300"/>
              <a:buNone/>
            </a:pPr>
            <a:r>
              <a:rPr b="1" lang="es">
                <a:solidFill>
                  <a:srgbClr val="000000"/>
                </a:solidFill>
                <a:latin typeface="Arial"/>
                <a:ea typeface="Arial"/>
                <a:cs typeface="Arial"/>
                <a:sym typeface="Arial"/>
              </a:rPr>
              <a:t>Atributos comunes de las cookies en JavaScript</a:t>
            </a:r>
            <a:endParaRPr b="1">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1100">
                <a:solidFill>
                  <a:srgbClr val="000000"/>
                </a:solidFill>
                <a:latin typeface="Arial"/>
                <a:ea typeface="Arial"/>
                <a:cs typeface="Arial"/>
                <a:sym typeface="Arial"/>
              </a:rPr>
              <a:t>Las cookies se crean y modifican utilizando </a:t>
            </a:r>
            <a:r>
              <a:rPr lang="es" sz="1100">
                <a:solidFill>
                  <a:srgbClr val="188038"/>
                </a:solidFill>
                <a:latin typeface="Roboto Mono"/>
                <a:ea typeface="Roboto Mono"/>
                <a:cs typeface="Roboto Mono"/>
                <a:sym typeface="Roboto Mono"/>
              </a:rPr>
              <a:t>document.cookie</a:t>
            </a:r>
            <a:r>
              <a:rPr lang="es" sz="1100">
                <a:solidFill>
                  <a:srgbClr val="000000"/>
                </a:solidFill>
                <a:latin typeface="Arial"/>
                <a:ea typeface="Arial"/>
                <a:cs typeface="Arial"/>
                <a:sym typeface="Arial"/>
              </a:rPr>
              <a:t>. Cuando se establece una cookie, puedes especificar varios atributos como su valor, fecha de expiración, ruta, dominio, etc. Los atributos más comunes son:</a:t>
            </a:r>
            <a:endParaRPr sz="11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b="1" lang="es" sz="1100">
                <a:solidFill>
                  <a:srgbClr val="188038"/>
                </a:solidFill>
                <a:latin typeface="Roboto Mono"/>
                <a:ea typeface="Roboto Mono"/>
                <a:cs typeface="Roboto Mono"/>
                <a:sym typeface="Roboto Mono"/>
              </a:rPr>
              <a:t>expires</a:t>
            </a:r>
            <a:r>
              <a:rPr lang="es" sz="1100">
                <a:solidFill>
                  <a:srgbClr val="000000"/>
                </a:solidFill>
                <a:latin typeface="Arial"/>
                <a:ea typeface="Arial"/>
                <a:cs typeface="Arial"/>
                <a:sym typeface="Arial"/>
              </a:rPr>
              <a:t>: Especifica cuándo expira la cookie. Si no se proporciona, la cookie será una cookie de sesión (se eliminará al cerrar el navegador).</a:t>
            </a:r>
            <a:endParaRPr sz="1100">
              <a:solidFill>
                <a:srgbClr val="000000"/>
              </a:solidFill>
              <a:latin typeface="Arial"/>
              <a:ea typeface="Arial"/>
              <a:cs typeface="Arial"/>
              <a:sym typeface="Arial"/>
            </a:endParaRPr>
          </a:p>
          <a:p>
            <a:pPr indent="-298450" lvl="1" marL="914400" rtl="0" algn="l">
              <a:lnSpc>
                <a:spcPct val="115000"/>
              </a:lnSpc>
              <a:spcBef>
                <a:spcPts val="0"/>
              </a:spcBef>
              <a:spcAft>
                <a:spcPts val="0"/>
              </a:spcAft>
              <a:buClr>
                <a:srgbClr val="000000"/>
              </a:buClr>
              <a:buSzPts val="1100"/>
              <a:buFont typeface="Arial"/>
              <a:buChar char="○"/>
            </a:pPr>
            <a:r>
              <a:rPr lang="es">
                <a:solidFill>
                  <a:srgbClr val="000000"/>
                </a:solidFill>
                <a:latin typeface="Arial"/>
                <a:ea typeface="Arial"/>
                <a:cs typeface="Arial"/>
                <a:sym typeface="Arial"/>
              </a:rPr>
              <a:t>Formato: </a:t>
            </a:r>
            <a:r>
              <a:rPr lang="es">
                <a:solidFill>
                  <a:srgbClr val="188038"/>
                </a:solidFill>
                <a:latin typeface="Roboto Mono"/>
                <a:ea typeface="Roboto Mono"/>
                <a:cs typeface="Roboto Mono"/>
                <a:sym typeface="Roboto Mono"/>
              </a:rPr>
              <a:t>expires=Thu, 18 Dec 2024 12:00:00 UTC</a:t>
            </a:r>
            <a:r>
              <a:rPr lang="es">
                <a:solidFill>
                  <a:srgbClr val="000000"/>
                </a:solidFill>
                <a:latin typeface="Arial"/>
                <a:ea typeface="Arial"/>
                <a:cs typeface="Arial"/>
                <a:sym typeface="Arial"/>
              </a:rPr>
              <a:t>.</a:t>
            </a:r>
            <a:endParaRPr>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1" lang="es" sz="1100">
                <a:solidFill>
                  <a:srgbClr val="188038"/>
                </a:solidFill>
                <a:latin typeface="Roboto Mono"/>
                <a:ea typeface="Roboto Mono"/>
                <a:cs typeface="Roboto Mono"/>
                <a:sym typeface="Roboto Mono"/>
              </a:rPr>
              <a:t>max-age</a:t>
            </a:r>
            <a:r>
              <a:rPr lang="es" sz="1100">
                <a:solidFill>
                  <a:srgbClr val="000000"/>
                </a:solidFill>
                <a:latin typeface="Arial"/>
                <a:ea typeface="Arial"/>
                <a:cs typeface="Arial"/>
                <a:sym typeface="Arial"/>
              </a:rPr>
              <a:t>: Define el tiempo de vida de la cookie en segundos. Es una alternativa a </a:t>
            </a:r>
            <a:r>
              <a:rPr lang="es" sz="1100">
                <a:solidFill>
                  <a:srgbClr val="188038"/>
                </a:solidFill>
                <a:latin typeface="Roboto Mono"/>
                <a:ea typeface="Roboto Mono"/>
                <a:cs typeface="Roboto Mono"/>
                <a:sym typeface="Roboto Mono"/>
              </a:rPr>
              <a:t>expires</a:t>
            </a:r>
            <a:r>
              <a:rPr lang="e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1" marL="914400" rtl="0" algn="l">
              <a:lnSpc>
                <a:spcPct val="115000"/>
              </a:lnSpc>
              <a:spcBef>
                <a:spcPts val="0"/>
              </a:spcBef>
              <a:spcAft>
                <a:spcPts val="0"/>
              </a:spcAft>
              <a:buClr>
                <a:srgbClr val="000000"/>
              </a:buClr>
              <a:buSzPts val="1100"/>
              <a:buFont typeface="Arial"/>
              <a:buChar char="○"/>
            </a:pPr>
            <a:r>
              <a:rPr lang="es">
                <a:solidFill>
                  <a:srgbClr val="000000"/>
                </a:solidFill>
                <a:latin typeface="Arial"/>
                <a:ea typeface="Arial"/>
                <a:cs typeface="Arial"/>
                <a:sym typeface="Arial"/>
              </a:rPr>
              <a:t>Ejemplo: </a:t>
            </a:r>
            <a:r>
              <a:rPr lang="es">
                <a:solidFill>
                  <a:srgbClr val="188038"/>
                </a:solidFill>
                <a:latin typeface="Roboto Mono"/>
                <a:ea typeface="Roboto Mono"/>
                <a:cs typeface="Roboto Mono"/>
                <a:sym typeface="Roboto Mono"/>
              </a:rPr>
              <a:t>max-age=3600</a:t>
            </a:r>
            <a:r>
              <a:rPr lang="es">
                <a:solidFill>
                  <a:srgbClr val="000000"/>
                </a:solidFill>
                <a:latin typeface="Arial"/>
                <a:ea typeface="Arial"/>
                <a:cs typeface="Arial"/>
                <a:sym typeface="Arial"/>
              </a:rPr>
              <a:t> (1 hora).</a:t>
            </a:r>
            <a:endParaRPr>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1" lang="es" sz="1100">
                <a:solidFill>
                  <a:srgbClr val="188038"/>
                </a:solidFill>
                <a:latin typeface="Roboto Mono"/>
                <a:ea typeface="Roboto Mono"/>
                <a:cs typeface="Roboto Mono"/>
                <a:sym typeface="Roboto Mono"/>
              </a:rPr>
              <a:t>path</a:t>
            </a:r>
            <a:r>
              <a:rPr lang="es" sz="1100">
                <a:solidFill>
                  <a:srgbClr val="000000"/>
                </a:solidFill>
                <a:latin typeface="Arial"/>
                <a:ea typeface="Arial"/>
                <a:cs typeface="Arial"/>
                <a:sym typeface="Arial"/>
              </a:rPr>
              <a:t>: Especifica el alcance de la cookie. Por defecto, las cookies son accesibles solo desde la ruta donde se crearon, pero puedes establecer un valor como </a:t>
            </a:r>
            <a:r>
              <a:rPr lang="es" sz="1100">
                <a:solidFill>
                  <a:srgbClr val="188038"/>
                </a:solidFill>
                <a:latin typeface="Roboto Mono"/>
                <a:ea typeface="Roboto Mono"/>
                <a:cs typeface="Roboto Mono"/>
                <a:sym typeface="Roboto Mono"/>
              </a:rPr>
              <a:t>/</a:t>
            </a:r>
            <a:r>
              <a:rPr lang="es" sz="1100">
                <a:solidFill>
                  <a:srgbClr val="000000"/>
                </a:solidFill>
                <a:latin typeface="Arial"/>
                <a:ea typeface="Arial"/>
                <a:cs typeface="Arial"/>
                <a:sym typeface="Arial"/>
              </a:rPr>
              <a:t> para hacerla accesible en todo el sitio.</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1" lang="es" sz="1100">
                <a:solidFill>
                  <a:srgbClr val="188038"/>
                </a:solidFill>
                <a:latin typeface="Roboto Mono"/>
                <a:ea typeface="Roboto Mono"/>
                <a:cs typeface="Roboto Mono"/>
                <a:sym typeface="Roboto Mono"/>
              </a:rPr>
              <a:t>domain</a:t>
            </a:r>
            <a:r>
              <a:rPr lang="es" sz="1100">
                <a:solidFill>
                  <a:srgbClr val="000000"/>
                </a:solidFill>
                <a:latin typeface="Arial"/>
                <a:ea typeface="Arial"/>
                <a:cs typeface="Arial"/>
                <a:sym typeface="Arial"/>
              </a:rPr>
              <a:t>: Especifica el dominio al que se aplica la cookie. Se usa para compartir cookies entre subdominios.</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1" lang="es" sz="1100">
                <a:solidFill>
                  <a:srgbClr val="188038"/>
                </a:solidFill>
                <a:latin typeface="Roboto Mono"/>
                <a:ea typeface="Roboto Mono"/>
                <a:cs typeface="Roboto Mono"/>
                <a:sym typeface="Roboto Mono"/>
              </a:rPr>
              <a:t>secure</a:t>
            </a:r>
            <a:r>
              <a:rPr lang="es" sz="1100">
                <a:solidFill>
                  <a:srgbClr val="000000"/>
                </a:solidFill>
                <a:latin typeface="Arial"/>
                <a:ea typeface="Arial"/>
                <a:cs typeface="Arial"/>
                <a:sym typeface="Arial"/>
              </a:rPr>
              <a:t>: Si se establece, la cookie solo se enviará a través de conexiones HTTPS seguras.</a:t>
            </a:r>
            <a:endParaRPr sz="1900"/>
          </a:p>
        </p:txBody>
      </p:sp>
      <p:sp>
        <p:nvSpPr>
          <p:cNvPr id="406" name="Google Shape;406;p50"/>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5.3 Cookies</a:t>
            </a:r>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11111"/>
              <a:buNone/>
            </a:pPr>
            <a:r>
              <a:rPr lang="es"/>
              <a:t>Uso de las cookies en JS: creación</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1"/>
          <p:cNvSpPr txBox="1"/>
          <p:nvPr>
            <p:ph idx="1" type="body"/>
          </p:nvPr>
        </p:nvSpPr>
        <p:spPr>
          <a:xfrm>
            <a:off x="729450" y="2078875"/>
            <a:ext cx="7688700" cy="2866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rPr b="1" lang="es" sz="1100">
                <a:solidFill>
                  <a:srgbClr val="000000"/>
                </a:solidFill>
                <a:latin typeface="Arial"/>
                <a:ea typeface="Arial"/>
                <a:cs typeface="Arial"/>
                <a:sym typeface="Arial"/>
              </a:rPr>
              <a:t>Ejemplo de creación de una cookie:</a:t>
            </a:r>
            <a:endParaRPr sz="1100">
              <a:solidFill>
                <a:srgbClr val="000000"/>
              </a:solidFill>
              <a:latin typeface="Arial"/>
              <a:ea typeface="Arial"/>
              <a:cs typeface="Arial"/>
              <a:sym typeface="Arial"/>
            </a:endParaRPr>
          </a:p>
          <a:p>
            <a:pPr indent="0" lvl="0" marL="457200" rtl="0" algn="l">
              <a:lnSpc>
                <a:spcPct val="115000"/>
              </a:lnSpc>
              <a:spcBef>
                <a:spcPts val="200"/>
              </a:spcBef>
              <a:spcAft>
                <a:spcPts val="0"/>
              </a:spcAft>
              <a:buSzPts val="1300"/>
              <a:buNone/>
            </a:pPr>
            <a:r>
              <a:rPr lang="es" sz="1100">
                <a:solidFill>
                  <a:srgbClr val="188038"/>
                </a:solidFill>
                <a:latin typeface="Roboto Mono"/>
                <a:ea typeface="Roboto Mono"/>
                <a:cs typeface="Roboto Mono"/>
                <a:sym typeface="Roboto Mono"/>
              </a:rPr>
              <a:t>// Crear una cookie con un valor y fecha de expiración</a:t>
            </a:r>
            <a:endParaRPr sz="1100">
              <a:solidFill>
                <a:srgbClr val="188038"/>
              </a:solidFill>
              <a:latin typeface="Roboto Mono"/>
              <a:ea typeface="Roboto Mono"/>
              <a:cs typeface="Roboto Mono"/>
              <a:sym typeface="Roboto Mono"/>
            </a:endParaRPr>
          </a:p>
          <a:p>
            <a:pPr indent="0" lvl="0" marL="457200" rtl="0" algn="l">
              <a:lnSpc>
                <a:spcPct val="115000"/>
              </a:lnSpc>
              <a:spcBef>
                <a:spcPts val="1200"/>
              </a:spcBef>
              <a:spcAft>
                <a:spcPts val="0"/>
              </a:spcAft>
              <a:buSzPts val="1300"/>
              <a:buNone/>
            </a:pPr>
            <a:r>
              <a:rPr lang="es" sz="1100">
                <a:solidFill>
                  <a:srgbClr val="188038"/>
                </a:solidFill>
                <a:latin typeface="Roboto Mono"/>
                <a:ea typeface="Roboto Mono"/>
                <a:cs typeface="Roboto Mono"/>
                <a:sym typeface="Roboto Mono"/>
              </a:rPr>
              <a:t>document.cookie = "username=Juana; expires=Thu, 18 Dec 2025 12:00:00 UTC; path=/";</a:t>
            </a:r>
            <a:endParaRPr sz="1100">
              <a:solidFill>
                <a:srgbClr val="188038"/>
              </a:solidFill>
              <a:latin typeface="Roboto Mono"/>
              <a:ea typeface="Roboto Mono"/>
              <a:cs typeface="Roboto Mono"/>
              <a:sym typeface="Roboto Mono"/>
            </a:endParaRPr>
          </a:p>
          <a:p>
            <a:pPr indent="-298450" lvl="0" marL="457200" rtl="0" algn="l">
              <a:lnSpc>
                <a:spcPct val="115000"/>
              </a:lnSpc>
              <a:spcBef>
                <a:spcPts val="1200"/>
              </a:spcBef>
              <a:spcAft>
                <a:spcPts val="0"/>
              </a:spcAft>
              <a:buClr>
                <a:srgbClr val="000000"/>
              </a:buClr>
              <a:buSzPts val="1100"/>
              <a:buFont typeface="Arial"/>
              <a:buChar char="●"/>
            </a:pPr>
            <a:r>
              <a:rPr b="1" lang="es" sz="1100">
                <a:solidFill>
                  <a:srgbClr val="188038"/>
                </a:solidFill>
                <a:latin typeface="Roboto Mono"/>
                <a:ea typeface="Roboto Mono"/>
                <a:cs typeface="Roboto Mono"/>
                <a:sym typeface="Roboto Mono"/>
              </a:rPr>
              <a:t>username=Juana</a:t>
            </a:r>
            <a:r>
              <a:rPr lang="es" sz="1100">
                <a:solidFill>
                  <a:srgbClr val="000000"/>
                </a:solidFill>
                <a:latin typeface="Arial"/>
                <a:ea typeface="Arial"/>
                <a:cs typeface="Arial"/>
                <a:sym typeface="Arial"/>
              </a:rPr>
              <a:t>: el valor de la cookie es </a:t>
            </a:r>
            <a:r>
              <a:rPr lang="es" sz="1100">
                <a:solidFill>
                  <a:srgbClr val="188038"/>
                </a:solidFill>
                <a:latin typeface="Roboto Mono"/>
                <a:ea typeface="Roboto Mono"/>
                <a:cs typeface="Roboto Mono"/>
                <a:sym typeface="Roboto Mono"/>
              </a:rPr>
              <a:t>John</a:t>
            </a:r>
            <a:r>
              <a:rPr lang="e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1" lang="es" sz="1100">
                <a:solidFill>
                  <a:srgbClr val="188038"/>
                </a:solidFill>
                <a:latin typeface="Roboto Mono"/>
                <a:ea typeface="Roboto Mono"/>
                <a:cs typeface="Roboto Mono"/>
                <a:sym typeface="Roboto Mono"/>
              </a:rPr>
              <a:t>expires=Thu, 18 Dec 2025 12:00:00 UTC</a:t>
            </a:r>
            <a:r>
              <a:rPr lang="es" sz="1100">
                <a:solidFill>
                  <a:srgbClr val="000000"/>
                </a:solidFill>
                <a:latin typeface="Arial"/>
                <a:ea typeface="Arial"/>
                <a:cs typeface="Arial"/>
                <a:sym typeface="Arial"/>
              </a:rPr>
              <a:t>: define cuándo caducará la cookie. Si no se especifica una fecha de expiración, la cookie será </a:t>
            </a:r>
            <a:r>
              <a:rPr b="1" lang="es" sz="1100">
                <a:solidFill>
                  <a:srgbClr val="000000"/>
                </a:solidFill>
                <a:latin typeface="Arial"/>
                <a:ea typeface="Arial"/>
                <a:cs typeface="Arial"/>
                <a:sym typeface="Arial"/>
              </a:rPr>
              <a:t>una cookie de sesión</a:t>
            </a:r>
            <a:r>
              <a:rPr lang="es" sz="1100">
                <a:solidFill>
                  <a:srgbClr val="000000"/>
                </a:solidFill>
                <a:latin typeface="Arial"/>
                <a:ea typeface="Arial"/>
                <a:cs typeface="Arial"/>
                <a:sym typeface="Arial"/>
              </a:rPr>
              <a:t>, es decir, se eliminará cuando se cierre el navegador.</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1" lang="es" sz="1100">
                <a:solidFill>
                  <a:srgbClr val="188038"/>
                </a:solidFill>
                <a:latin typeface="Roboto Mono"/>
                <a:ea typeface="Roboto Mono"/>
                <a:cs typeface="Roboto Mono"/>
                <a:sym typeface="Roboto Mono"/>
              </a:rPr>
              <a:t>path=/</a:t>
            </a:r>
            <a:r>
              <a:rPr lang="es" sz="1100">
                <a:solidFill>
                  <a:srgbClr val="000000"/>
                </a:solidFill>
                <a:latin typeface="Arial"/>
                <a:ea typeface="Arial"/>
                <a:cs typeface="Arial"/>
                <a:sym typeface="Arial"/>
              </a:rPr>
              <a:t>: especifica el ámbito (dominio y ruta) donde la cookie estará disponible. En este caso, está disponible para todo el sitio (ruta </a:t>
            </a:r>
            <a:r>
              <a:rPr lang="es" sz="1100">
                <a:solidFill>
                  <a:srgbClr val="188038"/>
                </a:solidFill>
                <a:latin typeface="Roboto Mono"/>
                <a:ea typeface="Roboto Mono"/>
                <a:cs typeface="Roboto Mono"/>
                <a:sym typeface="Roboto Mono"/>
              </a:rPr>
              <a:t>/</a:t>
            </a:r>
            <a:r>
              <a:rPr lang="es" sz="1100">
                <a:solidFill>
                  <a:srgbClr val="000000"/>
                </a:solidFill>
                <a:latin typeface="Arial"/>
                <a:ea typeface="Arial"/>
                <a:cs typeface="Arial"/>
                <a:sym typeface="Arial"/>
              </a:rPr>
              <a:t>).</a:t>
            </a:r>
            <a:endParaRPr sz="1900"/>
          </a:p>
        </p:txBody>
      </p:sp>
      <p:sp>
        <p:nvSpPr>
          <p:cNvPr id="412" name="Google Shape;412;p51"/>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5.3 Cookies</a:t>
            </a:r>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11111"/>
              <a:buNone/>
            </a:pPr>
            <a:r>
              <a:rPr lang="es"/>
              <a:t>Uso de las cookies en JS: creación</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2"/>
          <p:cNvSpPr txBox="1"/>
          <p:nvPr>
            <p:ph idx="1" type="body"/>
          </p:nvPr>
        </p:nvSpPr>
        <p:spPr>
          <a:xfrm>
            <a:off x="729450" y="2078875"/>
            <a:ext cx="7688700" cy="2866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 sz="1600">
                <a:solidFill>
                  <a:srgbClr val="333333"/>
                </a:solidFill>
                <a:latin typeface="Arial"/>
                <a:ea typeface="Arial"/>
                <a:cs typeface="Arial"/>
                <a:sym typeface="Arial"/>
              </a:rPr>
              <a:t>     function </a:t>
            </a:r>
            <a:r>
              <a:rPr lang="es" sz="1600">
                <a:solidFill>
                  <a:srgbClr val="9A0000"/>
                </a:solidFill>
                <a:latin typeface="Arial"/>
                <a:ea typeface="Arial"/>
                <a:cs typeface="Arial"/>
                <a:sym typeface="Arial"/>
              </a:rPr>
              <a:t>setCookie </a:t>
            </a:r>
            <a:r>
              <a:rPr lang="es" sz="1600">
                <a:solidFill>
                  <a:srgbClr val="333333"/>
                </a:solidFill>
                <a:latin typeface="Arial"/>
                <a:ea typeface="Arial"/>
                <a:cs typeface="Arial"/>
                <a:sym typeface="Arial"/>
              </a:rPr>
              <a:t>(cname, cvalue, exdays) {</a:t>
            </a:r>
            <a:endParaRPr sz="1600">
              <a:solidFill>
                <a:srgbClr val="333333"/>
              </a:solidFill>
              <a:latin typeface="Arial"/>
              <a:ea typeface="Arial"/>
              <a:cs typeface="Arial"/>
              <a:sym typeface="Arial"/>
            </a:endParaRPr>
          </a:p>
          <a:p>
            <a:pPr indent="0" lvl="0" marL="457200" rtl="0" algn="l">
              <a:lnSpc>
                <a:spcPct val="115000"/>
              </a:lnSpc>
              <a:spcBef>
                <a:spcPts val="0"/>
              </a:spcBef>
              <a:spcAft>
                <a:spcPts val="0"/>
              </a:spcAft>
              <a:buSzPts val="1300"/>
              <a:buNone/>
            </a:pPr>
            <a:r>
              <a:rPr lang="es" sz="1600">
                <a:solidFill>
                  <a:srgbClr val="333333"/>
                </a:solidFill>
                <a:latin typeface="Arial"/>
                <a:ea typeface="Arial"/>
                <a:cs typeface="Arial"/>
                <a:sym typeface="Arial"/>
              </a:rPr>
              <a:t>let d = new </a:t>
            </a:r>
            <a:r>
              <a:rPr lang="es" sz="1600">
                <a:solidFill>
                  <a:srgbClr val="0087B4"/>
                </a:solidFill>
                <a:latin typeface="Arial"/>
                <a:ea typeface="Arial"/>
                <a:cs typeface="Arial"/>
                <a:sym typeface="Arial"/>
              </a:rPr>
              <a:t>Date </a:t>
            </a:r>
            <a:r>
              <a:rPr lang="es" sz="1600">
                <a:solidFill>
                  <a:srgbClr val="333333"/>
                </a:solidFill>
                <a:latin typeface="Arial"/>
                <a:ea typeface="Arial"/>
                <a:cs typeface="Arial"/>
                <a:sym typeface="Arial"/>
              </a:rPr>
              <a:t>();</a:t>
            </a:r>
            <a:endParaRPr sz="1600">
              <a:solidFill>
                <a:srgbClr val="333333"/>
              </a:solidFill>
              <a:latin typeface="Arial"/>
              <a:ea typeface="Arial"/>
              <a:cs typeface="Arial"/>
              <a:sym typeface="Arial"/>
            </a:endParaRPr>
          </a:p>
          <a:p>
            <a:pPr indent="0" lvl="0" marL="457200" rtl="0" algn="l">
              <a:lnSpc>
                <a:spcPct val="115000"/>
              </a:lnSpc>
              <a:spcBef>
                <a:spcPts val="0"/>
              </a:spcBef>
              <a:spcAft>
                <a:spcPts val="0"/>
              </a:spcAft>
              <a:buSzPts val="1300"/>
              <a:buNone/>
            </a:pPr>
            <a:r>
              <a:rPr lang="es" sz="1600">
                <a:solidFill>
                  <a:srgbClr val="333333"/>
                </a:solidFill>
                <a:latin typeface="Arial"/>
                <a:ea typeface="Arial"/>
                <a:cs typeface="Arial"/>
                <a:sym typeface="Arial"/>
              </a:rPr>
              <a:t>d.setTime(d.getTime() + (exdays* </a:t>
            </a:r>
            <a:r>
              <a:rPr lang="es" sz="1600">
                <a:solidFill>
                  <a:srgbClr val="008181"/>
                </a:solidFill>
                <a:latin typeface="Arial"/>
                <a:ea typeface="Arial"/>
                <a:cs typeface="Arial"/>
                <a:sym typeface="Arial"/>
              </a:rPr>
              <a:t>24 </a:t>
            </a:r>
            <a:r>
              <a:rPr lang="es" sz="1600">
                <a:solidFill>
                  <a:srgbClr val="333333"/>
                </a:solidFill>
                <a:latin typeface="Arial"/>
                <a:ea typeface="Arial"/>
                <a:cs typeface="Arial"/>
                <a:sym typeface="Arial"/>
              </a:rPr>
              <a:t>* </a:t>
            </a:r>
            <a:r>
              <a:rPr lang="es" sz="1600">
                <a:solidFill>
                  <a:srgbClr val="008181"/>
                </a:solidFill>
                <a:latin typeface="Arial"/>
                <a:ea typeface="Arial"/>
                <a:cs typeface="Arial"/>
                <a:sym typeface="Arial"/>
              </a:rPr>
              <a:t>60 </a:t>
            </a:r>
            <a:r>
              <a:rPr lang="es" sz="1600">
                <a:solidFill>
                  <a:srgbClr val="333333"/>
                </a:solidFill>
                <a:latin typeface="Arial"/>
                <a:ea typeface="Arial"/>
                <a:cs typeface="Arial"/>
                <a:sym typeface="Arial"/>
              </a:rPr>
              <a:t>* </a:t>
            </a:r>
            <a:r>
              <a:rPr lang="es" sz="1600">
                <a:solidFill>
                  <a:srgbClr val="008181"/>
                </a:solidFill>
                <a:latin typeface="Arial"/>
                <a:ea typeface="Arial"/>
                <a:cs typeface="Arial"/>
                <a:sym typeface="Arial"/>
              </a:rPr>
              <a:t>60 </a:t>
            </a:r>
            <a:r>
              <a:rPr lang="es" sz="1600">
                <a:solidFill>
                  <a:srgbClr val="333333"/>
                </a:solidFill>
                <a:latin typeface="Arial"/>
                <a:ea typeface="Arial"/>
                <a:cs typeface="Arial"/>
                <a:sym typeface="Arial"/>
              </a:rPr>
              <a:t>* </a:t>
            </a:r>
            <a:r>
              <a:rPr lang="es" sz="1600">
                <a:solidFill>
                  <a:srgbClr val="008181"/>
                </a:solidFill>
                <a:latin typeface="Arial"/>
                <a:ea typeface="Arial"/>
                <a:cs typeface="Arial"/>
                <a:sym typeface="Arial"/>
              </a:rPr>
              <a:t>1000 </a:t>
            </a:r>
            <a:r>
              <a:rPr lang="es" sz="1600">
                <a:solidFill>
                  <a:srgbClr val="333333"/>
                </a:solidFill>
                <a:latin typeface="Arial"/>
                <a:ea typeface="Arial"/>
                <a:cs typeface="Arial"/>
                <a:sym typeface="Arial"/>
              </a:rPr>
              <a:t>));</a:t>
            </a:r>
            <a:endParaRPr sz="1600">
              <a:solidFill>
                <a:srgbClr val="333333"/>
              </a:solidFill>
              <a:latin typeface="Arial"/>
              <a:ea typeface="Arial"/>
              <a:cs typeface="Arial"/>
              <a:sym typeface="Arial"/>
            </a:endParaRPr>
          </a:p>
          <a:p>
            <a:pPr indent="0" lvl="0" marL="457200" rtl="0" algn="l">
              <a:lnSpc>
                <a:spcPct val="115000"/>
              </a:lnSpc>
              <a:spcBef>
                <a:spcPts val="0"/>
              </a:spcBef>
              <a:spcAft>
                <a:spcPts val="0"/>
              </a:spcAft>
              <a:buSzPts val="1300"/>
              <a:buNone/>
            </a:pPr>
            <a:r>
              <a:rPr lang="es" sz="1600">
                <a:solidFill>
                  <a:srgbClr val="333333"/>
                </a:solidFill>
                <a:latin typeface="Arial"/>
                <a:ea typeface="Arial"/>
                <a:cs typeface="Arial"/>
                <a:sym typeface="Arial"/>
              </a:rPr>
              <a:t>let expires = </a:t>
            </a:r>
            <a:r>
              <a:rPr lang="es" sz="1600">
                <a:solidFill>
                  <a:srgbClr val="DE1144"/>
                </a:solidFill>
                <a:latin typeface="Arial"/>
                <a:ea typeface="Arial"/>
                <a:cs typeface="Arial"/>
                <a:sym typeface="Arial"/>
              </a:rPr>
              <a:t>"expires=" </a:t>
            </a:r>
            <a:r>
              <a:rPr lang="es" sz="1600">
                <a:solidFill>
                  <a:srgbClr val="333333"/>
                </a:solidFill>
                <a:latin typeface="Arial"/>
                <a:ea typeface="Arial"/>
                <a:cs typeface="Arial"/>
                <a:sym typeface="Arial"/>
              </a:rPr>
              <a:t>+d.toUTCString();</a:t>
            </a:r>
            <a:endParaRPr sz="1600">
              <a:solidFill>
                <a:srgbClr val="333333"/>
              </a:solidFill>
              <a:latin typeface="Arial"/>
              <a:ea typeface="Arial"/>
              <a:cs typeface="Arial"/>
              <a:sym typeface="Arial"/>
            </a:endParaRPr>
          </a:p>
          <a:p>
            <a:pPr indent="0" lvl="0" marL="457200" rtl="0" algn="l">
              <a:lnSpc>
                <a:spcPct val="115000"/>
              </a:lnSpc>
              <a:spcBef>
                <a:spcPts val="0"/>
              </a:spcBef>
              <a:spcAft>
                <a:spcPts val="0"/>
              </a:spcAft>
              <a:buSzPts val="1300"/>
              <a:buNone/>
            </a:pPr>
            <a:r>
              <a:rPr lang="es" sz="1600">
                <a:solidFill>
                  <a:srgbClr val="0087B4"/>
                </a:solidFill>
                <a:latin typeface="Arial"/>
                <a:ea typeface="Arial"/>
                <a:cs typeface="Arial"/>
                <a:sym typeface="Arial"/>
              </a:rPr>
              <a:t>document </a:t>
            </a:r>
            <a:r>
              <a:rPr lang="es" sz="1600">
                <a:solidFill>
                  <a:srgbClr val="333333"/>
                </a:solidFill>
                <a:latin typeface="Arial"/>
                <a:ea typeface="Arial"/>
                <a:cs typeface="Arial"/>
                <a:sym typeface="Arial"/>
              </a:rPr>
              <a:t>.cookie = cname + </a:t>
            </a:r>
            <a:r>
              <a:rPr lang="es" sz="1600">
                <a:solidFill>
                  <a:srgbClr val="DE1144"/>
                </a:solidFill>
                <a:latin typeface="Arial"/>
                <a:ea typeface="Arial"/>
                <a:cs typeface="Arial"/>
                <a:sym typeface="Arial"/>
              </a:rPr>
              <a:t>"=" </a:t>
            </a:r>
            <a:r>
              <a:rPr lang="es" sz="1600">
                <a:solidFill>
                  <a:srgbClr val="333333"/>
                </a:solidFill>
                <a:latin typeface="Arial"/>
                <a:ea typeface="Arial"/>
                <a:cs typeface="Arial"/>
                <a:sym typeface="Arial"/>
              </a:rPr>
              <a:t>+ cvalue + </a:t>
            </a:r>
            <a:r>
              <a:rPr lang="es" sz="1600">
                <a:solidFill>
                  <a:srgbClr val="DE1144"/>
                </a:solidFill>
                <a:latin typeface="Arial"/>
                <a:ea typeface="Arial"/>
                <a:cs typeface="Arial"/>
                <a:sym typeface="Arial"/>
              </a:rPr>
              <a:t>";" </a:t>
            </a:r>
            <a:r>
              <a:rPr lang="es" sz="1600">
                <a:solidFill>
                  <a:srgbClr val="333333"/>
                </a:solidFill>
                <a:latin typeface="Arial"/>
                <a:ea typeface="Arial"/>
                <a:cs typeface="Arial"/>
                <a:sym typeface="Arial"/>
              </a:rPr>
              <a:t>+ expires + </a:t>
            </a:r>
            <a:r>
              <a:rPr lang="es" sz="1600">
                <a:solidFill>
                  <a:srgbClr val="DE1144"/>
                </a:solidFill>
                <a:latin typeface="Arial"/>
                <a:ea typeface="Arial"/>
                <a:cs typeface="Arial"/>
                <a:sym typeface="Arial"/>
              </a:rPr>
              <a:t>";path=/" </a:t>
            </a:r>
            <a:r>
              <a:rPr lang="es" sz="1600">
                <a:solidFill>
                  <a:srgbClr val="333333"/>
                </a:solidFill>
                <a:latin typeface="Arial"/>
                <a:ea typeface="Arial"/>
                <a:cs typeface="Arial"/>
                <a:sym typeface="Arial"/>
              </a:rPr>
              <a:t>;</a:t>
            </a:r>
            <a:endParaRPr sz="1600">
              <a:solidFill>
                <a:srgbClr val="333333"/>
              </a:solidFill>
              <a:latin typeface="Arial"/>
              <a:ea typeface="Arial"/>
              <a:cs typeface="Arial"/>
              <a:sym typeface="Arial"/>
            </a:endParaRPr>
          </a:p>
          <a:p>
            <a:pPr indent="0" lvl="0" marL="0" rtl="0" algn="l">
              <a:lnSpc>
                <a:spcPct val="115000"/>
              </a:lnSpc>
              <a:spcBef>
                <a:spcPts val="0"/>
              </a:spcBef>
              <a:spcAft>
                <a:spcPts val="0"/>
              </a:spcAft>
              <a:buSzPts val="1300"/>
              <a:buNone/>
            </a:pPr>
            <a:r>
              <a:rPr lang="es" sz="1600">
                <a:solidFill>
                  <a:srgbClr val="333333"/>
                </a:solidFill>
                <a:latin typeface="Arial"/>
                <a:ea typeface="Arial"/>
                <a:cs typeface="Arial"/>
                <a:sym typeface="Arial"/>
              </a:rPr>
              <a:t>        }</a:t>
            </a:r>
            <a:endParaRPr b="1" sz="2600">
              <a:latin typeface="Arial"/>
              <a:ea typeface="Arial"/>
              <a:cs typeface="Arial"/>
              <a:sym typeface="Arial"/>
            </a:endParaRPr>
          </a:p>
        </p:txBody>
      </p:sp>
      <p:sp>
        <p:nvSpPr>
          <p:cNvPr id="418" name="Google Shape;418;p52"/>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5.3 Cookies</a:t>
            </a:r>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11111"/>
              <a:buNone/>
            </a:pPr>
            <a:r>
              <a:rPr lang="es"/>
              <a:t>Uso de las cookies en JS: creación</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3"/>
          <p:cNvSpPr txBox="1"/>
          <p:nvPr>
            <p:ph idx="1" type="body"/>
          </p:nvPr>
        </p:nvSpPr>
        <p:spPr>
          <a:xfrm>
            <a:off x="729450" y="2078875"/>
            <a:ext cx="7688700" cy="2866500"/>
          </a:xfrm>
          <a:prstGeom prst="rect">
            <a:avLst/>
          </a:prstGeom>
          <a:noFill/>
          <a:ln>
            <a:noFill/>
          </a:ln>
        </p:spPr>
        <p:txBody>
          <a:bodyPr anchorCtr="0" anchor="t" bIns="91425" lIns="91425" spcFirstLastPara="1" rIns="91425" wrap="square" tIns="91425">
            <a:normAutofit/>
          </a:bodyPr>
          <a:lstStyle/>
          <a:p>
            <a:pPr indent="-323850" lvl="0" marL="457200" rtl="0" algn="l">
              <a:lnSpc>
                <a:spcPct val="115000"/>
              </a:lnSpc>
              <a:spcBef>
                <a:spcPts val="1200"/>
              </a:spcBef>
              <a:spcAft>
                <a:spcPts val="0"/>
              </a:spcAft>
              <a:buClr>
                <a:srgbClr val="000000"/>
              </a:buClr>
              <a:buSzPts val="1500"/>
              <a:buFont typeface="Arial"/>
              <a:buChar char="●"/>
            </a:pPr>
            <a:r>
              <a:rPr lang="es" sz="1500">
                <a:solidFill>
                  <a:srgbClr val="000000"/>
                </a:solidFill>
                <a:latin typeface="Arial"/>
                <a:ea typeface="Arial"/>
                <a:cs typeface="Arial"/>
                <a:sym typeface="Arial"/>
              </a:rPr>
              <a:t>Las cookies no se pueden </a:t>
            </a:r>
            <a:r>
              <a:rPr b="1" lang="es" sz="1500">
                <a:solidFill>
                  <a:srgbClr val="000000"/>
                </a:solidFill>
                <a:latin typeface="Arial"/>
                <a:ea typeface="Arial"/>
                <a:cs typeface="Arial"/>
                <a:sym typeface="Arial"/>
              </a:rPr>
              <a:t>actualizar</a:t>
            </a:r>
            <a:r>
              <a:rPr lang="es" sz="1500">
                <a:solidFill>
                  <a:srgbClr val="000000"/>
                </a:solidFill>
                <a:latin typeface="Arial"/>
                <a:ea typeface="Arial"/>
                <a:cs typeface="Arial"/>
                <a:sym typeface="Arial"/>
              </a:rPr>
              <a:t> directamente. Para modificarlas, simplemente debes </a:t>
            </a:r>
            <a:r>
              <a:rPr b="1" lang="es" sz="1500">
                <a:solidFill>
                  <a:srgbClr val="000000"/>
                </a:solidFill>
                <a:latin typeface="Arial"/>
                <a:ea typeface="Arial"/>
                <a:cs typeface="Arial"/>
                <a:sym typeface="Arial"/>
              </a:rPr>
              <a:t>volver a asignar un valor</a:t>
            </a:r>
            <a:r>
              <a:rPr lang="es" sz="1500">
                <a:solidFill>
                  <a:srgbClr val="000000"/>
                </a:solidFill>
                <a:latin typeface="Arial"/>
                <a:ea typeface="Arial"/>
                <a:cs typeface="Arial"/>
                <a:sym typeface="Arial"/>
              </a:rPr>
              <a:t> para la misma cookie, utilizando el mismo nombre y opcionalmente otros parámetros</a:t>
            </a:r>
            <a:endParaRPr sz="1500">
              <a:solidFill>
                <a:srgbClr val="000000"/>
              </a:solidFill>
              <a:latin typeface="Arial"/>
              <a:ea typeface="Arial"/>
              <a:cs typeface="Arial"/>
              <a:sym typeface="Arial"/>
            </a:endParaRPr>
          </a:p>
          <a:p>
            <a:pPr indent="0" lvl="0" marL="457200" rtl="0" algn="l">
              <a:lnSpc>
                <a:spcPct val="115000"/>
              </a:lnSpc>
              <a:spcBef>
                <a:spcPts val="1200"/>
              </a:spcBef>
              <a:spcAft>
                <a:spcPts val="1200"/>
              </a:spcAft>
              <a:buSzPts val="1300"/>
              <a:buNone/>
            </a:pPr>
            <a:r>
              <a:t/>
            </a:r>
            <a:endParaRPr b="1" sz="1100">
              <a:solidFill>
                <a:srgbClr val="000000"/>
              </a:solidFill>
              <a:latin typeface="Arial"/>
              <a:ea typeface="Arial"/>
              <a:cs typeface="Arial"/>
              <a:sym typeface="Arial"/>
            </a:endParaRPr>
          </a:p>
        </p:txBody>
      </p:sp>
      <p:sp>
        <p:nvSpPr>
          <p:cNvPr id="424" name="Google Shape;424;p53"/>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5.3 Cookies</a:t>
            </a:r>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11111"/>
              <a:buNone/>
            </a:pPr>
            <a:r>
              <a:rPr lang="es"/>
              <a:t>Uso de las cookies en JS: modificación</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54"/>
          <p:cNvSpPr txBox="1"/>
          <p:nvPr>
            <p:ph idx="1" type="body"/>
          </p:nvPr>
        </p:nvSpPr>
        <p:spPr>
          <a:xfrm>
            <a:off x="729450" y="2078875"/>
            <a:ext cx="7688700" cy="28665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1200"/>
              </a:spcBef>
              <a:spcAft>
                <a:spcPts val="0"/>
              </a:spcAft>
              <a:buClr>
                <a:srgbClr val="000000"/>
              </a:buClr>
              <a:buSzPts val="1300"/>
              <a:buFont typeface="Arial"/>
              <a:buChar char="●"/>
            </a:pPr>
            <a:r>
              <a:rPr lang="es">
                <a:solidFill>
                  <a:srgbClr val="000000"/>
                </a:solidFill>
                <a:latin typeface="Arial"/>
                <a:ea typeface="Arial"/>
                <a:cs typeface="Arial"/>
                <a:sym typeface="Arial"/>
              </a:rPr>
              <a:t>Para leer las cookies en JavaScript, puedes acceder al valor de </a:t>
            </a:r>
            <a:r>
              <a:rPr lang="es">
                <a:solidFill>
                  <a:srgbClr val="188038"/>
                </a:solidFill>
                <a:latin typeface="Arial"/>
                <a:ea typeface="Arial"/>
                <a:cs typeface="Arial"/>
                <a:sym typeface="Arial"/>
              </a:rPr>
              <a:t>document.cookie</a:t>
            </a:r>
            <a:r>
              <a:rPr lang="es">
                <a:solidFill>
                  <a:srgbClr val="000000"/>
                </a:solidFill>
                <a:latin typeface="Arial"/>
                <a:ea typeface="Arial"/>
                <a:cs typeface="Arial"/>
                <a:sym typeface="Arial"/>
              </a:rPr>
              <a:t>. Esto te devolverá una cadena que contiene todas las cookies almacenadas para el dominio actual. Las cookies están separadas por un punto y coma (</a:t>
            </a:r>
            <a:r>
              <a:rPr lang="es">
                <a:solidFill>
                  <a:srgbClr val="188038"/>
                </a:solidFill>
                <a:latin typeface="Arial"/>
                <a:ea typeface="Arial"/>
                <a:cs typeface="Arial"/>
                <a:sym typeface="Arial"/>
              </a:rPr>
              <a:t>;</a:t>
            </a:r>
            <a:r>
              <a:rPr lang="es">
                <a:solidFill>
                  <a:srgbClr val="000000"/>
                </a:solidFill>
                <a:latin typeface="Arial"/>
                <a:ea typeface="Arial"/>
                <a:cs typeface="Arial"/>
                <a:sym typeface="Arial"/>
              </a:rPr>
              <a:t>).</a:t>
            </a:r>
            <a:endParaRPr>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lang="es">
                <a:solidFill>
                  <a:srgbClr val="000000"/>
                </a:solidFill>
                <a:latin typeface="Arial"/>
                <a:ea typeface="Arial"/>
                <a:cs typeface="Arial"/>
                <a:sym typeface="Arial"/>
              </a:rPr>
              <a:t>Si tenemos varias, como por ejemplo: </a:t>
            </a:r>
            <a:endParaRPr>
              <a:solidFill>
                <a:srgbClr val="000000"/>
              </a:solidFill>
              <a:latin typeface="Arial"/>
              <a:ea typeface="Arial"/>
              <a:cs typeface="Arial"/>
              <a:sym typeface="Arial"/>
            </a:endParaRPr>
          </a:p>
          <a:p>
            <a:pPr indent="0" lvl="0" marL="457200" rtl="0" algn="l">
              <a:lnSpc>
                <a:spcPct val="115000"/>
              </a:lnSpc>
              <a:spcBef>
                <a:spcPts val="1200"/>
              </a:spcBef>
              <a:spcAft>
                <a:spcPts val="0"/>
              </a:spcAft>
              <a:buSzPts val="1300"/>
              <a:buNone/>
            </a:pPr>
            <a:r>
              <a:rPr i="1" lang="es">
                <a:solidFill>
                  <a:srgbClr val="000000"/>
                </a:solidFill>
                <a:latin typeface="Arial"/>
                <a:ea typeface="Arial"/>
                <a:cs typeface="Arial"/>
                <a:sym typeface="Arial"/>
              </a:rPr>
              <a:t>document.cookie = "user=John; expires=Thu, 18 Dec 2025 12:00:00 UTC; path=/";</a:t>
            </a:r>
            <a:endParaRPr i="1">
              <a:solidFill>
                <a:srgbClr val="000000"/>
              </a:solidFill>
              <a:latin typeface="Arial"/>
              <a:ea typeface="Arial"/>
              <a:cs typeface="Arial"/>
              <a:sym typeface="Arial"/>
            </a:endParaRPr>
          </a:p>
          <a:p>
            <a:pPr indent="0" lvl="0" marL="457200" rtl="0" algn="l">
              <a:lnSpc>
                <a:spcPct val="115000"/>
              </a:lnSpc>
              <a:spcBef>
                <a:spcPts val="1200"/>
              </a:spcBef>
              <a:spcAft>
                <a:spcPts val="0"/>
              </a:spcAft>
              <a:buSzPts val="1300"/>
              <a:buNone/>
            </a:pPr>
            <a:r>
              <a:rPr i="1" lang="es">
                <a:solidFill>
                  <a:srgbClr val="000000"/>
                </a:solidFill>
                <a:latin typeface="Arial"/>
                <a:ea typeface="Arial"/>
                <a:cs typeface="Arial"/>
                <a:sym typeface="Arial"/>
              </a:rPr>
              <a:t>document.cookie = "theme=dark; expires=Thu, 18 Dec 2025 12:00:00 UTC; path=/";</a:t>
            </a:r>
            <a:endParaRPr i="1">
              <a:solidFill>
                <a:srgbClr val="000000"/>
              </a:solidFill>
              <a:latin typeface="Arial"/>
              <a:ea typeface="Arial"/>
              <a:cs typeface="Arial"/>
              <a:sym typeface="Arial"/>
            </a:endParaRPr>
          </a:p>
          <a:p>
            <a:pPr indent="0" lvl="0" marL="457200" rtl="0" algn="l">
              <a:lnSpc>
                <a:spcPct val="115000"/>
              </a:lnSpc>
              <a:spcBef>
                <a:spcPts val="1200"/>
              </a:spcBef>
              <a:spcAft>
                <a:spcPts val="0"/>
              </a:spcAft>
              <a:buSzPts val="1300"/>
              <a:buNone/>
            </a:pPr>
            <a:r>
              <a:rPr lang="es">
                <a:solidFill>
                  <a:srgbClr val="000000"/>
                </a:solidFill>
                <a:latin typeface="Arial"/>
                <a:ea typeface="Arial"/>
                <a:cs typeface="Arial"/>
                <a:sym typeface="Arial"/>
              </a:rPr>
              <a:t>// Leer todas las cookies</a:t>
            </a:r>
            <a:endParaRPr>
              <a:solidFill>
                <a:srgbClr val="000000"/>
              </a:solidFill>
              <a:latin typeface="Arial"/>
              <a:ea typeface="Arial"/>
              <a:cs typeface="Arial"/>
              <a:sym typeface="Arial"/>
            </a:endParaRPr>
          </a:p>
          <a:p>
            <a:pPr indent="0" lvl="0" marL="457200" rtl="0" algn="l">
              <a:lnSpc>
                <a:spcPct val="115000"/>
              </a:lnSpc>
              <a:spcBef>
                <a:spcPts val="1200"/>
              </a:spcBef>
              <a:spcAft>
                <a:spcPts val="0"/>
              </a:spcAft>
              <a:buSzPts val="1300"/>
              <a:buNone/>
            </a:pPr>
            <a:r>
              <a:rPr lang="es">
                <a:solidFill>
                  <a:srgbClr val="000000"/>
                </a:solidFill>
                <a:latin typeface="Arial"/>
                <a:ea typeface="Arial"/>
                <a:cs typeface="Arial"/>
                <a:sym typeface="Arial"/>
              </a:rPr>
              <a:t>console.log(document.cookie);</a:t>
            </a:r>
            <a:endParaRPr>
              <a:solidFill>
                <a:srgbClr val="000000"/>
              </a:solidFill>
              <a:latin typeface="Arial"/>
              <a:ea typeface="Arial"/>
              <a:cs typeface="Arial"/>
              <a:sym typeface="Arial"/>
            </a:endParaRPr>
          </a:p>
          <a:p>
            <a:pPr indent="0" lvl="0" marL="457200" rtl="0" algn="l">
              <a:lnSpc>
                <a:spcPct val="115000"/>
              </a:lnSpc>
              <a:spcBef>
                <a:spcPts val="1200"/>
              </a:spcBef>
              <a:spcAft>
                <a:spcPts val="1200"/>
              </a:spcAft>
              <a:buSzPts val="1300"/>
              <a:buNone/>
            </a:pPr>
            <a:r>
              <a:rPr lang="es">
                <a:solidFill>
                  <a:srgbClr val="000000"/>
                </a:solidFill>
                <a:latin typeface="Arial"/>
                <a:ea typeface="Arial"/>
                <a:cs typeface="Arial"/>
                <a:sym typeface="Arial"/>
              </a:rPr>
              <a:t>"user=John; theme=dark"</a:t>
            </a:r>
            <a:endParaRPr b="1">
              <a:solidFill>
                <a:srgbClr val="000000"/>
              </a:solidFill>
              <a:latin typeface="Arial"/>
              <a:ea typeface="Arial"/>
              <a:cs typeface="Arial"/>
              <a:sym typeface="Arial"/>
            </a:endParaRPr>
          </a:p>
        </p:txBody>
      </p:sp>
      <p:sp>
        <p:nvSpPr>
          <p:cNvPr id="430" name="Google Shape;430;p54"/>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5.3 Cookies</a:t>
            </a:r>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11111"/>
              <a:buNone/>
            </a:pPr>
            <a:r>
              <a:rPr lang="es"/>
              <a:t>Uso de las cookies en JS: leer</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55"/>
          <p:cNvSpPr txBox="1"/>
          <p:nvPr>
            <p:ph idx="1" type="body"/>
          </p:nvPr>
        </p:nvSpPr>
        <p:spPr>
          <a:xfrm>
            <a:off x="729450" y="2078875"/>
            <a:ext cx="7688700" cy="272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s" sz="1200">
                <a:solidFill>
                  <a:srgbClr val="333333"/>
                </a:solidFill>
                <a:latin typeface="Arial"/>
                <a:ea typeface="Arial"/>
                <a:cs typeface="Arial"/>
                <a:sym typeface="Arial"/>
              </a:rPr>
              <a:t>function </a:t>
            </a:r>
            <a:r>
              <a:rPr lang="es" sz="1200">
                <a:solidFill>
                  <a:srgbClr val="9A0000"/>
                </a:solidFill>
                <a:latin typeface="Arial"/>
                <a:ea typeface="Arial"/>
                <a:cs typeface="Arial"/>
                <a:sym typeface="Arial"/>
              </a:rPr>
              <a:t>getCookie </a:t>
            </a:r>
            <a:r>
              <a:rPr lang="es" sz="1200">
                <a:solidFill>
                  <a:srgbClr val="333333"/>
                </a:solidFill>
                <a:latin typeface="Arial"/>
                <a:ea typeface="Arial"/>
                <a:cs typeface="Arial"/>
                <a:sym typeface="Arial"/>
              </a:rPr>
              <a:t>(cname) {</a:t>
            </a:r>
            <a:endParaRPr sz="1200">
              <a:solidFill>
                <a:srgbClr val="333333"/>
              </a:solidFill>
              <a:latin typeface="Arial"/>
              <a:ea typeface="Arial"/>
              <a:cs typeface="Arial"/>
              <a:sym typeface="Arial"/>
            </a:endParaRPr>
          </a:p>
          <a:p>
            <a:pPr indent="0" lvl="0" marL="457200" rtl="0" algn="l">
              <a:lnSpc>
                <a:spcPct val="115000"/>
              </a:lnSpc>
              <a:spcBef>
                <a:spcPts val="0"/>
              </a:spcBef>
              <a:spcAft>
                <a:spcPts val="0"/>
              </a:spcAft>
              <a:buSzPts val="1300"/>
              <a:buNone/>
            </a:pPr>
            <a:r>
              <a:rPr lang="es" sz="1200">
                <a:solidFill>
                  <a:srgbClr val="333333"/>
                </a:solidFill>
                <a:latin typeface="Arial"/>
                <a:ea typeface="Arial"/>
                <a:cs typeface="Arial"/>
                <a:sym typeface="Arial"/>
              </a:rPr>
              <a:t>let name = cname + </a:t>
            </a:r>
            <a:r>
              <a:rPr lang="es" sz="1200">
                <a:solidFill>
                  <a:srgbClr val="DE1144"/>
                </a:solidFill>
                <a:latin typeface="Arial"/>
                <a:ea typeface="Arial"/>
                <a:cs typeface="Arial"/>
                <a:sym typeface="Arial"/>
              </a:rPr>
              <a:t>"=" </a:t>
            </a:r>
            <a:r>
              <a:rPr lang="es" sz="1200">
                <a:solidFill>
                  <a:srgbClr val="333333"/>
                </a:solidFill>
                <a:latin typeface="Arial"/>
                <a:ea typeface="Arial"/>
                <a:cs typeface="Arial"/>
                <a:sym typeface="Arial"/>
              </a:rPr>
              <a:t>;</a:t>
            </a:r>
            <a:endParaRPr sz="1200">
              <a:solidFill>
                <a:srgbClr val="333333"/>
              </a:solidFill>
              <a:latin typeface="Arial"/>
              <a:ea typeface="Arial"/>
              <a:cs typeface="Arial"/>
              <a:sym typeface="Arial"/>
            </a:endParaRPr>
          </a:p>
          <a:p>
            <a:pPr indent="0" lvl="0" marL="457200" rtl="0" algn="l">
              <a:lnSpc>
                <a:spcPct val="115000"/>
              </a:lnSpc>
              <a:spcBef>
                <a:spcPts val="0"/>
              </a:spcBef>
              <a:spcAft>
                <a:spcPts val="0"/>
              </a:spcAft>
              <a:buSzPts val="1300"/>
              <a:buNone/>
            </a:pPr>
            <a:r>
              <a:rPr lang="es" sz="1200">
                <a:solidFill>
                  <a:srgbClr val="333333"/>
                </a:solidFill>
                <a:latin typeface="Arial"/>
                <a:ea typeface="Arial"/>
                <a:cs typeface="Arial"/>
                <a:sym typeface="Arial"/>
              </a:rPr>
              <a:t>let ca = </a:t>
            </a:r>
            <a:r>
              <a:rPr lang="es" sz="1200">
                <a:solidFill>
                  <a:srgbClr val="0087B4"/>
                </a:solidFill>
                <a:latin typeface="Arial"/>
                <a:ea typeface="Arial"/>
                <a:cs typeface="Arial"/>
                <a:sym typeface="Arial"/>
              </a:rPr>
              <a:t>document </a:t>
            </a:r>
            <a:r>
              <a:rPr lang="es" sz="1200">
                <a:solidFill>
                  <a:srgbClr val="333333"/>
                </a:solidFill>
                <a:latin typeface="Arial"/>
                <a:ea typeface="Arial"/>
                <a:cs typeface="Arial"/>
                <a:sym typeface="Arial"/>
              </a:rPr>
              <a:t>.cookie.split( </a:t>
            </a:r>
            <a:r>
              <a:rPr lang="es" sz="1200">
                <a:solidFill>
                  <a:srgbClr val="DE1144"/>
                </a:solidFill>
                <a:latin typeface="Arial"/>
                <a:ea typeface="Arial"/>
                <a:cs typeface="Arial"/>
                <a:sym typeface="Arial"/>
              </a:rPr>
              <a:t>';' </a:t>
            </a:r>
            <a:r>
              <a:rPr lang="es" sz="1200">
                <a:solidFill>
                  <a:srgbClr val="333333"/>
                </a:solidFill>
                <a:latin typeface="Arial"/>
                <a:ea typeface="Arial"/>
                <a:cs typeface="Arial"/>
                <a:sym typeface="Arial"/>
              </a:rPr>
              <a:t>);</a:t>
            </a:r>
            <a:endParaRPr sz="1200">
              <a:solidFill>
                <a:srgbClr val="333333"/>
              </a:solidFill>
              <a:latin typeface="Arial"/>
              <a:ea typeface="Arial"/>
              <a:cs typeface="Arial"/>
              <a:sym typeface="Arial"/>
            </a:endParaRPr>
          </a:p>
          <a:p>
            <a:pPr indent="0" lvl="0" marL="457200" rtl="0" algn="l">
              <a:lnSpc>
                <a:spcPct val="115000"/>
              </a:lnSpc>
              <a:spcBef>
                <a:spcPts val="0"/>
              </a:spcBef>
              <a:spcAft>
                <a:spcPts val="0"/>
              </a:spcAft>
              <a:buSzPts val="1300"/>
              <a:buNone/>
            </a:pPr>
            <a:r>
              <a:rPr lang="es" sz="1200">
                <a:solidFill>
                  <a:srgbClr val="333333"/>
                </a:solidFill>
                <a:latin typeface="Arial"/>
                <a:ea typeface="Arial"/>
                <a:cs typeface="Arial"/>
                <a:sym typeface="Arial"/>
              </a:rPr>
              <a:t>for ( let i = </a:t>
            </a:r>
            <a:r>
              <a:rPr lang="es" sz="1200">
                <a:solidFill>
                  <a:srgbClr val="008181"/>
                </a:solidFill>
                <a:latin typeface="Arial"/>
                <a:ea typeface="Arial"/>
                <a:cs typeface="Arial"/>
                <a:sym typeface="Arial"/>
              </a:rPr>
              <a:t>0 </a:t>
            </a:r>
            <a:r>
              <a:rPr lang="es" sz="1200">
                <a:solidFill>
                  <a:srgbClr val="333333"/>
                </a:solidFill>
                <a:latin typeface="Arial"/>
                <a:ea typeface="Arial"/>
                <a:cs typeface="Arial"/>
                <a:sym typeface="Arial"/>
              </a:rPr>
              <a:t>; i &lt; ca.length; i++) {</a:t>
            </a:r>
            <a:endParaRPr sz="1200">
              <a:solidFill>
                <a:srgbClr val="333333"/>
              </a:solidFill>
              <a:latin typeface="Arial"/>
              <a:ea typeface="Arial"/>
              <a:cs typeface="Arial"/>
              <a:sym typeface="Arial"/>
            </a:endParaRPr>
          </a:p>
          <a:p>
            <a:pPr indent="0" lvl="0" marL="914400" rtl="0" algn="l">
              <a:lnSpc>
                <a:spcPct val="115000"/>
              </a:lnSpc>
              <a:spcBef>
                <a:spcPts val="0"/>
              </a:spcBef>
              <a:spcAft>
                <a:spcPts val="0"/>
              </a:spcAft>
              <a:buSzPts val="1300"/>
              <a:buNone/>
            </a:pPr>
            <a:r>
              <a:rPr lang="es" sz="1200">
                <a:solidFill>
                  <a:srgbClr val="333333"/>
                </a:solidFill>
                <a:latin typeface="Arial"/>
                <a:ea typeface="Arial"/>
                <a:cs typeface="Arial"/>
                <a:sym typeface="Arial"/>
              </a:rPr>
              <a:t>let c = ca[i];</a:t>
            </a:r>
            <a:endParaRPr sz="1200">
              <a:solidFill>
                <a:srgbClr val="333333"/>
              </a:solidFill>
              <a:latin typeface="Arial"/>
              <a:ea typeface="Arial"/>
              <a:cs typeface="Arial"/>
              <a:sym typeface="Arial"/>
            </a:endParaRPr>
          </a:p>
          <a:p>
            <a:pPr indent="0" lvl="0" marL="914400" rtl="0" algn="l">
              <a:lnSpc>
                <a:spcPct val="115000"/>
              </a:lnSpc>
              <a:spcBef>
                <a:spcPts val="0"/>
              </a:spcBef>
              <a:spcAft>
                <a:spcPts val="0"/>
              </a:spcAft>
              <a:buSzPts val="1300"/>
              <a:buNone/>
            </a:pPr>
            <a:r>
              <a:rPr lang="es" sz="1200">
                <a:solidFill>
                  <a:srgbClr val="333333"/>
                </a:solidFill>
                <a:latin typeface="Arial"/>
                <a:ea typeface="Arial"/>
                <a:cs typeface="Arial"/>
                <a:sym typeface="Arial"/>
              </a:rPr>
              <a:t>while (c.charAt( </a:t>
            </a:r>
            <a:r>
              <a:rPr lang="es" sz="1200">
                <a:solidFill>
                  <a:srgbClr val="008181"/>
                </a:solidFill>
                <a:latin typeface="Arial"/>
                <a:ea typeface="Arial"/>
                <a:cs typeface="Arial"/>
                <a:sym typeface="Arial"/>
              </a:rPr>
              <a:t>0 </a:t>
            </a:r>
            <a:r>
              <a:rPr lang="es" sz="1200">
                <a:solidFill>
                  <a:srgbClr val="333333"/>
                </a:solidFill>
                <a:latin typeface="Arial"/>
                <a:ea typeface="Arial"/>
                <a:cs typeface="Arial"/>
                <a:sym typeface="Arial"/>
              </a:rPr>
              <a:t>) == </a:t>
            </a:r>
            <a:r>
              <a:rPr lang="es" sz="1200">
                <a:solidFill>
                  <a:srgbClr val="DE1144"/>
                </a:solidFill>
                <a:latin typeface="Arial"/>
                <a:ea typeface="Arial"/>
                <a:cs typeface="Arial"/>
                <a:sym typeface="Arial"/>
              </a:rPr>
              <a:t>' ' </a:t>
            </a:r>
            <a:r>
              <a:rPr lang="es" sz="1200">
                <a:solidFill>
                  <a:srgbClr val="333333"/>
                </a:solidFill>
                <a:latin typeface="Arial"/>
                <a:ea typeface="Arial"/>
                <a:cs typeface="Arial"/>
                <a:sym typeface="Arial"/>
              </a:rPr>
              <a:t>) {</a:t>
            </a:r>
            <a:endParaRPr sz="1200">
              <a:solidFill>
                <a:srgbClr val="333333"/>
              </a:solidFill>
              <a:latin typeface="Arial"/>
              <a:ea typeface="Arial"/>
              <a:cs typeface="Arial"/>
              <a:sym typeface="Arial"/>
            </a:endParaRPr>
          </a:p>
          <a:p>
            <a:pPr indent="457200" lvl="0" marL="914400" rtl="0" algn="l">
              <a:lnSpc>
                <a:spcPct val="115000"/>
              </a:lnSpc>
              <a:spcBef>
                <a:spcPts val="0"/>
              </a:spcBef>
              <a:spcAft>
                <a:spcPts val="0"/>
              </a:spcAft>
              <a:buSzPts val="1300"/>
              <a:buNone/>
            </a:pPr>
            <a:r>
              <a:rPr lang="es" sz="1200">
                <a:solidFill>
                  <a:srgbClr val="333333"/>
                </a:solidFill>
                <a:latin typeface="Arial"/>
                <a:ea typeface="Arial"/>
                <a:cs typeface="Arial"/>
                <a:sym typeface="Arial"/>
              </a:rPr>
              <a:t>c = c.substring( </a:t>
            </a:r>
            <a:r>
              <a:rPr lang="es" sz="1200">
                <a:solidFill>
                  <a:srgbClr val="008181"/>
                </a:solidFill>
                <a:latin typeface="Arial"/>
                <a:ea typeface="Arial"/>
                <a:cs typeface="Arial"/>
                <a:sym typeface="Arial"/>
              </a:rPr>
              <a:t>1 </a:t>
            </a:r>
            <a:r>
              <a:rPr lang="es" sz="1200">
                <a:solidFill>
                  <a:srgbClr val="333333"/>
                </a:solidFill>
                <a:latin typeface="Arial"/>
                <a:ea typeface="Arial"/>
                <a:cs typeface="Arial"/>
                <a:sym typeface="Arial"/>
              </a:rPr>
              <a:t>);</a:t>
            </a:r>
            <a:endParaRPr sz="1200">
              <a:solidFill>
                <a:srgbClr val="333333"/>
              </a:solidFill>
              <a:latin typeface="Arial"/>
              <a:ea typeface="Arial"/>
              <a:cs typeface="Arial"/>
              <a:sym typeface="Arial"/>
            </a:endParaRPr>
          </a:p>
          <a:p>
            <a:pPr indent="0" lvl="0" marL="914400" rtl="0" algn="l">
              <a:lnSpc>
                <a:spcPct val="115000"/>
              </a:lnSpc>
              <a:spcBef>
                <a:spcPts val="0"/>
              </a:spcBef>
              <a:spcAft>
                <a:spcPts val="0"/>
              </a:spcAft>
              <a:buSzPts val="1300"/>
              <a:buNone/>
            </a:pPr>
            <a:r>
              <a:rPr lang="es" sz="1200">
                <a:solidFill>
                  <a:srgbClr val="333333"/>
                </a:solidFill>
                <a:latin typeface="Arial"/>
                <a:ea typeface="Arial"/>
                <a:cs typeface="Arial"/>
                <a:sym typeface="Arial"/>
              </a:rPr>
              <a:t>}</a:t>
            </a:r>
            <a:endParaRPr sz="1200">
              <a:solidFill>
                <a:srgbClr val="333333"/>
              </a:solidFill>
              <a:latin typeface="Arial"/>
              <a:ea typeface="Arial"/>
              <a:cs typeface="Arial"/>
              <a:sym typeface="Arial"/>
            </a:endParaRPr>
          </a:p>
          <a:p>
            <a:pPr indent="0" lvl="0" marL="914400" rtl="0" algn="l">
              <a:lnSpc>
                <a:spcPct val="115000"/>
              </a:lnSpc>
              <a:spcBef>
                <a:spcPts val="0"/>
              </a:spcBef>
              <a:spcAft>
                <a:spcPts val="0"/>
              </a:spcAft>
              <a:buSzPts val="1300"/>
              <a:buNone/>
            </a:pPr>
            <a:r>
              <a:rPr lang="es" sz="1200">
                <a:solidFill>
                  <a:srgbClr val="333333"/>
                </a:solidFill>
                <a:latin typeface="Arial"/>
                <a:ea typeface="Arial"/>
                <a:cs typeface="Arial"/>
                <a:sym typeface="Arial"/>
              </a:rPr>
              <a:t>if (c.indexOf(name) == </a:t>
            </a:r>
            <a:r>
              <a:rPr lang="es" sz="1200">
                <a:solidFill>
                  <a:srgbClr val="008181"/>
                </a:solidFill>
                <a:latin typeface="Arial"/>
                <a:ea typeface="Arial"/>
                <a:cs typeface="Arial"/>
                <a:sym typeface="Arial"/>
              </a:rPr>
              <a:t>0 </a:t>
            </a:r>
            <a:r>
              <a:rPr lang="es" sz="1200">
                <a:solidFill>
                  <a:srgbClr val="333333"/>
                </a:solidFill>
                <a:latin typeface="Arial"/>
                <a:ea typeface="Arial"/>
                <a:cs typeface="Arial"/>
                <a:sym typeface="Arial"/>
              </a:rPr>
              <a:t>) {</a:t>
            </a:r>
            <a:endParaRPr sz="1200">
              <a:solidFill>
                <a:srgbClr val="333333"/>
              </a:solidFill>
              <a:latin typeface="Arial"/>
              <a:ea typeface="Arial"/>
              <a:cs typeface="Arial"/>
              <a:sym typeface="Arial"/>
            </a:endParaRPr>
          </a:p>
          <a:p>
            <a:pPr indent="0" lvl="0" marL="1371600" rtl="0" algn="l">
              <a:lnSpc>
                <a:spcPct val="115000"/>
              </a:lnSpc>
              <a:spcBef>
                <a:spcPts val="0"/>
              </a:spcBef>
              <a:spcAft>
                <a:spcPts val="0"/>
              </a:spcAft>
              <a:buSzPts val="1300"/>
              <a:buNone/>
            </a:pPr>
            <a:r>
              <a:rPr lang="es" sz="1200">
                <a:solidFill>
                  <a:srgbClr val="333333"/>
                </a:solidFill>
                <a:latin typeface="Arial"/>
                <a:ea typeface="Arial"/>
                <a:cs typeface="Arial"/>
                <a:sym typeface="Arial"/>
              </a:rPr>
              <a:t>return c.substring(name.length, c.length);</a:t>
            </a:r>
            <a:endParaRPr sz="1200">
              <a:solidFill>
                <a:srgbClr val="333333"/>
              </a:solidFill>
              <a:latin typeface="Arial"/>
              <a:ea typeface="Arial"/>
              <a:cs typeface="Arial"/>
              <a:sym typeface="Arial"/>
            </a:endParaRPr>
          </a:p>
          <a:p>
            <a:pPr indent="457200" lvl="0" marL="457200" rtl="0" algn="l">
              <a:lnSpc>
                <a:spcPct val="115000"/>
              </a:lnSpc>
              <a:spcBef>
                <a:spcPts val="0"/>
              </a:spcBef>
              <a:spcAft>
                <a:spcPts val="0"/>
              </a:spcAft>
              <a:buSzPts val="1300"/>
              <a:buNone/>
            </a:pPr>
            <a:r>
              <a:rPr lang="es" sz="1200">
                <a:solidFill>
                  <a:srgbClr val="333333"/>
                </a:solidFill>
                <a:latin typeface="Arial"/>
                <a:ea typeface="Arial"/>
                <a:cs typeface="Arial"/>
                <a:sym typeface="Arial"/>
              </a:rPr>
              <a:t>}</a:t>
            </a:r>
            <a:endParaRPr sz="1200">
              <a:solidFill>
                <a:srgbClr val="333333"/>
              </a:solidFill>
              <a:latin typeface="Arial"/>
              <a:ea typeface="Arial"/>
              <a:cs typeface="Arial"/>
              <a:sym typeface="Arial"/>
            </a:endParaRPr>
          </a:p>
          <a:p>
            <a:pPr indent="0" lvl="0" marL="457200" rtl="0" algn="l">
              <a:lnSpc>
                <a:spcPct val="115000"/>
              </a:lnSpc>
              <a:spcBef>
                <a:spcPts val="0"/>
              </a:spcBef>
              <a:spcAft>
                <a:spcPts val="0"/>
              </a:spcAft>
              <a:buSzPts val="1300"/>
              <a:buNone/>
            </a:pPr>
            <a:r>
              <a:rPr lang="es" sz="1200">
                <a:solidFill>
                  <a:srgbClr val="333333"/>
                </a:solidFill>
                <a:latin typeface="Arial"/>
                <a:ea typeface="Arial"/>
                <a:cs typeface="Arial"/>
                <a:sym typeface="Arial"/>
              </a:rPr>
              <a:t>}</a:t>
            </a:r>
            <a:endParaRPr sz="1200">
              <a:solidFill>
                <a:srgbClr val="333333"/>
              </a:solidFill>
              <a:latin typeface="Arial"/>
              <a:ea typeface="Arial"/>
              <a:cs typeface="Arial"/>
              <a:sym typeface="Arial"/>
            </a:endParaRPr>
          </a:p>
          <a:p>
            <a:pPr indent="0" lvl="0" marL="457200" rtl="0" algn="l">
              <a:lnSpc>
                <a:spcPct val="115000"/>
              </a:lnSpc>
              <a:spcBef>
                <a:spcPts val="0"/>
              </a:spcBef>
              <a:spcAft>
                <a:spcPts val="0"/>
              </a:spcAft>
              <a:buSzPts val="1300"/>
              <a:buNone/>
            </a:pPr>
            <a:r>
              <a:rPr lang="es" sz="1200">
                <a:solidFill>
                  <a:srgbClr val="333333"/>
                </a:solidFill>
                <a:latin typeface="Arial"/>
                <a:ea typeface="Arial"/>
                <a:cs typeface="Arial"/>
                <a:sym typeface="Arial"/>
              </a:rPr>
              <a:t>return </a:t>
            </a:r>
            <a:r>
              <a:rPr lang="es" sz="1200">
                <a:solidFill>
                  <a:srgbClr val="DE1144"/>
                </a:solidFill>
                <a:latin typeface="Arial"/>
                <a:ea typeface="Arial"/>
                <a:cs typeface="Arial"/>
                <a:sym typeface="Arial"/>
              </a:rPr>
              <a:t>"" </a:t>
            </a:r>
            <a:r>
              <a:rPr lang="es" sz="1200">
                <a:solidFill>
                  <a:srgbClr val="333333"/>
                </a:solidFill>
                <a:latin typeface="Arial"/>
                <a:ea typeface="Arial"/>
                <a:cs typeface="Arial"/>
                <a:sym typeface="Arial"/>
              </a:rPr>
              <a:t>;</a:t>
            </a:r>
            <a:endParaRPr sz="1200">
              <a:solidFill>
                <a:srgbClr val="333333"/>
              </a:solidFill>
              <a:latin typeface="Arial"/>
              <a:ea typeface="Arial"/>
              <a:cs typeface="Arial"/>
              <a:sym typeface="Arial"/>
            </a:endParaRPr>
          </a:p>
          <a:p>
            <a:pPr indent="0" lvl="0" marL="0" rtl="0" algn="l">
              <a:lnSpc>
                <a:spcPct val="115000"/>
              </a:lnSpc>
              <a:spcBef>
                <a:spcPts val="0"/>
              </a:spcBef>
              <a:spcAft>
                <a:spcPts val="0"/>
              </a:spcAft>
              <a:buSzPts val="1300"/>
              <a:buNone/>
            </a:pPr>
            <a:r>
              <a:rPr lang="es" sz="1200">
                <a:solidFill>
                  <a:srgbClr val="333333"/>
                </a:solidFill>
                <a:latin typeface="Arial"/>
                <a:ea typeface="Arial"/>
                <a:cs typeface="Arial"/>
                <a:sym typeface="Arial"/>
              </a:rPr>
              <a:t>}</a:t>
            </a:r>
            <a:endParaRPr sz="1600"/>
          </a:p>
        </p:txBody>
      </p:sp>
      <p:sp>
        <p:nvSpPr>
          <p:cNvPr id="436" name="Google Shape;436;p55"/>
          <p:cNvSpPr txBox="1"/>
          <p:nvPr>
            <p:ph type="title"/>
          </p:nvPr>
        </p:nvSpPr>
        <p:spPr>
          <a:xfrm>
            <a:off x="646000" y="673550"/>
            <a:ext cx="7980900" cy="1233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5.3 Cookies</a:t>
            </a:r>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11111"/>
              <a:buNone/>
            </a:pPr>
            <a:r>
              <a:rPr lang="es"/>
              <a:t>Uso de las cookies: leer una cookie</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56"/>
          <p:cNvSpPr txBox="1"/>
          <p:nvPr>
            <p:ph idx="1" type="body"/>
          </p:nvPr>
        </p:nvSpPr>
        <p:spPr>
          <a:xfrm>
            <a:off x="729450" y="2078875"/>
            <a:ext cx="7688700" cy="2866500"/>
          </a:xfrm>
          <a:prstGeom prst="rect">
            <a:avLst/>
          </a:prstGeom>
          <a:noFill/>
          <a:ln>
            <a:noFill/>
          </a:ln>
        </p:spPr>
        <p:txBody>
          <a:bodyPr anchorCtr="0" anchor="t" bIns="91425" lIns="91425" spcFirstLastPara="1" rIns="91425" wrap="square" tIns="91425">
            <a:normAutofit/>
          </a:bodyPr>
          <a:lstStyle/>
          <a:p>
            <a:pPr indent="-349250" lvl="0" marL="457200" rtl="0" algn="l">
              <a:lnSpc>
                <a:spcPct val="115000"/>
              </a:lnSpc>
              <a:spcBef>
                <a:spcPts val="1200"/>
              </a:spcBef>
              <a:spcAft>
                <a:spcPts val="0"/>
              </a:spcAft>
              <a:buSzPts val="1900"/>
              <a:buChar char="-"/>
            </a:pPr>
            <a:r>
              <a:rPr lang="es" sz="1100">
                <a:solidFill>
                  <a:srgbClr val="000000"/>
                </a:solidFill>
                <a:latin typeface="Arial"/>
                <a:ea typeface="Arial"/>
                <a:cs typeface="Arial"/>
                <a:sym typeface="Arial"/>
              </a:rPr>
              <a:t>Para eliminar una cookie, basta con establecer su fecha de expiración en una fecha pasada. De esta forma, la cookie se considera expirada y el navegador la eliminará.</a:t>
            </a:r>
            <a:endParaRPr sz="1100">
              <a:solidFill>
                <a:srgbClr val="000000"/>
              </a:solidFill>
              <a:latin typeface="Arial"/>
              <a:ea typeface="Arial"/>
              <a:cs typeface="Arial"/>
              <a:sym typeface="Arial"/>
            </a:endParaRPr>
          </a:p>
          <a:p>
            <a:pPr indent="0" lvl="0" marL="457200" rtl="0" algn="l">
              <a:lnSpc>
                <a:spcPct val="115000"/>
              </a:lnSpc>
              <a:spcBef>
                <a:spcPts val="1200"/>
              </a:spcBef>
              <a:spcAft>
                <a:spcPts val="0"/>
              </a:spcAft>
              <a:buSzPts val="1300"/>
              <a:buNone/>
            </a:pPr>
            <a:r>
              <a:rPr lang="es" sz="1100">
                <a:solidFill>
                  <a:srgbClr val="188038"/>
                </a:solidFill>
                <a:latin typeface="Roboto Mono"/>
                <a:ea typeface="Roboto Mono"/>
                <a:cs typeface="Roboto Mono"/>
                <a:sym typeface="Roboto Mono"/>
              </a:rPr>
              <a:t>// Eliminar la cookie 'username'</a:t>
            </a:r>
            <a:endParaRPr sz="1100">
              <a:solidFill>
                <a:srgbClr val="188038"/>
              </a:solidFill>
              <a:latin typeface="Roboto Mono"/>
              <a:ea typeface="Roboto Mono"/>
              <a:cs typeface="Roboto Mono"/>
              <a:sym typeface="Roboto Mono"/>
            </a:endParaRPr>
          </a:p>
          <a:p>
            <a:pPr indent="0" lvl="0" marL="457200" rtl="0" algn="l">
              <a:lnSpc>
                <a:spcPct val="115000"/>
              </a:lnSpc>
              <a:spcBef>
                <a:spcPts val="1200"/>
              </a:spcBef>
              <a:spcAft>
                <a:spcPts val="0"/>
              </a:spcAft>
              <a:buSzPts val="1300"/>
              <a:buNone/>
            </a:pPr>
            <a:r>
              <a:rPr lang="es" sz="1100">
                <a:solidFill>
                  <a:srgbClr val="188038"/>
                </a:solidFill>
                <a:latin typeface="Roboto Mono"/>
                <a:ea typeface="Roboto Mono"/>
                <a:cs typeface="Roboto Mono"/>
                <a:sym typeface="Roboto Mono"/>
              </a:rPr>
              <a:t>document.cookie = "username=; expires=Thu, 01 Jan 1970 00:00:00 UTC; path=/";</a:t>
            </a:r>
            <a:endParaRPr sz="1100">
              <a:solidFill>
                <a:srgbClr val="000000"/>
              </a:solidFill>
              <a:latin typeface="Arial"/>
              <a:ea typeface="Arial"/>
              <a:cs typeface="Arial"/>
              <a:sym typeface="Arial"/>
            </a:endParaRPr>
          </a:p>
          <a:p>
            <a:pPr indent="-349250" lvl="0" marL="457200" rtl="0" algn="l">
              <a:lnSpc>
                <a:spcPct val="115000"/>
              </a:lnSpc>
              <a:spcBef>
                <a:spcPts val="1200"/>
              </a:spcBef>
              <a:spcAft>
                <a:spcPts val="0"/>
              </a:spcAft>
              <a:buSzPts val="1900"/>
              <a:buChar char="-"/>
            </a:pPr>
            <a:r>
              <a:rPr lang="es" sz="1100">
                <a:solidFill>
                  <a:srgbClr val="000000"/>
                </a:solidFill>
                <a:latin typeface="Arial"/>
                <a:ea typeface="Arial"/>
                <a:cs typeface="Arial"/>
                <a:sym typeface="Arial"/>
              </a:rPr>
              <a:t>Al establecer la fecha de expiración en una fecha pasada, se elimina la cookie.</a:t>
            </a:r>
            <a:endParaRPr sz="1900"/>
          </a:p>
        </p:txBody>
      </p:sp>
      <p:sp>
        <p:nvSpPr>
          <p:cNvPr id="442" name="Google Shape;442;p56"/>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5.3 Cookies</a:t>
            </a:r>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11111"/>
              <a:buNone/>
            </a:pPr>
            <a:r>
              <a:rPr lang="es"/>
              <a:t>Uso de las cookies en JS: eliminar</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57"/>
          <p:cNvSpPr txBox="1"/>
          <p:nvPr>
            <p:ph idx="1" type="body"/>
          </p:nvPr>
        </p:nvSpPr>
        <p:spPr>
          <a:xfrm>
            <a:off x="265450" y="1469575"/>
            <a:ext cx="8152800" cy="3475800"/>
          </a:xfrm>
          <a:prstGeom prst="rect">
            <a:avLst/>
          </a:prstGeom>
          <a:noFill/>
          <a:ln>
            <a:noFill/>
          </a:ln>
        </p:spPr>
        <p:txBody>
          <a:bodyPr anchorCtr="0" anchor="t" bIns="91425" lIns="91425" spcFirstLastPara="1" rIns="91425" wrap="square" tIns="91425">
            <a:normAutofit/>
          </a:bodyPr>
          <a:lstStyle/>
          <a:p>
            <a:pPr indent="0" lvl="0" marL="457200" rtl="0" algn="l">
              <a:lnSpc>
                <a:spcPct val="115000"/>
              </a:lnSpc>
              <a:spcBef>
                <a:spcPts val="0"/>
              </a:spcBef>
              <a:spcAft>
                <a:spcPts val="0"/>
              </a:spcAft>
              <a:buSzPts val="1300"/>
              <a:buNone/>
            </a:pPr>
            <a:r>
              <a:rPr b="1" lang="es" sz="1050">
                <a:latin typeface="Roboto"/>
                <a:ea typeface="Roboto"/>
                <a:cs typeface="Roboto"/>
                <a:sym typeface="Roboto"/>
              </a:rPr>
              <a:t>EJERCICIO 6</a:t>
            </a:r>
            <a:endParaRPr b="1" sz="1050">
              <a:latin typeface="Roboto"/>
              <a:ea typeface="Roboto"/>
              <a:cs typeface="Roboto"/>
              <a:sym typeface="Roboto"/>
            </a:endParaRPr>
          </a:p>
          <a:p>
            <a:pPr indent="0" lvl="0" marL="457200" rtl="0" algn="l">
              <a:lnSpc>
                <a:spcPct val="115000"/>
              </a:lnSpc>
              <a:spcBef>
                <a:spcPts val="1200"/>
              </a:spcBef>
              <a:spcAft>
                <a:spcPts val="0"/>
              </a:spcAft>
              <a:buSzPts val="1300"/>
              <a:buNone/>
            </a:pPr>
            <a:r>
              <a:rPr b="1" lang="es" sz="1050">
                <a:latin typeface="Roboto"/>
                <a:ea typeface="Roboto"/>
                <a:cs typeface="Roboto"/>
                <a:sym typeface="Roboto"/>
              </a:rPr>
              <a:t>Crea </a:t>
            </a:r>
            <a:r>
              <a:rPr lang="es" sz="1050">
                <a:solidFill>
                  <a:srgbClr val="000000"/>
                </a:solidFill>
                <a:highlight>
                  <a:srgbClr val="FFFFFF"/>
                </a:highlight>
                <a:latin typeface="Roboto"/>
                <a:ea typeface="Roboto"/>
                <a:cs typeface="Roboto"/>
                <a:sym typeface="Roboto"/>
              </a:rPr>
              <a:t>un fichero que se llame “cookies.js” y que permita trabajar con las cookies de manera que puedas crear, borrar y consultar una cookie. Consulta los métodos tratados en clase y recuerda que el método borrar no ha sido creado aún así que deberás crearlo tú mismo. </a:t>
            </a:r>
            <a:endParaRPr sz="1050">
              <a:solidFill>
                <a:srgbClr val="000000"/>
              </a:solidFill>
              <a:highlight>
                <a:srgbClr val="FFFFFF"/>
              </a:highlight>
              <a:latin typeface="Roboto"/>
              <a:ea typeface="Roboto"/>
              <a:cs typeface="Roboto"/>
              <a:sym typeface="Roboto"/>
            </a:endParaRPr>
          </a:p>
          <a:p>
            <a:pPr indent="0" lvl="0" marL="457200" rtl="0" algn="l">
              <a:lnSpc>
                <a:spcPct val="115000"/>
              </a:lnSpc>
              <a:spcBef>
                <a:spcPts val="1200"/>
              </a:spcBef>
              <a:spcAft>
                <a:spcPts val="0"/>
              </a:spcAft>
              <a:buSzPts val="1300"/>
              <a:buNone/>
            </a:pPr>
            <a:r>
              <a:rPr lang="es" sz="1050">
                <a:solidFill>
                  <a:srgbClr val="000000"/>
                </a:solidFill>
                <a:highlight>
                  <a:srgbClr val="FFFFFF"/>
                </a:highlight>
                <a:latin typeface="Roboto"/>
                <a:ea typeface="Roboto"/>
                <a:cs typeface="Roboto"/>
                <a:sym typeface="Roboto"/>
              </a:rPr>
              <a:t>Después, modifica el ejercicio  anterior de las expresiones regulares de la siguiente manera: </a:t>
            </a:r>
            <a:endParaRPr sz="1050">
              <a:solidFill>
                <a:srgbClr val="000000"/>
              </a:solidFill>
              <a:highlight>
                <a:srgbClr val="FFFFFF"/>
              </a:highlight>
              <a:latin typeface="Roboto"/>
              <a:ea typeface="Roboto"/>
              <a:cs typeface="Roboto"/>
              <a:sym typeface="Roboto"/>
            </a:endParaRPr>
          </a:p>
          <a:p>
            <a:pPr indent="0" lvl="0" marL="914400" rtl="0" algn="l">
              <a:lnSpc>
                <a:spcPct val="115000"/>
              </a:lnSpc>
              <a:spcBef>
                <a:spcPts val="1200"/>
              </a:spcBef>
              <a:spcAft>
                <a:spcPts val="0"/>
              </a:spcAft>
              <a:buSzPts val="1300"/>
              <a:buNone/>
            </a:pPr>
            <a:r>
              <a:rPr lang="es" sz="1050">
                <a:solidFill>
                  <a:srgbClr val="000000"/>
                </a:solidFill>
                <a:highlight>
                  <a:srgbClr val="FFFFFF"/>
                </a:highlight>
                <a:latin typeface="Roboto"/>
                <a:ea typeface="Roboto"/>
                <a:cs typeface="Roboto"/>
                <a:sym typeface="Roboto"/>
              </a:rPr>
              <a:t>• Cada vez que el usuario trate de enviar el formulario y haya algún error, una variable contador (almacenada en una cookie) se incrementará. </a:t>
            </a:r>
            <a:endParaRPr sz="1050">
              <a:solidFill>
                <a:srgbClr val="000000"/>
              </a:solidFill>
              <a:highlight>
                <a:srgbClr val="FFFFFF"/>
              </a:highlight>
              <a:latin typeface="Roboto"/>
              <a:ea typeface="Roboto"/>
              <a:cs typeface="Roboto"/>
              <a:sym typeface="Roboto"/>
            </a:endParaRPr>
          </a:p>
          <a:p>
            <a:pPr indent="457200" lvl="0" marL="457200" rtl="0" algn="l">
              <a:lnSpc>
                <a:spcPct val="115000"/>
              </a:lnSpc>
              <a:spcBef>
                <a:spcPts val="1200"/>
              </a:spcBef>
              <a:spcAft>
                <a:spcPts val="0"/>
              </a:spcAft>
              <a:buSzPts val="1300"/>
              <a:buNone/>
            </a:pPr>
            <a:r>
              <a:rPr lang="es" sz="1050">
                <a:solidFill>
                  <a:srgbClr val="000000"/>
                </a:solidFill>
                <a:highlight>
                  <a:srgbClr val="FFFFFF"/>
                </a:highlight>
                <a:latin typeface="Roboto"/>
                <a:ea typeface="Roboto"/>
                <a:cs typeface="Roboto"/>
                <a:sym typeface="Roboto"/>
              </a:rPr>
              <a:t>• El resultado del número de intentos se reflejará en un campo de texto que se encontrará al final del formulario. </a:t>
            </a:r>
            <a:endParaRPr sz="1050">
              <a:solidFill>
                <a:srgbClr val="000000"/>
              </a:solidFill>
              <a:highlight>
                <a:srgbClr val="FFFFFF"/>
              </a:highlight>
              <a:latin typeface="Roboto"/>
              <a:ea typeface="Roboto"/>
              <a:cs typeface="Roboto"/>
              <a:sym typeface="Roboto"/>
            </a:endParaRPr>
          </a:p>
          <a:p>
            <a:pPr indent="457200" lvl="0" marL="457200" rtl="0" algn="l">
              <a:lnSpc>
                <a:spcPct val="115000"/>
              </a:lnSpc>
              <a:spcBef>
                <a:spcPts val="1200"/>
              </a:spcBef>
              <a:spcAft>
                <a:spcPts val="0"/>
              </a:spcAft>
              <a:buSzPts val="1300"/>
              <a:buNone/>
            </a:pPr>
            <a:r>
              <a:rPr lang="es" sz="1050">
                <a:solidFill>
                  <a:srgbClr val="000000"/>
                </a:solidFill>
                <a:highlight>
                  <a:srgbClr val="FFFFFF"/>
                </a:highlight>
                <a:latin typeface="Roboto"/>
                <a:ea typeface="Roboto"/>
                <a:cs typeface="Roboto"/>
                <a:sym typeface="Roboto"/>
              </a:rPr>
              <a:t>• Si el usuario sale del programa y vuelve a entrar, el campo de texto mostrará el número almacenado en la cookie. </a:t>
            </a:r>
            <a:endParaRPr sz="1050">
              <a:solidFill>
                <a:srgbClr val="000000"/>
              </a:solidFill>
              <a:highlight>
                <a:srgbClr val="FFFFFF"/>
              </a:highlight>
              <a:latin typeface="Roboto"/>
              <a:ea typeface="Roboto"/>
              <a:cs typeface="Roboto"/>
              <a:sym typeface="Roboto"/>
            </a:endParaRPr>
          </a:p>
          <a:p>
            <a:pPr indent="457200" lvl="0" marL="457200" rtl="0" algn="l">
              <a:lnSpc>
                <a:spcPct val="115000"/>
              </a:lnSpc>
              <a:spcBef>
                <a:spcPts val="1200"/>
              </a:spcBef>
              <a:spcAft>
                <a:spcPts val="1200"/>
              </a:spcAft>
              <a:buSzPts val="1300"/>
              <a:buNone/>
            </a:pPr>
            <a:r>
              <a:rPr lang="es" sz="1050">
                <a:solidFill>
                  <a:srgbClr val="000000"/>
                </a:solidFill>
                <a:highlight>
                  <a:srgbClr val="FFFFFF"/>
                </a:highlight>
                <a:latin typeface="Roboto"/>
                <a:ea typeface="Roboto"/>
                <a:cs typeface="Roboto"/>
                <a:sym typeface="Roboto"/>
              </a:rPr>
              <a:t>• Junto al campo de texto habrá un botón que, al pulsarlo, permitirá reiniciar el valor de la cookie a 0</a:t>
            </a:r>
            <a:endParaRPr sz="1900"/>
          </a:p>
        </p:txBody>
      </p:sp>
      <p:sp>
        <p:nvSpPr>
          <p:cNvPr id="448" name="Google Shape;448;p57"/>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5.3 Cookies</a:t>
            </a:r>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11111"/>
              <a:buNone/>
            </a:pPr>
            <a:r>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58"/>
          <p:cNvSpPr txBox="1"/>
          <p:nvPr>
            <p:ph idx="1" type="body"/>
          </p:nvPr>
        </p:nvSpPr>
        <p:spPr>
          <a:xfrm>
            <a:off x="729450" y="2078875"/>
            <a:ext cx="7688700" cy="25398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300"/>
              <a:buNone/>
            </a:pPr>
            <a:r>
              <a:rPr lang="es">
                <a:solidFill>
                  <a:srgbClr val="000000"/>
                </a:solidFill>
                <a:latin typeface="Arial"/>
                <a:ea typeface="Arial"/>
                <a:cs typeface="Arial"/>
                <a:sym typeface="Arial"/>
              </a:rPr>
              <a:t>Javascript aplicado a navegadores en principio no está pensado para almacenar grandes cantidades de datos. Existen dos formas de almacenar información en Javascript:</a:t>
            </a:r>
            <a:endParaRPr>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b="1" lang="es">
                <a:solidFill>
                  <a:srgbClr val="000000"/>
                </a:solidFill>
                <a:latin typeface="Arial"/>
                <a:ea typeface="Arial"/>
                <a:cs typeface="Arial"/>
                <a:sym typeface="Arial"/>
              </a:rPr>
              <a:t>Cookies</a:t>
            </a:r>
            <a:r>
              <a:rPr lang="es">
                <a:solidFill>
                  <a:srgbClr val="000000"/>
                </a:solidFill>
                <a:latin typeface="Arial"/>
                <a:ea typeface="Arial"/>
                <a:cs typeface="Arial"/>
                <a:sym typeface="Arial"/>
              </a:rPr>
              <a:t> : para guardar pequeñas variables con información. Usualmente suelen guardar información de logins de usuarios. Las cookies se pueden guardar en el cliente y ser generadas por el cliente, pero también pueden ser enviadas por el servidor.</a:t>
            </a:r>
            <a:br>
              <a:rPr lang="es">
                <a:solidFill>
                  <a:srgbClr val="000000"/>
                </a:solidFill>
                <a:latin typeface="Arial"/>
                <a:ea typeface="Arial"/>
                <a:cs typeface="Arial"/>
                <a:sym typeface="Arial"/>
              </a:rPr>
            </a:br>
            <a:endParaRPr>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b="1" lang="es">
                <a:solidFill>
                  <a:srgbClr val="000000"/>
                </a:solidFill>
                <a:latin typeface="Arial"/>
                <a:ea typeface="Arial"/>
                <a:cs typeface="Arial"/>
                <a:sym typeface="Arial"/>
              </a:rPr>
              <a:t>LocalStorage</a:t>
            </a:r>
            <a:r>
              <a:rPr lang="es">
                <a:solidFill>
                  <a:srgbClr val="000000"/>
                </a:solidFill>
                <a:latin typeface="Arial"/>
                <a:ea typeface="Arial"/>
                <a:cs typeface="Arial"/>
                <a:sym typeface="Arial"/>
              </a:rPr>
              <a:t> : al crecer Javascript y las aplicaciones asociadas a ellos, los navegadores más modernos implementan LocalStorage. Es más parecido a guardar datos en una aplicación de escritorio. El límite de información a almacenar puede variar según la implementación del navegador pero está definido en torno a los 5 MB.</a:t>
            </a:r>
            <a:endParaRPr>
              <a:solidFill>
                <a:srgbClr val="000000"/>
              </a:solidFill>
              <a:latin typeface="Arial"/>
              <a:ea typeface="Arial"/>
              <a:cs typeface="Arial"/>
              <a:sym typeface="Arial"/>
            </a:endParaRPr>
          </a:p>
          <a:p>
            <a:pPr indent="0" lvl="0" marL="0" rtl="0" algn="l">
              <a:lnSpc>
                <a:spcPct val="115000"/>
              </a:lnSpc>
              <a:spcBef>
                <a:spcPts val="0"/>
              </a:spcBef>
              <a:spcAft>
                <a:spcPts val="1200"/>
              </a:spcAft>
              <a:buSzPts val="1300"/>
              <a:buNone/>
            </a:pPr>
            <a:r>
              <a:t/>
            </a:r>
            <a:endParaRPr/>
          </a:p>
        </p:txBody>
      </p:sp>
      <p:sp>
        <p:nvSpPr>
          <p:cNvPr id="454" name="Google Shape;454;p58"/>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5.4 Almacenamiento</a:t>
            </a:r>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11111"/>
              <a:buNone/>
            </a:pPr>
            <a:r>
              <a:rPr lang="es"/>
              <a:t>LocalStorage</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59"/>
          <p:cNvSpPr txBox="1"/>
          <p:nvPr>
            <p:ph idx="1" type="body"/>
          </p:nvPr>
        </p:nvSpPr>
        <p:spPr>
          <a:xfrm>
            <a:off x="729450" y="2078875"/>
            <a:ext cx="7688700" cy="2539800"/>
          </a:xfrm>
          <a:prstGeom prst="rect">
            <a:avLst/>
          </a:prstGeom>
          <a:noFill/>
          <a:ln>
            <a:noFill/>
          </a:ln>
        </p:spPr>
        <p:txBody>
          <a:bodyPr anchorCtr="0" anchor="t" bIns="91425" lIns="91425" spcFirstLastPara="1" rIns="91425" wrap="square" tIns="91425">
            <a:normAutofit/>
          </a:bodyPr>
          <a:lstStyle/>
          <a:p>
            <a:pPr indent="-336550" lvl="0" marL="457200" rtl="0" algn="l">
              <a:lnSpc>
                <a:spcPct val="115000"/>
              </a:lnSpc>
              <a:spcBef>
                <a:spcPts val="0"/>
              </a:spcBef>
              <a:spcAft>
                <a:spcPts val="0"/>
              </a:spcAft>
              <a:buClr>
                <a:srgbClr val="000000"/>
              </a:buClr>
              <a:buSzPts val="1700"/>
              <a:buFont typeface="Arial"/>
              <a:buChar char="●"/>
            </a:pPr>
            <a:r>
              <a:rPr lang="es">
                <a:solidFill>
                  <a:srgbClr val="000000"/>
                </a:solidFill>
                <a:latin typeface="Arial"/>
                <a:ea typeface="Arial"/>
                <a:cs typeface="Arial"/>
                <a:sym typeface="Arial"/>
              </a:rPr>
              <a:t>El llamado “localStorage” es una tecnología de almacenamiento existente en los navegadores más modernos, siendo incompatible con navegadores antiguos. La información se almacena en el cliente y generalmente posee al menos 5MB para guardar información.</a:t>
            </a:r>
            <a:endParaRPr>
              <a:solidFill>
                <a:srgbClr val="000000"/>
              </a:solidFill>
              <a:latin typeface="Arial"/>
              <a:ea typeface="Arial"/>
              <a:cs typeface="Arial"/>
              <a:sym typeface="Arial"/>
            </a:endParaRPr>
          </a:p>
          <a:p>
            <a:pPr indent="-336550" lvl="0" marL="457200" rtl="0" algn="l">
              <a:lnSpc>
                <a:spcPct val="115000"/>
              </a:lnSpc>
              <a:spcBef>
                <a:spcPts val="0"/>
              </a:spcBef>
              <a:spcAft>
                <a:spcPts val="0"/>
              </a:spcAft>
              <a:buClr>
                <a:srgbClr val="000000"/>
              </a:buClr>
              <a:buSzPts val="1700"/>
              <a:buFont typeface="Arial"/>
              <a:buChar char="●"/>
            </a:pPr>
            <a:r>
              <a:rPr lang="es">
                <a:solidFill>
                  <a:srgbClr val="000000"/>
                </a:solidFill>
                <a:latin typeface="Arial"/>
                <a:ea typeface="Arial"/>
                <a:cs typeface="Arial"/>
                <a:sym typeface="Arial"/>
              </a:rPr>
              <a:t>Hay dos objetos: localStorage y sessionStorage. La diferencia entre uno y otro es que</a:t>
            </a:r>
            <a:endParaRPr>
              <a:solidFill>
                <a:srgbClr val="000000"/>
              </a:solidFill>
              <a:latin typeface="Arial"/>
              <a:ea typeface="Arial"/>
              <a:cs typeface="Arial"/>
              <a:sym typeface="Arial"/>
            </a:endParaRPr>
          </a:p>
          <a:p>
            <a:pPr indent="-323850" lvl="1" marL="914400" rtl="0" algn="l">
              <a:lnSpc>
                <a:spcPct val="115000"/>
              </a:lnSpc>
              <a:spcBef>
                <a:spcPts val="0"/>
              </a:spcBef>
              <a:spcAft>
                <a:spcPts val="0"/>
              </a:spcAft>
              <a:buClr>
                <a:srgbClr val="000000"/>
              </a:buClr>
              <a:buSzPts val="1500"/>
              <a:buFont typeface="Arial"/>
              <a:buChar char="○"/>
            </a:pPr>
            <a:r>
              <a:rPr lang="es" sz="1300">
                <a:solidFill>
                  <a:srgbClr val="000000"/>
                </a:solidFill>
                <a:latin typeface="Arial"/>
                <a:ea typeface="Arial"/>
                <a:cs typeface="Arial"/>
                <a:sym typeface="Arial"/>
              </a:rPr>
              <a:t>localStorage almacena la información indefinidamente </a:t>
            </a:r>
            <a:endParaRPr sz="1300">
              <a:solidFill>
                <a:srgbClr val="000000"/>
              </a:solidFill>
              <a:latin typeface="Arial"/>
              <a:ea typeface="Arial"/>
              <a:cs typeface="Arial"/>
              <a:sym typeface="Arial"/>
            </a:endParaRPr>
          </a:p>
          <a:p>
            <a:pPr indent="-323850" lvl="1" marL="914400" rtl="0" algn="l">
              <a:lnSpc>
                <a:spcPct val="115000"/>
              </a:lnSpc>
              <a:spcBef>
                <a:spcPts val="0"/>
              </a:spcBef>
              <a:spcAft>
                <a:spcPts val="0"/>
              </a:spcAft>
              <a:buClr>
                <a:srgbClr val="000000"/>
              </a:buClr>
              <a:buSzPts val="1500"/>
              <a:buFont typeface="Arial"/>
              <a:buChar char="○"/>
            </a:pPr>
            <a:r>
              <a:rPr lang="es" sz="1300">
                <a:solidFill>
                  <a:srgbClr val="000000"/>
                </a:solidFill>
                <a:latin typeface="Arial"/>
                <a:ea typeface="Arial"/>
                <a:cs typeface="Arial"/>
                <a:sym typeface="Arial"/>
              </a:rPr>
              <a:t>sessionStorage lo hace solo mientras la ventana de la página esté abierta </a:t>
            </a:r>
            <a:endParaRPr sz="1300">
              <a:solidFill>
                <a:srgbClr val="000000"/>
              </a:solidFill>
              <a:latin typeface="Arial"/>
              <a:ea typeface="Arial"/>
              <a:cs typeface="Arial"/>
              <a:sym typeface="Arial"/>
            </a:endParaRPr>
          </a:p>
          <a:p>
            <a:pPr indent="-336550" lvl="0" marL="457200" rtl="0" algn="l">
              <a:lnSpc>
                <a:spcPct val="115000"/>
              </a:lnSpc>
              <a:spcBef>
                <a:spcPts val="0"/>
              </a:spcBef>
              <a:spcAft>
                <a:spcPts val="0"/>
              </a:spcAft>
              <a:buClr>
                <a:srgbClr val="000000"/>
              </a:buClr>
              <a:buSzPts val="1700"/>
              <a:buFont typeface="Arial"/>
              <a:buChar char="●"/>
            </a:pPr>
            <a:r>
              <a:rPr lang="es">
                <a:solidFill>
                  <a:srgbClr val="000000"/>
                </a:solidFill>
                <a:latin typeface="Arial"/>
                <a:ea typeface="Arial"/>
                <a:cs typeface="Arial"/>
                <a:sym typeface="Arial"/>
              </a:rPr>
              <a:t>Por el resto de detalles ambos objetos funcionan igual. Las funciones a utilizar son 3: setItem, getItem, removeItem.</a:t>
            </a:r>
            <a:endParaRPr>
              <a:solidFill>
                <a:srgbClr val="000000"/>
              </a:solidFill>
              <a:latin typeface="Arial"/>
              <a:ea typeface="Arial"/>
              <a:cs typeface="Arial"/>
              <a:sym typeface="Arial"/>
            </a:endParaRPr>
          </a:p>
          <a:p>
            <a:pPr indent="0" lvl="0" marL="0" rtl="0" algn="l">
              <a:lnSpc>
                <a:spcPct val="115000"/>
              </a:lnSpc>
              <a:spcBef>
                <a:spcPts val="0"/>
              </a:spcBef>
              <a:spcAft>
                <a:spcPts val="1200"/>
              </a:spcAft>
              <a:buSzPts val="1300"/>
              <a:buNone/>
            </a:pPr>
            <a:r>
              <a:t/>
            </a:r>
            <a:endParaRPr/>
          </a:p>
        </p:txBody>
      </p:sp>
      <p:sp>
        <p:nvSpPr>
          <p:cNvPr id="460" name="Google Shape;460;p59"/>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5.4 Almacenamiento</a:t>
            </a:r>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11111"/>
              <a:buNone/>
            </a:pPr>
            <a:r>
              <a:rPr lang="es"/>
              <a:t>LocalStorage</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60"/>
          <p:cNvSpPr txBox="1"/>
          <p:nvPr>
            <p:ph idx="1" type="body"/>
          </p:nvPr>
        </p:nvSpPr>
        <p:spPr>
          <a:xfrm>
            <a:off x="729450" y="2078875"/>
            <a:ext cx="7688700" cy="2539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 sz="1200">
                <a:solidFill>
                  <a:srgbClr val="000000"/>
                </a:solidFill>
                <a:latin typeface="Arial"/>
                <a:ea typeface="Arial"/>
                <a:cs typeface="Arial"/>
                <a:sym typeface="Arial"/>
              </a:rPr>
              <a:t>Ejemplo setItem, getItem y removeItem:</a:t>
            </a:r>
            <a:endParaRPr sz="1200">
              <a:solidFill>
                <a:srgbClr val="000000"/>
              </a:solidFill>
              <a:latin typeface="Arial"/>
              <a:ea typeface="Arial"/>
              <a:cs typeface="Arial"/>
              <a:sym typeface="Arial"/>
            </a:endParaRPr>
          </a:p>
          <a:p>
            <a:pPr indent="0" lvl="0" marL="0" rtl="0" algn="l">
              <a:lnSpc>
                <a:spcPct val="115000"/>
              </a:lnSpc>
              <a:spcBef>
                <a:spcPts val="0"/>
              </a:spcBef>
              <a:spcAft>
                <a:spcPts val="0"/>
              </a:spcAft>
              <a:buSzPts val="1300"/>
              <a:buNone/>
            </a:pPr>
            <a:r>
              <a:t/>
            </a:r>
            <a:endParaRPr sz="1200">
              <a:solidFill>
                <a:srgbClr val="000000"/>
              </a:solidFill>
              <a:latin typeface="Arial"/>
              <a:ea typeface="Arial"/>
              <a:cs typeface="Arial"/>
              <a:sym typeface="Arial"/>
            </a:endParaRPr>
          </a:p>
          <a:p>
            <a:pPr indent="-355600" lvl="0" marL="457200" rtl="0" algn="l">
              <a:lnSpc>
                <a:spcPct val="115000"/>
              </a:lnSpc>
              <a:spcBef>
                <a:spcPts val="0"/>
              </a:spcBef>
              <a:spcAft>
                <a:spcPts val="0"/>
              </a:spcAft>
              <a:buClr>
                <a:srgbClr val="000000"/>
              </a:buClr>
              <a:buSzPts val="2000"/>
              <a:buFont typeface="Arial"/>
              <a:buChar char="●"/>
            </a:pPr>
            <a:r>
              <a:rPr lang="es" sz="1200">
                <a:solidFill>
                  <a:srgbClr val="333333"/>
                </a:solidFill>
                <a:latin typeface="Arial"/>
                <a:ea typeface="Arial"/>
                <a:cs typeface="Arial"/>
                <a:sym typeface="Arial"/>
              </a:rPr>
              <a:t>localStorage.setItem( </a:t>
            </a:r>
            <a:r>
              <a:rPr lang="es" sz="1200">
                <a:solidFill>
                  <a:srgbClr val="DE1144"/>
                </a:solidFill>
                <a:latin typeface="Arial"/>
                <a:ea typeface="Arial"/>
                <a:cs typeface="Arial"/>
                <a:sym typeface="Arial"/>
              </a:rPr>
              <a:t>"apellido" </a:t>
            </a:r>
            <a:r>
              <a:rPr lang="es" sz="1200">
                <a:solidFill>
                  <a:srgbClr val="333333"/>
                </a:solidFill>
                <a:latin typeface="Arial"/>
                <a:ea typeface="Arial"/>
                <a:cs typeface="Arial"/>
                <a:sym typeface="Arial"/>
              </a:rPr>
              <a:t>, </a:t>
            </a:r>
            <a:r>
              <a:rPr lang="es" sz="1200">
                <a:solidFill>
                  <a:srgbClr val="DE1144"/>
                </a:solidFill>
                <a:latin typeface="Arial"/>
                <a:ea typeface="Arial"/>
                <a:cs typeface="Arial"/>
                <a:sym typeface="Arial"/>
              </a:rPr>
              <a:t>"Garcia" </a:t>
            </a:r>
            <a:r>
              <a:rPr lang="es" sz="1200">
                <a:solidFill>
                  <a:srgbClr val="333333"/>
                </a:solidFill>
                <a:latin typeface="Arial"/>
                <a:ea typeface="Arial"/>
                <a:cs typeface="Arial"/>
                <a:sym typeface="Arial"/>
              </a:rPr>
              <a:t>);</a:t>
            </a:r>
            <a:endParaRPr sz="1200">
              <a:solidFill>
                <a:srgbClr val="333333"/>
              </a:solidFill>
              <a:latin typeface="Arial"/>
              <a:ea typeface="Arial"/>
              <a:cs typeface="Arial"/>
              <a:sym typeface="Arial"/>
            </a:endParaRPr>
          </a:p>
          <a:p>
            <a:pPr indent="-355600" lvl="0" marL="457200" rtl="0" algn="l">
              <a:lnSpc>
                <a:spcPct val="115000"/>
              </a:lnSpc>
              <a:spcBef>
                <a:spcPts val="0"/>
              </a:spcBef>
              <a:spcAft>
                <a:spcPts val="0"/>
              </a:spcAft>
              <a:buClr>
                <a:srgbClr val="000000"/>
              </a:buClr>
              <a:buSzPts val="2000"/>
              <a:buFont typeface="Arial"/>
              <a:buChar char="●"/>
            </a:pPr>
            <a:r>
              <a:rPr lang="es" sz="1200">
                <a:solidFill>
                  <a:srgbClr val="333333"/>
                </a:solidFill>
                <a:latin typeface="Arial"/>
                <a:ea typeface="Arial"/>
                <a:cs typeface="Arial"/>
                <a:sym typeface="Arial"/>
              </a:rPr>
              <a:t>alert(localStorage.getItem( </a:t>
            </a:r>
            <a:r>
              <a:rPr lang="es" sz="1200">
                <a:solidFill>
                  <a:srgbClr val="DE1144"/>
                </a:solidFill>
                <a:latin typeface="Arial"/>
                <a:ea typeface="Arial"/>
                <a:cs typeface="Arial"/>
                <a:sym typeface="Arial"/>
              </a:rPr>
              <a:t>"apellido" </a:t>
            </a:r>
            <a:r>
              <a:rPr lang="es" sz="1200">
                <a:solidFill>
                  <a:srgbClr val="333333"/>
                </a:solidFill>
                <a:latin typeface="Arial"/>
                <a:ea typeface="Arial"/>
                <a:cs typeface="Arial"/>
                <a:sym typeface="Arial"/>
              </a:rPr>
              <a:t>));</a:t>
            </a:r>
            <a:endParaRPr sz="1200">
              <a:solidFill>
                <a:srgbClr val="333333"/>
              </a:solidFill>
              <a:latin typeface="Arial"/>
              <a:ea typeface="Arial"/>
              <a:cs typeface="Arial"/>
              <a:sym typeface="Arial"/>
            </a:endParaRPr>
          </a:p>
          <a:p>
            <a:pPr indent="-355600" lvl="0" marL="457200" rtl="0" algn="l">
              <a:lnSpc>
                <a:spcPct val="115000"/>
              </a:lnSpc>
              <a:spcBef>
                <a:spcPts val="0"/>
              </a:spcBef>
              <a:spcAft>
                <a:spcPts val="0"/>
              </a:spcAft>
              <a:buClr>
                <a:srgbClr val="000000"/>
              </a:buClr>
              <a:buSzPts val="2000"/>
              <a:buFont typeface="Arial"/>
              <a:buChar char="●"/>
            </a:pPr>
            <a:r>
              <a:rPr lang="es" sz="1200">
                <a:solidFill>
                  <a:srgbClr val="333333"/>
                </a:solidFill>
                <a:latin typeface="Arial"/>
                <a:ea typeface="Arial"/>
                <a:cs typeface="Arial"/>
                <a:sym typeface="Arial"/>
              </a:rPr>
              <a:t>localStorage.removeItem( </a:t>
            </a:r>
            <a:r>
              <a:rPr lang="es" sz="1200">
                <a:solidFill>
                  <a:srgbClr val="DE1144"/>
                </a:solidFill>
                <a:latin typeface="Arial"/>
                <a:ea typeface="Arial"/>
                <a:cs typeface="Arial"/>
                <a:sym typeface="Arial"/>
              </a:rPr>
              <a:t>"apellido" </a:t>
            </a:r>
            <a:r>
              <a:rPr lang="es" sz="1200">
                <a:solidFill>
                  <a:srgbClr val="333333"/>
                </a:solidFill>
                <a:latin typeface="Arial"/>
                <a:ea typeface="Arial"/>
                <a:cs typeface="Arial"/>
                <a:sym typeface="Arial"/>
              </a:rPr>
              <a:t>);</a:t>
            </a:r>
            <a:endParaRPr sz="1200">
              <a:solidFill>
                <a:srgbClr val="333333"/>
              </a:solidFill>
              <a:latin typeface="Arial"/>
              <a:ea typeface="Arial"/>
              <a:cs typeface="Arial"/>
              <a:sym typeface="Arial"/>
            </a:endParaRPr>
          </a:p>
          <a:p>
            <a:pPr indent="-355600" lvl="0" marL="457200" rtl="0" algn="l">
              <a:lnSpc>
                <a:spcPct val="115000"/>
              </a:lnSpc>
              <a:spcBef>
                <a:spcPts val="0"/>
              </a:spcBef>
              <a:spcAft>
                <a:spcPts val="0"/>
              </a:spcAft>
              <a:buClr>
                <a:srgbClr val="000000"/>
              </a:buClr>
              <a:buSzPts val="2000"/>
              <a:buFont typeface="Arial"/>
              <a:buChar char="●"/>
            </a:pPr>
            <a:r>
              <a:rPr lang="es" sz="1200">
                <a:solidFill>
                  <a:srgbClr val="333333"/>
                </a:solidFill>
                <a:latin typeface="Arial"/>
                <a:ea typeface="Arial"/>
                <a:cs typeface="Arial"/>
                <a:sym typeface="Arial"/>
              </a:rPr>
              <a:t>alert(localStorage.getItem( </a:t>
            </a:r>
            <a:r>
              <a:rPr lang="es" sz="1200">
                <a:solidFill>
                  <a:srgbClr val="DE1144"/>
                </a:solidFill>
                <a:latin typeface="Arial"/>
                <a:ea typeface="Arial"/>
                <a:cs typeface="Arial"/>
                <a:sym typeface="Arial"/>
              </a:rPr>
              <a:t>"apellido" </a:t>
            </a:r>
            <a:r>
              <a:rPr lang="es" sz="1200">
                <a:solidFill>
                  <a:srgbClr val="333333"/>
                </a:solidFill>
                <a:latin typeface="Arial"/>
                <a:ea typeface="Arial"/>
                <a:cs typeface="Arial"/>
                <a:sym typeface="Arial"/>
              </a:rPr>
              <a:t>));</a:t>
            </a:r>
            <a:endParaRPr sz="1600">
              <a:solidFill>
                <a:srgbClr val="000000"/>
              </a:solidFill>
              <a:latin typeface="Arial"/>
              <a:ea typeface="Arial"/>
              <a:cs typeface="Arial"/>
              <a:sym typeface="Arial"/>
            </a:endParaRPr>
          </a:p>
          <a:p>
            <a:pPr indent="0" lvl="0" marL="0" rtl="0" algn="l">
              <a:lnSpc>
                <a:spcPct val="115000"/>
              </a:lnSpc>
              <a:spcBef>
                <a:spcPts val="0"/>
              </a:spcBef>
              <a:spcAft>
                <a:spcPts val="1200"/>
              </a:spcAft>
              <a:buSzPts val="1300"/>
              <a:buNone/>
            </a:pPr>
            <a:r>
              <a:t/>
            </a:r>
            <a:endParaRPr/>
          </a:p>
        </p:txBody>
      </p:sp>
      <p:sp>
        <p:nvSpPr>
          <p:cNvPr id="466" name="Google Shape;466;p60"/>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5.4 Almacenamiento</a:t>
            </a:r>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11111"/>
              <a:buNone/>
            </a:pPr>
            <a:r>
              <a:rPr lang="es"/>
              <a:t>LocalStorage</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1"/>
          <p:cNvSpPr txBox="1"/>
          <p:nvPr>
            <p:ph idx="1" type="body"/>
          </p:nvPr>
        </p:nvSpPr>
        <p:spPr>
          <a:xfrm>
            <a:off x="729450" y="2078875"/>
            <a:ext cx="7688700" cy="2539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 sz="1600">
                <a:solidFill>
                  <a:srgbClr val="000000"/>
                </a:solidFill>
                <a:latin typeface="Arial"/>
                <a:ea typeface="Arial"/>
                <a:cs typeface="Arial"/>
                <a:sym typeface="Arial"/>
              </a:rPr>
              <a:t>Si queremos vaciar por completo (es decir, eliminar todas las entradas) de nuestro localStorage, lo podemos hacer simplemente usando clear();</a:t>
            </a:r>
            <a:endParaRPr sz="1600">
              <a:solidFill>
                <a:srgbClr val="000000"/>
              </a:solidFill>
              <a:latin typeface="Arial"/>
              <a:ea typeface="Arial"/>
              <a:cs typeface="Arial"/>
              <a:sym typeface="Arial"/>
            </a:endParaRPr>
          </a:p>
          <a:p>
            <a:pPr indent="-349250" lvl="0" marL="457200" rtl="0" algn="l">
              <a:lnSpc>
                <a:spcPct val="115000"/>
              </a:lnSpc>
              <a:spcBef>
                <a:spcPts val="0"/>
              </a:spcBef>
              <a:spcAft>
                <a:spcPts val="0"/>
              </a:spcAft>
              <a:buClr>
                <a:srgbClr val="000000"/>
              </a:buClr>
              <a:buSzPts val="1900"/>
              <a:buFont typeface="Arial"/>
              <a:buChar char="●"/>
            </a:pPr>
            <a:r>
              <a:rPr lang="es" sz="1600">
                <a:solidFill>
                  <a:srgbClr val="333333"/>
                </a:solidFill>
                <a:latin typeface="Arial"/>
                <a:ea typeface="Arial"/>
                <a:cs typeface="Arial"/>
                <a:sym typeface="Arial"/>
              </a:rPr>
              <a:t>localStorage.clear();</a:t>
            </a:r>
            <a:endParaRPr sz="1600">
              <a:solidFill>
                <a:srgbClr val="333333"/>
              </a:solidFill>
              <a:latin typeface="Arial"/>
              <a:ea typeface="Arial"/>
              <a:cs typeface="Arial"/>
              <a:sym typeface="Arial"/>
            </a:endParaRPr>
          </a:p>
          <a:p>
            <a:pPr indent="0" lvl="0" marL="457200" rtl="0" algn="l">
              <a:lnSpc>
                <a:spcPct val="115000"/>
              </a:lnSpc>
              <a:spcBef>
                <a:spcPts val="0"/>
              </a:spcBef>
              <a:spcAft>
                <a:spcPts val="0"/>
              </a:spcAft>
              <a:buSzPts val="1300"/>
              <a:buNone/>
            </a:pPr>
            <a:r>
              <a:t/>
            </a:r>
            <a:endParaRPr sz="1900">
              <a:solidFill>
                <a:srgbClr val="000000"/>
              </a:solidFill>
              <a:latin typeface="Arial"/>
              <a:ea typeface="Arial"/>
              <a:cs typeface="Arial"/>
              <a:sym typeface="Arial"/>
            </a:endParaRPr>
          </a:p>
          <a:p>
            <a:pPr indent="0" lvl="0" marL="0" rtl="0" algn="l">
              <a:lnSpc>
                <a:spcPct val="115000"/>
              </a:lnSpc>
              <a:spcBef>
                <a:spcPts val="0"/>
              </a:spcBef>
              <a:spcAft>
                <a:spcPts val="1200"/>
              </a:spcAft>
              <a:buSzPts val="1300"/>
              <a:buNone/>
            </a:pPr>
            <a:r>
              <a:t/>
            </a:r>
            <a:endParaRPr/>
          </a:p>
        </p:txBody>
      </p:sp>
      <p:sp>
        <p:nvSpPr>
          <p:cNvPr id="472" name="Google Shape;472;p61"/>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5.4 Almacenamiento</a:t>
            </a:r>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11111"/>
              <a:buNone/>
            </a:pPr>
            <a:r>
              <a:rPr lang="es"/>
              <a:t>LocalStorage</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62"/>
          <p:cNvSpPr txBox="1"/>
          <p:nvPr>
            <p:ph idx="1" type="body"/>
          </p:nvPr>
        </p:nvSpPr>
        <p:spPr>
          <a:xfrm>
            <a:off x="729450" y="2078875"/>
            <a:ext cx="7688700" cy="30645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300"/>
              <a:buNone/>
            </a:pPr>
            <a:r>
              <a:rPr lang="es" sz="1400">
                <a:solidFill>
                  <a:srgbClr val="000000"/>
                </a:solidFill>
                <a:latin typeface="Arial"/>
                <a:ea typeface="Arial"/>
                <a:cs typeface="Arial"/>
                <a:sym typeface="Arial"/>
              </a:rPr>
              <a:t>Si queremos almacenar además de texto, elementos de nuestro programa como un array, un objeto, etc. debemos convertirlos a un formato de texto, pero que mantenga toda su información.</a:t>
            </a:r>
            <a:endParaRPr sz="1400">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lang="es" sz="1400">
                <a:solidFill>
                  <a:srgbClr val="000000"/>
                </a:solidFill>
                <a:latin typeface="Arial"/>
                <a:ea typeface="Arial"/>
                <a:cs typeface="Arial"/>
                <a:sym typeface="Arial"/>
              </a:rPr>
              <a:t>Para ello en Javascript tenemos JSON (Javascript Object Notation).</a:t>
            </a:r>
            <a:endParaRPr sz="1400">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lang="es" sz="1400">
                <a:solidFill>
                  <a:srgbClr val="000000"/>
                </a:solidFill>
                <a:latin typeface="Arial"/>
                <a:ea typeface="Arial"/>
                <a:cs typeface="Arial"/>
                <a:sym typeface="Arial"/>
              </a:rPr>
              <a:t>Para este propósito utilizaremos JSON.stringify para convertir un elemento a texto y JSON.parse para convertir texto de nuevo al elemento.</a:t>
            </a:r>
            <a:endParaRPr sz="1400">
              <a:solidFill>
                <a:srgbClr val="000000"/>
              </a:solidFill>
              <a:latin typeface="Arial"/>
              <a:ea typeface="Arial"/>
              <a:cs typeface="Arial"/>
              <a:sym typeface="Arial"/>
            </a:endParaRPr>
          </a:p>
          <a:p>
            <a:pPr indent="0" lvl="0" marL="914400" rtl="0" algn="l">
              <a:lnSpc>
                <a:spcPct val="115000"/>
              </a:lnSpc>
              <a:spcBef>
                <a:spcPts val="0"/>
              </a:spcBef>
              <a:spcAft>
                <a:spcPts val="0"/>
              </a:spcAft>
              <a:buSzPts val="1300"/>
              <a:buNone/>
            </a:pPr>
            <a:r>
              <a:t/>
            </a:r>
            <a:endParaRPr sz="1700">
              <a:solidFill>
                <a:srgbClr val="000000"/>
              </a:solidFill>
              <a:latin typeface="Arial"/>
              <a:ea typeface="Arial"/>
              <a:cs typeface="Arial"/>
              <a:sym typeface="Arial"/>
            </a:endParaRPr>
          </a:p>
          <a:p>
            <a:pPr indent="0" lvl="0" marL="457200" rtl="0" algn="l">
              <a:lnSpc>
                <a:spcPct val="115000"/>
              </a:lnSpc>
              <a:spcBef>
                <a:spcPts val="0"/>
              </a:spcBef>
              <a:spcAft>
                <a:spcPts val="0"/>
              </a:spcAft>
              <a:buSzPts val="1300"/>
              <a:buNone/>
            </a:pPr>
            <a:r>
              <a:rPr lang="es" sz="1200">
                <a:solidFill>
                  <a:srgbClr val="333333"/>
                </a:solidFill>
                <a:latin typeface="Arial"/>
                <a:ea typeface="Arial"/>
                <a:cs typeface="Arial"/>
                <a:sym typeface="Arial"/>
              </a:rPr>
              <a:t>let miArray=[ </a:t>
            </a:r>
            <a:r>
              <a:rPr lang="es" sz="1200">
                <a:solidFill>
                  <a:srgbClr val="008181"/>
                </a:solidFill>
                <a:latin typeface="Arial"/>
                <a:ea typeface="Arial"/>
                <a:cs typeface="Arial"/>
                <a:sym typeface="Arial"/>
              </a:rPr>
              <a:t>1 </a:t>
            </a:r>
            <a:r>
              <a:rPr lang="es" sz="1200">
                <a:solidFill>
                  <a:srgbClr val="333333"/>
                </a:solidFill>
                <a:latin typeface="Arial"/>
                <a:ea typeface="Arial"/>
                <a:cs typeface="Arial"/>
                <a:sym typeface="Arial"/>
              </a:rPr>
              <a:t>, </a:t>
            </a:r>
            <a:r>
              <a:rPr lang="es" sz="1200">
                <a:solidFill>
                  <a:srgbClr val="008181"/>
                </a:solidFill>
                <a:latin typeface="Arial"/>
                <a:ea typeface="Arial"/>
                <a:cs typeface="Arial"/>
                <a:sym typeface="Arial"/>
              </a:rPr>
              <a:t>2 </a:t>
            </a:r>
            <a:r>
              <a:rPr lang="es" sz="1200">
                <a:solidFill>
                  <a:srgbClr val="333333"/>
                </a:solidFill>
                <a:latin typeface="Arial"/>
                <a:ea typeface="Arial"/>
                <a:cs typeface="Arial"/>
                <a:sym typeface="Arial"/>
              </a:rPr>
              <a:t>, </a:t>
            </a:r>
            <a:r>
              <a:rPr lang="es" sz="1200">
                <a:solidFill>
                  <a:srgbClr val="008181"/>
                </a:solidFill>
                <a:latin typeface="Arial"/>
                <a:ea typeface="Arial"/>
                <a:cs typeface="Arial"/>
                <a:sym typeface="Arial"/>
              </a:rPr>
              <a:t>3 </a:t>
            </a:r>
            <a:r>
              <a:rPr lang="es" sz="1200">
                <a:solidFill>
                  <a:srgbClr val="333333"/>
                </a:solidFill>
                <a:latin typeface="Arial"/>
                <a:ea typeface="Arial"/>
                <a:cs typeface="Arial"/>
                <a:sym typeface="Arial"/>
              </a:rPr>
              <a:t>]</a:t>
            </a:r>
            <a:endParaRPr sz="1200">
              <a:solidFill>
                <a:srgbClr val="333333"/>
              </a:solidFill>
              <a:latin typeface="Arial"/>
              <a:ea typeface="Arial"/>
              <a:cs typeface="Arial"/>
              <a:sym typeface="Arial"/>
            </a:endParaRPr>
          </a:p>
          <a:p>
            <a:pPr indent="0" lvl="0" marL="457200" rtl="0" algn="l">
              <a:lnSpc>
                <a:spcPct val="115000"/>
              </a:lnSpc>
              <a:spcBef>
                <a:spcPts val="0"/>
              </a:spcBef>
              <a:spcAft>
                <a:spcPts val="0"/>
              </a:spcAft>
              <a:buSzPts val="1300"/>
              <a:buNone/>
            </a:pPr>
            <a:r>
              <a:rPr lang="es" sz="1200">
                <a:solidFill>
                  <a:srgbClr val="333333"/>
                </a:solidFill>
                <a:latin typeface="Arial"/>
                <a:ea typeface="Arial"/>
                <a:cs typeface="Arial"/>
                <a:sym typeface="Arial"/>
              </a:rPr>
              <a:t>let miArray2;</a:t>
            </a:r>
            <a:endParaRPr sz="1200">
              <a:solidFill>
                <a:srgbClr val="333333"/>
              </a:solidFill>
              <a:latin typeface="Arial"/>
              <a:ea typeface="Arial"/>
              <a:cs typeface="Arial"/>
              <a:sym typeface="Arial"/>
            </a:endParaRPr>
          </a:p>
          <a:p>
            <a:pPr indent="0" lvl="0" marL="457200" rtl="0" algn="l">
              <a:lnSpc>
                <a:spcPct val="115000"/>
              </a:lnSpc>
              <a:spcBef>
                <a:spcPts val="0"/>
              </a:spcBef>
              <a:spcAft>
                <a:spcPts val="0"/>
              </a:spcAft>
              <a:buSzPts val="1300"/>
              <a:buNone/>
            </a:pPr>
            <a:r>
              <a:rPr lang="es" sz="1200">
                <a:solidFill>
                  <a:srgbClr val="9A9A89"/>
                </a:solidFill>
                <a:latin typeface="Arial"/>
                <a:ea typeface="Arial"/>
                <a:cs typeface="Arial"/>
                <a:sym typeface="Arial"/>
              </a:rPr>
              <a:t>// Guardamos en localStorage el array con stringify</a:t>
            </a:r>
            <a:endParaRPr sz="1200">
              <a:solidFill>
                <a:srgbClr val="9A9A89"/>
              </a:solidFill>
              <a:latin typeface="Arial"/>
              <a:ea typeface="Arial"/>
              <a:cs typeface="Arial"/>
              <a:sym typeface="Arial"/>
            </a:endParaRPr>
          </a:p>
          <a:p>
            <a:pPr indent="0" lvl="0" marL="457200" rtl="0" algn="l">
              <a:lnSpc>
                <a:spcPct val="115000"/>
              </a:lnSpc>
              <a:spcBef>
                <a:spcPts val="0"/>
              </a:spcBef>
              <a:spcAft>
                <a:spcPts val="0"/>
              </a:spcAft>
              <a:buSzPts val="1300"/>
              <a:buNone/>
            </a:pPr>
            <a:r>
              <a:rPr lang="es" sz="1200">
                <a:solidFill>
                  <a:srgbClr val="333333"/>
                </a:solidFill>
                <a:latin typeface="Arial"/>
                <a:ea typeface="Arial"/>
                <a:cs typeface="Arial"/>
                <a:sym typeface="Arial"/>
              </a:rPr>
              <a:t>localStorage.setItem( </a:t>
            </a:r>
            <a:r>
              <a:rPr lang="es" sz="1200">
                <a:solidFill>
                  <a:srgbClr val="DE1144"/>
                </a:solidFill>
                <a:latin typeface="Arial"/>
                <a:ea typeface="Arial"/>
                <a:cs typeface="Arial"/>
                <a:sym typeface="Arial"/>
              </a:rPr>
              <a:t>"valorArray" </a:t>
            </a:r>
            <a:r>
              <a:rPr lang="es" sz="1200">
                <a:solidFill>
                  <a:srgbClr val="333333"/>
                </a:solidFill>
                <a:latin typeface="Arial"/>
                <a:ea typeface="Arial"/>
                <a:cs typeface="Arial"/>
                <a:sym typeface="Arial"/>
              </a:rPr>
              <a:t>, </a:t>
            </a:r>
            <a:r>
              <a:rPr lang="es" sz="1200">
                <a:solidFill>
                  <a:srgbClr val="0087B4"/>
                </a:solidFill>
                <a:latin typeface="Arial"/>
                <a:ea typeface="Arial"/>
                <a:cs typeface="Arial"/>
                <a:sym typeface="Arial"/>
              </a:rPr>
              <a:t>JSON </a:t>
            </a:r>
            <a:r>
              <a:rPr lang="es" sz="1200">
                <a:solidFill>
                  <a:srgbClr val="333333"/>
                </a:solidFill>
                <a:latin typeface="Arial"/>
                <a:ea typeface="Arial"/>
                <a:cs typeface="Arial"/>
                <a:sym typeface="Arial"/>
              </a:rPr>
              <a:t>.stringify(miArray));</a:t>
            </a:r>
            <a:endParaRPr sz="1200">
              <a:solidFill>
                <a:srgbClr val="333333"/>
              </a:solidFill>
              <a:latin typeface="Arial"/>
              <a:ea typeface="Arial"/>
              <a:cs typeface="Arial"/>
              <a:sym typeface="Arial"/>
            </a:endParaRPr>
          </a:p>
          <a:p>
            <a:pPr indent="0" lvl="0" marL="457200" rtl="0" algn="l">
              <a:lnSpc>
                <a:spcPct val="115000"/>
              </a:lnSpc>
              <a:spcBef>
                <a:spcPts val="0"/>
              </a:spcBef>
              <a:spcAft>
                <a:spcPts val="0"/>
              </a:spcAft>
              <a:buSzPts val="1300"/>
              <a:buNone/>
            </a:pPr>
            <a:r>
              <a:rPr lang="es" sz="1200">
                <a:solidFill>
                  <a:srgbClr val="9A9A89"/>
                </a:solidFill>
                <a:latin typeface="Arial"/>
                <a:ea typeface="Arial"/>
                <a:cs typeface="Arial"/>
                <a:sym typeface="Arial"/>
              </a:rPr>
              <a:t>//Recuperamos el texto y lo convertimos de nuevo a array con parse</a:t>
            </a:r>
            <a:endParaRPr sz="1200">
              <a:solidFill>
                <a:srgbClr val="9A9A89"/>
              </a:solidFill>
              <a:latin typeface="Arial"/>
              <a:ea typeface="Arial"/>
              <a:cs typeface="Arial"/>
              <a:sym typeface="Arial"/>
            </a:endParaRPr>
          </a:p>
          <a:p>
            <a:pPr indent="0" lvl="0" marL="457200" rtl="0" algn="l">
              <a:lnSpc>
                <a:spcPct val="115000"/>
              </a:lnSpc>
              <a:spcBef>
                <a:spcPts val="0"/>
              </a:spcBef>
              <a:spcAft>
                <a:spcPts val="0"/>
              </a:spcAft>
              <a:buSzPts val="1300"/>
              <a:buNone/>
            </a:pPr>
            <a:r>
              <a:rPr lang="es" sz="1200">
                <a:solidFill>
                  <a:srgbClr val="333333"/>
                </a:solidFill>
                <a:latin typeface="Arial"/>
                <a:ea typeface="Arial"/>
                <a:cs typeface="Arial"/>
                <a:sym typeface="Arial"/>
              </a:rPr>
              <a:t>miArray2= </a:t>
            </a:r>
            <a:r>
              <a:rPr lang="es" sz="1200">
                <a:solidFill>
                  <a:srgbClr val="0087B4"/>
                </a:solidFill>
                <a:latin typeface="Arial"/>
                <a:ea typeface="Arial"/>
                <a:cs typeface="Arial"/>
                <a:sym typeface="Arial"/>
              </a:rPr>
              <a:t>JSON </a:t>
            </a:r>
            <a:r>
              <a:rPr lang="es" sz="1200">
                <a:solidFill>
                  <a:srgbClr val="333333"/>
                </a:solidFill>
                <a:latin typeface="Arial"/>
                <a:ea typeface="Arial"/>
                <a:cs typeface="Arial"/>
                <a:sym typeface="Arial"/>
              </a:rPr>
              <a:t>.parse(localStorage.getItem( </a:t>
            </a:r>
            <a:r>
              <a:rPr lang="es" sz="1200">
                <a:solidFill>
                  <a:srgbClr val="DE1144"/>
                </a:solidFill>
                <a:latin typeface="Arial"/>
                <a:ea typeface="Arial"/>
                <a:cs typeface="Arial"/>
                <a:sym typeface="Arial"/>
              </a:rPr>
              <a:t>"valorArray" </a:t>
            </a:r>
            <a:r>
              <a:rPr lang="es" sz="1200">
                <a:solidFill>
                  <a:srgbClr val="333333"/>
                </a:solidFill>
                <a:latin typeface="Arial"/>
                <a:ea typeface="Arial"/>
                <a:cs typeface="Arial"/>
                <a:sym typeface="Arial"/>
              </a:rPr>
              <a:t>));</a:t>
            </a:r>
            <a:endParaRPr/>
          </a:p>
        </p:txBody>
      </p:sp>
      <p:sp>
        <p:nvSpPr>
          <p:cNvPr id="478" name="Google Shape;478;p62"/>
          <p:cNvSpPr txBox="1"/>
          <p:nvPr>
            <p:ph type="title"/>
          </p:nvPr>
        </p:nvSpPr>
        <p:spPr>
          <a:xfrm>
            <a:off x="727650" y="664475"/>
            <a:ext cx="7688700" cy="1233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5.4 Almacenamiento</a:t>
            </a:r>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11111"/>
              <a:buNone/>
            </a:pPr>
            <a:r>
              <a:rPr lang="es"/>
              <a:t>LocalStorage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