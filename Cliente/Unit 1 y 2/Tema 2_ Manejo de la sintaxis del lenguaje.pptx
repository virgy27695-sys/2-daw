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aleway"/>
      <p:regular r:id="rId44"/>
      <p:bold r:id="rId45"/>
      <p:italic r:id="rId46"/>
      <p:boldItalic r:id="rId47"/>
    </p:embeddedFont>
    <p:embeddedFont>
      <p:font typeface="La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2" roundtripDataSignature="AMtx7mg8ac0Lv7M/GgsyM1UGlO2ZvGgI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regular.fntdata"/><Relationship Id="rId43" Type="http://schemas.openxmlformats.org/officeDocument/2006/relationships/slide" Target="slides/slide38.xml"/><Relationship Id="rId46" Type="http://schemas.openxmlformats.org/officeDocument/2006/relationships/font" Target="fonts/Raleway-italic.fntdata"/><Relationship Id="rId45"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regular.fntdata"/><Relationship Id="rId47" Type="http://schemas.openxmlformats.org/officeDocument/2006/relationships/font" Target="fonts/Raleway-boldItalic.fntdata"/><Relationship Id="rId49"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oldItalic.fntdata"/><Relationship Id="rId50" Type="http://schemas.openxmlformats.org/officeDocument/2006/relationships/font" Target="fonts/Lato-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40"/>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40"/>
          <p:cNvGrpSpPr/>
          <p:nvPr/>
        </p:nvGrpSpPr>
        <p:grpSpPr>
          <a:xfrm>
            <a:off x="830392" y="1191256"/>
            <a:ext cx="745763" cy="45826"/>
            <a:chOff x="4580561" y="2589004"/>
            <a:chExt cx="1064464" cy="25200"/>
          </a:xfrm>
        </p:grpSpPr>
        <p:sp>
          <p:nvSpPr>
            <p:cNvPr id="12" name="Google Shape;12;p4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40"/>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40"/>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41"/>
          <p:cNvGrpSpPr/>
          <p:nvPr/>
        </p:nvGrpSpPr>
        <p:grpSpPr>
          <a:xfrm>
            <a:off x="830392" y="1191256"/>
            <a:ext cx="745763" cy="45826"/>
            <a:chOff x="4580561" y="2589004"/>
            <a:chExt cx="1064464" cy="25200"/>
          </a:xfrm>
        </p:grpSpPr>
        <p:sp>
          <p:nvSpPr>
            <p:cNvPr id="20" name="Google Shape;20;p4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4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4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42"/>
          <p:cNvGrpSpPr/>
          <p:nvPr/>
        </p:nvGrpSpPr>
        <p:grpSpPr>
          <a:xfrm>
            <a:off x="830392" y="1191256"/>
            <a:ext cx="745763" cy="45826"/>
            <a:chOff x="4580561" y="2589004"/>
            <a:chExt cx="1064464" cy="25200"/>
          </a:xfrm>
        </p:grpSpPr>
        <p:sp>
          <p:nvSpPr>
            <p:cNvPr id="27" name="Google Shape;27;p4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2"/>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4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43"/>
          <p:cNvGrpSpPr/>
          <p:nvPr/>
        </p:nvGrpSpPr>
        <p:grpSpPr>
          <a:xfrm>
            <a:off x="830392" y="1191256"/>
            <a:ext cx="745763" cy="45826"/>
            <a:chOff x="4580561" y="2589004"/>
            <a:chExt cx="1064464" cy="25200"/>
          </a:xfrm>
        </p:grpSpPr>
        <p:sp>
          <p:nvSpPr>
            <p:cNvPr id="34" name="Google Shape;34;p4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4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4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43"/>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43"/>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4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44"/>
          <p:cNvGrpSpPr/>
          <p:nvPr/>
        </p:nvGrpSpPr>
        <p:grpSpPr>
          <a:xfrm>
            <a:off x="830392" y="1191256"/>
            <a:ext cx="745763" cy="45826"/>
            <a:chOff x="4580561" y="2589004"/>
            <a:chExt cx="1064464" cy="25200"/>
          </a:xfrm>
        </p:grpSpPr>
        <p:sp>
          <p:nvSpPr>
            <p:cNvPr id="43" name="Google Shape;43;p4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44"/>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4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45"/>
          <p:cNvGrpSpPr/>
          <p:nvPr/>
        </p:nvGrpSpPr>
        <p:grpSpPr>
          <a:xfrm>
            <a:off x="830392" y="1191256"/>
            <a:ext cx="745763" cy="45826"/>
            <a:chOff x="4580561" y="2589004"/>
            <a:chExt cx="1064464" cy="25200"/>
          </a:xfrm>
        </p:grpSpPr>
        <p:sp>
          <p:nvSpPr>
            <p:cNvPr id="50" name="Google Shape;50;p4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45"/>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45"/>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46"/>
          <p:cNvGrpSpPr/>
          <p:nvPr/>
        </p:nvGrpSpPr>
        <p:grpSpPr>
          <a:xfrm>
            <a:off x="830392" y="4169130"/>
            <a:ext cx="745763" cy="45826"/>
            <a:chOff x="4580561" y="2589004"/>
            <a:chExt cx="1064464" cy="25200"/>
          </a:xfrm>
        </p:grpSpPr>
        <p:sp>
          <p:nvSpPr>
            <p:cNvPr id="57" name="Google Shape;57;p4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46"/>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47"/>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47"/>
          <p:cNvGrpSpPr/>
          <p:nvPr/>
        </p:nvGrpSpPr>
        <p:grpSpPr>
          <a:xfrm>
            <a:off x="830392" y="1191256"/>
            <a:ext cx="745763" cy="45826"/>
            <a:chOff x="4580561" y="2589004"/>
            <a:chExt cx="1064464" cy="25200"/>
          </a:xfrm>
        </p:grpSpPr>
        <p:sp>
          <p:nvSpPr>
            <p:cNvPr id="64" name="Google Shape;64;p4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47"/>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47"/>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47"/>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48"/>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49"/>
          <p:cNvGrpSpPr/>
          <p:nvPr/>
        </p:nvGrpSpPr>
        <p:grpSpPr>
          <a:xfrm>
            <a:off x="830392" y="4169130"/>
            <a:ext cx="745763" cy="45826"/>
            <a:chOff x="4580561" y="2589004"/>
            <a:chExt cx="1064464" cy="25200"/>
          </a:xfrm>
        </p:grpSpPr>
        <p:sp>
          <p:nvSpPr>
            <p:cNvPr id="75" name="Google Shape;75;p49"/>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9"/>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49"/>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49"/>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5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github.com/airbnb/javascript" TargetMode="External"/><Relationship Id="rId4" Type="http://schemas.openxmlformats.org/officeDocument/2006/relationships/hyperlink" Target="https://google.github.io/styleguide/javascriptguide.xml" TargetMode="External"/><Relationship Id="rId5" Type="http://schemas.openxmlformats.org/officeDocument/2006/relationships/hyperlink" Target="https://github.com/rwaldron/idiomatic.j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
              <a:t>Tema 2: Manejo de la sintaxis del lenguaje</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SzPct val="117647"/>
              <a:buNone/>
            </a:pPr>
            <a:r>
              <a:rPr lang="es"/>
              <a:t>Desarrollo web en Entorno Cliente</a:t>
            </a:r>
            <a:endParaRPr/>
          </a:p>
          <a:p>
            <a:pPr indent="0" lvl="0" marL="0" rtl="0" algn="l">
              <a:lnSpc>
                <a:spcPct val="100000"/>
              </a:lnSpc>
              <a:spcBef>
                <a:spcPts val="0"/>
              </a:spcBef>
              <a:spcAft>
                <a:spcPts val="0"/>
              </a:spcAft>
              <a:buSzPct val="117647"/>
              <a:buNone/>
            </a:pPr>
            <a:r>
              <a:rPr lang="es"/>
              <a:t>Juana María Rodríguez García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 VARIABLES</a:t>
            </a:r>
            <a:endParaRPr/>
          </a:p>
        </p:txBody>
      </p:sp>
      <p:sp>
        <p:nvSpPr>
          <p:cNvPr id="93" name="Google Shape;93;p2"/>
          <p:cNvSpPr txBox="1"/>
          <p:nvPr>
            <p:ph idx="1" type="body"/>
          </p:nvPr>
        </p:nvSpPr>
        <p:spPr>
          <a:xfrm>
            <a:off x="729450" y="2078875"/>
            <a:ext cx="7688700" cy="2915100"/>
          </a:xfrm>
          <a:prstGeom prst="rect">
            <a:avLst/>
          </a:prstGeom>
          <a:noFill/>
          <a:ln>
            <a:noFill/>
          </a:ln>
        </p:spPr>
        <p:txBody>
          <a:bodyPr anchorCtr="0" anchor="t" bIns="91425" lIns="91425" spcFirstLastPara="1" rIns="91425" wrap="square" tIns="91425">
            <a:normAutofit fontScale="92500" lnSpcReduction="10000"/>
          </a:bodyPr>
          <a:lstStyle/>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Crear variables usando la palabra reservada let</a:t>
            </a:r>
            <a:endParaRPr sz="1200">
              <a:solidFill>
                <a:srgbClr val="24292E"/>
              </a:solidFill>
              <a:latin typeface="Arial"/>
              <a:ea typeface="Arial"/>
              <a:cs typeface="Arial"/>
              <a:sym typeface="Arial"/>
            </a:endParaRPr>
          </a:p>
          <a:p>
            <a:pPr indent="-299085" lvl="1" marL="9144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let nombre;</a:t>
            </a:r>
            <a:endParaRPr sz="1200">
              <a:solidFill>
                <a:srgbClr val="24292E"/>
              </a:solidFill>
              <a:latin typeface="Arial"/>
              <a:ea typeface="Arial"/>
              <a:cs typeface="Arial"/>
              <a:sym typeface="Arial"/>
            </a:endParaRPr>
          </a:p>
          <a:p>
            <a:pPr indent="-299085" lvl="1" marL="9144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let apellido1, apellido2;</a:t>
            </a:r>
            <a:br>
              <a:rPr lang="es" sz="1200">
                <a:solidFill>
                  <a:srgbClr val="24292E"/>
                </a:solidFill>
                <a:latin typeface="Arial"/>
                <a:ea typeface="Arial"/>
                <a:cs typeface="Arial"/>
                <a:sym typeface="Arial"/>
              </a:rPr>
            </a:b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Asignar valor a una variable ya creada</a:t>
            </a:r>
            <a:endParaRPr sz="1200">
              <a:solidFill>
                <a:srgbClr val="24292E"/>
              </a:solidFill>
              <a:latin typeface="Arial"/>
              <a:ea typeface="Arial"/>
              <a:cs typeface="Arial"/>
              <a:sym typeface="Arial"/>
            </a:endParaRPr>
          </a:p>
          <a:p>
            <a:pPr indent="-299085" lvl="1" marL="9144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nombre = “Juana”;</a:t>
            </a:r>
            <a:br>
              <a:rPr lang="es" sz="1200">
                <a:solidFill>
                  <a:srgbClr val="24292E"/>
                </a:solidFill>
                <a:latin typeface="Arial"/>
                <a:ea typeface="Arial"/>
                <a:cs typeface="Arial"/>
                <a:sym typeface="Arial"/>
              </a:rPr>
            </a:b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Crear variable y asignar valor</a:t>
            </a:r>
            <a:endParaRPr sz="1200">
              <a:solidFill>
                <a:srgbClr val="24292E"/>
              </a:solidFill>
              <a:latin typeface="Arial"/>
              <a:ea typeface="Arial"/>
              <a:cs typeface="Arial"/>
              <a:sym typeface="Arial"/>
            </a:endParaRPr>
          </a:p>
          <a:p>
            <a:pPr indent="-299085" lvl="1" marL="9144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let nombre=”Juana”;</a:t>
            </a:r>
            <a:br>
              <a:rPr lang="es" sz="1200">
                <a:solidFill>
                  <a:srgbClr val="24292E"/>
                </a:solidFill>
                <a:latin typeface="Arial"/>
                <a:ea typeface="Arial"/>
                <a:cs typeface="Arial"/>
                <a:sym typeface="Arial"/>
              </a:rPr>
            </a:b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Uso de variables</a:t>
            </a:r>
            <a:endParaRPr sz="1200">
              <a:solidFill>
                <a:srgbClr val="24292E"/>
              </a:solidFill>
              <a:latin typeface="Arial"/>
              <a:ea typeface="Arial"/>
              <a:cs typeface="Arial"/>
              <a:sym typeface="Arial"/>
            </a:endParaRPr>
          </a:p>
          <a:p>
            <a:pPr indent="-299085" lvl="1" marL="9144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Formadas por caracteres alfanuméricos y _ . No se usan signos, ni espacios, %, $, etc</a:t>
            </a:r>
            <a:endParaRPr sz="1200">
              <a:solidFill>
                <a:srgbClr val="24292E"/>
              </a:solidFill>
              <a:latin typeface="Arial"/>
              <a:ea typeface="Arial"/>
              <a:cs typeface="Arial"/>
              <a:sym typeface="Arial"/>
            </a:endParaRPr>
          </a:p>
          <a:p>
            <a:pPr indent="-299085" lvl="1" marL="9144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Se recomienda que los nombres de las variables sigan la sintaxis camelCase (ej.: miPrimeraVariable).</a:t>
            </a:r>
            <a:endParaRPr sz="1200">
              <a:solidFill>
                <a:srgbClr val="24292E"/>
              </a:solidFill>
              <a:latin typeface="Arial"/>
              <a:ea typeface="Arial"/>
              <a:cs typeface="Arial"/>
              <a:sym typeface="Arial"/>
            </a:endParaRPr>
          </a:p>
          <a:p>
            <a:pPr indent="-299085" lvl="1" marL="9144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No pueden empezar por número y no suelen empezar por mayúscula</a:t>
            </a:r>
            <a:endParaRPr sz="1200">
              <a:solidFill>
                <a:srgbClr val="24292E"/>
              </a:solidFill>
              <a:latin typeface="Arial"/>
              <a:ea typeface="Arial"/>
              <a:cs typeface="Arial"/>
              <a:sym typeface="Arial"/>
            </a:endParaRPr>
          </a:p>
          <a:p>
            <a:pPr indent="-299085" lvl="1" marL="9144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No tienen asociado un tipo</a:t>
            </a:r>
            <a:endParaRPr sz="1200">
              <a:solidFill>
                <a:srgbClr val="24292E"/>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 VARIABLES</a:t>
            </a:r>
            <a:endParaRPr/>
          </a:p>
        </p:txBody>
      </p:sp>
      <p:sp>
        <p:nvSpPr>
          <p:cNvPr id="99" name="Google Shape;99;p3"/>
          <p:cNvSpPr txBox="1"/>
          <p:nvPr>
            <p:ph idx="1" type="body"/>
          </p:nvPr>
        </p:nvSpPr>
        <p:spPr>
          <a:xfrm>
            <a:off x="729450" y="2078875"/>
            <a:ext cx="7688700" cy="2915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200">
                <a:solidFill>
                  <a:srgbClr val="24292E"/>
                </a:solidFill>
                <a:latin typeface="Arial"/>
                <a:ea typeface="Arial"/>
                <a:cs typeface="Arial"/>
                <a:sym typeface="Arial"/>
              </a:rPr>
              <a:t>Javascript es un lenguaje dinámicamente tipado. Esto significa que no se indica de qué tipo es una variable al declararla e incluso puede cambiar su tipo a lo largo de la ejecución del programa. Ejemplo:</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b="1" sz="1000">
              <a:solidFill>
                <a:srgbClr val="000000"/>
              </a:solidFill>
              <a:highlight>
                <a:srgbClr val="F6F8FA"/>
              </a:highlight>
              <a:latin typeface="Courier New"/>
              <a:ea typeface="Courier New"/>
              <a:cs typeface="Courier New"/>
              <a:sym typeface="Courier New"/>
            </a:endParaRPr>
          </a:p>
          <a:p>
            <a:pPr indent="0" lvl="0" marL="0" rtl="0" algn="l">
              <a:lnSpc>
                <a:spcPct val="115000"/>
              </a:lnSpc>
              <a:spcBef>
                <a:spcPts val="1200"/>
              </a:spcBef>
              <a:spcAft>
                <a:spcPts val="0"/>
              </a:spcAft>
              <a:buSzPts val="1300"/>
              <a:buNone/>
            </a:pPr>
            <a:r>
              <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Además es débilmente tipado, lo que significa que permite operaciones entre tipos de datos diferentes. Ejemplo:</a:t>
            </a:r>
            <a:endParaRPr sz="1200">
              <a:solidFill>
                <a:srgbClr val="24292E"/>
              </a:solidFill>
              <a:latin typeface="Arial"/>
              <a:ea typeface="Arial"/>
              <a:cs typeface="Arial"/>
              <a:sym typeface="Arial"/>
            </a:endParaRPr>
          </a:p>
          <a:p>
            <a:pPr indent="0" lvl="0" marL="152400" marR="152400" rtl="0" algn="l">
              <a:lnSpc>
                <a:spcPct val="145000"/>
              </a:lnSpc>
              <a:spcBef>
                <a:spcPts val="1200"/>
              </a:spcBef>
              <a:spcAft>
                <a:spcPts val="1200"/>
              </a:spcAft>
              <a:buSzPts val="1300"/>
              <a:buNone/>
            </a:pPr>
            <a:r>
              <a:t/>
            </a:r>
            <a:endParaRPr/>
          </a:p>
        </p:txBody>
      </p:sp>
      <p:pic>
        <p:nvPicPr>
          <p:cNvPr id="100" name="Google Shape;100;p3"/>
          <p:cNvPicPr preferRelativeResize="0"/>
          <p:nvPr/>
        </p:nvPicPr>
        <p:blipFill rotWithShape="1">
          <a:blip r:embed="rId3">
            <a:alphaModFix/>
          </a:blip>
          <a:srcRect b="0" l="0" r="0" t="0"/>
          <a:stretch/>
        </p:blipFill>
        <p:spPr>
          <a:xfrm>
            <a:off x="1026787" y="2571750"/>
            <a:ext cx="7094023" cy="1195725"/>
          </a:xfrm>
          <a:prstGeom prst="rect">
            <a:avLst/>
          </a:prstGeom>
          <a:noFill/>
          <a:ln>
            <a:noFill/>
          </a:ln>
        </p:spPr>
      </p:pic>
      <p:pic>
        <p:nvPicPr>
          <p:cNvPr id="101" name="Google Shape;101;p3"/>
          <p:cNvPicPr preferRelativeResize="0"/>
          <p:nvPr/>
        </p:nvPicPr>
        <p:blipFill rotWithShape="1">
          <a:blip r:embed="rId4">
            <a:alphaModFix/>
          </a:blip>
          <a:srcRect b="0" l="0" r="0" t="0"/>
          <a:stretch/>
        </p:blipFill>
        <p:spPr>
          <a:xfrm>
            <a:off x="1026775" y="4264560"/>
            <a:ext cx="7094025" cy="6765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 VARIABLES</a:t>
            </a:r>
            <a:endParaRPr/>
          </a:p>
        </p:txBody>
      </p:sp>
      <p:sp>
        <p:nvSpPr>
          <p:cNvPr id="107" name="Google Shape;107;p4"/>
          <p:cNvSpPr txBox="1"/>
          <p:nvPr>
            <p:ph idx="1" type="body"/>
          </p:nvPr>
        </p:nvSpPr>
        <p:spPr>
          <a:xfrm>
            <a:off x="729450" y="2078875"/>
            <a:ext cx="4209000" cy="2915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s" sz="1200">
                <a:solidFill>
                  <a:srgbClr val="24292E"/>
                </a:solidFill>
                <a:latin typeface="Arial"/>
                <a:ea typeface="Arial"/>
                <a:cs typeface="Arial"/>
                <a:sym typeface="Arial"/>
              </a:rPr>
              <a:t>Ni siquiera estamos obligados a declarar una variable antes de usarla, aunque es recomendable para evitar errores que nos costará depurar. Podemos hacer que se produzca un error si no declaramos una variable incluyendo al principio de nuestro código la instrucción:</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000">
                <a:solidFill>
                  <a:srgbClr val="24292E"/>
                </a:solidFill>
                <a:highlight>
                  <a:srgbClr val="F6F8FA"/>
                </a:highlight>
                <a:latin typeface="Courier New"/>
                <a:ea typeface="Courier New"/>
                <a:cs typeface="Courier New"/>
                <a:sym typeface="Courier New"/>
              </a:rPr>
              <a:t>'</a:t>
            </a:r>
            <a:r>
              <a:rPr lang="es" sz="1000">
                <a:solidFill>
                  <a:srgbClr val="DD1144"/>
                </a:solidFill>
                <a:highlight>
                  <a:srgbClr val="F6F8FA"/>
                </a:highlight>
                <a:latin typeface="Courier New"/>
                <a:ea typeface="Courier New"/>
                <a:cs typeface="Courier New"/>
                <a:sym typeface="Courier New"/>
              </a:rPr>
              <a:t>use strict</a:t>
            </a:r>
            <a:r>
              <a:rPr lang="es" sz="1000">
                <a:solidFill>
                  <a:srgbClr val="24292E"/>
                </a:solidFill>
                <a:highlight>
                  <a:srgbClr val="F6F8FA"/>
                </a:highlight>
                <a:latin typeface="Courier New"/>
                <a:ea typeface="Courier New"/>
                <a:cs typeface="Courier New"/>
                <a:sym typeface="Courier New"/>
              </a:rPr>
              <a:t>'</a:t>
            </a:r>
            <a:endParaRPr sz="1000">
              <a:solidFill>
                <a:srgbClr val="24292E"/>
              </a:solidFill>
              <a:highlight>
                <a:srgbClr val="F6F8FA"/>
              </a:highlight>
              <a:latin typeface="Courier New"/>
              <a:ea typeface="Courier New"/>
              <a:cs typeface="Courier New"/>
              <a:sym typeface="Courier New"/>
            </a:endParaRPr>
          </a:p>
          <a:p>
            <a:pPr indent="0" lvl="0" marL="0" rtl="0" algn="l">
              <a:lnSpc>
                <a:spcPct val="115000"/>
              </a:lnSpc>
              <a:spcBef>
                <a:spcPts val="1200"/>
              </a:spcBef>
              <a:spcAft>
                <a:spcPts val="1200"/>
              </a:spcAft>
              <a:buSzPts val="1300"/>
              <a:buNone/>
            </a:pPr>
            <a:r>
              <a:rPr lang="es" sz="1200">
                <a:solidFill>
                  <a:srgbClr val="24292E"/>
                </a:solidFill>
                <a:latin typeface="Arial"/>
                <a:ea typeface="Arial"/>
                <a:cs typeface="Arial"/>
                <a:sym typeface="Arial"/>
              </a:rPr>
              <a:t>Las variables de declaran con let (lo recomendado desde ES2015), aunque también pueden declararse con var (nosotros NUNCA lo haremos). La diferencia es que con </a:t>
            </a:r>
            <a:r>
              <a:rPr i="1" lang="es" sz="1200">
                <a:solidFill>
                  <a:srgbClr val="24292E"/>
                </a:solidFill>
                <a:latin typeface="Arial"/>
                <a:ea typeface="Arial"/>
                <a:cs typeface="Arial"/>
                <a:sym typeface="Arial"/>
              </a:rPr>
              <a:t>let</a:t>
            </a:r>
            <a:r>
              <a:rPr lang="es" sz="1200">
                <a:solidFill>
                  <a:srgbClr val="24292E"/>
                </a:solidFill>
                <a:latin typeface="Arial"/>
                <a:ea typeface="Arial"/>
                <a:cs typeface="Arial"/>
                <a:sym typeface="Arial"/>
              </a:rPr>
              <a:t> el ámbito de la variable es sólo el bloque en que se declara mientras que con </a:t>
            </a:r>
            <a:r>
              <a:rPr i="1" lang="es" sz="1200">
                <a:solidFill>
                  <a:srgbClr val="24292E"/>
                </a:solidFill>
                <a:latin typeface="Arial"/>
                <a:ea typeface="Arial"/>
                <a:cs typeface="Arial"/>
                <a:sym typeface="Arial"/>
              </a:rPr>
              <a:t>var</a:t>
            </a:r>
            <a:r>
              <a:rPr lang="es" sz="1200">
                <a:solidFill>
                  <a:srgbClr val="24292E"/>
                </a:solidFill>
                <a:latin typeface="Arial"/>
                <a:ea typeface="Arial"/>
                <a:cs typeface="Arial"/>
                <a:sym typeface="Arial"/>
              </a:rPr>
              <a:t> su ámbito es global (o global a la función en que se declara):</a:t>
            </a:r>
            <a:endParaRPr/>
          </a:p>
        </p:txBody>
      </p:sp>
      <p:pic>
        <p:nvPicPr>
          <p:cNvPr id="108" name="Google Shape;108;p4"/>
          <p:cNvPicPr preferRelativeResize="0"/>
          <p:nvPr/>
        </p:nvPicPr>
        <p:blipFill rotWithShape="1">
          <a:blip r:embed="rId3">
            <a:alphaModFix/>
          </a:blip>
          <a:srcRect b="0" l="0" r="0" t="0"/>
          <a:stretch/>
        </p:blipFill>
        <p:spPr>
          <a:xfrm>
            <a:off x="5008500" y="2272225"/>
            <a:ext cx="3967774" cy="2052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 VARIABLES</a:t>
            </a:r>
            <a:endParaRPr/>
          </a:p>
          <a:p>
            <a:pPr indent="0" lvl="0" marL="0" rtl="0" algn="l">
              <a:lnSpc>
                <a:spcPct val="100000"/>
              </a:lnSpc>
              <a:spcBef>
                <a:spcPts val="0"/>
              </a:spcBef>
              <a:spcAft>
                <a:spcPts val="0"/>
              </a:spcAft>
              <a:buSzPct val="111111"/>
              <a:buNone/>
            </a:pPr>
            <a:r>
              <a:t/>
            </a:r>
            <a:endParaRPr/>
          </a:p>
        </p:txBody>
      </p:sp>
      <p:sp>
        <p:nvSpPr>
          <p:cNvPr id="114" name="Google Shape;114;p5"/>
          <p:cNvSpPr txBox="1"/>
          <p:nvPr>
            <p:ph idx="1" type="body"/>
          </p:nvPr>
        </p:nvSpPr>
        <p:spPr>
          <a:xfrm>
            <a:off x="729450" y="2078875"/>
            <a:ext cx="4436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500">
                <a:solidFill>
                  <a:schemeClr val="dk2"/>
                </a:solidFill>
                <a:latin typeface="Arial"/>
                <a:ea typeface="Arial"/>
                <a:cs typeface="Arial"/>
                <a:sym typeface="Arial"/>
              </a:rPr>
              <a:t>Otro ejemplo para diferenciar  entre var y let → </a:t>
            </a:r>
            <a:endParaRPr sz="1500">
              <a:solidFill>
                <a:schemeClr val="dk2"/>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500">
                <a:solidFill>
                  <a:srgbClr val="24292E"/>
                </a:solidFill>
                <a:latin typeface="Arial"/>
                <a:ea typeface="Arial"/>
                <a:cs typeface="Arial"/>
                <a:sym typeface="Arial"/>
              </a:rPr>
              <a:t>Cualquier variable que no se declara dentro de una función (o si se usa sin declarar) es </a:t>
            </a:r>
            <a:r>
              <a:rPr i="1" lang="es" sz="1500">
                <a:solidFill>
                  <a:srgbClr val="24292E"/>
                </a:solidFill>
                <a:latin typeface="Arial"/>
                <a:ea typeface="Arial"/>
                <a:cs typeface="Arial"/>
                <a:sym typeface="Arial"/>
              </a:rPr>
              <a:t>global</a:t>
            </a:r>
            <a:r>
              <a:rPr lang="es" sz="1500">
                <a:solidFill>
                  <a:srgbClr val="24292E"/>
                </a:solidFill>
                <a:latin typeface="Arial"/>
                <a:ea typeface="Arial"/>
                <a:cs typeface="Arial"/>
                <a:sym typeface="Arial"/>
              </a:rPr>
              <a:t>. </a:t>
            </a:r>
            <a:r>
              <a:rPr b="1" lang="es" sz="1500">
                <a:solidFill>
                  <a:srgbClr val="24292E"/>
                </a:solidFill>
                <a:latin typeface="Arial"/>
                <a:ea typeface="Arial"/>
                <a:cs typeface="Arial"/>
                <a:sym typeface="Arial"/>
              </a:rPr>
              <a:t>Debemos siempre intentar NO usar variables globales.</a:t>
            </a:r>
            <a:endParaRPr b="1" sz="15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1100">
              <a:solidFill>
                <a:srgbClr val="000000"/>
              </a:solidFill>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pic>
        <p:nvPicPr>
          <p:cNvPr id="115" name="Google Shape;115;p5"/>
          <p:cNvPicPr preferRelativeResize="0"/>
          <p:nvPr/>
        </p:nvPicPr>
        <p:blipFill rotWithShape="1">
          <a:blip r:embed="rId3">
            <a:alphaModFix/>
          </a:blip>
          <a:srcRect b="0" l="0" r="0" t="0"/>
          <a:stretch/>
        </p:blipFill>
        <p:spPr>
          <a:xfrm>
            <a:off x="5469350" y="817900"/>
            <a:ext cx="2948800" cy="4066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1. VARIABLES</a:t>
            </a:r>
            <a:endParaRPr/>
          </a:p>
          <a:p>
            <a:pPr indent="0" lvl="0" marL="0" rtl="0" algn="l">
              <a:lnSpc>
                <a:spcPct val="100000"/>
              </a:lnSpc>
              <a:spcBef>
                <a:spcPts val="0"/>
              </a:spcBef>
              <a:spcAft>
                <a:spcPts val="0"/>
              </a:spcAft>
              <a:buSzPct val="111111"/>
              <a:buNone/>
            </a:pPr>
            <a:r>
              <a:t/>
            </a:r>
            <a:endParaRPr/>
          </a:p>
        </p:txBody>
      </p:sp>
      <p:sp>
        <p:nvSpPr>
          <p:cNvPr id="121" name="Google Shape;121;p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a:t>Desde ES2015 también podemos declarar constantes con </a:t>
            </a:r>
            <a:r>
              <a:rPr b="1" lang="es"/>
              <a:t>const</a:t>
            </a:r>
            <a:r>
              <a:rPr lang="es"/>
              <a:t>. Se les debe dar un valor al declararlas y si intentamos modificarlo posteriormente se produce un error. </a:t>
            </a:r>
            <a:endParaRPr/>
          </a:p>
          <a:p>
            <a:pPr indent="0" lvl="0" marL="0" rtl="0" algn="l">
              <a:lnSpc>
                <a:spcPct val="115000"/>
              </a:lnSpc>
              <a:spcBef>
                <a:spcPts val="1200"/>
              </a:spcBef>
              <a:spcAft>
                <a:spcPts val="0"/>
              </a:spcAft>
              <a:buSzPts val="1300"/>
              <a:buNone/>
            </a:pPr>
            <a:r>
              <a:rPr lang="es"/>
              <a:t>Sin embargo si la variable es un objeto o array sí podemos modificar su contenido, aunque no volverla a asignar. </a:t>
            </a:r>
            <a:endParaRPr/>
          </a:p>
          <a:p>
            <a:pPr indent="0" lvl="0" marL="0" rtl="0" algn="l">
              <a:lnSpc>
                <a:spcPct val="115000"/>
              </a:lnSpc>
              <a:spcBef>
                <a:spcPts val="1200"/>
              </a:spcBef>
              <a:spcAft>
                <a:spcPts val="0"/>
              </a:spcAft>
              <a:buSzPts val="1300"/>
              <a:buNone/>
            </a:pPr>
            <a:r>
              <a:rPr lang="es"/>
              <a:t>Se recomienda usarla siempre que sea posible. Ejemplo:</a:t>
            </a:r>
            <a:endParaRPr/>
          </a:p>
          <a:p>
            <a:pPr indent="0" lvl="0" marL="0" rtl="0" algn="l">
              <a:lnSpc>
                <a:spcPct val="115000"/>
              </a:lnSpc>
              <a:spcBef>
                <a:spcPts val="1200"/>
              </a:spcBef>
              <a:spcAft>
                <a:spcPts val="1200"/>
              </a:spcAft>
              <a:buSzPts val="1300"/>
              <a:buNone/>
            </a:pPr>
            <a:r>
              <a:t/>
            </a:r>
            <a:endParaRPr/>
          </a:p>
        </p:txBody>
      </p:sp>
      <p:pic>
        <p:nvPicPr>
          <p:cNvPr id="122" name="Google Shape;122;p6"/>
          <p:cNvPicPr preferRelativeResize="0"/>
          <p:nvPr/>
        </p:nvPicPr>
        <p:blipFill rotWithShape="1">
          <a:blip r:embed="rId3">
            <a:alphaModFix/>
          </a:blip>
          <a:srcRect b="0" l="0" r="0" t="0"/>
          <a:stretch/>
        </p:blipFill>
        <p:spPr>
          <a:xfrm>
            <a:off x="2731137" y="3665125"/>
            <a:ext cx="3685325" cy="1255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 COMENTARIOS</a:t>
            </a:r>
            <a:endParaRPr/>
          </a:p>
        </p:txBody>
      </p:sp>
      <p:sp>
        <p:nvSpPr>
          <p:cNvPr id="128" name="Google Shape;128;p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s"/>
              <a:t>Comentarios de una línea</a:t>
            </a:r>
            <a:endParaRPr/>
          </a:p>
          <a:p>
            <a:pPr indent="-298450" lvl="1" marL="914400" rtl="0" algn="l">
              <a:lnSpc>
                <a:spcPct val="115000"/>
              </a:lnSpc>
              <a:spcBef>
                <a:spcPts val="0"/>
              </a:spcBef>
              <a:spcAft>
                <a:spcPts val="0"/>
              </a:spcAft>
              <a:buSzPts val="1100"/>
              <a:buChar char="○"/>
            </a:pPr>
            <a:r>
              <a:rPr lang="es"/>
              <a:t>//Esto es un comentario</a:t>
            </a:r>
            <a:endParaRPr/>
          </a:p>
          <a:p>
            <a:pPr indent="-311150" lvl="0" marL="457200" rtl="0" algn="l">
              <a:lnSpc>
                <a:spcPct val="115000"/>
              </a:lnSpc>
              <a:spcBef>
                <a:spcPts val="0"/>
              </a:spcBef>
              <a:spcAft>
                <a:spcPts val="0"/>
              </a:spcAft>
              <a:buSzPts val="1300"/>
              <a:buChar char="●"/>
            </a:pPr>
            <a:r>
              <a:rPr lang="es"/>
              <a:t>Comentarios de varias líneas</a:t>
            </a:r>
            <a:endParaRPr/>
          </a:p>
          <a:p>
            <a:pPr indent="-298450" lvl="1" marL="914400" rtl="0" algn="l">
              <a:lnSpc>
                <a:spcPct val="115000"/>
              </a:lnSpc>
              <a:spcBef>
                <a:spcPts val="0"/>
              </a:spcBef>
              <a:spcAft>
                <a:spcPts val="0"/>
              </a:spcAft>
              <a:buSzPts val="1100"/>
              <a:buChar char="○"/>
            </a:pPr>
            <a:r>
              <a:rPr lang="es"/>
              <a:t>/* Hola</a:t>
            </a:r>
            <a:br>
              <a:rPr lang="es"/>
            </a:br>
            <a:r>
              <a:rPr lang="es"/>
              <a:t>que tal</a:t>
            </a:r>
            <a:br>
              <a:rPr lang="es"/>
            </a:br>
            <a:r>
              <a:rPr lang="es"/>
              <a:t>estás*/</a:t>
            </a:r>
            <a:endParaRPr/>
          </a:p>
          <a:p>
            <a:pPr indent="-311150" lvl="0" marL="457200" rtl="0" algn="l">
              <a:lnSpc>
                <a:spcPct val="115000"/>
              </a:lnSpc>
              <a:spcBef>
                <a:spcPts val="0"/>
              </a:spcBef>
              <a:spcAft>
                <a:spcPts val="0"/>
              </a:spcAft>
              <a:buSzPts val="1300"/>
              <a:buChar char="●"/>
            </a:pPr>
            <a:r>
              <a:rPr lang="es"/>
              <a:t>Uso de comentarios</a:t>
            </a:r>
            <a:endParaRPr/>
          </a:p>
          <a:p>
            <a:pPr indent="-298450" lvl="1" marL="914400" rtl="0" algn="l">
              <a:lnSpc>
                <a:spcPct val="115000"/>
              </a:lnSpc>
              <a:spcBef>
                <a:spcPts val="0"/>
              </a:spcBef>
              <a:spcAft>
                <a:spcPts val="0"/>
              </a:spcAft>
              <a:buSzPts val="1100"/>
              <a:buChar char="○"/>
            </a:pPr>
            <a:r>
              <a:rPr lang="es"/>
              <a:t>Para que el código sea más claro e informar del uso de las funciones y variables</a:t>
            </a:r>
            <a:endParaRPr/>
          </a:p>
          <a:p>
            <a:pPr indent="-298450" lvl="1" marL="914400" rtl="0" algn="l">
              <a:lnSpc>
                <a:spcPct val="115000"/>
              </a:lnSpc>
              <a:spcBef>
                <a:spcPts val="0"/>
              </a:spcBef>
              <a:spcAft>
                <a:spcPts val="0"/>
              </a:spcAft>
              <a:buSzPts val="1100"/>
              <a:buChar char="○"/>
            </a:pPr>
            <a:r>
              <a:rPr lang="es"/>
              <a:t>Para desactivar un bloque de código que no queremos que se ejecute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p:txBody>
      </p:sp>
      <p:sp>
        <p:nvSpPr>
          <p:cNvPr id="134" name="Google Shape;134;p8"/>
          <p:cNvSpPr txBox="1"/>
          <p:nvPr>
            <p:ph idx="1" type="body"/>
          </p:nvPr>
        </p:nvSpPr>
        <p:spPr>
          <a:xfrm>
            <a:off x="729450" y="2078875"/>
            <a:ext cx="7688700" cy="29631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lang="es" sz="1200">
                <a:solidFill>
                  <a:srgbClr val="24292E"/>
                </a:solidFill>
                <a:latin typeface="Arial"/>
                <a:ea typeface="Arial"/>
                <a:cs typeface="Arial"/>
                <a:sym typeface="Arial"/>
              </a:rPr>
              <a:t>Para saber de qué tipo es el valor de una variable tenemos el operador </a:t>
            </a:r>
            <a:r>
              <a:rPr b="1" lang="es" sz="1200">
                <a:solidFill>
                  <a:srgbClr val="24292E"/>
                </a:solidFill>
                <a:latin typeface="Arial"/>
                <a:ea typeface="Arial"/>
                <a:cs typeface="Arial"/>
                <a:sym typeface="Arial"/>
              </a:rPr>
              <a:t>typeof</a:t>
            </a:r>
            <a:r>
              <a:rPr lang="es" sz="1200">
                <a:solidFill>
                  <a:srgbClr val="24292E"/>
                </a:solidFill>
                <a:latin typeface="Arial"/>
                <a:ea typeface="Arial"/>
                <a:cs typeface="Arial"/>
                <a:sym typeface="Arial"/>
              </a:rPr>
              <a:t>. Ej.:</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typeof 3</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number</a:t>
            </a:r>
            <a:endParaRPr i="1"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typeof 'Hola'</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string</a:t>
            </a:r>
            <a:endParaRPr i="1"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En Javascript hay 2 valores especiales:</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latin typeface="Arial"/>
                <a:ea typeface="Arial"/>
                <a:cs typeface="Arial"/>
                <a:sym typeface="Arial"/>
              </a:rPr>
              <a:t>undefined: es lo que vale una variable a la que no se ha asignado ningún valor</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null: es un tipo de valor especial que podemos asignar a una variable. Es como un objeto vacío (</a:t>
            </a:r>
            <a:r>
              <a:rPr lang="es" sz="1000">
                <a:solidFill>
                  <a:srgbClr val="24292E"/>
                </a:solidFill>
                <a:latin typeface="Courier New"/>
                <a:ea typeface="Courier New"/>
                <a:cs typeface="Courier New"/>
                <a:sym typeface="Courier New"/>
              </a:rPr>
              <a:t>typeof null</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object</a:t>
            </a:r>
            <a:r>
              <a:rPr lang="es" sz="1200">
                <a:solidFill>
                  <a:srgbClr val="24292E"/>
                </a:solidFill>
                <a:latin typeface="Arial"/>
                <a:ea typeface="Arial"/>
                <a:cs typeface="Arial"/>
                <a:sym typeface="Arial"/>
              </a:rPr>
              <a:t>)</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También hay otros valores especiales relacionados con operaciones con números:</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latin typeface="Arial"/>
                <a:ea typeface="Arial"/>
                <a:cs typeface="Arial"/>
                <a:sym typeface="Arial"/>
              </a:rPr>
              <a:t>NaN (</a:t>
            </a:r>
            <a:r>
              <a:rPr i="1" lang="es" sz="1200">
                <a:solidFill>
                  <a:srgbClr val="24292E"/>
                </a:solidFill>
                <a:latin typeface="Arial"/>
                <a:ea typeface="Arial"/>
                <a:cs typeface="Arial"/>
                <a:sym typeface="Arial"/>
              </a:rPr>
              <a:t>Not a Number</a:t>
            </a:r>
            <a:r>
              <a:rPr lang="es" sz="1200">
                <a:solidFill>
                  <a:srgbClr val="24292E"/>
                </a:solidFill>
                <a:latin typeface="Arial"/>
                <a:ea typeface="Arial"/>
                <a:cs typeface="Arial"/>
                <a:sym typeface="Arial"/>
              </a:rPr>
              <a:t>): indica que el resultado de la operación no puede ser convertido a un número (ej. </a:t>
            </a:r>
            <a:r>
              <a:rPr lang="es" sz="1000">
                <a:solidFill>
                  <a:srgbClr val="24292E"/>
                </a:solidFill>
                <a:latin typeface="Courier New"/>
                <a:ea typeface="Courier New"/>
                <a:cs typeface="Courier New"/>
                <a:sym typeface="Courier New"/>
              </a:rPr>
              <a:t>'Hola'*2</a:t>
            </a:r>
            <a:r>
              <a:rPr lang="es" sz="1200">
                <a:solidFill>
                  <a:srgbClr val="24292E"/>
                </a:solidFill>
                <a:latin typeface="Arial"/>
                <a:ea typeface="Arial"/>
                <a:cs typeface="Arial"/>
                <a:sym typeface="Arial"/>
              </a:rPr>
              <a:t>, aunque </a:t>
            </a:r>
            <a:r>
              <a:rPr lang="es" sz="1000">
                <a:solidFill>
                  <a:srgbClr val="24292E"/>
                </a:solidFill>
                <a:latin typeface="Courier New"/>
                <a:ea typeface="Courier New"/>
                <a:cs typeface="Courier New"/>
                <a:sym typeface="Courier New"/>
              </a:rPr>
              <a:t>'2'*2 </a:t>
            </a:r>
            <a:r>
              <a:rPr lang="es" sz="1200">
                <a:solidFill>
                  <a:srgbClr val="24292E"/>
                </a:solidFill>
                <a:latin typeface="Arial"/>
                <a:ea typeface="Arial"/>
                <a:cs typeface="Arial"/>
                <a:sym typeface="Arial"/>
              </a:rPr>
              <a:t>daría 4 ya que se convierte la cadena ‘2’ al número 2)</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Infinity y -Infinity: indica que el resultado es demasiado grande o demasiado pequeño (ej. </a:t>
            </a:r>
            <a:r>
              <a:rPr lang="es" sz="1000">
                <a:solidFill>
                  <a:srgbClr val="24292E"/>
                </a:solidFill>
                <a:latin typeface="Courier New"/>
                <a:ea typeface="Courier New"/>
                <a:cs typeface="Courier New"/>
                <a:sym typeface="Courier New"/>
              </a:rPr>
              <a:t>1/0</a:t>
            </a:r>
            <a:r>
              <a:rPr lang="es" sz="1200">
                <a:solidFill>
                  <a:srgbClr val="24292E"/>
                </a:solidFill>
                <a:latin typeface="Arial"/>
                <a:ea typeface="Arial"/>
                <a:cs typeface="Arial"/>
                <a:sym typeface="Arial"/>
              </a:rPr>
              <a:t> o </a:t>
            </a:r>
            <a:r>
              <a:rPr lang="es" sz="1000">
                <a:solidFill>
                  <a:srgbClr val="24292E"/>
                </a:solidFill>
                <a:latin typeface="Courier New"/>
                <a:ea typeface="Courier New"/>
                <a:cs typeface="Courier New"/>
                <a:sym typeface="Courier New"/>
              </a:rPr>
              <a:t>-1/0</a:t>
            </a:r>
            <a:r>
              <a:rPr lang="es" sz="1200">
                <a:solidFill>
                  <a:srgbClr val="24292E"/>
                </a:solidFill>
                <a:latin typeface="Arial"/>
                <a:ea typeface="Arial"/>
                <a:cs typeface="Arial"/>
                <a:sym typeface="Arial"/>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Casting de variables</a:t>
            </a:r>
            <a:endParaRPr/>
          </a:p>
        </p:txBody>
      </p:sp>
      <p:sp>
        <p:nvSpPr>
          <p:cNvPr id="140" name="Google Shape;140;p9"/>
          <p:cNvSpPr txBox="1"/>
          <p:nvPr>
            <p:ph idx="1" type="body"/>
          </p:nvPr>
        </p:nvSpPr>
        <p:spPr>
          <a:xfrm>
            <a:off x="729450" y="2267375"/>
            <a:ext cx="7688700" cy="2774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200">
                <a:solidFill>
                  <a:srgbClr val="24292E"/>
                </a:solidFill>
                <a:latin typeface="Arial"/>
                <a:ea typeface="Arial"/>
                <a:cs typeface="Arial"/>
                <a:sym typeface="Arial"/>
              </a:rPr>
              <a:t>Como hemos dicho las variables pueden contener cualquier tipo de valor y, en las operaciones, Javascript realiza automáticamente las conversiones necesarias para, si es posible, realizar la operación. Por ejemplo:</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'4' / 2</a:t>
            </a:r>
            <a:r>
              <a:rPr lang="es" sz="1200">
                <a:solidFill>
                  <a:srgbClr val="24292E"/>
                </a:solidFill>
                <a:latin typeface="Arial"/>
                <a:ea typeface="Arial"/>
                <a:cs typeface="Arial"/>
                <a:sym typeface="Arial"/>
              </a:rPr>
              <a:t> devuelve 2 (convierte ‘4’ en 4 y realiza la operación)</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'23' - null</a:t>
            </a:r>
            <a:r>
              <a:rPr lang="es" sz="1200">
                <a:solidFill>
                  <a:srgbClr val="24292E"/>
                </a:solidFill>
                <a:latin typeface="Arial"/>
                <a:ea typeface="Arial"/>
                <a:cs typeface="Arial"/>
                <a:sym typeface="Arial"/>
              </a:rPr>
              <a:t> devuelve 23 (hace 23 - 0)</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'23' - undefined</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NaN</a:t>
            </a:r>
            <a:r>
              <a:rPr lang="es" sz="1200">
                <a:solidFill>
                  <a:srgbClr val="24292E"/>
                </a:solidFill>
                <a:latin typeface="Arial"/>
                <a:ea typeface="Arial"/>
                <a:cs typeface="Arial"/>
                <a:sym typeface="Arial"/>
              </a:rPr>
              <a:t> (no puede convertir undefined a nada así que no puede hacer la operación)</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'23' * true</a:t>
            </a:r>
            <a:r>
              <a:rPr lang="es" sz="1200">
                <a:solidFill>
                  <a:srgbClr val="24292E"/>
                </a:solidFill>
                <a:latin typeface="Arial"/>
                <a:ea typeface="Arial"/>
                <a:cs typeface="Arial"/>
                <a:sym typeface="Arial"/>
              </a:rPr>
              <a:t> devuelve 23 (23 * 1)</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'23' * 'Hello'</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NaN</a:t>
            </a:r>
            <a:r>
              <a:rPr lang="es" sz="1200">
                <a:solidFill>
                  <a:srgbClr val="24292E"/>
                </a:solidFill>
                <a:latin typeface="Arial"/>
                <a:ea typeface="Arial"/>
                <a:cs typeface="Arial"/>
                <a:sym typeface="Arial"/>
              </a:rPr>
              <a:t> (no puede convertir ‘Hello’)</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23 + 'Hello'</a:t>
            </a:r>
            <a:r>
              <a:rPr lang="es" sz="1200">
                <a:solidFill>
                  <a:srgbClr val="24292E"/>
                </a:solidFill>
                <a:latin typeface="Arial"/>
                <a:ea typeface="Arial"/>
                <a:cs typeface="Arial"/>
                <a:sym typeface="Arial"/>
              </a:rPr>
              <a:t> devuelve ‘23Hello’ (+ es el operador de concatenación así que convierte 23 a ‘23’ y los concatena)</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23 + '23'</a:t>
            </a:r>
            <a:r>
              <a:rPr lang="es" sz="1200">
                <a:solidFill>
                  <a:srgbClr val="24292E"/>
                </a:solidFill>
                <a:latin typeface="Arial"/>
                <a:ea typeface="Arial"/>
                <a:cs typeface="Arial"/>
                <a:sym typeface="Arial"/>
              </a:rPr>
              <a:t> devuelve 2323 (OJO, convierte 23 a ‘23’, no al revés)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Number</a:t>
            </a:r>
            <a:endParaRPr/>
          </a:p>
        </p:txBody>
      </p:sp>
      <p:sp>
        <p:nvSpPr>
          <p:cNvPr id="146" name="Google Shape;146;p10"/>
          <p:cNvSpPr txBox="1"/>
          <p:nvPr>
            <p:ph idx="1" type="body"/>
          </p:nvPr>
        </p:nvSpPr>
        <p:spPr>
          <a:xfrm>
            <a:off x="729450" y="2163825"/>
            <a:ext cx="7688700" cy="2868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lang="es" sz="1200">
                <a:solidFill>
                  <a:srgbClr val="24292E"/>
                </a:solidFill>
                <a:latin typeface="Arial"/>
                <a:ea typeface="Arial"/>
                <a:cs typeface="Arial"/>
                <a:sym typeface="Arial"/>
              </a:rPr>
              <a:t>Sólo hay 1 tipo de número, no existen enteros y decimales. El tipo de dato para cualquier número es number. El carácter para la coma decimal es el . (como en inglés, así que 23,12 debemos escribirlo como 23.12).</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Tenemos los operadores aritméticos +, -, *, / y % y los unarios ++ y – y existen los valores especiales Infinity y -Infinity (</a:t>
            </a:r>
            <a:r>
              <a:rPr lang="es" sz="1000">
                <a:solidFill>
                  <a:srgbClr val="24292E"/>
                </a:solidFill>
                <a:latin typeface="Courier New"/>
                <a:ea typeface="Courier New"/>
                <a:cs typeface="Courier New"/>
                <a:sym typeface="Courier New"/>
              </a:rPr>
              <a:t>23 / 0</a:t>
            </a:r>
            <a:r>
              <a:rPr lang="es" sz="1200">
                <a:solidFill>
                  <a:srgbClr val="24292E"/>
                </a:solidFill>
                <a:latin typeface="Arial"/>
                <a:ea typeface="Arial"/>
                <a:cs typeface="Arial"/>
                <a:sym typeface="Arial"/>
              </a:rPr>
              <a:t> no produce un error sino que devuelve </a:t>
            </a:r>
            <a:r>
              <a:rPr i="1" lang="es" sz="1200">
                <a:solidFill>
                  <a:srgbClr val="24292E"/>
                </a:solidFill>
                <a:latin typeface="Arial"/>
                <a:ea typeface="Arial"/>
                <a:cs typeface="Arial"/>
                <a:sym typeface="Arial"/>
              </a:rPr>
              <a:t>Infinity</a:t>
            </a:r>
            <a:r>
              <a:rPr lang="es" sz="1200">
                <a:solidFill>
                  <a:srgbClr val="24292E"/>
                </a:solidFill>
                <a:latin typeface="Arial"/>
                <a:ea typeface="Arial"/>
                <a:cs typeface="Arial"/>
                <a:sym typeface="Arial"/>
              </a:rPr>
              <a:t>).</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Podemos usar los operadores aritméticos junto al operador de asignación = (+=, -=, *=, /= y %=).</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Algunos métodos útiles de los números son:</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latin typeface="Arial"/>
                <a:ea typeface="Arial"/>
                <a:cs typeface="Arial"/>
                <a:sym typeface="Arial"/>
              </a:rPr>
              <a:t>.</a:t>
            </a:r>
            <a:r>
              <a:rPr b="1" lang="es" sz="1200">
                <a:solidFill>
                  <a:srgbClr val="24292E"/>
                </a:solidFill>
                <a:latin typeface="Arial"/>
                <a:ea typeface="Arial"/>
                <a:cs typeface="Arial"/>
                <a:sym typeface="Arial"/>
              </a:rPr>
              <a:t>toFixed(num)</a:t>
            </a:r>
            <a:r>
              <a:rPr lang="es" sz="1200">
                <a:solidFill>
                  <a:srgbClr val="24292E"/>
                </a:solidFill>
                <a:latin typeface="Arial"/>
                <a:ea typeface="Arial"/>
                <a:cs typeface="Arial"/>
                <a:sym typeface="Arial"/>
              </a:rPr>
              <a:t>: redondea el número a los decimales indicados. Ej. </a:t>
            </a:r>
            <a:r>
              <a:rPr lang="es" sz="1000">
                <a:solidFill>
                  <a:srgbClr val="24292E"/>
                </a:solidFill>
                <a:latin typeface="Courier New"/>
                <a:ea typeface="Courier New"/>
                <a:cs typeface="Courier New"/>
                <a:sym typeface="Courier New"/>
              </a:rPr>
              <a:t>23.2376.toFixed(2)</a:t>
            </a:r>
            <a:r>
              <a:rPr lang="es" sz="1200">
                <a:solidFill>
                  <a:srgbClr val="24292E"/>
                </a:solidFill>
                <a:latin typeface="Arial"/>
                <a:ea typeface="Arial"/>
                <a:cs typeface="Arial"/>
                <a:sym typeface="Arial"/>
              </a:rPr>
              <a:t> devuelve 23.24</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a:t>
            </a:r>
            <a:r>
              <a:rPr b="1" lang="es" sz="1200">
                <a:solidFill>
                  <a:srgbClr val="24292E"/>
                </a:solidFill>
                <a:latin typeface="Arial"/>
                <a:ea typeface="Arial"/>
                <a:cs typeface="Arial"/>
                <a:sym typeface="Arial"/>
              </a:rPr>
              <a:t>toLocaleString():</a:t>
            </a:r>
            <a:r>
              <a:rPr lang="es" sz="1200">
                <a:solidFill>
                  <a:srgbClr val="24292E"/>
                </a:solidFill>
                <a:latin typeface="Arial"/>
                <a:ea typeface="Arial"/>
                <a:cs typeface="Arial"/>
                <a:sym typeface="Arial"/>
              </a:rPr>
              <a:t> devuelve el número convertido al formato local. Ej. </a:t>
            </a:r>
            <a:r>
              <a:rPr lang="es" sz="1000">
                <a:solidFill>
                  <a:srgbClr val="24292E"/>
                </a:solidFill>
                <a:latin typeface="Courier New"/>
                <a:ea typeface="Courier New"/>
                <a:cs typeface="Courier New"/>
                <a:sym typeface="Courier New"/>
              </a:rPr>
              <a:t>23.76.toLocaleString()</a:t>
            </a:r>
            <a:r>
              <a:rPr lang="es" sz="1200">
                <a:solidFill>
                  <a:srgbClr val="24292E"/>
                </a:solidFill>
                <a:latin typeface="Arial"/>
                <a:ea typeface="Arial"/>
                <a:cs typeface="Arial"/>
                <a:sym typeface="Arial"/>
              </a:rPr>
              <a:t> devuelve ‘23,76’ (convierte el punto decimal en coma)</a:t>
            </a:r>
            <a:endParaRPr sz="1200">
              <a:solidFill>
                <a:srgbClr val="24292E"/>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1200">
                <a:solidFill>
                  <a:srgbClr val="24292E"/>
                </a:solidFill>
                <a:latin typeface="Arial"/>
                <a:ea typeface="Arial"/>
                <a:cs typeface="Arial"/>
                <a:sym typeface="Arial"/>
              </a:rPr>
              <a:t>Podemos forzar la conversión a número con la función </a:t>
            </a:r>
            <a:r>
              <a:rPr b="1" lang="es" sz="1200">
                <a:solidFill>
                  <a:srgbClr val="24292E"/>
                </a:solidFill>
                <a:latin typeface="Arial"/>
                <a:ea typeface="Arial"/>
                <a:cs typeface="Arial"/>
                <a:sym typeface="Arial"/>
              </a:rPr>
              <a:t>Number(valor).</a:t>
            </a:r>
            <a:r>
              <a:rPr lang="es" sz="1200">
                <a:solidFill>
                  <a:srgbClr val="24292E"/>
                </a:solidFill>
                <a:latin typeface="Arial"/>
                <a:ea typeface="Arial"/>
                <a:cs typeface="Arial"/>
                <a:sym typeface="Arial"/>
              </a:rPr>
              <a:t> Ejemplo </a:t>
            </a:r>
            <a:r>
              <a:rPr lang="es" sz="1000">
                <a:solidFill>
                  <a:srgbClr val="24292E"/>
                </a:solidFill>
                <a:latin typeface="Courier New"/>
                <a:ea typeface="Courier New"/>
                <a:cs typeface="Courier New"/>
                <a:sym typeface="Courier New"/>
              </a:rPr>
              <a:t>Number('23.12')</a:t>
            </a:r>
            <a:r>
              <a:rPr lang="es" sz="1200">
                <a:solidFill>
                  <a:srgbClr val="24292E"/>
                </a:solidFill>
                <a:latin typeface="Arial"/>
                <a:ea typeface="Arial"/>
                <a:cs typeface="Arial"/>
                <a:sym typeface="Arial"/>
              </a:rPr>
              <a:t>devuelve 23.12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Number</a:t>
            </a:r>
            <a:endParaRPr/>
          </a:p>
        </p:txBody>
      </p:sp>
      <p:sp>
        <p:nvSpPr>
          <p:cNvPr id="152" name="Google Shape;152;p11"/>
          <p:cNvSpPr txBox="1"/>
          <p:nvPr>
            <p:ph idx="1" type="body"/>
          </p:nvPr>
        </p:nvSpPr>
        <p:spPr>
          <a:xfrm>
            <a:off x="729450" y="2097900"/>
            <a:ext cx="7830900" cy="2978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100">
                <a:solidFill>
                  <a:srgbClr val="000000"/>
                </a:solidFill>
                <a:latin typeface="Arial"/>
                <a:ea typeface="Arial"/>
                <a:cs typeface="Arial"/>
                <a:sym typeface="Arial"/>
              </a:rPr>
              <a:t>Otras funciones útiles son:</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isNaN(valor)</a:t>
            </a:r>
            <a:r>
              <a:rPr lang="es" sz="1100">
                <a:solidFill>
                  <a:srgbClr val="000000"/>
                </a:solidFill>
                <a:latin typeface="Arial"/>
                <a:ea typeface="Arial"/>
                <a:cs typeface="Arial"/>
                <a:sym typeface="Arial"/>
              </a:rPr>
              <a:t>: nos dice si el valor pasado es un número (false) o no (true)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isFinite(valor)</a:t>
            </a:r>
            <a:r>
              <a:rPr lang="es" sz="1100">
                <a:solidFill>
                  <a:srgbClr val="000000"/>
                </a:solidFill>
                <a:latin typeface="Arial"/>
                <a:ea typeface="Arial"/>
                <a:cs typeface="Arial"/>
                <a:sym typeface="Arial"/>
              </a:rPr>
              <a:t>: devuelve </a:t>
            </a:r>
            <a:r>
              <a:rPr i="1" lang="es" sz="1100">
                <a:solidFill>
                  <a:srgbClr val="000000"/>
                </a:solidFill>
                <a:latin typeface="Arial"/>
                <a:ea typeface="Arial"/>
                <a:cs typeface="Arial"/>
                <a:sym typeface="Arial"/>
              </a:rPr>
              <a:t>true</a:t>
            </a:r>
            <a:r>
              <a:rPr lang="es" sz="1100">
                <a:solidFill>
                  <a:srgbClr val="000000"/>
                </a:solidFill>
                <a:latin typeface="Arial"/>
                <a:ea typeface="Arial"/>
                <a:cs typeface="Arial"/>
                <a:sym typeface="Arial"/>
              </a:rPr>
              <a:t> si el valor es finito (no es </a:t>
            </a:r>
            <a:r>
              <a:rPr i="1" lang="es" sz="1100">
                <a:solidFill>
                  <a:srgbClr val="000000"/>
                </a:solidFill>
                <a:latin typeface="Arial"/>
                <a:ea typeface="Arial"/>
                <a:cs typeface="Arial"/>
                <a:sym typeface="Arial"/>
              </a:rPr>
              <a:t>Infinity</a:t>
            </a:r>
            <a:r>
              <a:rPr lang="es" sz="1100">
                <a:solidFill>
                  <a:srgbClr val="000000"/>
                </a:solidFill>
                <a:latin typeface="Arial"/>
                <a:ea typeface="Arial"/>
                <a:cs typeface="Arial"/>
                <a:sym typeface="Arial"/>
              </a:rPr>
              <a:t> ni </a:t>
            </a:r>
            <a:r>
              <a:rPr i="1" lang="es" sz="1100">
                <a:solidFill>
                  <a:srgbClr val="000000"/>
                </a:solidFill>
                <a:latin typeface="Arial"/>
                <a:ea typeface="Arial"/>
                <a:cs typeface="Arial"/>
                <a:sym typeface="Arial"/>
              </a:rPr>
              <a:t>-Infinity</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parseInt(valor)</a:t>
            </a:r>
            <a:r>
              <a:rPr lang="es" sz="1100">
                <a:solidFill>
                  <a:srgbClr val="000000"/>
                </a:solidFill>
                <a:latin typeface="Arial"/>
                <a:ea typeface="Arial"/>
                <a:cs typeface="Arial"/>
                <a:sym typeface="Arial"/>
              </a:rPr>
              <a:t>: convierte el valor pasado a un número entero. Siempre que comience por un número la conversión se podrá hacer. Ej.:</a:t>
            </a:r>
            <a:br>
              <a:rPr lang="es" sz="1100">
                <a:solidFill>
                  <a:srgbClr val="000000"/>
                </a:solidFill>
                <a:latin typeface="Arial"/>
                <a:ea typeface="Arial"/>
                <a:cs typeface="Arial"/>
                <a:sym typeface="Arial"/>
              </a:rPr>
            </a:br>
            <a:r>
              <a:rPr lang="es" sz="1000">
                <a:solidFill>
                  <a:srgbClr val="0086B3"/>
                </a:solidFill>
                <a:highlight>
                  <a:srgbClr val="F6F8FA"/>
                </a:highlight>
                <a:latin typeface="Courier New"/>
                <a:ea typeface="Courier New"/>
                <a:cs typeface="Courier New"/>
                <a:sym typeface="Courier New"/>
              </a:rPr>
              <a:t>parseInt</a:t>
            </a:r>
            <a:r>
              <a:rPr lang="es" sz="1000">
                <a:solidFill>
                  <a:srgbClr val="000000"/>
                </a:solidFill>
                <a:highlight>
                  <a:srgbClr val="F6F8FA"/>
                </a:highlight>
                <a:latin typeface="Courier New"/>
                <a:ea typeface="Courier New"/>
                <a:cs typeface="Courier New"/>
                <a:sym typeface="Courier New"/>
              </a:rPr>
              <a:t>(</a:t>
            </a:r>
            <a:r>
              <a:rPr lang="es" sz="1000">
                <a:solidFill>
                  <a:srgbClr val="009999"/>
                </a:solidFill>
                <a:highlight>
                  <a:srgbClr val="F6F8FA"/>
                </a:highlight>
                <a:latin typeface="Courier New"/>
                <a:ea typeface="Courier New"/>
                <a:cs typeface="Courier New"/>
                <a:sym typeface="Courier New"/>
              </a:rPr>
              <a:t>3.65</a:t>
            </a:r>
            <a:r>
              <a:rPr lang="es" sz="1000">
                <a:solidFill>
                  <a:srgbClr val="000000"/>
                </a:solidFill>
                <a:highlight>
                  <a:srgbClr val="F6F8FA"/>
                </a:highlight>
                <a:latin typeface="Courier New"/>
                <a:ea typeface="Courier New"/>
                <a:cs typeface="Courier New"/>
                <a:sym typeface="Courier New"/>
              </a:rPr>
              <a:t>)      </a:t>
            </a:r>
            <a:r>
              <a:rPr i="1" lang="es" sz="1000">
                <a:solidFill>
                  <a:srgbClr val="999988"/>
                </a:solidFill>
                <a:highlight>
                  <a:srgbClr val="F6F8FA"/>
                </a:highlight>
                <a:latin typeface="Courier New"/>
                <a:ea typeface="Courier New"/>
                <a:cs typeface="Courier New"/>
                <a:sym typeface="Courier New"/>
              </a:rPr>
              <a:t>// Devuelve 3</a:t>
            </a:r>
            <a:br>
              <a:rPr lang="es" sz="1000">
                <a:solidFill>
                  <a:srgbClr val="000000"/>
                </a:solidFill>
                <a:highlight>
                  <a:srgbClr val="F6F8FA"/>
                </a:highlight>
                <a:latin typeface="Courier New"/>
                <a:ea typeface="Courier New"/>
                <a:cs typeface="Courier New"/>
                <a:sym typeface="Courier New"/>
              </a:rPr>
            </a:br>
            <a:r>
              <a:rPr lang="es" sz="1000">
                <a:solidFill>
                  <a:srgbClr val="0086B3"/>
                </a:solidFill>
                <a:highlight>
                  <a:srgbClr val="F6F8FA"/>
                </a:highlight>
                <a:latin typeface="Courier New"/>
                <a:ea typeface="Courier New"/>
                <a:cs typeface="Courier New"/>
                <a:sym typeface="Courier New"/>
              </a:rPr>
              <a:t>parseInt</a:t>
            </a:r>
            <a:r>
              <a:rPr lang="es" sz="1000">
                <a:solidFill>
                  <a:srgbClr val="000000"/>
                </a:solidFill>
                <a:highlight>
                  <a:srgbClr val="F6F8FA"/>
                </a:highlight>
                <a:latin typeface="Courier New"/>
                <a:ea typeface="Courier New"/>
                <a:cs typeface="Courier New"/>
                <a:sym typeface="Courier New"/>
              </a:rPr>
              <a:t>('</a:t>
            </a:r>
            <a:r>
              <a:rPr lang="es" sz="1000">
                <a:solidFill>
                  <a:srgbClr val="DD1144"/>
                </a:solidFill>
                <a:highlight>
                  <a:srgbClr val="F6F8FA"/>
                </a:highlight>
                <a:latin typeface="Courier New"/>
                <a:ea typeface="Courier New"/>
                <a:cs typeface="Courier New"/>
                <a:sym typeface="Courier New"/>
              </a:rPr>
              <a:t>3.65</a:t>
            </a:r>
            <a:r>
              <a:rPr lang="es" sz="1000">
                <a:solidFill>
                  <a:srgbClr val="000000"/>
                </a:solidFill>
                <a:highlight>
                  <a:srgbClr val="F6F8FA"/>
                </a:highlight>
                <a:latin typeface="Courier New"/>
                <a:ea typeface="Courier New"/>
                <a:cs typeface="Courier New"/>
                <a:sym typeface="Courier New"/>
              </a:rPr>
              <a:t>')    </a:t>
            </a:r>
            <a:r>
              <a:rPr i="1" lang="es" sz="1000">
                <a:solidFill>
                  <a:srgbClr val="999988"/>
                </a:solidFill>
                <a:highlight>
                  <a:srgbClr val="F6F8FA"/>
                </a:highlight>
                <a:latin typeface="Courier New"/>
                <a:ea typeface="Courier New"/>
                <a:cs typeface="Courier New"/>
                <a:sym typeface="Courier New"/>
              </a:rPr>
              <a:t>// Devuelve 3</a:t>
            </a:r>
            <a:br>
              <a:rPr lang="es" sz="1000">
                <a:solidFill>
                  <a:srgbClr val="000000"/>
                </a:solidFill>
                <a:highlight>
                  <a:srgbClr val="F6F8FA"/>
                </a:highlight>
                <a:latin typeface="Courier New"/>
                <a:ea typeface="Courier New"/>
                <a:cs typeface="Courier New"/>
                <a:sym typeface="Courier New"/>
              </a:rPr>
            </a:br>
            <a:r>
              <a:rPr lang="es" sz="1000">
                <a:solidFill>
                  <a:srgbClr val="0086B3"/>
                </a:solidFill>
                <a:highlight>
                  <a:srgbClr val="F6F8FA"/>
                </a:highlight>
                <a:latin typeface="Courier New"/>
                <a:ea typeface="Courier New"/>
                <a:cs typeface="Courier New"/>
                <a:sym typeface="Courier New"/>
              </a:rPr>
              <a:t>parseInt</a:t>
            </a:r>
            <a:r>
              <a:rPr lang="es" sz="1000">
                <a:solidFill>
                  <a:srgbClr val="000000"/>
                </a:solidFill>
                <a:highlight>
                  <a:srgbClr val="F6F8FA"/>
                </a:highlight>
                <a:latin typeface="Courier New"/>
                <a:ea typeface="Courier New"/>
                <a:cs typeface="Courier New"/>
                <a:sym typeface="Courier New"/>
              </a:rPr>
              <a:t>('</a:t>
            </a:r>
            <a:r>
              <a:rPr lang="es" sz="1000">
                <a:solidFill>
                  <a:srgbClr val="DD1144"/>
                </a:solidFill>
                <a:highlight>
                  <a:srgbClr val="F6F8FA"/>
                </a:highlight>
                <a:latin typeface="Courier New"/>
                <a:ea typeface="Courier New"/>
                <a:cs typeface="Courier New"/>
                <a:sym typeface="Courier New"/>
              </a:rPr>
              <a:t>3 manzanas</a:t>
            </a:r>
            <a:r>
              <a:rPr lang="es" sz="1000">
                <a:solidFill>
                  <a:srgbClr val="000000"/>
                </a:solidFill>
                <a:highlight>
                  <a:srgbClr val="F6F8FA"/>
                </a:highlight>
                <a:latin typeface="Courier New"/>
                <a:ea typeface="Courier New"/>
                <a:cs typeface="Courier New"/>
                <a:sym typeface="Courier New"/>
              </a:rPr>
              <a:t>')    </a:t>
            </a:r>
            <a:r>
              <a:rPr i="1" lang="es" sz="1000">
                <a:solidFill>
                  <a:srgbClr val="999988"/>
                </a:solidFill>
                <a:highlight>
                  <a:srgbClr val="F6F8FA"/>
                </a:highlight>
                <a:latin typeface="Courier New"/>
                <a:ea typeface="Courier New"/>
                <a:cs typeface="Courier New"/>
                <a:sym typeface="Courier New"/>
              </a:rPr>
              <a:t>// Devuelve 3, Number devolvería NaN</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parseFloat(valor)</a:t>
            </a:r>
            <a:r>
              <a:rPr lang="es" sz="1100">
                <a:solidFill>
                  <a:srgbClr val="000000"/>
                </a:solidFill>
                <a:latin typeface="Arial"/>
                <a:ea typeface="Arial"/>
                <a:cs typeface="Arial"/>
                <a:sym typeface="Arial"/>
              </a:rPr>
              <a:t>: como la anterior pero conserva los decimales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OJO: al sumar floats podemos tener problemas:</a:t>
            </a:r>
            <a:endParaRPr sz="1100">
              <a:solidFill>
                <a:srgbClr val="000000"/>
              </a:solidFill>
              <a:latin typeface="Arial"/>
              <a:ea typeface="Arial"/>
              <a:cs typeface="Arial"/>
              <a:sym typeface="Arial"/>
            </a:endParaRPr>
          </a:p>
          <a:p>
            <a:pPr indent="0" lvl="0" marL="152400" marR="152400" rtl="0" algn="l">
              <a:lnSpc>
                <a:spcPct val="145000"/>
              </a:lnSpc>
              <a:spcBef>
                <a:spcPts val="1200"/>
              </a:spcBef>
              <a:spcAft>
                <a:spcPts val="0"/>
              </a:spcAft>
              <a:buSzPts val="1300"/>
              <a:buNone/>
            </a:pPr>
            <a:r>
              <a:rPr lang="es" sz="1000">
                <a:solidFill>
                  <a:srgbClr val="24292E"/>
                </a:solidFill>
                <a:highlight>
                  <a:srgbClr val="F6F8FA"/>
                </a:highlight>
                <a:latin typeface="Courier New"/>
                <a:ea typeface="Courier New"/>
                <a:cs typeface="Courier New"/>
                <a:sym typeface="Courier New"/>
              </a:rPr>
              <a:t>console.log(</a:t>
            </a:r>
            <a:r>
              <a:rPr lang="es" sz="1000">
                <a:solidFill>
                  <a:srgbClr val="009999"/>
                </a:solidFill>
                <a:highlight>
                  <a:srgbClr val="F6F8FA"/>
                </a:highlight>
                <a:latin typeface="Courier New"/>
                <a:ea typeface="Courier New"/>
                <a:cs typeface="Courier New"/>
                <a:sym typeface="Courier New"/>
              </a:rPr>
              <a:t>0.1</a:t>
            </a:r>
            <a:r>
              <a:rPr lang="es" sz="1000">
                <a:solidFill>
                  <a:srgbClr val="24292E"/>
                </a:solidFill>
                <a:highlight>
                  <a:srgbClr val="F6F8FA"/>
                </a:highlight>
                <a:latin typeface="Courier New"/>
                <a:ea typeface="Courier New"/>
                <a:cs typeface="Courier New"/>
                <a:sym typeface="Courier New"/>
              </a:rPr>
              <a:t> </a:t>
            </a:r>
            <a:r>
              <a:rPr b="1" lang="es" sz="1000">
                <a:solidFill>
                  <a:srgbClr val="000000"/>
                </a:solidFill>
                <a:highlight>
                  <a:srgbClr val="F6F8FA"/>
                </a:highlight>
                <a:latin typeface="Courier New"/>
                <a:ea typeface="Courier New"/>
                <a:cs typeface="Courier New"/>
                <a:sym typeface="Courier New"/>
              </a:rPr>
              <a:t>+</a:t>
            </a:r>
            <a:r>
              <a:rPr lang="es" sz="1000">
                <a:solidFill>
                  <a:srgbClr val="24292E"/>
                </a:solidFill>
                <a:highlight>
                  <a:srgbClr val="F6F8FA"/>
                </a:highlight>
                <a:latin typeface="Courier New"/>
                <a:ea typeface="Courier New"/>
                <a:cs typeface="Courier New"/>
                <a:sym typeface="Courier New"/>
              </a:rPr>
              <a:t> </a:t>
            </a:r>
            <a:r>
              <a:rPr lang="es" sz="1000">
                <a:solidFill>
                  <a:srgbClr val="009999"/>
                </a:solidFill>
                <a:highlight>
                  <a:srgbClr val="F6F8FA"/>
                </a:highlight>
                <a:latin typeface="Courier New"/>
                <a:ea typeface="Courier New"/>
                <a:cs typeface="Courier New"/>
                <a:sym typeface="Courier New"/>
              </a:rPr>
              <a:t>0.2</a:t>
            </a:r>
            <a:r>
              <a:rPr lang="es" sz="1000">
                <a:solidFill>
                  <a:srgbClr val="24292E"/>
                </a:solidFill>
                <a:highlight>
                  <a:srgbClr val="F6F8FA"/>
                </a:highlight>
                <a:latin typeface="Courier New"/>
                <a:ea typeface="Courier New"/>
                <a:cs typeface="Courier New"/>
                <a:sym typeface="Courier New"/>
              </a:rPr>
              <a:t>)    </a:t>
            </a:r>
            <a:r>
              <a:rPr i="1" lang="es" sz="1000">
                <a:solidFill>
                  <a:srgbClr val="999988"/>
                </a:solidFill>
                <a:highlight>
                  <a:srgbClr val="F6F8FA"/>
                </a:highlight>
                <a:latin typeface="Courier New"/>
                <a:ea typeface="Courier New"/>
                <a:cs typeface="Courier New"/>
                <a:sym typeface="Courier New"/>
              </a:rPr>
              <a:t>// imprime 0.30000000000000004</a:t>
            </a:r>
            <a:endParaRPr i="1" sz="1000">
              <a:solidFill>
                <a:srgbClr val="999988"/>
              </a:solidFill>
              <a:highlight>
                <a:srgbClr val="F6F8FA"/>
              </a:highlight>
              <a:latin typeface="Courier New"/>
              <a:ea typeface="Courier New"/>
              <a:cs typeface="Courier New"/>
              <a:sym typeface="Courier New"/>
            </a:endParaRPr>
          </a:p>
          <a:p>
            <a:pPr indent="0" lvl="0" marL="0" marR="152400" rtl="0" algn="l">
              <a:lnSpc>
                <a:spcPct val="145000"/>
              </a:lnSpc>
              <a:spcBef>
                <a:spcPts val="0"/>
              </a:spcBef>
              <a:spcAft>
                <a:spcPts val="0"/>
              </a:spcAft>
              <a:buSzPts val="1300"/>
              <a:buNone/>
            </a:pPr>
            <a:r>
              <a:rPr lang="es" sz="1200">
                <a:solidFill>
                  <a:srgbClr val="24292E"/>
                </a:solidFill>
                <a:highlight>
                  <a:srgbClr val="FFFFFF"/>
                </a:highlight>
                <a:latin typeface="Arial"/>
                <a:ea typeface="Arial"/>
                <a:cs typeface="Arial"/>
                <a:sym typeface="Arial"/>
              </a:rPr>
              <a:t>Para evitarlo redondead los resultados (o </a:t>
            </a:r>
            <a:r>
              <a:rPr lang="es" sz="1000">
                <a:solidFill>
                  <a:srgbClr val="24292E"/>
                </a:solidFill>
                <a:latin typeface="Courier New"/>
                <a:ea typeface="Courier New"/>
                <a:cs typeface="Courier New"/>
                <a:sym typeface="Courier New"/>
              </a:rPr>
              <a:t>(0.1*10 + 0.2*10) / 10</a:t>
            </a:r>
            <a:r>
              <a:rPr lang="es" sz="1200">
                <a:solidFill>
                  <a:srgbClr val="24292E"/>
                </a:solidFill>
                <a:highlight>
                  <a:srgbClr val="FFFFFF"/>
                </a:highlight>
                <a:latin typeface="Arial"/>
                <a:ea typeface="Arial"/>
                <a:cs typeface="Arial"/>
                <a:sym typeface="Arial"/>
              </a:rPr>
              <a:t>).</a:t>
            </a:r>
            <a:endParaRPr i="1" sz="1000">
              <a:solidFill>
                <a:srgbClr val="999988"/>
              </a:solidFill>
              <a:highlight>
                <a:srgbClr val="F6F8FA"/>
              </a:highlight>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Number</a:t>
            </a:r>
            <a:endParaRPr/>
          </a:p>
        </p:txBody>
      </p:sp>
      <p:sp>
        <p:nvSpPr>
          <p:cNvPr id="158" name="Google Shape;158;p12"/>
          <p:cNvSpPr txBox="1"/>
          <p:nvPr>
            <p:ph idx="1" type="body"/>
          </p:nvPr>
        </p:nvSpPr>
        <p:spPr>
          <a:xfrm>
            <a:off x="729450" y="2163825"/>
            <a:ext cx="7688700" cy="2176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59" name="Google Shape;159;p12"/>
          <p:cNvPicPr preferRelativeResize="0"/>
          <p:nvPr/>
        </p:nvPicPr>
        <p:blipFill rotWithShape="1">
          <a:blip r:embed="rId3">
            <a:alphaModFix/>
          </a:blip>
          <a:srcRect b="18239" l="0" r="0" t="0"/>
          <a:stretch/>
        </p:blipFill>
        <p:spPr>
          <a:xfrm>
            <a:off x="1705700" y="2365525"/>
            <a:ext cx="5584901" cy="23745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Number</a:t>
            </a:r>
            <a:endParaRPr/>
          </a:p>
        </p:txBody>
      </p:sp>
      <p:sp>
        <p:nvSpPr>
          <p:cNvPr id="165" name="Google Shape;165;p13"/>
          <p:cNvSpPr txBox="1"/>
          <p:nvPr>
            <p:ph idx="1" type="body"/>
          </p:nvPr>
        </p:nvSpPr>
        <p:spPr>
          <a:xfrm>
            <a:off x="729450" y="2163825"/>
            <a:ext cx="7688700" cy="2176200"/>
          </a:xfrm>
          <a:prstGeom prst="rect">
            <a:avLst/>
          </a:prstGeom>
          <a:noFill/>
          <a:ln>
            <a:noFill/>
          </a:ln>
        </p:spPr>
        <p:txBody>
          <a:bodyPr anchorCtr="0" anchor="t" bIns="91425" lIns="91425" spcFirstLastPara="1" rIns="91425" wrap="square" tIns="91425">
            <a:normAutofit/>
          </a:bodyPr>
          <a:lstStyle/>
          <a:p>
            <a:pPr indent="0" lvl="0" marL="139700" marR="139700" rtl="0" algn="l">
              <a:lnSpc>
                <a:spcPct val="115000"/>
              </a:lnSpc>
              <a:spcBef>
                <a:spcPts val="0"/>
              </a:spcBef>
              <a:spcAft>
                <a:spcPts val="0"/>
              </a:spcAft>
              <a:buSzPts val="1300"/>
              <a:buNone/>
            </a:pPr>
            <a:r>
              <a:rPr lang="es" sz="1200">
                <a:solidFill>
                  <a:srgbClr val="6A737D"/>
                </a:solidFill>
                <a:latin typeface="Arial"/>
                <a:ea typeface="Arial"/>
                <a:cs typeface="Arial"/>
                <a:sym typeface="Arial"/>
              </a:rPr>
              <a:t>EJERCICIO 1: </a:t>
            </a:r>
            <a:endParaRPr sz="1200">
              <a:solidFill>
                <a:srgbClr val="6A737D"/>
              </a:solidFill>
              <a:latin typeface="Arial"/>
              <a:ea typeface="Arial"/>
              <a:cs typeface="Arial"/>
              <a:sym typeface="Arial"/>
            </a:endParaRPr>
          </a:p>
          <a:p>
            <a:pPr indent="0" lvl="0" marL="139700" marR="139700" rtl="0" algn="l">
              <a:lnSpc>
                <a:spcPct val="115000"/>
              </a:lnSpc>
              <a:spcBef>
                <a:spcPts val="1200"/>
              </a:spcBef>
              <a:spcAft>
                <a:spcPts val="0"/>
              </a:spcAft>
              <a:buSzPts val="1300"/>
              <a:buNone/>
            </a:pPr>
            <a:r>
              <a:rPr lang="es" sz="1200">
                <a:solidFill>
                  <a:srgbClr val="6A737D"/>
                </a:solidFill>
                <a:latin typeface="Arial"/>
                <a:ea typeface="Arial"/>
                <a:cs typeface="Arial"/>
                <a:sym typeface="Arial"/>
              </a:rPr>
              <a:t>Crea un programa en el que haya 3 variables numéricas con dos decimales</a:t>
            </a:r>
            <a:endParaRPr sz="1200">
              <a:solidFill>
                <a:srgbClr val="6A737D"/>
              </a:solidFill>
              <a:latin typeface="Arial"/>
              <a:ea typeface="Arial"/>
              <a:cs typeface="Arial"/>
              <a:sym typeface="Arial"/>
            </a:endParaRPr>
          </a:p>
          <a:p>
            <a:pPr indent="0" lvl="0" marL="139700" marR="139700" rtl="0" algn="l">
              <a:lnSpc>
                <a:spcPct val="115000"/>
              </a:lnSpc>
              <a:spcBef>
                <a:spcPts val="1200"/>
              </a:spcBef>
              <a:spcAft>
                <a:spcPts val="0"/>
              </a:spcAft>
              <a:buSzPts val="1300"/>
              <a:buNone/>
            </a:pPr>
            <a:r>
              <a:rPr lang="es" sz="1200">
                <a:solidFill>
                  <a:srgbClr val="6A737D"/>
                </a:solidFill>
                <a:latin typeface="Arial"/>
                <a:ea typeface="Arial"/>
                <a:cs typeface="Arial"/>
                <a:sym typeface="Arial"/>
              </a:rPr>
              <a:t>Calcula la media y guarda  el resultado con 1 decimal. </a:t>
            </a:r>
            <a:endParaRPr sz="1200">
              <a:solidFill>
                <a:srgbClr val="6A737D"/>
              </a:solidFill>
              <a:latin typeface="Arial"/>
              <a:ea typeface="Arial"/>
              <a:cs typeface="Arial"/>
              <a:sym typeface="Arial"/>
            </a:endParaRPr>
          </a:p>
          <a:p>
            <a:pPr indent="0" lvl="0" marL="139700" marR="139700" rtl="0" algn="l">
              <a:lnSpc>
                <a:spcPct val="115000"/>
              </a:lnSpc>
              <a:spcBef>
                <a:spcPts val="1200"/>
              </a:spcBef>
              <a:spcAft>
                <a:spcPts val="0"/>
              </a:spcAft>
              <a:buSzPts val="1300"/>
              <a:buNone/>
            </a:pPr>
            <a:r>
              <a:rPr lang="es" sz="1200">
                <a:solidFill>
                  <a:srgbClr val="6A737D"/>
                </a:solidFill>
                <a:latin typeface="Arial"/>
                <a:ea typeface="Arial"/>
                <a:cs typeface="Arial"/>
                <a:sym typeface="Arial"/>
              </a:rPr>
              <a:t>Muestra el resultado con un alert</a:t>
            </a:r>
            <a:endParaRPr sz="1200">
              <a:solidFill>
                <a:srgbClr val="6A737D"/>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String</a:t>
            </a:r>
            <a:endParaRPr/>
          </a:p>
        </p:txBody>
      </p:sp>
      <p:sp>
        <p:nvSpPr>
          <p:cNvPr id="171" name="Google Shape;171;p14"/>
          <p:cNvSpPr txBox="1"/>
          <p:nvPr>
            <p:ph idx="1" type="body"/>
          </p:nvPr>
        </p:nvSpPr>
        <p:spPr>
          <a:xfrm>
            <a:off x="729450" y="2163825"/>
            <a:ext cx="7688700" cy="2900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17117"/>
              <a:buNone/>
            </a:pPr>
            <a:r>
              <a:rPr lang="es" sz="1200">
                <a:solidFill>
                  <a:srgbClr val="24292E"/>
                </a:solidFill>
                <a:latin typeface="Arial"/>
                <a:ea typeface="Arial"/>
                <a:cs typeface="Arial"/>
                <a:sym typeface="Arial"/>
              </a:rPr>
              <a:t>Las cadenas de texto van entre comillas simples o dobles, es indiferente. Podemos escapar un caràcter con \ (ej. </a:t>
            </a:r>
            <a:r>
              <a:rPr lang="es" sz="1000">
                <a:solidFill>
                  <a:srgbClr val="24292E"/>
                </a:solidFill>
                <a:latin typeface="Courier New"/>
                <a:ea typeface="Courier New"/>
                <a:cs typeface="Courier New"/>
                <a:sym typeface="Courier New"/>
              </a:rPr>
              <a:t>'Hola \'Mundo\''</a:t>
            </a:r>
            <a:r>
              <a:rPr lang="es" sz="1200">
                <a:solidFill>
                  <a:srgbClr val="24292E"/>
                </a:solidFill>
                <a:latin typeface="Arial"/>
                <a:ea typeface="Arial"/>
                <a:cs typeface="Arial"/>
                <a:sym typeface="Arial"/>
              </a:rPr>
              <a:t>devuelve </a:t>
            </a:r>
            <a:r>
              <a:rPr i="1" lang="es" sz="1200">
                <a:solidFill>
                  <a:srgbClr val="24292E"/>
                </a:solidFill>
                <a:latin typeface="Arial"/>
                <a:ea typeface="Arial"/>
                <a:cs typeface="Arial"/>
                <a:sym typeface="Arial"/>
              </a:rPr>
              <a:t>Hola ‘Mundo’</a:t>
            </a:r>
            <a:r>
              <a:rPr lang="es" sz="1200">
                <a:solidFill>
                  <a:srgbClr val="24292E"/>
                </a:solidFill>
                <a:latin typeface="Arial"/>
                <a:ea typeface="Arial"/>
                <a:cs typeface="Arial"/>
                <a:sym typeface="Arial"/>
              </a:rPr>
              <a:t>).</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ct val="117117"/>
              <a:buNone/>
            </a:pPr>
            <a:r>
              <a:rPr lang="es" sz="1200">
                <a:solidFill>
                  <a:srgbClr val="24292E"/>
                </a:solidFill>
                <a:latin typeface="Arial"/>
                <a:ea typeface="Arial"/>
                <a:cs typeface="Arial"/>
                <a:sym typeface="Arial"/>
              </a:rPr>
              <a:t>Para forzar la conversión a cadena se usa la función String(valor) (ej. </a:t>
            </a:r>
            <a:r>
              <a:rPr lang="es" sz="1000">
                <a:solidFill>
                  <a:srgbClr val="24292E"/>
                </a:solidFill>
                <a:latin typeface="Courier New"/>
                <a:ea typeface="Courier New"/>
                <a:cs typeface="Courier New"/>
                <a:sym typeface="Courier New"/>
              </a:rPr>
              <a:t>String(23)</a:t>
            </a:r>
            <a:r>
              <a:rPr lang="es" sz="1200">
                <a:solidFill>
                  <a:srgbClr val="24292E"/>
                </a:solidFill>
                <a:latin typeface="Arial"/>
                <a:ea typeface="Arial"/>
                <a:cs typeface="Arial"/>
                <a:sym typeface="Arial"/>
              </a:rPr>
              <a:t> devuelve ‘23’)</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ct val="117117"/>
              <a:buNone/>
            </a:pPr>
            <a:r>
              <a:rPr lang="es" sz="1200">
                <a:solidFill>
                  <a:srgbClr val="24292E"/>
                </a:solidFill>
                <a:latin typeface="Arial"/>
                <a:ea typeface="Arial"/>
                <a:cs typeface="Arial"/>
                <a:sym typeface="Arial"/>
              </a:rPr>
              <a:t>El operador de concatenación de cadenas es +. Ojo porque si pedimos un dato con </a:t>
            </a:r>
            <a:r>
              <a:rPr i="1" lang="es" sz="1200">
                <a:solidFill>
                  <a:srgbClr val="24292E"/>
                </a:solidFill>
                <a:latin typeface="Arial"/>
                <a:ea typeface="Arial"/>
                <a:cs typeface="Arial"/>
                <a:sym typeface="Arial"/>
              </a:rPr>
              <a:t>prompt</a:t>
            </a:r>
            <a:r>
              <a:rPr lang="es" sz="1200">
                <a:solidFill>
                  <a:srgbClr val="24292E"/>
                </a:solidFill>
                <a:latin typeface="Arial"/>
                <a:ea typeface="Arial"/>
                <a:cs typeface="Arial"/>
                <a:sym typeface="Arial"/>
              </a:rPr>
              <a:t> siempre devuelve una cadena así que si le pedimos la edad al usuario (por ejemplo 20) y le sumamos 10 tendremos 2010 (‘20’+10).</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ct val="117117"/>
              <a:buNone/>
            </a:pPr>
            <a:r>
              <a:rPr lang="es" sz="1200">
                <a:solidFill>
                  <a:srgbClr val="24292E"/>
                </a:solidFill>
                <a:latin typeface="Arial"/>
                <a:ea typeface="Arial"/>
                <a:cs typeface="Arial"/>
                <a:sym typeface="Arial"/>
              </a:rPr>
              <a:t>Algunos métodos y propiedades de las cadenas son:</a:t>
            </a:r>
            <a:endParaRPr sz="1200">
              <a:solidFill>
                <a:srgbClr val="24292E"/>
              </a:solidFill>
              <a:latin typeface="Arial"/>
              <a:ea typeface="Arial"/>
              <a:cs typeface="Arial"/>
              <a:sym typeface="Arial"/>
            </a:endParaRPr>
          </a:p>
          <a:p>
            <a:pPr indent="-299085" lvl="0" marL="457200" rtl="0" algn="l">
              <a:lnSpc>
                <a:spcPct val="115000"/>
              </a:lnSpc>
              <a:spcBef>
                <a:spcPts val="1200"/>
              </a:spcBef>
              <a:spcAft>
                <a:spcPts val="0"/>
              </a:spcAft>
              <a:buClr>
                <a:srgbClr val="24292E"/>
              </a:buClr>
              <a:buSzPct val="100000"/>
              <a:buFont typeface="Arial"/>
              <a:buChar char="●"/>
            </a:pPr>
            <a:r>
              <a:rPr lang="es" sz="1200">
                <a:solidFill>
                  <a:srgbClr val="24292E"/>
                </a:solidFill>
                <a:latin typeface="Arial"/>
                <a:ea typeface="Arial"/>
                <a:cs typeface="Arial"/>
                <a:sym typeface="Arial"/>
              </a:rPr>
              <a:t>.length: devuelve la longitud de una cadena. Ej.: </a:t>
            </a:r>
            <a:r>
              <a:rPr lang="es" sz="1000">
                <a:solidFill>
                  <a:srgbClr val="24292E"/>
                </a:solidFill>
                <a:latin typeface="Courier New"/>
                <a:ea typeface="Courier New"/>
                <a:cs typeface="Courier New"/>
                <a:sym typeface="Courier New"/>
              </a:rPr>
              <a:t>'Hola mundo'.length</a:t>
            </a:r>
            <a:r>
              <a:rPr lang="es" sz="1200">
                <a:solidFill>
                  <a:srgbClr val="24292E"/>
                </a:solidFill>
                <a:latin typeface="Arial"/>
                <a:ea typeface="Arial"/>
                <a:cs typeface="Arial"/>
                <a:sym typeface="Arial"/>
              </a:rPr>
              <a:t> devuelve 10</a:t>
            </a: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.charAt(posición): </a:t>
            </a:r>
            <a:r>
              <a:rPr lang="es" sz="1000">
                <a:solidFill>
                  <a:srgbClr val="24292E"/>
                </a:solidFill>
                <a:latin typeface="Courier New"/>
                <a:ea typeface="Courier New"/>
                <a:cs typeface="Courier New"/>
                <a:sym typeface="Courier New"/>
              </a:rPr>
              <a:t>'Hola mundo'.charAt(0)</a:t>
            </a:r>
            <a:r>
              <a:rPr lang="es" sz="1200">
                <a:solidFill>
                  <a:srgbClr val="24292E"/>
                </a:solidFill>
                <a:latin typeface="Arial"/>
                <a:ea typeface="Arial"/>
                <a:cs typeface="Arial"/>
                <a:sym typeface="Arial"/>
              </a:rPr>
              <a:t> devuelve ‘H’</a:t>
            </a: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.indexOf(carácter): </a:t>
            </a:r>
            <a:r>
              <a:rPr lang="es" sz="1000">
                <a:solidFill>
                  <a:srgbClr val="24292E"/>
                </a:solidFill>
                <a:latin typeface="Courier New"/>
                <a:ea typeface="Courier New"/>
                <a:cs typeface="Courier New"/>
                <a:sym typeface="Courier New"/>
              </a:rPr>
              <a:t>'Hola mundo'.indexOf('o')</a:t>
            </a:r>
            <a:r>
              <a:rPr lang="es" sz="1200">
                <a:solidFill>
                  <a:srgbClr val="24292E"/>
                </a:solidFill>
                <a:latin typeface="Arial"/>
                <a:ea typeface="Arial"/>
                <a:cs typeface="Arial"/>
                <a:sym typeface="Arial"/>
              </a:rPr>
              <a:t> devuelve 1. Si no se encuentra devuelve -1</a:t>
            </a: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.lastIndexOf(carácter): </a:t>
            </a:r>
            <a:r>
              <a:rPr lang="es" sz="1000">
                <a:solidFill>
                  <a:srgbClr val="24292E"/>
                </a:solidFill>
                <a:latin typeface="Courier New"/>
                <a:ea typeface="Courier New"/>
                <a:cs typeface="Courier New"/>
                <a:sym typeface="Courier New"/>
              </a:rPr>
              <a:t>'Hola mundo'.lastIndexOf('o')</a:t>
            </a:r>
            <a:r>
              <a:rPr lang="es" sz="1200">
                <a:solidFill>
                  <a:srgbClr val="24292E"/>
                </a:solidFill>
                <a:latin typeface="Arial"/>
                <a:ea typeface="Arial"/>
                <a:cs typeface="Arial"/>
                <a:sym typeface="Arial"/>
              </a:rPr>
              <a:t> devuelve 9</a:t>
            </a: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.substring(desde, hasta): </a:t>
            </a:r>
            <a:r>
              <a:rPr lang="es" sz="1000">
                <a:solidFill>
                  <a:srgbClr val="24292E"/>
                </a:solidFill>
                <a:latin typeface="Courier New"/>
                <a:ea typeface="Courier New"/>
                <a:cs typeface="Courier New"/>
                <a:sym typeface="Courier New"/>
              </a:rPr>
              <a:t>'Hola mundo'.substring(2,4)</a:t>
            </a:r>
            <a:r>
              <a:rPr lang="es" sz="1200">
                <a:solidFill>
                  <a:srgbClr val="24292E"/>
                </a:solidFill>
                <a:latin typeface="Arial"/>
                <a:ea typeface="Arial"/>
                <a:cs typeface="Arial"/>
                <a:sym typeface="Arial"/>
              </a:rPr>
              <a:t> devuelve ‘la’</a:t>
            </a: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.substr(desde, num caracteres): </a:t>
            </a:r>
            <a:r>
              <a:rPr lang="es" sz="1000">
                <a:solidFill>
                  <a:srgbClr val="24292E"/>
                </a:solidFill>
                <a:latin typeface="Courier New"/>
                <a:ea typeface="Courier New"/>
                <a:cs typeface="Courier New"/>
                <a:sym typeface="Courier New"/>
              </a:rPr>
              <a:t>'Hola mundo'.substr(2,4)</a:t>
            </a:r>
            <a:r>
              <a:rPr lang="es" sz="1200">
                <a:solidFill>
                  <a:srgbClr val="24292E"/>
                </a:solidFill>
                <a:latin typeface="Arial"/>
                <a:ea typeface="Arial"/>
                <a:cs typeface="Arial"/>
                <a:sym typeface="Arial"/>
              </a:rPr>
              <a:t> devuelve ‘la m’</a:t>
            </a:r>
            <a:endParaRPr sz="1200">
              <a:solidFill>
                <a:srgbClr val="24292E"/>
              </a:solidFill>
              <a:latin typeface="Arial"/>
              <a:ea typeface="Arial"/>
              <a:cs typeface="Arial"/>
              <a:sym typeface="Arial"/>
            </a:endParaRPr>
          </a:p>
          <a:p>
            <a:pPr indent="-299085" lvl="0" marL="457200" rtl="0" algn="l">
              <a:lnSpc>
                <a:spcPct val="115000"/>
              </a:lnSpc>
              <a:spcBef>
                <a:spcPts val="0"/>
              </a:spcBef>
              <a:spcAft>
                <a:spcPts val="0"/>
              </a:spcAft>
              <a:buClr>
                <a:srgbClr val="24292E"/>
              </a:buClr>
              <a:buSzPct val="100000"/>
              <a:buFont typeface="Arial"/>
              <a:buChar char="●"/>
            </a:pPr>
            <a:r>
              <a:rPr lang="es" sz="1200">
                <a:solidFill>
                  <a:srgbClr val="24292E"/>
                </a:solidFill>
                <a:latin typeface="Arial"/>
                <a:ea typeface="Arial"/>
                <a:cs typeface="Arial"/>
                <a:sym typeface="Arial"/>
              </a:rPr>
              <a:t>.replace(busco, reemplaza): </a:t>
            </a:r>
            <a:r>
              <a:rPr lang="es" sz="1000">
                <a:solidFill>
                  <a:srgbClr val="24292E"/>
                </a:solidFill>
                <a:latin typeface="Courier New"/>
                <a:ea typeface="Courier New"/>
                <a:cs typeface="Courier New"/>
                <a:sym typeface="Courier New"/>
              </a:rPr>
              <a:t>'Hola mundo'.replace('Hola', 'Adiós')</a:t>
            </a:r>
            <a:r>
              <a:rPr lang="es" sz="1200">
                <a:solidFill>
                  <a:srgbClr val="24292E"/>
                </a:solidFill>
                <a:latin typeface="Arial"/>
                <a:ea typeface="Arial"/>
                <a:cs typeface="Arial"/>
                <a:sym typeface="Arial"/>
              </a:rPr>
              <a:t> devuelve ‘Adiós mundo’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String</a:t>
            </a:r>
            <a:endParaRPr/>
          </a:p>
        </p:txBody>
      </p:sp>
      <p:sp>
        <p:nvSpPr>
          <p:cNvPr id="177" name="Google Shape;177;p15"/>
          <p:cNvSpPr txBox="1"/>
          <p:nvPr>
            <p:ph idx="1" type="body"/>
          </p:nvPr>
        </p:nvSpPr>
        <p:spPr>
          <a:xfrm>
            <a:off x="729450" y="2163825"/>
            <a:ext cx="7688700" cy="2900100"/>
          </a:xfrm>
          <a:prstGeom prst="rect">
            <a:avLst/>
          </a:prstGeom>
          <a:noFill/>
          <a:ln>
            <a:noFill/>
          </a:ln>
        </p:spPr>
        <p:txBody>
          <a:bodyPr anchorCtr="0" anchor="t" bIns="91425" lIns="91425" spcFirstLastPara="1" rIns="91425" wrap="square" tIns="91425">
            <a:normAutofit lnSpcReduction="10000"/>
          </a:bodyPr>
          <a:lstStyle/>
          <a:p>
            <a:pPr indent="0" lvl="0" marL="457200" rtl="0" algn="l">
              <a:lnSpc>
                <a:spcPct val="115000"/>
              </a:lnSpc>
              <a:spcBef>
                <a:spcPts val="300"/>
              </a:spcBef>
              <a:spcAft>
                <a:spcPts val="0"/>
              </a:spcAft>
              <a:buSzPts val="1300"/>
              <a:buNone/>
            </a:pPr>
            <a:r>
              <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latin typeface="Arial"/>
                <a:ea typeface="Arial"/>
                <a:cs typeface="Arial"/>
                <a:sym typeface="Arial"/>
              </a:rPr>
              <a:t>.toLocaleLowerCase(): </a:t>
            </a:r>
            <a:r>
              <a:rPr lang="es" sz="1000">
                <a:solidFill>
                  <a:srgbClr val="24292E"/>
                </a:solidFill>
                <a:latin typeface="Courier New"/>
                <a:ea typeface="Courier New"/>
                <a:cs typeface="Courier New"/>
                <a:sym typeface="Courier New"/>
              </a:rPr>
              <a:t>'Hola mundo'.toLocaleLowerCase()</a:t>
            </a:r>
            <a:r>
              <a:rPr lang="es" sz="1200">
                <a:solidFill>
                  <a:srgbClr val="24292E"/>
                </a:solidFill>
                <a:latin typeface="Arial"/>
                <a:ea typeface="Arial"/>
                <a:cs typeface="Arial"/>
                <a:sym typeface="Arial"/>
              </a:rPr>
              <a:t> devuelve ‘hola mundo’</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.toLocaleUpperCase(): </a:t>
            </a:r>
            <a:r>
              <a:rPr lang="es" sz="1000">
                <a:solidFill>
                  <a:srgbClr val="24292E"/>
                </a:solidFill>
                <a:latin typeface="Courier New"/>
                <a:ea typeface="Courier New"/>
                <a:cs typeface="Courier New"/>
                <a:sym typeface="Courier New"/>
              </a:rPr>
              <a:t>'Hola mundo'.toLocaleUpperCase()</a:t>
            </a:r>
            <a:r>
              <a:rPr lang="es" sz="1200">
                <a:solidFill>
                  <a:srgbClr val="24292E"/>
                </a:solidFill>
                <a:latin typeface="Arial"/>
                <a:ea typeface="Arial"/>
                <a:cs typeface="Arial"/>
                <a:sym typeface="Arial"/>
              </a:rPr>
              <a:t> devuelve ‘HOLA MUNDO’</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.localeCompare(cadena): devuelve -1 si la cadena a que se aplica el método es anterior alfabéticamente a ‘cadena’, 1 si es posterior y 0 si ambas son iguales. Tiene en cuenta caracteres locales como acentos ñ, ç, etc</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.trim(cadena): </a:t>
            </a:r>
            <a:r>
              <a:rPr lang="es" sz="1000">
                <a:solidFill>
                  <a:srgbClr val="24292E"/>
                </a:solidFill>
                <a:latin typeface="Courier New"/>
                <a:ea typeface="Courier New"/>
                <a:cs typeface="Courier New"/>
                <a:sym typeface="Courier New"/>
              </a:rPr>
              <a:t>' Hola mundo '.trim()</a:t>
            </a:r>
            <a:r>
              <a:rPr lang="es" sz="1200">
                <a:solidFill>
                  <a:srgbClr val="24292E"/>
                </a:solidFill>
                <a:latin typeface="Arial"/>
                <a:ea typeface="Arial"/>
                <a:cs typeface="Arial"/>
                <a:sym typeface="Arial"/>
              </a:rPr>
              <a:t> devuelve ‘Hola mundo’</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.startsWith(cadena): </a:t>
            </a:r>
            <a:r>
              <a:rPr lang="es" sz="1000">
                <a:solidFill>
                  <a:srgbClr val="24292E"/>
                </a:solidFill>
                <a:latin typeface="Courier New"/>
                <a:ea typeface="Courier New"/>
                <a:cs typeface="Courier New"/>
                <a:sym typeface="Courier New"/>
              </a:rPr>
              <a:t>'Hola mundo'.startsWith('Hol')</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true</a:t>
            </a:r>
            <a:endParaRPr i="1"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.endsWith(cadena): </a:t>
            </a:r>
            <a:r>
              <a:rPr lang="es" sz="1000">
                <a:solidFill>
                  <a:srgbClr val="24292E"/>
                </a:solidFill>
                <a:latin typeface="Courier New"/>
                <a:ea typeface="Courier New"/>
                <a:cs typeface="Courier New"/>
                <a:sym typeface="Courier New"/>
              </a:rPr>
              <a:t>'Hola mundo'.endsWith('Hol')</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false</a:t>
            </a:r>
            <a:endParaRPr i="1"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.includes(cadena): </a:t>
            </a:r>
            <a:r>
              <a:rPr lang="es" sz="1000">
                <a:solidFill>
                  <a:srgbClr val="24292E"/>
                </a:solidFill>
                <a:latin typeface="Courier New"/>
                <a:ea typeface="Courier New"/>
                <a:cs typeface="Courier New"/>
                <a:sym typeface="Courier New"/>
              </a:rPr>
              <a:t>'Hola mundo'.includes('mun')</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true</a:t>
            </a:r>
            <a:endParaRPr i="1"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.repeat(veces): </a:t>
            </a:r>
            <a:r>
              <a:rPr lang="es" sz="1000">
                <a:solidFill>
                  <a:srgbClr val="24292E"/>
                </a:solidFill>
                <a:latin typeface="Courier New"/>
                <a:ea typeface="Courier New"/>
                <a:cs typeface="Courier New"/>
                <a:sym typeface="Courier New"/>
              </a:rPr>
              <a:t>'Hola mundo'.repeat(3)</a:t>
            </a:r>
            <a:r>
              <a:rPr lang="es" sz="1200">
                <a:solidFill>
                  <a:srgbClr val="24292E"/>
                </a:solidFill>
                <a:latin typeface="Arial"/>
                <a:ea typeface="Arial"/>
                <a:cs typeface="Arial"/>
                <a:sym typeface="Arial"/>
              </a:rPr>
              <a:t> devuelve ‘Hola mundoHola mundoHola mundo’</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.split(sepadaror): </a:t>
            </a:r>
            <a:r>
              <a:rPr lang="es" sz="1000">
                <a:solidFill>
                  <a:srgbClr val="24292E"/>
                </a:solidFill>
                <a:latin typeface="Courier New"/>
                <a:ea typeface="Courier New"/>
                <a:cs typeface="Courier New"/>
                <a:sym typeface="Courier New"/>
              </a:rPr>
              <a:t>'Hola mundo'.split(' ')</a:t>
            </a:r>
            <a:r>
              <a:rPr lang="es" sz="1200">
                <a:solidFill>
                  <a:srgbClr val="24292E"/>
                </a:solidFill>
                <a:latin typeface="Arial"/>
                <a:ea typeface="Arial"/>
                <a:cs typeface="Arial"/>
                <a:sym typeface="Arial"/>
              </a:rPr>
              <a:t> devuelve el array [‘Hola’, ‘mundo’]. </a:t>
            </a:r>
            <a:r>
              <a:rPr lang="es" sz="1000">
                <a:solidFill>
                  <a:srgbClr val="24292E"/>
                </a:solidFill>
                <a:latin typeface="Courier New"/>
                <a:ea typeface="Courier New"/>
                <a:cs typeface="Courier New"/>
                <a:sym typeface="Courier New"/>
              </a:rPr>
              <a:t>'Hola mundo'.split('')</a:t>
            </a:r>
            <a:r>
              <a:rPr lang="es" sz="1200">
                <a:solidFill>
                  <a:srgbClr val="24292E"/>
                </a:solidFill>
                <a:latin typeface="Arial"/>
                <a:ea typeface="Arial"/>
                <a:cs typeface="Arial"/>
                <a:sym typeface="Arial"/>
              </a:rPr>
              <a:t> devuelve el array [‘H’, ‘o’, ‘l’, ‘a’, ‘ ‘, ‘m’, ‘u’, ‘n’, ‘d’, ‘o’]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String</a:t>
            </a:r>
            <a:endParaRPr/>
          </a:p>
        </p:txBody>
      </p:sp>
      <p:sp>
        <p:nvSpPr>
          <p:cNvPr id="183" name="Google Shape;183;p16"/>
          <p:cNvSpPr txBox="1"/>
          <p:nvPr>
            <p:ph idx="1" type="body"/>
          </p:nvPr>
        </p:nvSpPr>
        <p:spPr>
          <a:xfrm>
            <a:off x="729450" y="2163825"/>
            <a:ext cx="7688700" cy="2176200"/>
          </a:xfrm>
          <a:prstGeom prst="rect">
            <a:avLst/>
          </a:prstGeom>
          <a:noFill/>
          <a:ln>
            <a:noFill/>
          </a:ln>
        </p:spPr>
        <p:txBody>
          <a:bodyPr anchorCtr="0" anchor="t" bIns="91425" lIns="91425" spcFirstLastPara="1" rIns="91425" wrap="square" tIns="91425">
            <a:normAutofit fontScale="85000" lnSpcReduction="20000"/>
          </a:bodyPr>
          <a:lstStyle/>
          <a:p>
            <a:pPr indent="0" lvl="0" marL="139700" marR="139700" rtl="0" algn="l">
              <a:lnSpc>
                <a:spcPct val="115000"/>
              </a:lnSpc>
              <a:spcBef>
                <a:spcPts val="0"/>
              </a:spcBef>
              <a:spcAft>
                <a:spcPts val="0"/>
              </a:spcAft>
              <a:buSzPct val="127450"/>
              <a:buNone/>
            </a:pPr>
            <a:r>
              <a:rPr lang="es" sz="1200">
                <a:solidFill>
                  <a:srgbClr val="6A737D"/>
                </a:solidFill>
                <a:latin typeface="Arial"/>
                <a:ea typeface="Arial"/>
                <a:cs typeface="Arial"/>
                <a:sym typeface="Arial"/>
              </a:rPr>
              <a:t>EJERCICIO 2: </a:t>
            </a:r>
            <a:endParaRPr sz="1200">
              <a:solidFill>
                <a:srgbClr val="6A737D"/>
              </a:solidFill>
              <a:latin typeface="Arial"/>
              <a:ea typeface="Arial"/>
              <a:cs typeface="Arial"/>
              <a:sym typeface="Arial"/>
            </a:endParaRPr>
          </a:p>
          <a:p>
            <a:pPr indent="0" lvl="0" marL="139700" marR="139700" rtl="0" algn="l">
              <a:lnSpc>
                <a:spcPct val="115000"/>
              </a:lnSpc>
              <a:spcBef>
                <a:spcPts val="1200"/>
              </a:spcBef>
              <a:spcAft>
                <a:spcPts val="0"/>
              </a:spcAft>
              <a:buSzPct val="127450"/>
              <a:buNone/>
            </a:pPr>
            <a:r>
              <a:rPr lang="es" sz="1200">
                <a:solidFill>
                  <a:srgbClr val="6A737D"/>
                </a:solidFill>
                <a:latin typeface="Arial"/>
                <a:ea typeface="Arial"/>
                <a:cs typeface="Arial"/>
                <a:sym typeface="Arial"/>
              </a:rPr>
              <a:t>Crea un programa en el que crees 4 variables de tipo cadena con los valores “Hola”, “7”, “13” y “Adios”</a:t>
            </a:r>
            <a:endParaRPr sz="1200">
              <a:solidFill>
                <a:srgbClr val="6A737D"/>
              </a:solidFill>
              <a:latin typeface="Arial"/>
              <a:ea typeface="Arial"/>
              <a:cs typeface="Arial"/>
              <a:sym typeface="Arial"/>
            </a:endParaRPr>
          </a:p>
          <a:p>
            <a:pPr indent="0" lvl="0" marL="139700" marR="139700" rtl="0" algn="l">
              <a:lnSpc>
                <a:spcPct val="115000"/>
              </a:lnSpc>
              <a:spcBef>
                <a:spcPts val="1200"/>
              </a:spcBef>
              <a:spcAft>
                <a:spcPts val="0"/>
              </a:spcAft>
              <a:buSzPct val="127450"/>
              <a:buNone/>
            </a:pPr>
            <a:r>
              <a:rPr lang="es" sz="1200">
                <a:solidFill>
                  <a:srgbClr val="6A737D"/>
                </a:solidFill>
                <a:latin typeface="Arial"/>
                <a:ea typeface="Arial"/>
                <a:cs typeface="Arial"/>
                <a:sym typeface="Arial"/>
              </a:rPr>
              <a:t>Muestra en un alert una frase que incluya comillas simples</a:t>
            </a:r>
            <a:endParaRPr sz="1200">
              <a:solidFill>
                <a:srgbClr val="6A737D"/>
              </a:solidFill>
              <a:latin typeface="Arial"/>
              <a:ea typeface="Arial"/>
              <a:cs typeface="Arial"/>
              <a:sym typeface="Arial"/>
            </a:endParaRPr>
          </a:p>
          <a:p>
            <a:pPr indent="0" lvl="0" marL="139700" marR="139700" rtl="0" algn="l">
              <a:lnSpc>
                <a:spcPct val="115000"/>
              </a:lnSpc>
              <a:spcBef>
                <a:spcPts val="1200"/>
              </a:spcBef>
              <a:spcAft>
                <a:spcPts val="0"/>
              </a:spcAft>
              <a:buSzPct val="127450"/>
              <a:buNone/>
            </a:pPr>
            <a:r>
              <a:rPr lang="es" sz="1200">
                <a:solidFill>
                  <a:srgbClr val="6A737D"/>
                </a:solidFill>
                <a:latin typeface="Arial"/>
                <a:ea typeface="Arial"/>
                <a:cs typeface="Arial"/>
                <a:sym typeface="Arial"/>
              </a:rPr>
              <a:t>Muestra un alert con las variables 1 y 4 con un salto de línea</a:t>
            </a:r>
            <a:endParaRPr sz="1200">
              <a:solidFill>
                <a:srgbClr val="6A737D"/>
              </a:solidFill>
              <a:latin typeface="Arial"/>
              <a:ea typeface="Arial"/>
              <a:cs typeface="Arial"/>
              <a:sym typeface="Arial"/>
            </a:endParaRPr>
          </a:p>
          <a:p>
            <a:pPr indent="0" lvl="0" marL="139700" marR="139700" rtl="0" algn="l">
              <a:lnSpc>
                <a:spcPct val="115000"/>
              </a:lnSpc>
              <a:spcBef>
                <a:spcPts val="1200"/>
              </a:spcBef>
              <a:spcAft>
                <a:spcPts val="0"/>
              </a:spcAft>
              <a:buSzPct val="127450"/>
              <a:buNone/>
            </a:pPr>
            <a:r>
              <a:rPr lang="es" sz="1200">
                <a:solidFill>
                  <a:srgbClr val="6A737D"/>
                </a:solidFill>
                <a:latin typeface="Arial"/>
                <a:ea typeface="Arial"/>
                <a:cs typeface="Arial"/>
                <a:sym typeface="Arial"/>
              </a:rPr>
              <a:t>Muestra un alert con la suma de las variables 2 y 3</a:t>
            </a:r>
            <a:endParaRPr sz="1200">
              <a:solidFill>
                <a:srgbClr val="6A737D"/>
              </a:solidFill>
              <a:latin typeface="Arial"/>
              <a:ea typeface="Arial"/>
              <a:cs typeface="Arial"/>
              <a:sym typeface="Arial"/>
            </a:endParaRPr>
          </a:p>
          <a:p>
            <a:pPr indent="0" lvl="0" marL="139700" marR="139700" rtl="0" algn="l">
              <a:lnSpc>
                <a:spcPct val="115000"/>
              </a:lnSpc>
              <a:spcBef>
                <a:spcPts val="1200"/>
              </a:spcBef>
              <a:spcAft>
                <a:spcPts val="0"/>
              </a:spcAft>
              <a:buSzPct val="127450"/>
              <a:buNone/>
            </a:pPr>
            <a:r>
              <a:rPr lang="es" sz="1200">
                <a:solidFill>
                  <a:srgbClr val="6A737D"/>
                </a:solidFill>
                <a:latin typeface="Arial"/>
                <a:ea typeface="Arial"/>
                <a:cs typeface="Arial"/>
                <a:sym typeface="Arial"/>
              </a:rPr>
              <a:t>Muestra en un alert la suma de todas las variables</a:t>
            </a:r>
            <a:endParaRPr sz="1200">
              <a:solidFill>
                <a:srgbClr val="6A737D"/>
              </a:solidFill>
              <a:latin typeface="Arial"/>
              <a:ea typeface="Arial"/>
              <a:cs typeface="Arial"/>
              <a:sym typeface="Arial"/>
            </a:endParaRPr>
          </a:p>
          <a:p>
            <a:pPr indent="0" lvl="0" marL="0" rtl="0" algn="l">
              <a:lnSpc>
                <a:spcPct val="115000"/>
              </a:lnSpc>
              <a:spcBef>
                <a:spcPts val="1200"/>
              </a:spcBef>
              <a:spcAft>
                <a:spcPts val="1200"/>
              </a:spcAft>
              <a:buSzPct val="117647"/>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Boolean</a:t>
            </a:r>
            <a:endParaRPr/>
          </a:p>
        </p:txBody>
      </p:sp>
      <p:sp>
        <p:nvSpPr>
          <p:cNvPr id="189" name="Google Shape;189;p17"/>
          <p:cNvSpPr txBox="1"/>
          <p:nvPr>
            <p:ph idx="1" type="body"/>
          </p:nvPr>
        </p:nvSpPr>
        <p:spPr>
          <a:xfrm>
            <a:off x="729450" y="2078875"/>
            <a:ext cx="2979600" cy="2976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200">
                <a:solidFill>
                  <a:srgbClr val="24292E"/>
                </a:solidFill>
                <a:latin typeface="Arial"/>
                <a:ea typeface="Arial"/>
                <a:cs typeface="Arial"/>
                <a:sym typeface="Arial"/>
              </a:rPr>
              <a:t>Los valores booleanos son true y false. </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Para convertir algo a booleano se usar Boolean(valor) aunque también puede hacerse con la doble negación (!!). </a:t>
            </a:r>
            <a:endParaRPr sz="12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Cualquier valor se evaluará a </a:t>
            </a:r>
            <a:r>
              <a:rPr i="1" lang="es" sz="1200">
                <a:solidFill>
                  <a:srgbClr val="24292E"/>
                </a:solidFill>
                <a:latin typeface="Arial"/>
                <a:ea typeface="Arial"/>
                <a:cs typeface="Arial"/>
                <a:sym typeface="Arial"/>
              </a:rPr>
              <a:t>true</a:t>
            </a:r>
            <a:r>
              <a:rPr lang="es" sz="1200">
                <a:solidFill>
                  <a:srgbClr val="24292E"/>
                </a:solidFill>
                <a:latin typeface="Arial"/>
                <a:ea typeface="Arial"/>
                <a:cs typeface="Arial"/>
                <a:sym typeface="Arial"/>
              </a:rPr>
              <a:t> excepto 0, NaN, null, undefined o una cadena vacía (‘’) que se evaluarán a </a:t>
            </a:r>
            <a:r>
              <a:rPr i="1" lang="es" sz="1200">
                <a:solidFill>
                  <a:srgbClr val="24292E"/>
                </a:solidFill>
                <a:latin typeface="Arial"/>
                <a:ea typeface="Arial"/>
                <a:cs typeface="Arial"/>
                <a:sym typeface="Arial"/>
              </a:rPr>
              <a:t>false</a:t>
            </a:r>
            <a:r>
              <a:rPr lang="es" sz="1200">
                <a:solidFill>
                  <a:srgbClr val="24292E"/>
                </a:solidFill>
                <a:latin typeface="Arial"/>
                <a:ea typeface="Arial"/>
                <a:cs typeface="Arial"/>
                <a:sym typeface="Arial"/>
              </a:rPr>
              <a:t>.</a:t>
            </a:r>
            <a:endParaRPr sz="1200">
              <a:solidFill>
                <a:srgbClr val="24292E"/>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1200">
                <a:solidFill>
                  <a:srgbClr val="24292E"/>
                </a:solidFill>
                <a:latin typeface="Arial"/>
                <a:ea typeface="Arial"/>
                <a:cs typeface="Arial"/>
                <a:sym typeface="Arial"/>
              </a:rPr>
              <a:t>Los </a:t>
            </a:r>
            <a:r>
              <a:rPr b="1" lang="es" sz="1200">
                <a:solidFill>
                  <a:srgbClr val="24292E"/>
                </a:solidFill>
                <a:latin typeface="Arial"/>
                <a:ea typeface="Arial"/>
                <a:cs typeface="Arial"/>
                <a:sym typeface="Arial"/>
              </a:rPr>
              <a:t>operadores lógicos</a:t>
            </a:r>
            <a:r>
              <a:rPr lang="es" sz="1200">
                <a:solidFill>
                  <a:srgbClr val="24292E"/>
                </a:solidFill>
                <a:latin typeface="Arial"/>
                <a:ea typeface="Arial"/>
                <a:cs typeface="Arial"/>
                <a:sym typeface="Arial"/>
              </a:rPr>
              <a:t> son </a:t>
            </a:r>
            <a:br>
              <a:rPr lang="es" sz="1200">
                <a:solidFill>
                  <a:srgbClr val="24292E"/>
                </a:solidFill>
                <a:latin typeface="Arial"/>
                <a:ea typeface="Arial"/>
                <a:cs typeface="Arial"/>
                <a:sym typeface="Arial"/>
              </a:rPr>
            </a:br>
            <a:r>
              <a:rPr lang="es" sz="1200">
                <a:solidFill>
                  <a:srgbClr val="24292E"/>
                </a:solidFill>
                <a:latin typeface="Arial"/>
                <a:ea typeface="Arial"/>
                <a:cs typeface="Arial"/>
                <a:sym typeface="Arial"/>
              </a:rPr>
              <a:t>! (negación), &amp;&amp; (and), || (or).</a:t>
            </a:r>
            <a:endParaRPr/>
          </a:p>
        </p:txBody>
      </p:sp>
      <p:pic>
        <p:nvPicPr>
          <p:cNvPr id="190" name="Google Shape;190;p17"/>
          <p:cNvPicPr preferRelativeResize="0"/>
          <p:nvPr/>
        </p:nvPicPr>
        <p:blipFill rotWithShape="1">
          <a:blip r:embed="rId3">
            <a:alphaModFix/>
          </a:blip>
          <a:srcRect b="0" l="0" r="0" t="0"/>
          <a:stretch/>
        </p:blipFill>
        <p:spPr>
          <a:xfrm>
            <a:off x="3709051" y="1934553"/>
            <a:ext cx="5368428" cy="2977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Boolean</a:t>
            </a:r>
            <a:endParaRPr/>
          </a:p>
        </p:txBody>
      </p:sp>
      <p:sp>
        <p:nvSpPr>
          <p:cNvPr id="196" name="Google Shape;196;p18"/>
          <p:cNvSpPr txBox="1"/>
          <p:nvPr>
            <p:ph idx="1" type="body"/>
          </p:nvPr>
        </p:nvSpPr>
        <p:spPr>
          <a:xfrm>
            <a:off x="729450" y="2078875"/>
            <a:ext cx="7688700" cy="29766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lang="es" sz="1200">
                <a:solidFill>
                  <a:srgbClr val="24292E"/>
                </a:solidFill>
                <a:latin typeface="Arial"/>
                <a:ea typeface="Arial"/>
                <a:cs typeface="Arial"/>
                <a:sym typeface="Arial"/>
              </a:rPr>
              <a:t>Para comparar valores tenemos == y ===. La triple igualdad devuelve </a:t>
            </a:r>
            <a:r>
              <a:rPr i="1" lang="es" sz="1200">
                <a:solidFill>
                  <a:srgbClr val="24292E"/>
                </a:solidFill>
                <a:latin typeface="Arial"/>
                <a:ea typeface="Arial"/>
                <a:cs typeface="Arial"/>
                <a:sym typeface="Arial"/>
              </a:rPr>
              <a:t>true</a:t>
            </a:r>
            <a:r>
              <a:rPr lang="es" sz="1200">
                <a:solidFill>
                  <a:srgbClr val="24292E"/>
                </a:solidFill>
                <a:latin typeface="Arial"/>
                <a:ea typeface="Arial"/>
                <a:cs typeface="Arial"/>
                <a:sym typeface="Arial"/>
              </a:rPr>
              <a:t> si son igual valor y del mismo tipo. Como Javascript hace conversiones de tipos automáticas conviene usar la === para evitar cosas como:</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'3' == 3</a:t>
            </a:r>
            <a:r>
              <a:rPr lang="es" sz="1200">
                <a:solidFill>
                  <a:srgbClr val="24292E"/>
                </a:solidFill>
                <a:latin typeface="Arial"/>
                <a:ea typeface="Arial"/>
                <a:cs typeface="Arial"/>
                <a:sym typeface="Arial"/>
              </a:rPr>
              <a:t> true</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3 == 3.0</a:t>
            </a:r>
            <a:r>
              <a:rPr lang="es" sz="1200">
                <a:solidFill>
                  <a:srgbClr val="24292E"/>
                </a:solidFill>
                <a:latin typeface="Arial"/>
                <a:ea typeface="Arial"/>
                <a:cs typeface="Arial"/>
                <a:sym typeface="Arial"/>
              </a:rPr>
              <a:t> true</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0 == false</a:t>
            </a:r>
            <a:r>
              <a:rPr lang="es" sz="1200">
                <a:solidFill>
                  <a:srgbClr val="24292E"/>
                </a:solidFill>
                <a:latin typeface="Arial"/>
                <a:ea typeface="Arial"/>
                <a:cs typeface="Arial"/>
                <a:sym typeface="Arial"/>
              </a:rPr>
              <a:t> true</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 == false</a:t>
            </a:r>
            <a:r>
              <a:rPr lang="es" sz="1200">
                <a:solidFill>
                  <a:srgbClr val="24292E"/>
                </a:solidFill>
                <a:latin typeface="Arial"/>
                <a:ea typeface="Arial"/>
                <a:cs typeface="Arial"/>
                <a:sym typeface="Arial"/>
              </a:rPr>
              <a:t> true</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 ' == false</a:t>
            </a:r>
            <a:r>
              <a:rPr lang="es" sz="1200">
                <a:solidFill>
                  <a:srgbClr val="24292E"/>
                </a:solidFill>
                <a:latin typeface="Arial"/>
                <a:ea typeface="Arial"/>
                <a:cs typeface="Arial"/>
                <a:sym typeface="Arial"/>
              </a:rPr>
              <a:t> true</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 == false</a:t>
            </a:r>
            <a:r>
              <a:rPr lang="es" sz="1200">
                <a:solidFill>
                  <a:srgbClr val="24292E"/>
                </a:solidFill>
                <a:latin typeface="Arial"/>
                <a:ea typeface="Arial"/>
                <a:cs typeface="Arial"/>
                <a:sym typeface="Arial"/>
              </a:rPr>
              <a:t> true</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null == false</a:t>
            </a:r>
            <a:r>
              <a:rPr lang="es" sz="1200">
                <a:solidFill>
                  <a:srgbClr val="24292E"/>
                </a:solidFill>
                <a:latin typeface="Arial"/>
                <a:ea typeface="Arial"/>
                <a:cs typeface="Arial"/>
                <a:sym typeface="Arial"/>
              </a:rPr>
              <a:t> false</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undefined == false</a:t>
            </a:r>
            <a:r>
              <a:rPr lang="es" sz="1200">
                <a:solidFill>
                  <a:srgbClr val="24292E"/>
                </a:solidFill>
                <a:latin typeface="Arial"/>
                <a:ea typeface="Arial"/>
                <a:cs typeface="Arial"/>
                <a:sym typeface="Arial"/>
              </a:rPr>
              <a:t> false</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000">
                <a:solidFill>
                  <a:srgbClr val="24292E"/>
                </a:solidFill>
                <a:latin typeface="Courier New"/>
                <a:ea typeface="Courier New"/>
                <a:cs typeface="Courier New"/>
                <a:sym typeface="Courier New"/>
              </a:rPr>
              <a:t>undefined == null</a:t>
            </a:r>
            <a:r>
              <a:rPr lang="es" sz="1200">
                <a:solidFill>
                  <a:srgbClr val="24292E"/>
                </a:solidFill>
                <a:latin typeface="Arial"/>
                <a:ea typeface="Arial"/>
                <a:cs typeface="Arial"/>
                <a:sym typeface="Arial"/>
              </a:rPr>
              <a:t> true</a:t>
            </a:r>
            <a:endParaRPr sz="1200">
              <a:solidFill>
                <a:srgbClr val="24292E"/>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1200">
                <a:solidFill>
                  <a:srgbClr val="24292E"/>
                </a:solidFill>
                <a:latin typeface="Arial"/>
                <a:ea typeface="Arial"/>
                <a:cs typeface="Arial"/>
                <a:sym typeface="Arial"/>
              </a:rPr>
              <a:t>Los operadores relacionales son &gt;, &gt;=, &lt;, &lt;=. Cuando se compara un número y una cadena ésta se convierte a número y no al revés (</a:t>
            </a:r>
            <a:r>
              <a:rPr lang="es" sz="1000">
                <a:solidFill>
                  <a:srgbClr val="24292E"/>
                </a:solidFill>
                <a:latin typeface="Courier New"/>
                <a:ea typeface="Courier New"/>
                <a:cs typeface="Courier New"/>
                <a:sym typeface="Courier New"/>
              </a:rPr>
              <a:t>23 &gt; '5'</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true</a:t>
            </a:r>
            <a:r>
              <a:rPr lang="es" sz="1200">
                <a:solidFill>
                  <a:srgbClr val="24292E"/>
                </a:solidFill>
                <a:latin typeface="Arial"/>
                <a:ea typeface="Arial"/>
                <a:cs typeface="Arial"/>
                <a:sym typeface="Arial"/>
              </a:rPr>
              <a:t>, aunque </a:t>
            </a:r>
            <a:r>
              <a:rPr lang="es" sz="1000">
                <a:solidFill>
                  <a:srgbClr val="24292E"/>
                </a:solidFill>
                <a:latin typeface="Courier New"/>
                <a:ea typeface="Courier New"/>
                <a:cs typeface="Courier New"/>
                <a:sym typeface="Courier New"/>
              </a:rPr>
              <a:t>'23' &gt; '5'</a:t>
            </a:r>
            <a:r>
              <a:rPr lang="es" sz="1200">
                <a:solidFill>
                  <a:srgbClr val="24292E"/>
                </a:solidFill>
                <a:latin typeface="Arial"/>
                <a:ea typeface="Arial"/>
                <a:cs typeface="Arial"/>
                <a:sym typeface="Arial"/>
              </a:rPr>
              <a:t> devuelve </a:t>
            </a:r>
            <a:r>
              <a:rPr i="1" lang="es" sz="1200">
                <a:solidFill>
                  <a:srgbClr val="24292E"/>
                </a:solidFill>
                <a:latin typeface="Arial"/>
                <a:ea typeface="Arial"/>
                <a:cs typeface="Arial"/>
                <a:sym typeface="Arial"/>
              </a:rPr>
              <a:t>false</a:t>
            </a:r>
            <a:r>
              <a:rPr lang="es" sz="1200">
                <a:solidFill>
                  <a:srgbClr val="24292E"/>
                </a:solidFill>
                <a:latin typeface="Arial"/>
                <a:ea typeface="Arial"/>
                <a:cs typeface="Arial"/>
                <a:sym typeface="Arial"/>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TIPOS DE DATOS</a:t>
            </a:r>
            <a:endParaRPr/>
          </a:p>
          <a:p>
            <a:pPr indent="0" lvl="0" marL="0" rtl="0" algn="l">
              <a:lnSpc>
                <a:spcPct val="100000"/>
              </a:lnSpc>
              <a:spcBef>
                <a:spcPts val="0"/>
              </a:spcBef>
              <a:spcAft>
                <a:spcPts val="0"/>
              </a:spcAft>
              <a:buSzPct val="111111"/>
              <a:buNone/>
            </a:pPr>
            <a:r>
              <a:rPr lang="es"/>
              <a:t>Boolean</a:t>
            </a:r>
            <a:endParaRPr/>
          </a:p>
        </p:txBody>
      </p:sp>
      <p:sp>
        <p:nvSpPr>
          <p:cNvPr id="202" name="Google Shape;202;p19"/>
          <p:cNvSpPr txBox="1"/>
          <p:nvPr>
            <p:ph idx="1" type="body"/>
          </p:nvPr>
        </p:nvSpPr>
        <p:spPr>
          <a:xfrm>
            <a:off x="729450" y="2078875"/>
            <a:ext cx="7688700" cy="29637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SzPct val="142857"/>
              <a:buNone/>
            </a:pPr>
            <a:r>
              <a:rPr lang="es"/>
              <a:t>EJERCICIO 3:</a:t>
            </a:r>
            <a:endParaRPr/>
          </a:p>
          <a:p>
            <a:pPr indent="0" lvl="0" marL="0" rtl="0" algn="l">
              <a:lnSpc>
                <a:spcPct val="115000"/>
              </a:lnSpc>
              <a:spcBef>
                <a:spcPts val="1200"/>
              </a:spcBef>
              <a:spcAft>
                <a:spcPts val="0"/>
              </a:spcAft>
              <a:buSzPct val="142857"/>
              <a:buNone/>
            </a:pPr>
            <a:r>
              <a:rPr lang="es"/>
              <a:t>Crea un programa en el que muestres el resultado de varias operaciones mediante alert mostrando el texto de la operación realizada y su resultado. Ejemplo:</a:t>
            </a:r>
            <a:endParaRPr/>
          </a:p>
          <a:p>
            <a:pPr indent="0" lvl="0" marL="0" rtl="0" algn="l">
              <a:lnSpc>
                <a:spcPct val="115000"/>
              </a:lnSpc>
              <a:spcBef>
                <a:spcPts val="1200"/>
              </a:spcBef>
              <a:spcAft>
                <a:spcPts val="0"/>
              </a:spcAft>
              <a:buSzPct val="142857"/>
              <a:buNone/>
            </a:pPr>
            <a:r>
              <a:rPr lang="es"/>
              <a:t>	var operacion1= 10==10;</a:t>
            </a:r>
            <a:br>
              <a:rPr lang="es"/>
            </a:br>
            <a:r>
              <a:rPr lang="es"/>
              <a:t>	alert (“La operación 10==10 es ”+ operacion1)</a:t>
            </a:r>
            <a:endParaRPr/>
          </a:p>
          <a:p>
            <a:pPr indent="0" lvl="0" marL="0" rtl="0" algn="l">
              <a:lnSpc>
                <a:spcPct val="115000"/>
              </a:lnSpc>
              <a:spcBef>
                <a:spcPts val="1200"/>
              </a:spcBef>
              <a:spcAft>
                <a:spcPts val="0"/>
              </a:spcAft>
              <a:buSzPct val="142857"/>
              <a:buNone/>
            </a:pPr>
            <a:r>
              <a:rPr lang="es"/>
              <a:t>Las operaciones a realizar son:</a:t>
            </a:r>
            <a:endParaRPr/>
          </a:p>
          <a:p>
            <a:pPr indent="-286385" lvl="0" marL="457200" rtl="0" algn="l">
              <a:lnSpc>
                <a:spcPct val="115000"/>
              </a:lnSpc>
              <a:spcBef>
                <a:spcPts val="1200"/>
              </a:spcBef>
              <a:spcAft>
                <a:spcPts val="0"/>
              </a:spcAft>
              <a:buSzPct val="100000"/>
              <a:buChar char="●"/>
            </a:pPr>
            <a:r>
              <a:rPr lang="es"/>
              <a:t>10==10</a:t>
            </a:r>
            <a:endParaRPr/>
          </a:p>
          <a:p>
            <a:pPr indent="-286385" lvl="0" marL="457200" rtl="0" algn="l">
              <a:lnSpc>
                <a:spcPct val="115000"/>
              </a:lnSpc>
              <a:spcBef>
                <a:spcPts val="0"/>
              </a:spcBef>
              <a:spcAft>
                <a:spcPts val="0"/>
              </a:spcAft>
              <a:buSzPct val="100000"/>
              <a:buChar char="●"/>
            </a:pPr>
            <a:r>
              <a:rPr lang="es"/>
              <a:t>10 === 10</a:t>
            </a:r>
            <a:endParaRPr/>
          </a:p>
          <a:p>
            <a:pPr indent="-286385" lvl="0" marL="457200" rtl="0" algn="l">
              <a:lnSpc>
                <a:spcPct val="115000"/>
              </a:lnSpc>
              <a:spcBef>
                <a:spcPts val="0"/>
              </a:spcBef>
              <a:spcAft>
                <a:spcPts val="0"/>
              </a:spcAft>
              <a:buSzPct val="100000"/>
              <a:buChar char="●"/>
            </a:pPr>
            <a:r>
              <a:rPr lang="es"/>
              <a:t>10 === 10.0</a:t>
            </a:r>
            <a:endParaRPr/>
          </a:p>
          <a:p>
            <a:pPr indent="-286385" lvl="0" marL="457200" rtl="0" algn="l">
              <a:lnSpc>
                <a:spcPct val="115000"/>
              </a:lnSpc>
              <a:spcBef>
                <a:spcPts val="0"/>
              </a:spcBef>
              <a:spcAft>
                <a:spcPts val="0"/>
              </a:spcAft>
              <a:buSzPct val="100000"/>
              <a:buChar char="●"/>
            </a:pPr>
            <a:r>
              <a:rPr lang="es"/>
              <a:t>“Juana” == “juana”</a:t>
            </a:r>
            <a:endParaRPr/>
          </a:p>
          <a:p>
            <a:pPr indent="-286385" lvl="0" marL="457200" rtl="0" algn="l">
              <a:lnSpc>
                <a:spcPct val="115000"/>
              </a:lnSpc>
              <a:spcBef>
                <a:spcPts val="0"/>
              </a:spcBef>
              <a:spcAft>
                <a:spcPts val="0"/>
              </a:spcAft>
              <a:buSzPct val="100000"/>
              <a:buChar char="●"/>
            </a:pPr>
            <a:r>
              <a:rPr lang="es"/>
              <a:t>“Juana” &gt;  “juana”</a:t>
            </a:r>
            <a:endParaRPr/>
          </a:p>
          <a:p>
            <a:pPr indent="-286385" lvl="0" marL="457200" rtl="0" algn="l">
              <a:lnSpc>
                <a:spcPct val="115000"/>
              </a:lnSpc>
              <a:spcBef>
                <a:spcPts val="0"/>
              </a:spcBef>
              <a:spcAft>
                <a:spcPts val="0"/>
              </a:spcAft>
              <a:buSzPct val="100000"/>
              <a:buChar char="●"/>
            </a:pPr>
            <a:r>
              <a:rPr lang="es"/>
              <a:t>“Juana” &lt;  “juana”</a:t>
            </a:r>
            <a:endParaRPr/>
          </a:p>
          <a:p>
            <a:pPr indent="-286385" lvl="0" marL="457200" rtl="0" algn="l">
              <a:lnSpc>
                <a:spcPct val="115000"/>
              </a:lnSpc>
              <a:spcBef>
                <a:spcPts val="0"/>
              </a:spcBef>
              <a:spcAft>
                <a:spcPts val="0"/>
              </a:spcAft>
              <a:buSzPct val="100000"/>
              <a:buChar char="●"/>
            </a:pPr>
            <a:r>
              <a:rPr lang="es"/>
              <a:t>“123” == 123</a:t>
            </a:r>
            <a:endParaRPr/>
          </a:p>
          <a:p>
            <a:pPr indent="-286385" lvl="0" marL="457200" rtl="0" algn="l">
              <a:lnSpc>
                <a:spcPct val="115000"/>
              </a:lnSpc>
              <a:spcBef>
                <a:spcPts val="0"/>
              </a:spcBef>
              <a:spcAft>
                <a:spcPts val="0"/>
              </a:spcAft>
              <a:buSzPct val="100000"/>
              <a:buChar char="●"/>
            </a:pPr>
            <a:r>
              <a:rPr lang="es"/>
              <a:t>123” === 123</a:t>
            </a:r>
            <a:endParaRPr/>
          </a:p>
          <a:p>
            <a:pPr indent="-286385" lvl="0" marL="457200" rtl="0" algn="l">
              <a:lnSpc>
                <a:spcPct val="115000"/>
              </a:lnSpc>
              <a:spcBef>
                <a:spcPts val="0"/>
              </a:spcBef>
              <a:spcAft>
                <a:spcPts val="0"/>
              </a:spcAft>
              <a:buSzPct val="100000"/>
              <a:buChar char="●"/>
            </a:pPr>
            <a:r>
              <a:rPr lang="es"/>
              <a:t>parseInt(“123”) === 123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condicional: if</a:t>
            </a:r>
            <a:endParaRPr/>
          </a:p>
          <a:p>
            <a:pPr indent="0" lvl="0" marL="0" rtl="0" algn="l">
              <a:lnSpc>
                <a:spcPct val="100000"/>
              </a:lnSpc>
              <a:spcBef>
                <a:spcPts val="0"/>
              </a:spcBef>
              <a:spcAft>
                <a:spcPts val="0"/>
              </a:spcAft>
              <a:buSzPct val="111111"/>
              <a:buNone/>
            </a:pPr>
            <a:r>
              <a:t/>
            </a:r>
            <a:endParaRPr/>
          </a:p>
        </p:txBody>
      </p:sp>
      <p:sp>
        <p:nvSpPr>
          <p:cNvPr id="208" name="Google Shape;208;p2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1400">
                <a:solidFill>
                  <a:srgbClr val="000000"/>
                </a:solidFill>
                <a:latin typeface="Arial"/>
                <a:ea typeface="Arial"/>
                <a:cs typeface="Arial"/>
                <a:sym typeface="Arial"/>
              </a:rPr>
              <a:t>El </a:t>
            </a:r>
            <a:r>
              <a:rPr b="1" lang="es" sz="1400">
                <a:solidFill>
                  <a:srgbClr val="000000"/>
                </a:solidFill>
                <a:latin typeface="Arial"/>
                <a:ea typeface="Arial"/>
                <a:cs typeface="Arial"/>
                <a:sym typeface="Arial"/>
              </a:rPr>
              <a:t>if</a:t>
            </a:r>
            <a:r>
              <a:rPr lang="es" sz="1400">
                <a:solidFill>
                  <a:srgbClr val="000000"/>
                </a:solidFill>
                <a:latin typeface="Arial"/>
                <a:ea typeface="Arial"/>
                <a:cs typeface="Arial"/>
                <a:sym typeface="Arial"/>
              </a:rPr>
              <a:t> es como en la mayoría de lenguajes. Puede tener asociado un </a:t>
            </a:r>
            <a:r>
              <a:rPr b="1" lang="es" sz="1400">
                <a:solidFill>
                  <a:srgbClr val="000000"/>
                </a:solidFill>
                <a:latin typeface="Arial"/>
                <a:ea typeface="Arial"/>
                <a:cs typeface="Arial"/>
                <a:sym typeface="Arial"/>
              </a:rPr>
              <a:t>else</a:t>
            </a:r>
            <a:r>
              <a:rPr lang="es" sz="1400">
                <a:solidFill>
                  <a:srgbClr val="000000"/>
                </a:solidFill>
                <a:latin typeface="Arial"/>
                <a:ea typeface="Arial"/>
                <a:cs typeface="Arial"/>
                <a:sym typeface="Arial"/>
              </a:rPr>
              <a:t> y pueden anidarse varios con </a:t>
            </a:r>
            <a:r>
              <a:rPr b="1" lang="es" sz="1400">
                <a:solidFill>
                  <a:srgbClr val="000000"/>
                </a:solidFill>
                <a:latin typeface="Arial"/>
                <a:ea typeface="Arial"/>
                <a:cs typeface="Arial"/>
                <a:sym typeface="Arial"/>
              </a:rPr>
              <a:t>else if</a:t>
            </a:r>
            <a:r>
              <a:rPr lang="es"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sp>
        <p:nvSpPr>
          <p:cNvPr id="209" name="Google Shape;209;p20"/>
          <p:cNvSpPr txBox="1"/>
          <p:nvPr/>
        </p:nvSpPr>
        <p:spPr>
          <a:xfrm>
            <a:off x="3407800" y="3218550"/>
            <a:ext cx="4720800" cy="61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300"/>
              <a:buFont typeface="Arial"/>
              <a:buNone/>
            </a:pPr>
            <a:r>
              <a:rPr b="0" i="0" lang="es" sz="1300" u="none" cap="none" strike="noStrike">
                <a:solidFill>
                  <a:srgbClr val="000000"/>
                </a:solidFill>
                <a:latin typeface="Arial"/>
                <a:ea typeface="Arial"/>
                <a:cs typeface="Arial"/>
                <a:sym typeface="Arial"/>
              </a:rPr>
              <a:t>Se puede usar el operador </a:t>
            </a:r>
            <a:r>
              <a:rPr b="1" i="0" lang="es" sz="1300" u="none" cap="none" strike="noStrike">
                <a:solidFill>
                  <a:srgbClr val="000000"/>
                </a:solidFill>
                <a:latin typeface="Arial"/>
                <a:ea typeface="Arial"/>
                <a:cs typeface="Arial"/>
                <a:sym typeface="Arial"/>
              </a:rPr>
              <a:t>? :</a:t>
            </a:r>
            <a:r>
              <a:rPr b="0" i="0" lang="es" sz="1300" u="none" cap="none" strike="noStrike">
                <a:solidFill>
                  <a:srgbClr val="000000"/>
                </a:solidFill>
                <a:latin typeface="Arial"/>
                <a:ea typeface="Arial"/>
                <a:cs typeface="Arial"/>
                <a:sym typeface="Arial"/>
              </a:rPr>
              <a:t> que es como un </a:t>
            </a:r>
            <a:r>
              <a:rPr b="0" i="1" lang="es" sz="1300" u="none" cap="none" strike="noStrike">
                <a:solidFill>
                  <a:srgbClr val="000000"/>
                </a:solidFill>
                <a:latin typeface="Arial"/>
                <a:ea typeface="Arial"/>
                <a:cs typeface="Arial"/>
                <a:sym typeface="Arial"/>
              </a:rPr>
              <a:t>if</a:t>
            </a:r>
            <a:r>
              <a:rPr b="0" i="0" lang="es" sz="1300" u="none" cap="none" strike="noStrike">
                <a:solidFill>
                  <a:srgbClr val="000000"/>
                </a:solidFill>
                <a:latin typeface="Arial"/>
                <a:ea typeface="Arial"/>
                <a:cs typeface="Arial"/>
                <a:sym typeface="Arial"/>
              </a:rPr>
              <a:t> que devuelve un valor:</a:t>
            </a:r>
            <a:endParaRPr b="0" i="0" sz="1300" u="none" cap="none" strike="noStrike">
              <a:solidFill>
                <a:srgbClr val="000000"/>
              </a:solidFill>
              <a:latin typeface="Arial"/>
              <a:ea typeface="Arial"/>
              <a:cs typeface="Arial"/>
              <a:sym typeface="Arial"/>
            </a:endParaRPr>
          </a:p>
        </p:txBody>
      </p:sp>
      <p:sp>
        <p:nvSpPr>
          <p:cNvPr id="210" name="Google Shape;210;p20"/>
          <p:cNvSpPr txBox="1"/>
          <p:nvPr/>
        </p:nvSpPr>
        <p:spPr>
          <a:xfrm>
            <a:off x="3407800" y="4012000"/>
            <a:ext cx="38229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000000"/>
                </a:solidFill>
                <a:highlight>
                  <a:srgbClr val="9FC5E8"/>
                </a:highlight>
                <a:latin typeface="Arial"/>
                <a:ea typeface="Arial"/>
                <a:cs typeface="Arial"/>
                <a:sym typeface="Arial"/>
              </a:rPr>
              <a:t>let esMayorDeEdad = (edad &gt; 18) ? true : false;</a:t>
            </a:r>
            <a:endParaRPr b="0" i="0" sz="1300" u="none" cap="none" strike="noStrike">
              <a:solidFill>
                <a:srgbClr val="000000"/>
              </a:solidFill>
              <a:highlight>
                <a:srgbClr val="9FC5E8"/>
              </a:highlight>
              <a:latin typeface="Arial"/>
              <a:ea typeface="Arial"/>
              <a:cs typeface="Arial"/>
              <a:sym typeface="Arial"/>
            </a:endParaRPr>
          </a:p>
        </p:txBody>
      </p:sp>
      <p:pic>
        <p:nvPicPr>
          <p:cNvPr id="211" name="Google Shape;211;p20"/>
          <p:cNvPicPr preferRelativeResize="0"/>
          <p:nvPr/>
        </p:nvPicPr>
        <p:blipFill rotWithShape="1">
          <a:blip r:embed="rId3">
            <a:alphaModFix/>
          </a:blip>
          <a:srcRect b="0" l="0" r="0" t="0"/>
          <a:stretch/>
        </p:blipFill>
        <p:spPr>
          <a:xfrm>
            <a:off x="802425" y="2706900"/>
            <a:ext cx="1981200" cy="1638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5" name="Shape 215"/>
        <p:cNvGrpSpPr/>
        <p:nvPr/>
      </p:nvGrpSpPr>
      <p:grpSpPr>
        <a:xfrm>
          <a:off x="0" y="0"/>
          <a:ext cx="0" cy="0"/>
          <a:chOff x="0" y="0"/>
          <a:chExt cx="0" cy="0"/>
        </a:xfrm>
      </p:grpSpPr>
      <p:sp>
        <p:nvSpPr>
          <p:cNvPr id="216" name="Google Shape;216;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t/>
            </a:r>
            <a:endParaRPr/>
          </a:p>
        </p:txBody>
      </p:sp>
      <p:sp>
        <p:nvSpPr>
          <p:cNvPr id="217" name="Google Shape;217;p21"/>
          <p:cNvSpPr txBox="1"/>
          <p:nvPr>
            <p:ph idx="1" type="body"/>
          </p:nvPr>
        </p:nvSpPr>
        <p:spPr>
          <a:xfrm>
            <a:off x="729450" y="2078875"/>
            <a:ext cx="7688700" cy="29580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66670"/>
              </a:lnSpc>
              <a:spcBef>
                <a:spcPts val="900"/>
              </a:spcBef>
              <a:spcAft>
                <a:spcPts val="0"/>
              </a:spcAft>
              <a:buSzPct val="127764"/>
              <a:buNone/>
            </a:pPr>
            <a:r>
              <a:rPr lang="es" sz="1100"/>
              <a:t>EJERCICIO 4</a:t>
            </a:r>
            <a:endParaRPr sz="1100"/>
          </a:p>
          <a:p>
            <a:pPr indent="0" lvl="0" marL="0" rtl="0" algn="l">
              <a:lnSpc>
                <a:spcPct val="166670"/>
              </a:lnSpc>
              <a:spcBef>
                <a:spcPts val="900"/>
              </a:spcBef>
              <a:spcAft>
                <a:spcPts val="0"/>
              </a:spcAft>
              <a:buSzPct val="127764"/>
              <a:buNone/>
            </a:pPr>
            <a:r>
              <a:rPr lang="es" sz="1100"/>
              <a:t>Crea un programa que pida al usuario que introduzca una edad y muestre el siguiente mensaje en función del número introducido:</a:t>
            </a:r>
            <a:endParaRPr sz="1100"/>
          </a:p>
          <a:p>
            <a:pPr indent="-293242" lvl="0" marL="457200" rtl="0" algn="l">
              <a:lnSpc>
                <a:spcPct val="166670"/>
              </a:lnSpc>
              <a:spcBef>
                <a:spcPts val="500"/>
              </a:spcBef>
              <a:spcAft>
                <a:spcPts val="0"/>
              </a:spcAft>
              <a:buClr>
                <a:schemeClr val="accent1"/>
              </a:buClr>
              <a:buSzPct val="100000"/>
              <a:buFont typeface="Lato"/>
              <a:buChar char="■"/>
            </a:pPr>
            <a:r>
              <a:rPr lang="es" sz="1100"/>
              <a:t>0-12: Niño</a:t>
            </a:r>
            <a:endParaRPr sz="1100"/>
          </a:p>
          <a:p>
            <a:pPr indent="-293242" lvl="0" marL="457200" rtl="0" algn="l">
              <a:lnSpc>
                <a:spcPct val="166670"/>
              </a:lnSpc>
              <a:spcBef>
                <a:spcPts val="0"/>
              </a:spcBef>
              <a:spcAft>
                <a:spcPts val="0"/>
              </a:spcAft>
              <a:buClr>
                <a:schemeClr val="accent1"/>
              </a:buClr>
              <a:buSzPct val="100000"/>
              <a:buFont typeface="Lato"/>
              <a:buChar char="■"/>
            </a:pPr>
            <a:r>
              <a:rPr lang="es" sz="1100"/>
              <a:t>13-26: Joven</a:t>
            </a:r>
            <a:endParaRPr sz="1100"/>
          </a:p>
          <a:p>
            <a:pPr indent="-293242" lvl="0" marL="457200" rtl="0" algn="l">
              <a:lnSpc>
                <a:spcPct val="166670"/>
              </a:lnSpc>
              <a:spcBef>
                <a:spcPts val="0"/>
              </a:spcBef>
              <a:spcAft>
                <a:spcPts val="0"/>
              </a:spcAft>
              <a:buClr>
                <a:schemeClr val="accent1"/>
              </a:buClr>
              <a:buSzPct val="100000"/>
              <a:buFont typeface="Lato"/>
              <a:buChar char="■"/>
            </a:pPr>
            <a:r>
              <a:rPr lang="es" sz="1100"/>
              <a:t>27-60: Adulto</a:t>
            </a:r>
            <a:endParaRPr sz="1100"/>
          </a:p>
          <a:p>
            <a:pPr indent="-293242" lvl="0" marL="457200" rtl="0" algn="l">
              <a:lnSpc>
                <a:spcPct val="166670"/>
              </a:lnSpc>
              <a:spcBef>
                <a:spcPts val="0"/>
              </a:spcBef>
              <a:spcAft>
                <a:spcPts val="0"/>
              </a:spcAft>
              <a:buClr>
                <a:schemeClr val="accent1"/>
              </a:buClr>
              <a:buSzPct val="100000"/>
              <a:buFont typeface="Lato"/>
              <a:buChar char="■"/>
            </a:pPr>
            <a:r>
              <a:rPr lang="es" sz="1100"/>
              <a:t>&gt;60: Jubilado</a:t>
            </a:r>
            <a:endParaRPr sz="1100"/>
          </a:p>
          <a:p>
            <a:pPr indent="0" lvl="0" marL="0" rtl="0" algn="l">
              <a:lnSpc>
                <a:spcPct val="166670"/>
              </a:lnSpc>
              <a:spcBef>
                <a:spcPts val="900"/>
              </a:spcBef>
              <a:spcAft>
                <a:spcPts val="0"/>
              </a:spcAft>
              <a:buSzPct val="127764"/>
              <a:buNone/>
            </a:pPr>
            <a:r>
              <a:rPr lang="es" sz="1100"/>
              <a:t>Para guardar un valor del usuario utilizamos el siguiente código:</a:t>
            </a:r>
            <a:endParaRPr sz="1100"/>
          </a:p>
          <a:p>
            <a:pPr indent="-293242" lvl="0" marL="457200" rtl="0" algn="l">
              <a:lnSpc>
                <a:spcPct val="166670"/>
              </a:lnSpc>
              <a:spcBef>
                <a:spcPts val="500"/>
              </a:spcBef>
              <a:spcAft>
                <a:spcPts val="0"/>
              </a:spcAft>
              <a:buClr>
                <a:schemeClr val="accent1"/>
              </a:buClr>
              <a:buSzPct val="100000"/>
              <a:buFont typeface="Lato"/>
              <a:buChar char="■"/>
            </a:pPr>
            <a:r>
              <a:rPr lang="es" sz="1100"/>
              <a:t>var respuesta = prompt (“Mensaje”);</a:t>
            </a:r>
            <a:endParaRPr sz="1100"/>
          </a:p>
          <a:p>
            <a:pPr indent="0" lvl="0" marL="0" rtl="0" algn="l">
              <a:lnSpc>
                <a:spcPct val="166670"/>
              </a:lnSpc>
              <a:spcBef>
                <a:spcPts val="900"/>
              </a:spcBef>
              <a:spcAft>
                <a:spcPts val="0"/>
              </a:spcAft>
              <a:buSzPct val="127764"/>
              <a:buNone/>
            </a:pPr>
            <a:r>
              <a:rPr lang="es" sz="1100"/>
              <a:t>También comprobará que no se meta un número menor de 0.  Comenta el código con los comentarios que estimes necesarios.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condicional: switch</a:t>
            </a:r>
            <a:endParaRPr/>
          </a:p>
          <a:p>
            <a:pPr indent="0" lvl="0" marL="0" rtl="0" algn="l">
              <a:lnSpc>
                <a:spcPct val="100000"/>
              </a:lnSpc>
              <a:spcBef>
                <a:spcPts val="0"/>
              </a:spcBef>
              <a:spcAft>
                <a:spcPts val="0"/>
              </a:spcAft>
              <a:buSzPct val="111111"/>
              <a:buNone/>
            </a:pPr>
            <a:r>
              <a:t/>
            </a:r>
            <a:endParaRPr/>
          </a:p>
        </p:txBody>
      </p:sp>
      <p:sp>
        <p:nvSpPr>
          <p:cNvPr id="223" name="Google Shape;223;p2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1400">
                <a:solidFill>
                  <a:srgbClr val="000000"/>
                </a:solidFill>
                <a:latin typeface="Arial"/>
                <a:ea typeface="Arial"/>
                <a:cs typeface="Arial"/>
                <a:sym typeface="Arial"/>
              </a:rPr>
              <a:t>El </a:t>
            </a:r>
            <a:r>
              <a:rPr b="1" lang="es" sz="1400">
                <a:solidFill>
                  <a:srgbClr val="000000"/>
                </a:solidFill>
                <a:latin typeface="Arial"/>
                <a:ea typeface="Arial"/>
                <a:cs typeface="Arial"/>
                <a:sym typeface="Arial"/>
              </a:rPr>
              <a:t>switch</a:t>
            </a:r>
            <a:r>
              <a:rPr lang="es" sz="1400">
                <a:solidFill>
                  <a:srgbClr val="000000"/>
                </a:solidFill>
                <a:latin typeface="Arial"/>
                <a:ea typeface="Arial"/>
                <a:cs typeface="Arial"/>
                <a:sym typeface="Arial"/>
              </a:rPr>
              <a:t> también es como en la mayoría de lenguajes. Hay que poner </a:t>
            </a:r>
            <a:r>
              <a:rPr i="1" lang="es" sz="1400">
                <a:solidFill>
                  <a:srgbClr val="000000"/>
                </a:solidFill>
                <a:latin typeface="Arial"/>
                <a:ea typeface="Arial"/>
                <a:cs typeface="Arial"/>
                <a:sym typeface="Arial"/>
              </a:rPr>
              <a:t>break</a:t>
            </a:r>
            <a:r>
              <a:rPr lang="es" sz="1400">
                <a:solidFill>
                  <a:srgbClr val="000000"/>
                </a:solidFill>
                <a:latin typeface="Arial"/>
                <a:ea typeface="Arial"/>
                <a:cs typeface="Arial"/>
                <a:sym typeface="Arial"/>
              </a:rPr>
              <a:t> al final de cada bloque para que no continúe evaluando:</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pic>
        <p:nvPicPr>
          <p:cNvPr id="224" name="Google Shape;224;p22"/>
          <p:cNvPicPr preferRelativeResize="0"/>
          <p:nvPr/>
        </p:nvPicPr>
        <p:blipFill rotWithShape="1">
          <a:blip r:embed="rId3">
            <a:alphaModFix/>
          </a:blip>
          <a:srcRect b="23865" l="5198" r="14064" t="37494"/>
          <a:stretch/>
        </p:blipFill>
        <p:spPr>
          <a:xfrm>
            <a:off x="818300" y="2725175"/>
            <a:ext cx="3894150" cy="19872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condicional: switch</a:t>
            </a:r>
            <a:endParaRPr/>
          </a:p>
          <a:p>
            <a:pPr indent="0" lvl="0" marL="0" rtl="0" algn="l">
              <a:lnSpc>
                <a:spcPct val="100000"/>
              </a:lnSpc>
              <a:spcBef>
                <a:spcPts val="0"/>
              </a:spcBef>
              <a:spcAft>
                <a:spcPts val="0"/>
              </a:spcAft>
              <a:buSzPct val="111111"/>
              <a:buNone/>
            </a:pPr>
            <a:r>
              <a:t/>
            </a:r>
            <a:endParaRPr/>
          </a:p>
        </p:txBody>
      </p:sp>
      <p:sp>
        <p:nvSpPr>
          <p:cNvPr id="230" name="Google Shape;230;p2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1400">
                <a:solidFill>
                  <a:srgbClr val="000000"/>
                </a:solidFill>
                <a:latin typeface="Arial"/>
                <a:ea typeface="Arial"/>
                <a:cs typeface="Arial"/>
                <a:sym typeface="Arial"/>
              </a:rPr>
              <a:t>Javascript permite que el switch en vez de evaluar valores pueda evaluar expresiones. En este caso se pone como condición true:</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pic>
        <p:nvPicPr>
          <p:cNvPr id="231" name="Google Shape;231;p23"/>
          <p:cNvPicPr preferRelativeResize="0"/>
          <p:nvPr/>
        </p:nvPicPr>
        <p:blipFill rotWithShape="1">
          <a:blip r:embed="rId3">
            <a:alphaModFix/>
          </a:blip>
          <a:srcRect b="40481" l="5194" r="14373" t="24857"/>
          <a:stretch/>
        </p:blipFill>
        <p:spPr>
          <a:xfrm>
            <a:off x="818275" y="2790950"/>
            <a:ext cx="3879526" cy="17826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 name="Shape 235"/>
        <p:cNvGrpSpPr/>
        <p:nvPr/>
      </p:nvGrpSpPr>
      <p:grpSpPr>
        <a:xfrm>
          <a:off x="0" y="0"/>
          <a:ext cx="0" cy="0"/>
          <a:chOff x="0" y="0"/>
          <a:chExt cx="0" cy="0"/>
        </a:xfrm>
      </p:grpSpPr>
      <p:sp>
        <p:nvSpPr>
          <p:cNvPr id="236" name="Google Shape;236;p2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t/>
            </a:r>
            <a:endParaRPr/>
          </a:p>
        </p:txBody>
      </p:sp>
      <p:sp>
        <p:nvSpPr>
          <p:cNvPr id="237" name="Google Shape;237;p2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66670"/>
              </a:lnSpc>
              <a:spcBef>
                <a:spcPts val="900"/>
              </a:spcBef>
              <a:spcAft>
                <a:spcPts val="0"/>
              </a:spcAft>
              <a:buSzPts val="1300"/>
              <a:buNone/>
            </a:pPr>
            <a:r>
              <a:rPr lang="es" sz="1100"/>
              <a:t>EJERCICIO 5</a:t>
            </a:r>
            <a:endParaRPr sz="1100"/>
          </a:p>
          <a:p>
            <a:pPr indent="0" lvl="0" marL="0" rtl="0" algn="l">
              <a:lnSpc>
                <a:spcPct val="166670"/>
              </a:lnSpc>
              <a:spcBef>
                <a:spcPts val="900"/>
              </a:spcBef>
              <a:spcAft>
                <a:spcPts val="0"/>
              </a:spcAft>
              <a:buSzPts val="1300"/>
              <a:buNone/>
            </a:pPr>
            <a:r>
              <a:rPr lang="es" sz="1100"/>
              <a:t>Modifica el programa del ejercicio 4 para que realice la misma operación pero utilizando un switch.</a:t>
            </a:r>
            <a:endParaRPr sz="1100"/>
          </a:p>
          <a:p>
            <a:pPr indent="0" lvl="0" marL="0" rtl="0" algn="l">
              <a:lnSpc>
                <a:spcPct val="115000"/>
              </a:lnSpc>
              <a:spcBef>
                <a:spcPts val="0"/>
              </a:spcBef>
              <a:spcAft>
                <a:spcPts val="0"/>
              </a:spcAft>
              <a:buSzPts val="1300"/>
              <a:buNone/>
            </a:pPr>
            <a:r>
              <a:t/>
            </a:r>
            <a:endParaRPr sz="1100">
              <a:latin typeface="Arial"/>
              <a:ea typeface="Arial"/>
              <a:cs typeface="Arial"/>
              <a:sym typeface="Arial"/>
            </a:endParaRPr>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while</a:t>
            </a:r>
            <a:endParaRPr/>
          </a:p>
          <a:p>
            <a:pPr indent="0" lvl="0" marL="0" rtl="0" algn="l">
              <a:lnSpc>
                <a:spcPct val="100000"/>
              </a:lnSpc>
              <a:spcBef>
                <a:spcPts val="0"/>
              </a:spcBef>
              <a:spcAft>
                <a:spcPts val="0"/>
              </a:spcAft>
              <a:buSzPct val="111111"/>
              <a:buNone/>
            </a:pPr>
            <a:r>
              <a:t/>
            </a:r>
            <a:endParaRPr/>
          </a:p>
        </p:txBody>
      </p:sp>
      <p:sp>
        <p:nvSpPr>
          <p:cNvPr id="243" name="Google Shape;243;p25"/>
          <p:cNvSpPr txBox="1"/>
          <p:nvPr>
            <p:ph idx="1" type="body"/>
          </p:nvPr>
        </p:nvSpPr>
        <p:spPr>
          <a:xfrm>
            <a:off x="729450" y="2169925"/>
            <a:ext cx="7688700" cy="2922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Podemos usar el bucle </a:t>
            </a:r>
            <a:r>
              <a:rPr b="1" i="1" lang="es" sz="1100">
                <a:solidFill>
                  <a:srgbClr val="000000"/>
                </a:solidFill>
                <a:latin typeface="Arial"/>
                <a:ea typeface="Arial"/>
                <a:cs typeface="Arial"/>
                <a:sym typeface="Arial"/>
              </a:rPr>
              <a:t>while…do </a:t>
            </a:r>
            <a:r>
              <a:rPr lang="es" sz="1100">
                <a:solidFill>
                  <a:srgbClr val="000000"/>
                </a:solidFill>
                <a:latin typeface="Arial"/>
                <a:ea typeface="Arial"/>
                <a:cs typeface="Arial"/>
                <a:sym typeface="Arial"/>
              </a:rPr>
              <a:t>que se ejecutará 0 o más veces. Ejemplo:</a:t>
            </a:r>
            <a:endParaRPr b="1" i="1"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while (condicion)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    // sentencias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O el bucle </a:t>
            </a:r>
            <a:r>
              <a:rPr b="1" i="1" lang="es" sz="1100">
                <a:solidFill>
                  <a:srgbClr val="000000"/>
                </a:solidFill>
                <a:latin typeface="Arial"/>
                <a:ea typeface="Arial"/>
                <a:cs typeface="Arial"/>
                <a:sym typeface="Arial"/>
              </a:rPr>
              <a:t>do…while</a:t>
            </a:r>
            <a:r>
              <a:rPr b="1"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que al menos se ejecutará 1 vez. Ejemplo:</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do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100">
                <a:solidFill>
                  <a:srgbClr val="000000"/>
                </a:solidFill>
                <a:latin typeface="Arial"/>
                <a:ea typeface="Arial"/>
                <a:cs typeface="Arial"/>
                <a:sym typeface="Arial"/>
              </a:rPr>
              <a:t>    // sentencias</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1100">
                <a:solidFill>
                  <a:srgbClr val="000000"/>
                </a:solidFill>
                <a:latin typeface="Arial"/>
                <a:ea typeface="Arial"/>
                <a:cs typeface="Arial"/>
                <a:sym typeface="Arial"/>
              </a:rPr>
              <a:t>} while (condicion)</a:t>
            </a:r>
            <a:endParaRPr/>
          </a:p>
        </p:txBody>
      </p:sp>
      <p:pic>
        <p:nvPicPr>
          <p:cNvPr id="244" name="Google Shape;244;p25"/>
          <p:cNvPicPr preferRelativeResize="0"/>
          <p:nvPr/>
        </p:nvPicPr>
        <p:blipFill rotWithShape="1">
          <a:blip r:embed="rId3">
            <a:alphaModFix/>
          </a:blip>
          <a:srcRect b="26277" l="3350" r="4610" t="51562"/>
          <a:stretch/>
        </p:blipFill>
        <p:spPr>
          <a:xfrm>
            <a:off x="4056400" y="2498700"/>
            <a:ext cx="4566326" cy="1139750"/>
          </a:xfrm>
          <a:prstGeom prst="rect">
            <a:avLst/>
          </a:prstGeom>
          <a:noFill/>
          <a:ln>
            <a:noFill/>
          </a:ln>
        </p:spPr>
      </p:pic>
      <p:pic>
        <p:nvPicPr>
          <p:cNvPr id="245" name="Google Shape;245;p25"/>
          <p:cNvPicPr preferRelativeResize="0"/>
          <p:nvPr/>
        </p:nvPicPr>
        <p:blipFill rotWithShape="1">
          <a:blip r:embed="rId4">
            <a:alphaModFix/>
          </a:blip>
          <a:srcRect b="19035" l="4822" r="3137" t="61504"/>
          <a:stretch/>
        </p:blipFill>
        <p:spPr>
          <a:xfrm>
            <a:off x="4018375" y="3923400"/>
            <a:ext cx="4566326" cy="1000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p2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while</a:t>
            </a:r>
            <a:endParaRPr/>
          </a:p>
        </p:txBody>
      </p:sp>
      <p:sp>
        <p:nvSpPr>
          <p:cNvPr id="251" name="Google Shape;251;p26"/>
          <p:cNvSpPr txBox="1"/>
          <p:nvPr>
            <p:ph idx="1" type="body"/>
          </p:nvPr>
        </p:nvSpPr>
        <p:spPr>
          <a:xfrm>
            <a:off x="729450" y="2211975"/>
            <a:ext cx="7688700" cy="24318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es"/>
              <a:t>EJERCICIO 6:  </a:t>
            </a:r>
            <a:endParaRPr/>
          </a:p>
          <a:p>
            <a:pPr indent="0" lvl="0" marL="0" rtl="0" algn="l">
              <a:lnSpc>
                <a:spcPct val="115000"/>
              </a:lnSpc>
              <a:spcBef>
                <a:spcPts val="1200"/>
              </a:spcBef>
              <a:spcAft>
                <a:spcPts val="0"/>
              </a:spcAft>
              <a:buSzPct val="127764"/>
              <a:buNone/>
            </a:pPr>
            <a:r>
              <a:rPr lang="es" sz="1100"/>
              <a:t>Crea un control parental para que no se pueda entrar en una página. </a:t>
            </a:r>
            <a:endParaRPr sz="1100"/>
          </a:p>
          <a:p>
            <a:pPr indent="0" lvl="0" marL="0" rtl="0" algn="l">
              <a:lnSpc>
                <a:spcPct val="166670"/>
              </a:lnSpc>
              <a:spcBef>
                <a:spcPts val="1200"/>
              </a:spcBef>
              <a:spcAft>
                <a:spcPts val="0"/>
              </a:spcAft>
              <a:buSzPct val="127764"/>
              <a:buNone/>
            </a:pPr>
            <a:r>
              <a:rPr lang="es" sz="1100"/>
              <a:t>Se pedirá al usuario que escriba el apellido del primer presidente de la democracia (si no sabes quién fue, busca en Google ;)</a:t>
            </a:r>
            <a:endParaRPr sz="1100"/>
          </a:p>
          <a:p>
            <a:pPr indent="0" lvl="0" marL="0" rtl="0" algn="l">
              <a:lnSpc>
                <a:spcPct val="166670"/>
              </a:lnSpc>
              <a:spcBef>
                <a:spcPts val="900"/>
              </a:spcBef>
              <a:spcAft>
                <a:spcPts val="0"/>
              </a:spcAft>
              <a:buSzPct val="127764"/>
              <a:buNone/>
            </a:pPr>
            <a:r>
              <a:rPr lang="es" sz="1100"/>
              <a:t>Para guardar un valor del usuario utilizamos el siguiente código:</a:t>
            </a:r>
            <a:endParaRPr sz="1100"/>
          </a:p>
          <a:p>
            <a:pPr indent="0" lvl="0" marL="0" rtl="0" algn="l">
              <a:lnSpc>
                <a:spcPct val="166670"/>
              </a:lnSpc>
              <a:spcBef>
                <a:spcPts val="900"/>
              </a:spcBef>
              <a:spcAft>
                <a:spcPts val="0"/>
              </a:spcAft>
              <a:buSzPct val="127764"/>
              <a:buNone/>
            </a:pPr>
            <a:r>
              <a:rPr lang="es" sz="1100"/>
              <a:t>var respuesta = prompt (“Mensaje”);</a:t>
            </a:r>
            <a:endParaRPr sz="1100"/>
          </a:p>
          <a:p>
            <a:pPr indent="0" lvl="0" marL="0" rtl="0" algn="l">
              <a:lnSpc>
                <a:spcPct val="166670"/>
              </a:lnSpc>
              <a:spcBef>
                <a:spcPts val="900"/>
              </a:spcBef>
              <a:spcAft>
                <a:spcPts val="0"/>
              </a:spcAft>
              <a:buSzPct val="127764"/>
              <a:buNone/>
            </a:pPr>
            <a:r>
              <a:rPr lang="es" sz="1100"/>
              <a:t>Mientras el usuario no introduzca el valor correcto, el mensaje seguirá saliendo.</a:t>
            </a:r>
            <a:endParaRPr sz="1100"/>
          </a:p>
          <a:p>
            <a:pPr indent="0" lvl="0" marL="0" rtl="0" algn="l">
              <a:lnSpc>
                <a:spcPct val="166670"/>
              </a:lnSpc>
              <a:spcBef>
                <a:spcPts val="900"/>
              </a:spcBef>
              <a:spcAft>
                <a:spcPts val="0"/>
              </a:spcAft>
              <a:buSzPct val="127764"/>
              <a:buNone/>
            </a:pPr>
            <a:r>
              <a:rPr lang="es" sz="1100"/>
              <a:t>Comenta el código con los comentarios que estimes necesarios.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while</a:t>
            </a:r>
            <a:endParaRPr/>
          </a:p>
        </p:txBody>
      </p:sp>
      <p:sp>
        <p:nvSpPr>
          <p:cNvPr id="257" name="Google Shape;257;p27"/>
          <p:cNvSpPr txBox="1"/>
          <p:nvPr>
            <p:ph idx="1" type="body"/>
          </p:nvPr>
        </p:nvSpPr>
        <p:spPr>
          <a:xfrm>
            <a:off x="729450" y="2172000"/>
            <a:ext cx="7688700" cy="2765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es"/>
              <a:t>EJERCICIO 7: </a:t>
            </a:r>
            <a:endParaRPr/>
          </a:p>
          <a:p>
            <a:pPr indent="0" lvl="0" marL="0" rtl="0" algn="l">
              <a:lnSpc>
                <a:spcPct val="166670"/>
              </a:lnSpc>
              <a:spcBef>
                <a:spcPts val="1200"/>
              </a:spcBef>
              <a:spcAft>
                <a:spcPts val="0"/>
              </a:spcAft>
              <a:buSzPct val="127764"/>
              <a:buNone/>
            </a:pPr>
            <a:r>
              <a:rPr lang="es" sz="1100"/>
              <a:t>Modifica el ejercicio anterior de la siguiente forma:</a:t>
            </a:r>
            <a:endParaRPr sz="1100"/>
          </a:p>
          <a:p>
            <a:pPr indent="-293242" lvl="0" marL="457200" rtl="0" algn="l">
              <a:lnSpc>
                <a:spcPct val="166670"/>
              </a:lnSpc>
              <a:spcBef>
                <a:spcPts val="500"/>
              </a:spcBef>
              <a:spcAft>
                <a:spcPts val="0"/>
              </a:spcAft>
              <a:buClr>
                <a:schemeClr val="accent1"/>
              </a:buClr>
              <a:buSzPct val="100000"/>
              <a:buFont typeface="Lato"/>
              <a:buChar char="■"/>
            </a:pPr>
            <a:r>
              <a:rPr lang="es" sz="1100"/>
              <a:t>En primer lugar, se carga un prompt donde pregunta: “¿Cuál fue el primer presidente de la democracia española?”</a:t>
            </a:r>
            <a:endParaRPr sz="1100"/>
          </a:p>
          <a:p>
            <a:pPr indent="-293242" lvl="0" marL="457200" rtl="0" algn="l">
              <a:lnSpc>
                <a:spcPct val="166670"/>
              </a:lnSpc>
              <a:spcBef>
                <a:spcPts val="0"/>
              </a:spcBef>
              <a:spcAft>
                <a:spcPts val="0"/>
              </a:spcAft>
              <a:buClr>
                <a:schemeClr val="accent1"/>
              </a:buClr>
              <a:buSzPct val="100000"/>
              <a:buFont typeface="Lato"/>
              <a:buChar char="■"/>
            </a:pPr>
            <a:r>
              <a:rPr lang="es" sz="1100"/>
              <a:t>En caso de que el usuario introduzca mal nombre y apellido, muestre como mensaje: “ERROR. Inténtelo de nuevo. ¿Cuál fue el primer presidente de la democracia española?”</a:t>
            </a:r>
            <a:endParaRPr sz="1100"/>
          </a:p>
          <a:p>
            <a:pPr indent="-293242" lvl="0" marL="457200" rtl="0" algn="l">
              <a:lnSpc>
                <a:spcPct val="166670"/>
              </a:lnSpc>
              <a:spcBef>
                <a:spcPts val="0"/>
              </a:spcBef>
              <a:spcAft>
                <a:spcPts val="0"/>
              </a:spcAft>
              <a:buClr>
                <a:schemeClr val="accent1"/>
              </a:buClr>
              <a:buSzPct val="100000"/>
              <a:buFont typeface="Lato"/>
              <a:buChar char="■"/>
            </a:pPr>
            <a:r>
              <a:rPr lang="es" sz="1100"/>
              <a:t>En caso de que el usuario introduzca el nombre del presidente (solamente) el prompt muestre como mensaje “Te falta el apellido. ¿Cuál fue el primer presidente de la democracia española?”.</a:t>
            </a:r>
            <a:endParaRPr sz="1100"/>
          </a:p>
          <a:p>
            <a:pPr indent="-293242" lvl="0" marL="457200" rtl="0" algn="l">
              <a:lnSpc>
                <a:spcPct val="166670"/>
              </a:lnSpc>
              <a:spcBef>
                <a:spcPts val="0"/>
              </a:spcBef>
              <a:spcAft>
                <a:spcPts val="0"/>
              </a:spcAft>
              <a:buClr>
                <a:schemeClr val="accent1"/>
              </a:buClr>
              <a:buSzPct val="100000"/>
              <a:buFont typeface="Lato"/>
              <a:buChar char="■"/>
            </a:pPr>
            <a:r>
              <a:rPr lang="es" sz="1100"/>
              <a:t>En caso de que el usuario introduzca el apellido del presidente (solamente) el prompt muestre como mensaje “Te falta el nombre. ¿Cuál fue el primer presidente de la democracia española?”.</a:t>
            </a:r>
            <a:endParaRPr sz="1100"/>
          </a:p>
          <a:p>
            <a:pPr indent="0" lvl="0" marL="0" rtl="0" algn="l">
              <a:lnSpc>
                <a:spcPct val="166670"/>
              </a:lnSpc>
              <a:spcBef>
                <a:spcPts val="900"/>
              </a:spcBef>
              <a:spcAft>
                <a:spcPts val="0"/>
              </a:spcAft>
              <a:buSzPct val="127764"/>
              <a:buNone/>
            </a:pPr>
            <a:r>
              <a:rPr lang="es" sz="1100"/>
              <a:t>Comenta el código con los comentarios que estimes necesarios.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while</a:t>
            </a:r>
            <a:endParaRPr/>
          </a:p>
        </p:txBody>
      </p:sp>
      <p:sp>
        <p:nvSpPr>
          <p:cNvPr id="263" name="Google Shape;263;p28"/>
          <p:cNvSpPr txBox="1"/>
          <p:nvPr>
            <p:ph idx="1" type="body"/>
          </p:nvPr>
        </p:nvSpPr>
        <p:spPr>
          <a:xfrm>
            <a:off x="729450" y="2185325"/>
            <a:ext cx="7688700" cy="26184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lang="es"/>
              <a:t>EJERCICIO 8: </a:t>
            </a:r>
            <a:endParaRPr/>
          </a:p>
          <a:p>
            <a:pPr indent="0" lvl="0" marL="0" rtl="0" algn="l">
              <a:lnSpc>
                <a:spcPct val="115000"/>
              </a:lnSpc>
              <a:spcBef>
                <a:spcPts val="1200"/>
              </a:spcBef>
              <a:spcAft>
                <a:spcPts val="0"/>
              </a:spcAft>
              <a:buSzPct val="108108"/>
              <a:buNone/>
            </a:pPr>
            <a:r>
              <a:rPr lang="es"/>
              <a:t>Haz un programa para que el usuario juegue a adivinar un número. </a:t>
            </a:r>
            <a:endParaRPr/>
          </a:p>
          <a:p>
            <a:pPr indent="0" lvl="0" marL="0" rtl="0" algn="l">
              <a:lnSpc>
                <a:spcPct val="115000"/>
              </a:lnSpc>
              <a:spcBef>
                <a:spcPts val="1200"/>
              </a:spcBef>
              <a:spcAft>
                <a:spcPts val="0"/>
              </a:spcAft>
              <a:buSzPct val="108108"/>
              <a:buNone/>
            </a:pPr>
            <a:r>
              <a:rPr lang="es"/>
              <a:t>Obtén un número al azar ( busca en internet cómo hacerlo) y ve pidiendo al usuario que introduzca un número. </a:t>
            </a:r>
            <a:endParaRPr/>
          </a:p>
          <a:p>
            <a:pPr indent="0" lvl="0" marL="0" rtl="0" algn="l">
              <a:lnSpc>
                <a:spcPct val="115000"/>
              </a:lnSpc>
              <a:spcBef>
                <a:spcPts val="1200"/>
              </a:spcBef>
              <a:spcAft>
                <a:spcPts val="0"/>
              </a:spcAft>
              <a:buSzPct val="108108"/>
              <a:buNone/>
            </a:pPr>
            <a:r>
              <a:rPr lang="es"/>
              <a:t>Si es el que busca le dices que lo ha encontrado y si no le mostrarás si el número que busca es mayor o menor que el introducido. </a:t>
            </a:r>
            <a:endParaRPr/>
          </a:p>
          <a:p>
            <a:pPr indent="0" lvl="0" marL="0" rtl="0" algn="l">
              <a:lnSpc>
                <a:spcPct val="115000"/>
              </a:lnSpc>
              <a:spcBef>
                <a:spcPts val="1200"/>
              </a:spcBef>
              <a:spcAft>
                <a:spcPts val="0"/>
              </a:spcAft>
              <a:buSzPct val="108108"/>
              <a:buNone/>
            </a:pPr>
            <a:r>
              <a:rPr lang="es"/>
              <a:t>El juego acaba cuando el usuario encuentra el número o cuando escribe algo que no es número (en ese caso le mostraremos un mensaje de que ha cancelado el juego).</a:t>
            </a:r>
            <a:endParaRPr/>
          </a:p>
          <a:p>
            <a:pPr indent="0" lvl="0" marL="0" rtl="0" algn="l">
              <a:lnSpc>
                <a:spcPct val="115000"/>
              </a:lnSpc>
              <a:spcBef>
                <a:spcPts val="1200"/>
              </a:spcBef>
              <a:spcAft>
                <a:spcPts val="1200"/>
              </a:spcAft>
              <a:buSzPct val="93693"/>
              <a:buNone/>
            </a:pPr>
            <a:r>
              <a:rPr lang="es"/>
              <a:t>Comenta el código con los comentarios que estimes necesarios.</a:t>
            </a:r>
            <a:endParaRPr sz="1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for</a:t>
            </a:r>
            <a:endParaRPr/>
          </a:p>
          <a:p>
            <a:pPr indent="0" lvl="0" marL="0" rtl="0" algn="l">
              <a:lnSpc>
                <a:spcPct val="100000"/>
              </a:lnSpc>
              <a:spcBef>
                <a:spcPts val="0"/>
              </a:spcBef>
              <a:spcAft>
                <a:spcPts val="0"/>
              </a:spcAft>
              <a:buSzPct val="111111"/>
              <a:buNone/>
            </a:pPr>
            <a:r>
              <a:t/>
            </a:r>
            <a:endParaRPr/>
          </a:p>
        </p:txBody>
      </p:sp>
      <p:sp>
        <p:nvSpPr>
          <p:cNvPr id="269" name="Google Shape;269;p2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800"/>
              </a:spcBef>
              <a:spcAft>
                <a:spcPts val="0"/>
              </a:spcAft>
              <a:buSzPts val="1300"/>
              <a:buNone/>
            </a:pPr>
            <a:r>
              <a:rPr b="1" lang="es" sz="1650">
                <a:solidFill>
                  <a:srgbClr val="24292E"/>
                </a:solidFill>
                <a:latin typeface="Arial"/>
                <a:ea typeface="Arial"/>
                <a:cs typeface="Arial"/>
                <a:sym typeface="Arial"/>
              </a:rPr>
              <a:t>Bucle: for con contador</a:t>
            </a:r>
            <a:endParaRPr b="1" sz="165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Creamos una variable contador que controla las veces que se ejecuta el for:</a:t>
            </a:r>
            <a:endParaRPr sz="1200">
              <a:solidFill>
                <a:srgbClr val="24292E"/>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pic>
        <p:nvPicPr>
          <p:cNvPr id="270" name="Google Shape;270;p29"/>
          <p:cNvPicPr preferRelativeResize="0"/>
          <p:nvPr/>
        </p:nvPicPr>
        <p:blipFill rotWithShape="1">
          <a:blip r:embed="rId3">
            <a:alphaModFix/>
          </a:blip>
          <a:srcRect b="0" l="0" r="0" t="0"/>
          <a:stretch/>
        </p:blipFill>
        <p:spPr>
          <a:xfrm>
            <a:off x="823950" y="2836200"/>
            <a:ext cx="4237826" cy="19362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for</a:t>
            </a:r>
            <a:endParaRPr/>
          </a:p>
          <a:p>
            <a:pPr indent="0" lvl="0" marL="0" rtl="0" algn="l">
              <a:lnSpc>
                <a:spcPct val="100000"/>
              </a:lnSpc>
              <a:spcBef>
                <a:spcPts val="0"/>
              </a:spcBef>
              <a:spcAft>
                <a:spcPts val="0"/>
              </a:spcAft>
              <a:buSzPct val="111111"/>
              <a:buNone/>
            </a:pPr>
            <a:r>
              <a:t/>
            </a:r>
            <a:endParaRPr/>
          </a:p>
        </p:txBody>
      </p:sp>
      <p:sp>
        <p:nvSpPr>
          <p:cNvPr id="276" name="Google Shape;276;p30"/>
          <p:cNvSpPr txBox="1"/>
          <p:nvPr>
            <p:ph idx="1" type="body"/>
          </p:nvPr>
        </p:nvSpPr>
        <p:spPr>
          <a:xfrm>
            <a:off x="729450" y="2278600"/>
            <a:ext cx="4145400" cy="20613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1800"/>
              </a:spcBef>
              <a:spcAft>
                <a:spcPts val="0"/>
              </a:spcAft>
              <a:buSzPts val="1300"/>
              <a:buNone/>
            </a:pPr>
            <a:r>
              <a:rPr b="1" lang="es" sz="1500">
                <a:solidFill>
                  <a:srgbClr val="24292E"/>
                </a:solidFill>
                <a:latin typeface="Arial"/>
                <a:ea typeface="Arial"/>
                <a:cs typeface="Arial"/>
                <a:sym typeface="Arial"/>
              </a:rPr>
              <a:t>Bucle: for…in</a:t>
            </a:r>
            <a:endParaRPr b="1" sz="150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408">
                <a:solidFill>
                  <a:srgbClr val="24292E"/>
                </a:solidFill>
                <a:latin typeface="Arial"/>
                <a:ea typeface="Arial"/>
                <a:cs typeface="Arial"/>
                <a:sym typeface="Arial"/>
              </a:rPr>
              <a:t>El bucle se ejecuta una vez para cada elemento del array (o propiedad del objeto) y se crea una variable contador que toma como valores la posición del elemento en el array</a:t>
            </a:r>
            <a:endParaRPr sz="1408">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1200">
              <a:solidFill>
                <a:srgbClr val="24292E"/>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pic>
        <p:nvPicPr>
          <p:cNvPr id="277" name="Google Shape;277;p30"/>
          <p:cNvPicPr preferRelativeResize="0"/>
          <p:nvPr/>
        </p:nvPicPr>
        <p:blipFill rotWithShape="1">
          <a:blip r:embed="rId3">
            <a:alphaModFix/>
          </a:blip>
          <a:srcRect b="0" l="0" r="0" t="0"/>
          <a:stretch/>
        </p:blipFill>
        <p:spPr>
          <a:xfrm>
            <a:off x="5065025" y="2251482"/>
            <a:ext cx="3454175" cy="188934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for</a:t>
            </a:r>
            <a:endParaRPr/>
          </a:p>
          <a:p>
            <a:pPr indent="0" lvl="0" marL="0" rtl="0" algn="l">
              <a:lnSpc>
                <a:spcPct val="100000"/>
              </a:lnSpc>
              <a:spcBef>
                <a:spcPts val="0"/>
              </a:spcBef>
              <a:spcAft>
                <a:spcPts val="0"/>
              </a:spcAft>
              <a:buSzPct val="111111"/>
              <a:buNone/>
            </a:pPr>
            <a:r>
              <a:t/>
            </a:r>
            <a:endParaRPr/>
          </a:p>
        </p:txBody>
      </p:sp>
      <p:sp>
        <p:nvSpPr>
          <p:cNvPr id="283" name="Google Shape;283;p3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800"/>
              </a:spcBef>
              <a:spcAft>
                <a:spcPts val="0"/>
              </a:spcAft>
              <a:buSzPts val="1300"/>
              <a:buNone/>
            </a:pPr>
            <a:r>
              <a:rPr b="1" lang="es" sz="1650">
                <a:solidFill>
                  <a:srgbClr val="24292E"/>
                </a:solidFill>
                <a:latin typeface="Arial"/>
                <a:ea typeface="Arial"/>
                <a:cs typeface="Arial"/>
                <a:sym typeface="Arial"/>
              </a:rPr>
              <a:t>Bucle: for … of</a:t>
            </a:r>
            <a:endParaRPr b="1" sz="165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highlight>
                  <a:srgbClr val="FFFFFF"/>
                </a:highlight>
                <a:latin typeface="Arial"/>
                <a:ea typeface="Arial"/>
                <a:cs typeface="Arial"/>
                <a:sym typeface="Arial"/>
              </a:rPr>
              <a:t>Es similar al </a:t>
            </a:r>
            <a:r>
              <a:rPr i="1" lang="es" sz="1200">
                <a:solidFill>
                  <a:srgbClr val="24292E"/>
                </a:solidFill>
                <a:latin typeface="Arial"/>
                <a:ea typeface="Arial"/>
                <a:cs typeface="Arial"/>
                <a:sym typeface="Arial"/>
              </a:rPr>
              <a:t>for…in</a:t>
            </a:r>
            <a:r>
              <a:rPr lang="es" sz="1200">
                <a:solidFill>
                  <a:srgbClr val="24292E"/>
                </a:solidFill>
                <a:highlight>
                  <a:srgbClr val="FFFFFF"/>
                </a:highlight>
                <a:latin typeface="Arial"/>
                <a:ea typeface="Arial"/>
                <a:cs typeface="Arial"/>
                <a:sym typeface="Arial"/>
              </a:rPr>
              <a:t> pero la variable contador en vez de tomar como valor cada índice toma cada elemento. Es nuevo en ES2015:</a:t>
            </a:r>
            <a:endParaRPr sz="1200">
              <a:solidFill>
                <a:srgbClr val="24292E"/>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pic>
        <p:nvPicPr>
          <p:cNvPr id="284" name="Google Shape;284;p31"/>
          <p:cNvPicPr preferRelativeResize="0"/>
          <p:nvPr/>
        </p:nvPicPr>
        <p:blipFill rotWithShape="1">
          <a:blip r:embed="rId3">
            <a:alphaModFix/>
          </a:blip>
          <a:srcRect b="0" l="0" r="0" t="0"/>
          <a:stretch/>
        </p:blipFill>
        <p:spPr>
          <a:xfrm>
            <a:off x="729450" y="3208647"/>
            <a:ext cx="7688700" cy="169960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3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for</a:t>
            </a:r>
            <a:endParaRPr/>
          </a:p>
        </p:txBody>
      </p:sp>
      <p:sp>
        <p:nvSpPr>
          <p:cNvPr id="290" name="Google Shape;290;p3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200">
                <a:solidFill>
                  <a:srgbClr val="6A737D"/>
                </a:solidFill>
                <a:highlight>
                  <a:srgbClr val="FFFFFF"/>
                </a:highlight>
                <a:latin typeface="Arial"/>
                <a:ea typeface="Arial"/>
                <a:cs typeface="Arial"/>
                <a:sym typeface="Arial"/>
              </a:rPr>
              <a:t>EJERCICIO 9: </a:t>
            </a:r>
            <a:endParaRPr sz="1200">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rPr lang="es" sz="1200">
                <a:highlight>
                  <a:srgbClr val="FFFFFF"/>
                </a:highlight>
                <a:latin typeface="Arial"/>
                <a:ea typeface="Arial"/>
                <a:cs typeface="Arial"/>
                <a:sym typeface="Arial"/>
              </a:rPr>
              <a:t>El factorial de un número entero n es una operación matemática que consiste en multiplicar ese número por todos los enteros menores que él: </a:t>
            </a:r>
            <a:r>
              <a:rPr b="1" lang="es" sz="1200">
                <a:latin typeface="Arial"/>
                <a:ea typeface="Arial"/>
                <a:cs typeface="Arial"/>
                <a:sym typeface="Arial"/>
              </a:rPr>
              <a:t>n x (n-1) x (n-2) x … x 1</a:t>
            </a:r>
            <a:r>
              <a:rPr lang="es" sz="1200">
                <a:highlight>
                  <a:srgbClr val="FFFFFF"/>
                </a:highlight>
                <a:latin typeface="Arial"/>
                <a:ea typeface="Arial"/>
                <a:cs typeface="Arial"/>
                <a:sym typeface="Arial"/>
              </a:rPr>
              <a:t>. Así, el factorial de 5 (se escribe 5!) vale </a:t>
            </a:r>
            <a:r>
              <a:rPr b="1" lang="es" sz="1200">
                <a:latin typeface="Arial"/>
                <a:ea typeface="Arial"/>
                <a:cs typeface="Arial"/>
                <a:sym typeface="Arial"/>
              </a:rPr>
              <a:t>5! = 5 x 4 x 3 x 2 x 1 = 120</a:t>
            </a:r>
            <a:r>
              <a:rPr lang="es" sz="1200">
                <a:highlight>
                  <a:srgbClr val="FFFFFF"/>
                </a:highlight>
                <a:latin typeface="Arial"/>
                <a:ea typeface="Arial"/>
                <a:cs typeface="Arial"/>
                <a:sym typeface="Arial"/>
              </a:rPr>
              <a:t>. Haz un script que calcule el factorial de un número entero.</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 name="Shape 294"/>
        <p:cNvGrpSpPr/>
        <p:nvPr/>
      </p:nvGrpSpPr>
      <p:grpSpPr>
        <a:xfrm>
          <a:off x="0" y="0"/>
          <a:ext cx="0" cy="0"/>
          <a:chOff x="0" y="0"/>
          <a:chExt cx="0" cy="0"/>
        </a:xfrm>
      </p:grpSpPr>
      <p:sp>
        <p:nvSpPr>
          <p:cNvPr id="295" name="Google Shape;295;p3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for</a:t>
            </a:r>
            <a:endParaRPr/>
          </a:p>
        </p:txBody>
      </p:sp>
      <p:sp>
        <p:nvSpPr>
          <p:cNvPr id="296" name="Google Shape;296;p3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200">
                <a:solidFill>
                  <a:srgbClr val="6A737D"/>
                </a:solidFill>
                <a:highlight>
                  <a:srgbClr val="FFFFFF"/>
                </a:highlight>
                <a:latin typeface="Arial"/>
                <a:ea typeface="Arial"/>
                <a:cs typeface="Arial"/>
                <a:sym typeface="Arial"/>
              </a:rPr>
              <a:t>EJERCICIO 10: </a:t>
            </a:r>
            <a:endParaRPr sz="1200">
              <a:highlight>
                <a:srgbClr val="FFFFFF"/>
              </a:highlight>
              <a:latin typeface="Arial"/>
              <a:ea typeface="Arial"/>
              <a:cs typeface="Arial"/>
              <a:sym typeface="Arial"/>
            </a:endParaRPr>
          </a:p>
          <a:p>
            <a:pPr indent="0" lvl="0" marL="0" rtl="0" algn="l">
              <a:lnSpc>
                <a:spcPct val="115000"/>
              </a:lnSpc>
              <a:spcBef>
                <a:spcPts val="1200"/>
              </a:spcBef>
              <a:spcAft>
                <a:spcPts val="1200"/>
              </a:spcAft>
              <a:buSzPts val="1300"/>
              <a:buNone/>
            </a:pPr>
            <a:r>
              <a:rPr lang="es" sz="1200">
                <a:highlight>
                  <a:srgbClr val="FFFFFF"/>
                </a:highlight>
                <a:latin typeface="Arial"/>
                <a:ea typeface="Arial"/>
                <a:cs typeface="Arial"/>
                <a:sym typeface="Arial"/>
              </a:rPr>
              <a:t>Haz un programa donde le pidas al usuario un número de notas a introducir. A continuación introduces esas notas en un array, y finalmente devuelves la nota media. Hazlo de dos maneras diferentes.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p3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4. ESTRUCTURAS DE CONTROL</a:t>
            </a:r>
            <a:endParaRPr/>
          </a:p>
          <a:p>
            <a:pPr indent="0" lvl="0" marL="0" rtl="0" algn="l">
              <a:lnSpc>
                <a:spcPct val="100000"/>
              </a:lnSpc>
              <a:spcBef>
                <a:spcPts val="0"/>
              </a:spcBef>
              <a:spcAft>
                <a:spcPts val="0"/>
              </a:spcAft>
              <a:buSzPct val="111111"/>
              <a:buNone/>
            </a:pPr>
            <a:r>
              <a:rPr lang="es"/>
              <a:t>Estructura repetitivas: for</a:t>
            </a:r>
            <a:endParaRPr/>
          </a:p>
          <a:p>
            <a:pPr indent="0" lvl="0" marL="0" rtl="0" algn="l">
              <a:lnSpc>
                <a:spcPct val="100000"/>
              </a:lnSpc>
              <a:spcBef>
                <a:spcPts val="0"/>
              </a:spcBef>
              <a:spcAft>
                <a:spcPts val="0"/>
              </a:spcAft>
              <a:buSzPct val="111111"/>
              <a:buNone/>
            </a:pPr>
            <a:r>
              <a:t/>
            </a:r>
            <a:endParaRPr/>
          </a:p>
        </p:txBody>
      </p:sp>
      <p:sp>
        <p:nvSpPr>
          <p:cNvPr id="302" name="Google Shape;302;p3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66670"/>
              </a:lnSpc>
              <a:spcBef>
                <a:spcPts val="900"/>
              </a:spcBef>
              <a:spcAft>
                <a:spcPts val="0"/>
              </a:spcAft>
              <a:buSzPts val="1300"/>
              <a:buNone/>
            </a:pPr>
            <a:r>
              <a:rPr lang="es" sz="1100">
                <a:solidFill>
                  <a:srgbClr val="212121"/>
                </a:solidFill>
              </a:rPr>
              <a:t>EJERCICIO 11</a:t>
            </a:r>
            <a:endParaRPr sz="1100">
              <a:solidFill>
                <a:srgbClr val="212121"/>
              </a:solidFill>
            </a:endParaRPr>
          </a:p>
          <a:p>
            <a:pPr indent="0" lvl="0" marL="0" rtl="0" algn="l">
              <a:lnSpc>
                <a:spcPct val="166670"/>
              </a:lnSpc>
              <a:spcBef>
                <a:spcPts val="900"/>
              </a:spcBef>
              <a:spcAft>
                <a:spcPts val="0"/>
              </a:spcAft>
              <a:buSzPts val="1300"/>
              <a:buNone/>
            </a:pPr>
            <a:r>
              <a:rPr lang="es" sz="1100"/>
              <a:t>Crea un programa que genere un listado de horas que vayan desde las 9 hasta las 21:30 de 30 minutos en 30 minutos.</a:t>
            </a:r>
            <a:endParaRPr sz="1100"/>
          </a:p>
          <a:p>
            <a:pPr indent="0" lvl="0" marL="0" rtl="0" algn="l">
              <a:lnSpc>
                <a:spcPct val="166670"/>
              </a:lnSpc>
              <a:spcBef>
                <a:spcPts val="900"/>
              </a:spcBef>
              <a:spcAft>
                <a:spcPts val="0"/>
              </a:spcAft>
              <a:buSzPts val="1300"/>
              <a:buNone/>
            </a:pPr>
            <a:r>
              <a:rPr lang="es" sz="1100"/>
              <a:t>En lugar de mostrar un alert, utiliza la instrucción document.write(“Mensaje”) que muestra los datos en el propio HTML.</a:t>
            </a:r>
            <a:endParaRPr sz="1100"/>
          </a:p>
          <a:p>
            <a:pPr indent="0" lvl="0" marL="0" rtl="0" algn="l">
              <a:lnSpc>
                <a:spcPct val="166670"/>
              </a:lnSpc>
              <a:spcBef>
                <a:spcPts val="900"/>
              </a:spcBef>
              <a:spcAft>
                <a:spcPts val="0"/>
              </a:spcAft>
              <a:buSzPts val="1300"/>
              <a:buNone/>
            </a:pPr>
            <a:r>
              <a:rPr lang="es" sz="1100"/>
              <a:t>Ten en cuenta que tendrás que utilizar un for para las horas y (por ejemplo) una variable booleana que irá cambiando de true a false si es hora en punto u hora media.</a:t>
            </a:r>
            <a:endParaRPr sz="1100"/>
          </a:p>
          <a:p>
            <a:pPr indent="0" lvl="0" marL="0" rtl="0" algn="l">
              <a:lnSpc>
                <a:spcPct val="166670"/>
              </a:lnSpc>
              <a:spcBef>
                <a:spcPts val="900"/>
              </a:spcBef>
              <a:spcAft>
                <a:spcPts val="0"/>
              </a:spcAft>
              <a:buSzPts val="1300"/>
              <a:buNone/>
            </a:pPr>
            <a:r>
              <a:rPr lang="es" sz="1100"/>
              <a:t>Comenta el código con los comentarios que estimes necesarios.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BUENAS PRÁCTICAS</a:t>
            </a:r>
            <a:endParaRPr/>
          </a:p>
        </p:txBody>
      </p:sp>
      <p:sp>
        <p:nvSpPr>
          <p:cNvPr id="308" name="Google Shape;308;p35"/>
          <p:cNvSpPr txBox="1"/>
          <p:nvPr>
            <p:ph idx="1" type="body"/>
          </p:nvPr>
        </p:nvSpPr>
        <p:spPr>
          <a:xfrm>
            <a:off x="729450" y="2078875"/>
            <a:ext cx="7688700" cy="2792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lang="es" sz="1200">
                <a:solidFill>
                  <a:srgbClr val="24292E"/>
                </a:solidFill>
                <a:latin typeface="Arial"/>
                <a:ea typeface="Arial"/>
                <a:cs typeface="Arial"/>
                <a:sym typeface="Arial"/>
              </a:rPr>
              <a:t>Javascript nos permite hacer muchas cosas que otros lenguajes no nos dejan por lo que debemos ser cuidadosos para no cometer errores de los que no se nos va a avisar.</a:t>
            </a:r>
            <a:endParaRPr sz="1200">
              <a:solidFill>
                <a:srgbClr val="24292E"/>
              </a:solidFill>
              <a:latin typeface="Arial"/>
              <a:ea typeface="Arial"/>
              <a:cs typeface="Arial"/>
              <a:sym typeface="Arial"/>
            </a:endParaRPr>
          </a:p>
          <a:p>
            <a:pPr indent="0" lvl="0" marL="0" rtl="0" algn="l">
              <a:lnSpc>
                <a:spcPct val="100000"/>
              </a:lnSpc>
              <a:spcBef>
                <a:spcPts val="1800"/>
              </a:spcBef>
              <a:spcAft>
                <a:spcPts val="0"/>
              </a:spcAft>
              <a:buSzPts val="1300"/>
              <a:buNone/>
            </a:pPr>
            <a:r>
              <a:rPr b="1" lang="es" sz="1650">
                <a:solidFill>
                  <a:srgbClr val="24292E"/>
                </a:solidFill>
                <a:latin typeface="Arial"/>
                <a:ea typeface="Arial"/>
                <a:cs typeface="Arial"/>
                <a:sym typeface="Arial"/>
              </a:rPr>
              <a:t>‘use strict’</a:t>
            </a:r>
            <a:endParaRPr b="1" sz="165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Si ponemos siempre esta sentencia al principio de nuestro código el intérprete nos avisará si usamos una variable sin declarar (muchas veces por equivocarnos al escribir su nombre). En concreto fuerza al navegador a no permitir:</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latin typeface="Arial"/>
                <a:ea typeface="Arial"/>
                <a:cs typeface="Arial"/>
                <a:sym typeface="Arial"/>
              </a:rPr>
              <a:t>Usar una variable sin declarar</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Definir más de 1 vez una propiedad de un objeto</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Duplicar un parámetro en una función</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Usar números en octal</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Modificar una propiedad de sólo lectura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BUENAS PRÁCTICAS</a:t>
            </a:r>
            <a:endParaRPr/>
          </a:p>
        </p:txBody>
      </p:sp>
      <p:sp>
        <p:nvSpPr>
          <p:cNvPr id="314" name="Google Shape;314;p36"/>
          <p:cNvSpPr txBox="1"/>
          <p:nvPr>
            <p:ph idx="1" type="body"/>
          </p:nvPr>
        </p:nvSpPr>
        <p:spPr>
          <a:xfrm>
            <a:off x="729450" y="1913125"/>
            <a:ext cx="7688700" cy="3084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1800"/>
              </a:spcBef>
              <a:spcAft>
                <a:spcPts val="0"/>
              </a:spcAft>
              <a:buSzPts val="1300"/>
              <a:buNone/>
            </a:pPr>
            <a:r>
              <a:rPr b="1" lang="es" sz="1650">
                <a:solidFill>
                  <a:srgbClr val="24292E"/>
                </a:solidFill>
                <a:latin typeface="Arial"/>
                <a:ea typeface="Arial"/>
                <a:cs typeface="Arial"/>
                <a:sym typeface="Arial"/>
              </a:rPr>
              <a:t>Variables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Algunas de las prácticas que deberíamos seguir respecto a las variables son:</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latin typeface="Arial"/>
                <a:ea typeface="Arial"/>
                <a:cs typeface="Arial"/>
                <a:sym typeface="Arial"/>
              </a:rPr>
              <a:t>Elegir un buen nombre es fundamental. Evitar abreviaturas o nombres sin significado (a, b, c, …)</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Evitar en lo posible variables globales</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Usar </a:t>
            </a:r>
            <a:r>
              <a:rPr i="1" lang="es" sz="1200">
                <a:solidFill>
                  <a:srgbClr val="24292E"/>
                </a:solidFill>
                <a:latin typeface="Arial"/>
                <a:ea typeface="Arial"/>
                <a:cs typeface="Arial"/>
                <a:sym typeface="Arial"/>
              </a:rPr>
              <a:t>let</a:t>
            </a:r>
            <a:r>
              <a:rPr lang="es" sz="1200">
                <a:solidFill>
                  <a:srgbClr val="24292E"/>
                </a:solidFill>
                <a:latin typeface="Arial"/>
                <a:ea typeface="Arial"/>
                <a:cs typeface="Arial"/>
                <a:sym typeface="Arial"/>
              </a:rPr>
              <a:t> para declararlas</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Usar </a:t>
            </a:r>
            <a:r>
              <a:rPr i="1" lang="es" sz="1200">
                <a:solidFill>
                  <a:srgbClr val="24292E"/>
                </a:solidFill>
                <a:latin typeface="Arial"/>
                <a:ea typeface="Arial"/>
                <a:cs typeface="Arial"/>
                <a:sym typeface="Arial"/>
              </a:rPr>
              <a:t>const</a:t>
            </a:r>
            <a:r>
              <a:rPr lang="es" sz="1200">
                <a:solidFill>
                  <a:srgbClr val="24292E"/>
                </a:solidFill>
                <a:latin typeface="Arial"/>
                <a:ea typeface="Arial"/>
                <a:cs typeface="Arial"/>
                <a:sym typeface="Arial"/>
              </a:rPr>
              <a:t> siempre que una variable no deba cambiar su valor</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Declarar todas las variables al principio</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Inicializar las variables al declararlas</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Evitar conversiones de tipo automáticas</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Usar para nombrarlas la notación </a:t>
            </a:r>
            <a:r>
              <a:rPr i="1" lang="es" sz="1200">
                <a:solidFill>
                  <a:srgbClr val="24292E"/>
                </a:solidFill>
                <a:latin typeface="Arial"/>
                <a:ea typeface="Arial"/>
                <a:cs typeface="Arial"/>
                <a:sym typeface="Arial"/>
              </a:rPr>
              <a:t>camelCase</a:t>
            </a:r>
            <a:endParaRPr i="1" sz="1200">
              <a:solidFill>
                <a:srgbClr val="24292E"/>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1200">
                <a:solidFill>
                  <a:srgbClr val="24292E"/>
                </a:solidFill>
                <a:latin typeface="Arial"/>
                <a:ea typeface="Arial"/>
                <a:cs typeface="Arial"/>
                <a:sym typeface="Arial"/>
              </a:rPr>
              <a:t>También es conveniente, por motivos de eficiencia no usar objetos Number, String o Boolean sino los tipos primitivos (no usar </a:t>
            </a:r>
            <a:r>
              <a:rPr lang="es" sz="1000">
                <a:solidFill>
                  <a:srgbClr val="24292E"/>
                </a:solidFill>
                <a:latin typeface="Courier New"/>
                <a:ea typeface="Courier New"/>
                <a:cs typeface="Courier New"/>
                <a:sym typeface="Courier New"/>
              </a:rPr>
              <a:t>let numero = new Number(5)</a:t>
            </a:r>
            <a:r>
              <a:rPr lang="es" sz="1200">
                <a:solidFill>
                  <a:srgbClr val="24292E"/>
                </a:solidFill>
                <a:latin typeface="Arial"/>
                <a:ea typeface="Arial"/>
                <a:cs typeface="Arial"/>
                <a:sym typeface="Arial"/>
              </a:rPr>
              <a:t> sino </a:t>
            </a:r>
            <a:r>
              <a:rPr lang="es" sz="1000">
                <a:solidFill>
                  <a:srgbClr val="24292E"/>
                </a:solidFill>
                <a:latin typeface="Courier New"/>
                <a:ea typeface="Courier New"/>
                <a:cs typeface="Courier New"/>
                <a:sym typeface="Courier New"/>
              </a:rPr>
              <a:t>let numero = 5</a:t>
            </a:r>
            <a:r>
              <a:rPr lang="es" sz="1200">
                <a:solidFill>
                  <a:srgbClr val="24292E"/>
                </a:solidFill>
                <a:latin typeface="Arial"/>
                <a:ea typeface="Arial"/>
                <a:cs typeface="Arial"/>
                <a:sym typeface="Arial"/>
              </a:rPr>
              <a:t>) y lo mismo al crear arrays, objetos o expresiones regulares (no usar </a:t>
            </a:r>
            <a:r>
              <a:rPr lang="es" sz="1000">
                <a:solidFill>
                  <a:srgbClr val="24292E"/>
                </a:solidFill>
                <a:latin typeface="Courier New"/>
                <a:ea typeface="Courier New"/>
                <a:cs typeface="Courier New"/>
                <a:sym typeface="Courier New"/>
              </a:rPr>
              <a:t>let miArray = new Array()</a:t>
            </a:r>
            <a:r>
              <a:rPr lang="es" sz="1200">
                <a:solidFill>
                  <a:srgbClr val="24292E"/>
                </a:solidFill>
                <a:latin typeface="Arial"/>
                <a:ea typeface="Arial"/>
                <a:cs typeface="Arial"/>
                <a:sym typeface="Arial"/>
              </a:rPr>
              <a:t> sino </a:t>
            </a:r>
            <a:r>
              <a:rPr lang="es" sz="1000">
                <a:solidFill>
                  <a:srgbClr val="24292E"/>
                </a:solidFill>
                <a:latin typeface="Courier New"/>
                <a:ea typeface="Courier New"/>
                <a:cs typeface="Courier New"/>
                <a:sym typeface="Courier New"/>
              </a:rPr>
              <a:t>let miArray = []</a:t>
            </a:r>
            <a:r>
              <a:rPr lang="es" sz="1200">
                <a:solidFill>
                  <a:srgbClr val="24292E"/>
                </a:solidFill>
                <a:latin typeface="Arial"/>
                <a:ea typeface="Arial"/>
                <a:cs typeface="Arial"/>
                <a:sym typeface="Arial"/>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5. BUENAS PRÁCTICAS</a:t>
            </a:r>
            <a:endParaRPr/>
          </a:p>
        </p:txBody>
      </p:sp>
      <p:sp>
        <p:nvSpPr>
          <p:cNvPr id="320" name="Google Shape;320;p37"/>
          <p:cNvSpPr txBox="1"/>
          <p:nvPr>
            <p:ph idx="1" type="body"/>
          </p:nvPr>
        </p:nvSpPr>
        <p:spPr>
          <a:xfrm>
            <a:off x="729450" y="1913125"/>
            <a:ext cx="7688700" cy="3084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800"/>
              </a:spcBef>
              <a:spcAft>
                <a:spcPts val="0"/>
              </a:spcAft>
              <a:buSzPts val="1300"/>
              <a:buNone/>
            </a:pPr>
            <a:r>
              <a:rPr b="1" lang="es" sz="1650">
                <a:solidFill>
                  <a:srgbClr val="24292E"/>
                </a:solidFill>
                <a:latin typeface="Arial"/>
                <a:ea typeface="Arial"/>
                <a:cs typeface="Arial"/>
                <a:sym typeface="Arial"/>
              </a:rPr>
              <a:t>Otras</a:t>
            </a:r>
            <a:endParaRPr b="1" sz="1650">
              <a:solidFill>
                <a:srgbClr val="24292E"/>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1200">
                <a:solidFill>
                  <a:srgbClr val="24292E"/>
                </a:solidFill>
                <a:latin typeface="Arial"/>
                <a:ea typeface="Arial"/>
                <a:cs typeface="Arial"/>
                <a:sym typeface="Arial"/>
              </a:rPr>
              <a:t>Algunas reglas más que deberíamos seguir son:</a:t>
            </a:r>
            <a:endParaRPr sz="1200">
              <a:solidFill>
                <a:srgbClr val="24292E"/>
              </a:solidFill>
              <a:latin typeface="Arial"/>
              <a:ea typeface="Arial"/>
              <a:cs typeface="Arial"/>
              <a:sym typeface="Arial"/>
            </a:endParaRPr>
          </a:p>
          <a:p>
            <a:pPr indent="-304800" lvl="0" marL="457200" rtl="0" algn="l">
              <a:lnSpc>
                <a:spcPct val="115000"/>
              </a:lnSpc>
              <a:spcBef>
                <a:spcPts val="1200"/>
              </a:spcBef>
              <a:spcAft>
                <a:spcPts val="0"/>
              </a:spcAft>
              <a:buClr>
                <a:srgbClr val="24292E"/>
              </a:buClr>
              <a:buSzPts val="1200"/>
              <a:buFont typeface="Arial"/>
              <a:buChar char="●"/>
            </a:pPr>
            <a:r>
              <a:rPr lang="es" sz="1200">
                <a:solidFill>
                  <a:srgbClr val="24292E"/>
                </a:solidFill>
                <a:latin typeface="Arial"/>
                <a:ea typeface="Arial"/>
                <a:cs typeface="Arial"/>
                <a:sym typeface="Arial"/>
              </a:rPr>
              <a:t>Debemos ser coherentes a la hora de escribir código: por ejemplo podemos poner (recomendado) o no espacios antes y después del </a:t>
            </a:r>
            <a:r>
              <a:rPr lang="es" sz="1000">
                <a:solidFill>
                  <a:srgbClr val="24292E"/>
                </a:solidFill>
                <a:latin typeface="Courier New"/>
                <a:ea typeface="Courier New"/>
                <a:cs typeface="Courier New"/>
                <a:sym typeface="Courier New"/>
              </a:rPr>
              <a:t>=</a:t>
            </a:r>
            <a:r>
              <a:rPr lang="es" sz="1200">
                <a:solidFill>
                  <a:srgbClr val="24292E"/>
                </a:solidFill>
                <a:latin typeface="Arial"/>
                <a:ea typeface="Arial"/>
                <a:cs typeface="Arial"/>
                <a:sym typeface="Arial"/>
              </a:rPr>
              <a:t> en una asignación pero debemos hacerlo siempre igual. Existen muchas guías de estilo y muy buenas: </a:t>
            </a:r>
            <a:r>
              <a:rPr lang="es" sz="1200">
                <a:solidFill>
                  <a:srgbClr val="0366D6"/>
                </a:solidFill>
                <a:uFill>
                  <a:noFill/>
                </a:uFill>
                <a:latin typeface="Arial"/>
                <a:ea typeface="Arial"/>
                <a:cs typeface="Arial"/>
                <a:sym typeface="Arial"/>
                <a:hlinkClick r:id="rId3">
                  <a:extLst>
                    <a:ext uri="{A12FA001-AC4F-418D-AE19-62706E023703}">
                      <ahyp:hlinkClr val="tx"/>
                    </a:ext>
                  </a:extLst>
                </a:hlinkClick>
              </a:rPr>
              <a:t>Airbnb</a:t>
            </a:r>
            <a:r>
              <a:rPr lang="es" sz="1200">
                <a:solidFill>
                  <a:srgbClr val="24292E"/>
                </a:solidFill>
                <a:latin typeface="Arial"/>
                <a:ea typeface="Arial"/>
                <a:cs typeface="Arial"/>
                <a:sym typeface="Arial"/>
              </a:rPr>
              <a:t>, </a:t>
            </a:r>
            <a:r>
              <a:rPr lang="es" sz="1200">
                <a:solidFill>
                  <a:srgbClr val="0366D6"/>
                </a:solidFill>
                <a:uFill>
                  <a:noFill/>
                </a:uFill>
                <a:latin typeface="Arial"/>
                <a:ea typeface="Arial"/>
                <a:cs typeface="Arial"/>
                <a:sym typeface="Arial"/>
                <a:hlinkClick r:id="rId4">
                  <a:extLst>
                    <a:ext uri="{A12FA001-AC4F-418D-AE19-62706E023703}">
                      <ahyp:hlinkClr val="tx"/>
                    </a:ext>
                  </a:extLst>
                </a:hlinkClick>
              </a:rPr>
              <a:t>Google</a:t>
            </a:r>
            <a:r>
              <a:rPr lang="es" sz="1200">
                <a:solidFill>
                  <a:srgbClr val="24292E"/>
                </a:solidFill>
                <a:latin typeface="Arial"/>
                <a:ea typeface="Arial"/>
                <a:cs typeface="Arial"/>
                <a:sym typeface="Arial"/>
              </a:rPr>
              <a:t>, </a:t>
            </a:r>
            <a:r>
              <a:rPr lang="es" sz="1200">
                <a:solidFill>
                  <a:srgbClr val="0366D6"/>
                </a:solidFill>
                <a:uFill>
                  <a:noFill/>
                </a:uFill>
                <a:latin typeface="Arial"/>
                <a:ea typeface="Arial"/>
                <a:cs typeface="Arial"/>
                <a:sym typeface="Arial"/>
                <a:hlinkClick r:id="rId5">
                  <a:extLst>
                    <a:ext uri="{A12FA001-AC4F-418D-AE19-62706E023703}">
                      <ahyp:hlinkClr val="tx"/>
                    </a:ext>
                  </a:extLst>
                </a:hlinkClick>
              </a:rPr>
              <a:t>Idiomatic</a:t>
            </a:r>
            <a:r>
              <a:rPr lang="es" sz="1200">
                <a:solidFill>
                  <a:srgbClr val="24292E"/>
                </a:solidFill>
                <a:latin typeface="Arial"/>
                <a:ea typeface="Arial"/>
                <a:cs typeface="Arial"/>
                <a:sym typeface="Arial"/>
              </a:rPr>
              <a:t>, etc. </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Usar </a:t>
            </a:r>
            <a:r>
              <a:rPr lang="es" sz="1000">
                <a:solidFill>
                  <a:srgbClr val="24292E"/>
                </a:solidFill>
                <a:latin typeface="Courier New"/>
                <a:ea typeface="Courier New"/>
                <a:cs typeface="Courier New"/>
                <a:sym typeface="Courier New"/>
              </a:rPr>
              <a:t>===</a:t>
            </a:r>
            <a:r>
              <a:rPr lang="es" sz="1200">
                <a:solidFill>
                  <a:srgbClr val="24292E"/>
                </a:solidFill>
                <a:latin typeface="Arial"/>
                <a:ea typeface="Arial"/>
                <a:cs typeface="Arial"/>
                <a:sym typeface="Arial"/>
              </a:rPr>
              <a:t> en las comparaciones</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Si un parámetro puede faltar al llamar a una función darle un valor por defecto</a:t>
            </a:r>
            <a:endParaRPr sz="1200">
              <a:solidFill>
                <a:srgbClr val="24292E"/>
              </a:solidFill>
              <a:latin typeface="Arial"/>
              <a:ea typeface="Arial"/>
              <a:cs typeface="Arial"/>
              <a:sym typeface="Arial"/>
            </a:endParaRPr>
          </a:p>
          <a:p>
            <a:pPr indent="-304800" lvl="0" marL="457200" rtl="0" algn="l">
              <a:lnSpc>
                <a:spcPct val="115000"/>
              </a:lnSpc>
              <a:spcBef>
                <a:spcPts val="0"/>
              </a:spcBef>
              <a:spcAft>
                <a:spcPts val="0"/>
              </a:spcAft>
              <a:buClr>
                <a:srgbClr val="24292E"/>
              </a:buClr>
              <a:buSzPts val="1200"/>
              <a:buFont typeface="Arial"/>
              <a:buChar char="●"/>
            </a:pPr>
            <a:r>
              <a:rPr lang="es" sz="1200">
                <a:solidFill>
                  <a:srgbClr val="24292E"/>
                </a:solidFill>
                <a:latin typeface="Arial"/>
                <a:ea typeface="Arial"/>
                <a:cs typeface="Arial"/>
                <a:sym typeface="Arial"/>
              </a:rPr>
              <a:t>Y para acabar comentar el código cuando sea necesario, pero mejor que sea lo suficientemente claro como para no necesitar comentarios</a:t>
            </a:r>
            <a:endParaRPr b="1" sz="1650">
              <a:solidFill>
                <a:srgbClr val="24292E"/>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6. DEPURACIÓN EN EL NAVEGADOR</a:t>
            </a:r>
            <a:endParaRPr/>
          </a:p>
        </p:txBody>
      </p:sp>
      <p:sp>
        <p:nvSpPr>
          <p:cNvPr id="326" name="Google Shape;326;p3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
              <a:t>Hacer explicación con algún ejercicio previo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