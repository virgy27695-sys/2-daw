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5143500" cx="9144000"/>
  <p:notesSz cx="6858000" cy="9144000"/>
  <p:embeddedFontLst>
    <p:embeddedFont>
      <p:font typeface="Raleway"/>
      <p:regular r:id="rId55"/>
      <p:bold r:id="rId56"/>
      <p:italic r:id="rId57"/>
      <p:boldItalic r:id="rId58"/>
    </p:embeddedFont>
    <p:embeddedFont>
      <p:font typeface="Lato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Lato-boldItalic.fntdata"/><Relationship Id="rId61" Type="http://schemas.openxmlformats.org/officeDocument/2006/relationships/font" Target="fonts/Lato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Lat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aleway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aleway-italic.fntdata"/><Relationship Id="rId12" Type="http://schemas.openxmlformats.org/officeDocument/2006/relationships/slide" Target="slides/slide7.xml"/><Relationship Id="rId56" Type="http://schemas.openxmlformats.org/officeDocument/2006/relationships/font" Target="fonts/Raleway-bold.fntdata"/><Relationship Id="rId15" Type="http://schemas.openxmlformats.org/officeDocument/2006/relationships/slide" Target="slides/slide10.xml"/><Relationship Id="rId59" Type="http://schemas.openxmlformats.org/officeDocument/2006/relationships/font" Target="fonts/Lato-regular.fntdata"/><Relationship Id="rId14" Type="http://schemas.openxmlformats.org/officeDocument/2006/relationships/slide" Target="slides/slide9.xml"/><Relationship Id="rId58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8b656a6d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8b656a6d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8b656a6d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8b656a6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8b656a6d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8b656a6d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8b656a6d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8b656a6d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8b656a6d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08b656a6d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08b656a6d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08b656a6d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8b656a6d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8b656a6d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8b656a6d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8b656a6d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8b656a6d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8b656a6d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8b656a6d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8b656a6d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8b656a6d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8b656a6d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8b656a6d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8b656a6d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8b656a6d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8b656a6d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8b656a6da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8b656a6da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8b656a6da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8b656a6da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8b656a6da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8b656a6d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08b656a6d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08b656a6d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08b656a6da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08b656a6d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08b656a6d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08b656a6d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08b656a6da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08b656a6da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08b656a6d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08b656a6d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8b656a6d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8b656a6d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08b656a6d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08b656a6d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d43d5452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d43d5452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d43d5452a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d43d5452a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d43d5452a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d43d5452a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8b656a6d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08b656a6d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8b656a6d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08b656a6d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8c6e04bf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8c6e04bf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8c6e04bf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08c6e04bf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43d5452a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d43d5452a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0cee57b3e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0cee57b3e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0cee57b3e6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0cee57b3e6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0cee57b3e6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0cee57b3e6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cee57b3e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cee57b3e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0cee57b3e6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0cee57b3e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0cee57b3e6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0cee57b3e6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0cee57b3e6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0cee57b3e6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0cee57b3e6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0cee57b3e6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0cee57b3e6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0cee57b3e6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0cee57b3e6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0cee57b3e6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0cee57b3e6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0cee57b3e6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0cee57b3e6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0cee57b3e6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0cee57b3e6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0cee57b3e6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0cee57b3e6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0cee57b3e6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0cee57b3e6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0cee57b3e6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0cee57b3e6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0cee57b3e6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0cee57b3e6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0cee57b3e6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Relationship Id="rId4" Type="http://schemas.openxmlformats.org/officeDocument/2006/relationships/image" Target="../media/image1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eveloper.mozilla.org/en-US/docs/Web/API/structuredClone" TargetMode="External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21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2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Tema 4: Arrays, funciones y objetos definidos por el usuario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357375"/>
            <a:ext cx="7688100" cy="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Desarrollo Web en Entorno Cliente - 2º DAW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Juana Mª Rodríguez García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el usuario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función es un conjunto de sentencias que realizan una tarea específica.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declaran con </a:t>
            </a:r>
            <a:r>
              <a:rPr b="1" lang="es"/>
              <a:t>function</a:t>
            </a:r>
            <a:r>
              <a:rPr lang="es"/>
              <a:t> y se les pasan los </a:t>
            </a:r>
            <a:r>
              <a:rPr b="1" lang="es"/>
              <a:t>parámetros</a:t>
            </a:r>
            <a:r>
              <a:rPr lang="es"/>
              <a:t> entre paréntesis.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 función puede devolver un valor usando return (si no tiene return es como si devolviera undefined).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Puede usarse una función antes de haberla declarado por el comportamiento de Javascript llamado </a:t>
            </a:r>
            <a:r>
              <a:rPr lang="es" u="sng"/>
              <a:t>hoisting</a:t>
            </a:r>
            <a:r>
              <a:rPr lang="es"/>
              <a:t>: el navegador primero carga todas las funciones y mueve las declaraciones de las variables al principio y luego ejecuta el código.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934" y="1971775"/>
            <a:ext cx="6619729" cy="311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usuario: Parámetros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249725"/>
            <a:ext cx="3842700" cy="25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se llama una función con menos parámetros de los declarados el valor de los parámetros no pasados será </a:t>
            </a:r>
            <a:r>
              <a:rPr i="1"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undefined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dar un valor por defecto a los parámetros por si no los pasan asignándoles el valor al definirlos</a:t>
            </a:r>
            <a:endParaRPr sz="1700"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6625" y="942350"/>
            <a:ext cx="4422025" cy="181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300" y="2938526"/>
            <a:ext cx="4472699" cy="22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Parámetros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También es posible acceder a los parámetros desde el array </a:t>
            </a:r>
            <a:r>
              <a:rPr b="1" lang="es"/>
              <a:t>arguments[]</a:t>
            </a:r>
            <a:r>
              <a:rPr lang="es"/>
              <a:t> si no sabemos cuántos recibiremos: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12" y="2693326"/>
            <a:ext cx="5729176" cy="21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Parámetros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Javascript las funciones son un tipo de datos más por lo que podemos hacer cosas como pasarlas por argumento o asignarlas a una variable: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200" y="2698725"/>
            <a:ext cx="5873274" cy="23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 anónimas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Como acabamos de ver podemos definir una función sin darle un nombre. Dicha función puede asignarse a una variable, autoejecutarse o asignasrse a un manejador de eventos. Ejemplo: </a:t>
            </a:r>
            <a:endParaRPr sz="14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2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holaMundo </a:t>
            </a:r>
            <a:r>
              <a:rPr b="1" lang="es" sz="12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2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2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s" sz="12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2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alert('</a:t>
            </a:r>
            <a:r>
              <a:rPr lang="es" sz="12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Hola mundo!</a:t>
            </a:r>
            <a:r>
              <a:rPr lang="es" sz="12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');</a:t>
            </a:r>
            <a:endParaRPr sz="12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holaMundo();        </a:t>
            </a:r>
            <a:r>
              <a:rPr i="1" lang="es" sz="12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se ejecuta la función</a:t>
            </a:r>
            <a:endParaRPr sz="14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Arrow functions (funciones flecha)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2078875"/>
            <a:ext cx="32496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ES2015 permite declarar una función anónima de forma más corta.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Al escribirla con la sintaxis de una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arrow function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lo que hacemos es: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Eliminamos la palabra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 i="1"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Si sólo tiene 1 parámetro podemos eliminar los paréntesis de los parámetros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Ponemos el símbolo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=&gt;</a:t>
            </a:r>
            <a:endParaRPr i="1"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Si la función sólo tiene 1 línea podemos eliminar las { } y la palabra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225" y="2152775"/>
            <a:ext cx="3590251" cy="1359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6216" y="3558775"/>
            <a:ext cx="3590259" cy="15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1. Funciones definidas por el usuario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Arrow functions (funciones flecha)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729450" y="2078875"/>
            <a:ext cx="7688700" cy="28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Ejemplo, sin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arrow function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cuadrado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(base) {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base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base;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con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arrow function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cuadrado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base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base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base;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EJERCICIO 1: Haz una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arrow function</a:t>
            </a:r>
            <a:r>
              <a:rPr lang="es" sz="12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que devuelva el cubo del número pasado como parámetro y pruébala desde la consola. Escríbela primero en la forma habitual y luego la “traduces” a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arrow function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2078875"/>
            <a:ext cx="7688700" cy="28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Son un tipo de objeto y no tienen tamaño fijo sino que podemos añadirle elementos en cualquier momento.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Se recomienda crearlos usando notación JSON: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aunque también podemos crearlos como instancias del objeto Array (NO recomendado):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00">
                <a:solidFill>
                  <a:srgbClr val="0086B3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()     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a = []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00">
                <a:solidFill>
                  <a:srgbClr val="0086B3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b = [2, 4, 6]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9450" y="2078875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Sus elementos pueden ser de cualquier tipo, incluso podemos tener elementos de tipos distintos en un mismo array. Si no está definido un elemento su valor será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undefined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Lunes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Martes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])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imprime 'Lunes'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])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imprime 6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Juan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     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ahora a = ['Lunes', 'Martes', 2, 4, 6, , , 'Juan']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])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imprime 'Juan'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])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imprime undefined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])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imprime undefined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Acceder a un elemento de un array que no existe no provoca un error (devuelve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undefined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pero sí lo provoca acceder a un elemento de algo que no es un array. Con ES2020 (ES11) se ha incluido el </a:t>
            </a:r>
            <a:r>
              <a:rPr b="1"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operador 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?.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para evitar tener que comprobar nosotros que sea un array:</a:t>
            </a:r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63" y="3379375"/>
            <a:ext cx="7658677" cy="10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Vamos a ver los principales métodos y propiedades de los arrays.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le</a:t>
            </a: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gth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Esta propiedad devuelve la longitud de un array: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Lunes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Martes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console.log(a.length)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imprime 5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Podemos reducir el tamaño de un array cambiando esta propiedad, aunque es una forma poco clara de hacerlo: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a.length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ahora a = ['Lunes', 'Martes', 2]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Añadir elementos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añadir elementos al final de un array con </a:t>
            </a:r>
            <a:r>
              <a:rPr lang="es" sz="1208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push</a:t>
            </a:r>
            <a:r>
              <a:rPr lang="es" sz="1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al principio con </a:t>
            </a:r>
            <a:r>
              <a:rPr lang="es" sz="1208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unshift</a:t>
            </a:r>
            <a:r>
              <a:rPr lang="es" sz="1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Eliminar elementos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8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Podemos borrar el elemento del final de un array con </a:t>
            </a:r>
            <a:r>
              <a:rPr lang="es" sz="1108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lang="es" sz="1308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o el del principio con </a:t>
            </a:r>
            <a:r>
              <a:rPr lang="es" sz="1108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shift</a:t>
            </a:r>
            <a:r>
              <a:rPr lang="es" sz="1308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 Ambos métodos devuelven el elemento que hemos borrado:</a:t>
            </a:r>
            <a:endParaRPr sz="1308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625" y="2735725"/>
            <a:ext cx="5807874" cy="74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626" y="4357825"/>
            <a:ext cx="6467977" cy="6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729450" y="2078875"/>
            <a:ext cx="7688700" cy="30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splice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Permite eliminar elementos de cualquier posición del array y/o insertar otros en su lugar. Devuelve un array con los elementos eliminados. Sintaxis: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0086B3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.splice(posicion, num. de elementos a eliminar,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º elemento a insertar,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º elemento a insertar,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º...)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950" y="3655175"/>
            <a:ext cx="6839427" cy="10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729450" y="21850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EJERCICIO 2: Guarda en un array la lista de la compra con Peras, Manzanas, Kiwis, Plátanos y Mandarinas. Haz los siguiente con splice: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Elimina las manzanas (debe quedar Peras, Kiwis, Plátanos y Mandarinas)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Añade detrás de los Plátanos Naranjas y Sandía (debe quedar Peras, Kiwis, Plátanos, Naranjas, Sandía y Mandarinas)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Quita los Kiwis y pon en su lugar Cerezas y Nísperos (debe quedar Peras, Cerezas, Nísperos, Plátanos, Naranjas, Sandía y Mandarinas)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729450" y="2078875"/>
            <a:ext cx="7688700" cy="29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slice</a:t>
            </a:r>
            <a:endParaRPr b="1" sz="15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Devuelve un subarray con los elementos indicados pero sin modificar el array original (sería como hacer un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substr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pero de un array en vez de una cadena). Sintaxis: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0086B3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.slice(posicion_inicio, posición_final)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Es muy útil para hacer una copia de un array: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copiaDeA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a.slice()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135" y="3321475"/>
            <a:ext cx="7773788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Arrays y Strings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Cada objeto (y los arrays son un tipo de objeto) tienen definido el método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.toString()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que lo convierte en una cadena. Este método es llamado automáticamente cuando, por ejemplo, queremos mostrar un array por la consola. En realidad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console.log(a)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ejecuta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console.log(a.toString())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 En el caso de los arrays esta función devuelve una cadena con los elementos del array dentro de corchetes y separados por coma.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Además podemos convertir los elementos de un array a una cadena con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.join()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especificando el carácter separador de los elementos. Ej.: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738" y="4141401"/>
            <a:ext cx="7372524" cy="7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Arrays y Strings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974" y="2571750"/>
            <a:ext cx="7949926" cy="143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Ordena alfabéticamente los elementos del array. Cambia el array además de devolverlo. Ejemplo: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hola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adios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Bien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Mal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13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120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a.sort()    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b = [13, 2, 45, 5, "Bien", "Mal", "adios", "hola"], pero a también queda ordenado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729450" y="2078875"/>
            <a:ext cx="3169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También podemos pasarle una función que le indique cómo ordenar. 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Ejemplo: ordenar un array de cadenas sin tener en cuenta si son mayúsculas o minúsculas:</a:t>
            </a:r>
            <a:endParaRPr/>
          </a:p>
        </p:txBody>
      </p:sp>
      <p:sp>
        <p:nvSpPr>
          <p:cNvPr id="222" name="Google Shape;222;p33"/>
          <p:cNvSpPr txBox="1"/>
          <p:nvPr/>
        </p:nvSpPr>
        <p:spPr>
          <a:xfrm>
            <a:off x="4167600" y="1906175"/>
            <a:ext cx="49764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let a = ['hola','adios','Bien','Mal'];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let b = a.sort(function(elem1, elem2) {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if (elem1.toLocaleLowerCase() &gt; elem2.toLocaleLowerCase()) { 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return 1; // Si elem1 es mayor, va después. 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if (elem1.toLocaleLowerCase() &lt; elem2.toLocaleLowerCase()) { 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return -1; // Si elem1 es menor, va antes. </a:t>
            </a:r>
            <a:endParaRPr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return 0; // Si son iguales, no cambia el orden.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});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console.log(b); // Resultado: ["adios", "Bien", "hola", "Mal"]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729450" y="2078875"/>
            <a:ext cx="4086600" cy="29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Como más se utiliza esta función es para ordenar arrays de objetos. Por ejemplo si tenemos un objeto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alumno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con los campos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, para ordenar un array de objetos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alumno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por su edad haremos: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alumnosOrdenado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alumnos.sort(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(alumno1, alumno2) {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alumno1.age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alumno2.age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/>
          </a:p>
        </p:txBody>
      </p:sp>
      <p:sp>
        <p:nvSpPr>
          <p:cNvPr id="229" name="Google Shape;229;p34"/>
          <p:cNvSpPr txBox="1"/>
          <p:nvPr/>
        </p:nvSpPr>
        <p:spPr>
          <a:xfrm>
            <a:off x="4370700" y="3145050"/>
            <a:ext cx="4773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let alumnosOrdenado = alumnos.sort(function(alumno1, alumno2)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 if (alumno1.age &gt; alumno2.age)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   return 1; // Si alumno1 es mayor, va después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 } else if (alumno1.age &lt; alumno2.age)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   return -1; // Si alumno1 es menor, va antes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 } else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   return 0; // Si tienen la misma edad, no cambia el orden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  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});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729450" y="2207675"/>
            <a:ext cx="7688700" cy="21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EJERCICIO 3: Haz una función que ordene las notas de un array pasado como parámetro. Si le pasamos [4,8,3,10,5] debe devolver [3,4,5,8,10]. Pruébalo en la consola</a:t>
            </a:r>
            <a:endParaRPr b="1" sz="20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729450" y="2078875"/>
            <a:ext cx="7688700" cy="29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Otros métodos comunes</a:t>
            </a:r>
            <a:endParaRPr b="1" sz="165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9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.indexOf()</a:t>
            </a:r>
            <a:r>
              <a:rPr lang="es" sz="11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 devuelve la primera posición del elemento pasado como parámetro o -1 si no se encuentra en el array</a:t>
            </a:r>
            <a:endParaRPr sz="11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1200"/>
              <a:buFont typeface="Arial"/>
              <a:buChar char="●"/>
            </a:pPr>
            <a:r>
              <a:rPr lang="es" sz="9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.lastIndexOf()</a:t>
            </a:r>
            <a:r>
              <a:rPr lang="es" sz="11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 devuelve la última posición del elemento pasado como parámetro o -1 si no se encuentra en el array</a:t>
            </a:r>
            <a:endParaRPr sz="11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500" y="3439350"/>
            <a:ext cx="4060651" cy="17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729450" y="2078875"/>
            <a:ext cx="7688700" cy="25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forEach</a:t>
            </a:r>
            <a:endParaRPr b="1" sz="165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 el método más general de los que hemos visto. No devuelve nada sino que permite realizar algo con cada elemento del array.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5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includes</a:t>
            </a:r>
            <a:endParaRPr b="1" sz="165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Devuelve true si el array incluye el elemento pasado como parámetro.</a:t>
            </a:r>
            <a:endParaRPr/>
          </a:p>
        </p:txBody>
      </p:sp>
      <p:pic>
        <p:nvPicPr>
          <p:cNvPr id="249" name="Google Shape;2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625" y="3036000"/>
            <a:ext cx="5215174" cy="80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0650" y="4516025"/>
            <a:ext cx="437197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729450" y="2078875"/>
            <a:ext cx="7688700" cy="31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Copia de arrays</a:t>
            </a:r>
            <a:endParaRPr b="1" sz="17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Como vimos al hablar de objetos (y un array es un tipo particular de objeto) por defecto al asignarlos o pasarlos como parámetro a una función se pasan por referencia, NO se copian por lo que los datos de ambas son los mismos: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00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 queremos obtener una copia de un array que sea independiente del original podemos usar </a:t>
            </a:r>
            <a:endParaRPr sz="10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" sz="1000">
                <a:solidFill>
                  <a:srgbClr val="009999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copiaDeA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[...a]       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copiaDeA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a.slice()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2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otraCopiaDeA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00">
                <a:solidFill>
                  <a:srgbClr val="0086B3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.from(a)</a:t>
            </a:r>
            <a:endParaRPr/>
          </a:p>
        </p:txBody>
      </p:sp>
      <p:pic>
        <p:nvPicPr>
          <p:cNvPr id="257" name="Google Shape;25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850" y="2985450"/>
            <a:ext cx="4153275" cy="6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EJERCICIO 4: </a:t>
            </a:r>
            <a:endParaRPr sz="1200">
              <a:solidFill>
                <a:srgbClr val="6A737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Dado el array arr1 con los días de la semana haz un array arr2 que sea igual al arr1. </a:t>
            </a:r>
            <a:endParaRPr sz="1200">
              <a:solidFill>
                <a:srgbClr val="6A737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Elimina de arr2 el último día y comprueba qué ha pasado con arr1. </a:t>
            </a:r>
            <a:endParaRPr sz="1200">
              <a:solidFill>
                <a:srgbClr val="6A737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Repita la operación con un array llamado arr3 pero que crearás haciendo una copia de arr1.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40"/>
          <p:cNvPicPr preferRelativeResize="0"/>
          <p:nvPr/>
        </p:nvPicPr>
        <p:blipFill rotWithShape="1">
          <a:blip r:embed="rId3">
            <a:alphaModFix/>
          </a:blip>
          <a:srcRect b="0" l="0" r="0" t="11308"/>
          <a:stretch/>
        </p:blipFill>
        <p:spPr>
          <a:xfrm>
            <a:off x="1176925" y="421100"/>
            <a:ext cx="6793749" cy="253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6925" y="2953750"/>
            <a:ext cx="6793750" cy="214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1"/>
          <p:cNvSpPr txBox="1"/>
          <p:nvPr>
            <p:ph idx="1" type="body"/>
          </p:nvPr>
        </p:nvSpPr>
        <p:spPr>
          <a:xfrm>
            <a:off x="729450" y="2078875"/>
            <a:ext cx="7688700" cy="29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5:</a:t>
            </a:r>
            <a:endParaRPr/>
          </a:p>
          <a:p>
            <a:pPr indent="0" lvl="0" marL="0" rtl="0" algn="l">
              <a:lnSpc>
                <a:spcPct val="16667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12121"/>
                </a:solidFill>
              </a:rPr>
              <a:t>Vamos a gestionar una lista de países haciendo uso de Arrays. Para ello necesitarás crear un archivo arrays.js que incluya las siguientes funciones:</a:t>
            </a:r>
            <a:endParaRPr sz="1100"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Mostrar el número de elementos del array.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Mostrar todos los elementos del array.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Muestra los elementos del array en sentido inverso.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Muestra los elementos del array ordenados alfabéticamente (pero no los ordena).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Añadir un elemento al principio del array.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Añadir un elemento al final del array.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Borrar un elemento al principio del array  (y decir cuál se ha borrado).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Borrar un elemento al final del array (y decir cuál se ha borrado).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Muestra el elemento que se encuentra en una posición que el usuario indica.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Muestra la posición en la que se encuentra un elemento que le indica el usuario.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Muestra los elementos que se encuentran en un intervalo que el usuario indica.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Operaciones con array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2"/>
          <p:cNvSpPr txBox="1"/>
          <p:nvPr>
            <p:ph idx="1" type="body"/>
          </p:nvPr>
        </p:nvSpPr>
        <p:spPr>
          <a:xfrm>
            <a:off x="729450" y="2078875"/>
            <a:ext cx="7688700" cy="29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6:</a:t>
            </a:r>
            <a:endParaRPr/>
          </a:p>
          <a:p>
            <a:pPr indent="0" lvl="0" marL="0" rtl="0" algn="l">
              <a:lnSpc>
                <a:spcPct val="16667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12121"/>
                </a:solidFill>
              </a:rPr>
              <a:t>Ten en cuenta que el array será una variable global y que se pasará por parámetro en todas las funciones.</a:t>
            </a:r>
            <a:endParaRPr sz="1100">
              <a:solidFill>
                <a:srgbClr val="212121"/>
              </a:solidFill>
            </a:endParaRPr>
          </a:p>
          <a:p>
            <a:pPr indent="0" lvl="0" marL="0" rtl="0" algn="l">
              <a:lnSpc>
                <a:spcPct val="16667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212121"/>
                </a:solidFill>
              </a:rPr>
              <a:t>Cuando el usuario cargue la página, se cargará un prompt donde se mostrarán (en el prompt, no en la página) las opciones:</a:t>
            </a:r>
            <a:endParaRPr sz="1100"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Mostrar número de países.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Mostrar listado de países (y le preguntará si quiere mostrarlos en el orden que se encuentran en el array, del revés u ordenados alfabéticamente).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Mostrar un intervalo de países (y le pedirá que introduzca el intervalo en formato inicio-fin; luego deberás extraer el valor inicio y fin).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Añadir un país (y le preguntará si quiere añadir al principio o al final).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Borrar un país (y le preguntará si quiere borrar al principio o al final).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Consultar un país (y le preguntará si quiere consultar por posición o por nombre).</a:t>
            </a:r>
            <a:endParaRPr>
              <a:solidFill>
                <a:srgbClr val="212121"/>
              </a:solidFill>
            </a:endParaRPr>
          </a:p>
          <a:p>
            <a:pPr indent="-282733" lvl="1" marL="914400" rtl="0" algn="l">
              <a:lnSpc>
                <a:spcPct val="16667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ct val="100000"/>
              <a:buFont typeface="Lato"/>
              <a:buChar char="■"/>
            </a:pPr>
            <a:r>
              <a:rPr lang="es">
                <a:solidFill>
                  <a:srgbClr val="212121"/>
                </a:solidFill>
              </a:rPr>
              <a:t>Todas las operaciones que se realicen se irán mostrando en la página con su título.</a:t>
            </a:r>
            <a:endParaRPr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Arrays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Array multidimensional	</a:t>
            </a:r>
            <a:endParaRPr/>
          </a:p>
        </p:txBody>
      </p:sp>
      <p:sp>
        <p:nvSpPr>
          <p:cNvPr id="289" name="Google Shape;289;p43"/>
          <p:cNvSpPr txBox="1"/>
          <p:nvPr>
            <p:ph idx="1" type="body"/>
          </p:nvPr>
        </p:nvSpPr>
        <p:spPr>
          <a:xfrm>
            <a:off x="729450" y="2078875"/>
            <a:ext cx="7688700" cy="29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Son arrays que almacenan en cada posición otros arrays a su vez.  Es posible crear arrays bidimensionales, tridimensionales, etc.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let datos= [[“Programación”, “1DAW”</a:t>
            </a:r>
            <a:r>
              <a:rPr lang="es"/>
              <a:t>, 10</a:t>
            </a:r>
            <a:r>
              <a:rPr lang="es"/>
              <a:t>],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         [ “DEWC”, “2DAW”, 19]   ];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</a:t>
            </a:r>
            <a:r>
              <a:rPr b="1" lang="es"/>
              <a:t>acceder </a:t>
            </a:r>
            <a:r>
              <a:rPr lang="es"/>
              <a:t>a una posición hay que indicar tantas dimensiones como índices tenga el array: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let elemento = datos[1][0];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Para acceder a todos los datos del array utilizaremos tantos bucles anidados como dimensiones tenga el array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4"/>
          <p:cNvSpPr txBox="1"/>
          <p:nvPr>
            <p:ph idx="1" type="body"/>
          </p:nvPr>
        </p:nvSpPr>
        <p:spPr>
          <a:xfrm>
            <a:off x="729463" y="2104050"/>
            <a:ext cx="7688700" cy="28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 Javascript podemos definir cualquier variable como un objeto declarándola con 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(NO se recomienda) o creando un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literal object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(usando notación 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 Ejemplo con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(no recomendado):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Creando un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literal object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(es la forma recomendada) el ejemplo anterior sería: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4"/>
          <p:cNvSpPr txBox="1"/>
          <p:nvPr/>
        </p:nvSpPr>
        <p:spPr>
          <a:xfrm>
            <a:off x="729450" y="4043050"/>
            <a:ext cx="741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851" y="2790250"/>
            <a:ext cx="6797951" cy="82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6886" y="4043050"/>
            <a:ext cx="2073875" cy="8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de un objeto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5"/>
          <p:cNvSpPr txBox="1"/>
          <p:nvPr>
            <p:ph idx="1" type="body"/>
          </p:nvPr>
        </p:nvSpPr>
        <p:spPr>
          <a:xfrm>
            <a:off x="729475" y="2175400"/>
            <a:ext cx="7688700" cy="28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Podemos acceder a las propiedades con </a:t>
            </a:r>
            <a:r>
              <a:rPr lang="es" sz="10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(punto) o </a:t>
            </a:r>
            <a:r>
              <a:rPr lang="es" sz="10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intentamos acceder a propiedades que no existen no se produce un error, se devuelve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undefined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console.log(alumno.ciclo)   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muestra undefined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embargo se genera un error si intentamos acceder a propiedades de algo que no es un objeto: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console.log(alumno.ciclo)        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muestra undefined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console.log(alumno.ciclo.descrip)   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se genera un ERROR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400" y="2479800"/>
            <a:ext cx="5326599" cy="9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de un objeto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6"/>
          <p:cNvSpPr txBox="1"/>
          <p:nvPr>
            <p:ph idx="1" type="body"/>
          </p:nvPr>
        </p:nvSpPr>
        <p:spPr>
          <a:xfrm>
            <a:off x="729475" y="2175400"/>
            <a:ext cx="7688700" cy="28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evitar ese error antes había que comprobar que existan las propiedades previas: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console.log(alumno.ciclo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alumno.ciclo.descrip)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Con ES2020 (ES11) se ha incluido el operador de encadenamiento opcional ?. para evitar tener que comprobar esto nosotros: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console.log(alumno.ciclo?.descrip)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Propiedades de un objeto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7"/>
          <p:cNvSpPr txBox="1"/>
          <p:nvPr>
            <p:ph idx="1" type="body"/>
          </p:nvPr>
        </p:nvSpPr>
        <p:spPr>
          <a:xfrm>
            <a:off x="729450" y="2194900"/>
            <a:ext cx="7688700" cy="21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Podremos recorrer las propiedades de un objecto con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for..in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prop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alumno) {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console.log(prop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alumno[prop])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étodos</a:t>
            </a:r>
            <a:r>
              <a:rPr lang="es"/>
              <a:t> de un objeto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8"/>
          <p:cNvSpPr txBox="1"/>
          <p:nvPr>
            <p:ph idx="1" type="body"/>
          </p:nvPr>
        </p:nvSpPr>
        <p:spPr>
          <a:xfrm>
            <a:off x="729450" y="2194900"/>
            <a:ext cx="7688700" cy="27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Una propiedad de un objeto puede ser una función: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alumno.getInfo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El alumno 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.nombre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.apellidos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tiene 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.edad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años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</a:t>
            </a:r>
            <a:endParaRPr sz="1000">
              <a:solidFill>
                <a:srgbClr val="24292E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Y para llamarlo se hace como con cualquier otra propiedad: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console.log(alumno.getInfo())    </a:t>
            </a:r>
            <a:r>
              <a:rPr i="1" lang="es" sz="100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imprime 'El alumno Carlos Pérez Ortíz tiene 19 años'</a:t>
            </a:r>
            <a:endParaRPr i="1" sz="100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Métodos de un objeto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9"/>
          <p:cNvSpPr txBox="1"/>
          <p:nvPr>
            <p:ph idx="1" type="body"/>
          </p:nvPr>
        </p:nvSpPr>
        <p:spPr>
          <a:xfrm>
            <a:off x="729450" y="2194900"/>
            <a:ext cx="7688700" cy="27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EJERCICIO 7: Crea un objeto llamado tvSamsung con las propiedades nombre (“TV Samsung 42”), categoria (“Televisores”), unidades (4), precio (345.95) y con un método llamado importe que devuelve el valor total de las unidades (nº de unidades * precio)</a:t>
            </a:r>
            <a:endParaRPr i="1" sz="100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Propagaci</a:t>
            </a:r>
            <a:r>
              <a:rPr lang="es"/>
              <a:t>ón de propiedades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729450" y="2194900"/>
            <a:ext cx="7688700" cy="27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El operador de propagación,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(3 puntos), permite extraer las propiedades de un objeto. Ejemplo: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objeto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alumnoCarlos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tendrá las propiedades de </a:t>
            </a:r>
            <a:r>
              <a:rPr i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personaCarlos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las que se le añadan. Si se repiten las propiedades se sobreescriben: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A737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6" name="Google Shape;33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" y="3167075"/>
            <a:ext cx="259080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Desestructuración de objetos</a:t>
            </a:r>
            <a:endParaRPr/>
          </a:p>
        </p:txBody>
      </p:sp>
      <p:sp>
        <p:nvSpPr>
          <p:cNvPr id="342" name="Google Shape;342;p51"/>
          <p:cNvSpPr txBox="1"/>
          <p:nvPr>
            <p:ph idx="1" type="body"/>
          </p:nvPr>
        </p:nvSpPr>
        <p:spPr>
          <a:xfrm>
            <a:off x="729450" y="2183275"/>
            <a:ext cx="7688700" cy="29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Similar al anterior, permite extraer directamente a variables sólo las propiedades que necesitemos de un objeto. Ejemplo: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Aunque a la función se le pasa un objeto esta toma como parámetros sólo 2 de sus propiedades y las asigna a las variables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nombre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apellidos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También podemos asignar valores por defecto: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miProducto({nombre, apellidos </a:t>
            </a:r>
            <a:r>
              <a:rPr b="1" lang="es" sz="1000">
                <a:solidFill>
                  <a:srgbClr val="000000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'</a:t>
            </a:r>
            <a:r>
              <a:rPr lang="es" sz="1000">
                <a:solidFill>
                  <a:srgbClr val="DD114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Desconocidos</a:t>
            </a:r>
            <a:r>
              <a:rPr lang="es" sz="1000">
                <a:solidFill>
                  <a:srgbClr val="24292E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'}) {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7825" y="2571751"/>
            <a:ext cx="3608349" cy="1428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Comparaci</a:t>
            </a:r>
            <a:r>
              <a:rPr lang="es"/>
              <a:t>ón</a:t>
            </a:r>
            <a:r>
              <a:rPr lang="es"/>
              <a:t> de objetos</a:t>
            </a:r>
            <a:endParaRPr/>
          </a:p>
        </p:txBody>
      </p:sp>
      <p:sp>
        <p:nvSpPr>
          <p:cNvPr id="349" name="Google Shape;349;p52"/>
          <p:cNvSpPr txBox="1"/>
          <p:nvPr>
            <p:ph idx="1" type="body"/>
          </p:nvPr>
        </p:nvSpPr>
        <p:spPr>
          <a:xfrm>
            <a:off x="729450" y="2183275"/>
            <a:ext cx="7688700" cy="29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 Javascript los objetos se comparan por referencia, no por valor. Por lo que dos objetos con los mismos valores no son iguales: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838" y="3126300"/>
            <a:ext cx="5487925" cy="107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Copia de objetos</a:t>
            </a:r>
            <a:endParaRPr/>
          </a:p>
        </p:txBody>
      </p:sp>
      <p:sp>
        <p:nvSpPr>
          <p:cNvPr id="356" name="Google Shape;356;p53"/>
          <p:cNvSpPr txBox="1"/>
          <p:nvPr>
            <p:ph idx="1" type="body"/>
          </p:nvPr>
        </p:nvSpPr>
        <p:spPr>
          <a:xfrm>
            <a:off x="729450" y="2183275"/>
            <a:ext cx="7688700" cy="29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b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 copiar objetos </a:t>
            </a: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(y arrays, que son un tipo de objeto) la nueva variable apunta a la misma posición de memoria que la antigua por lo que los datos de ambas son los mismos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obtener una copia independiente de un array o un objeto podemos usar el operador de propagación </a:t>
            </a:r>
            <a:r>
              <a:rPr lang="es" sz="10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el método </a:t>
            </a:r>
            <a:r>
              <a:rPr lang="es" sz="10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Object.assign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Ejemplo: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900" y="3499300"/>
            <a:ext cx="5607968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2900" y="4181925"/>
            <a:ext cx="2981849" cy="4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Copia de objetos</a:t>
            </a:r>
            <a:endParaRPr/>
          </a:p>
        </p:txBody>
      </p:sp>
      <p:sp>
        <p:nvSpPr>
          <p:cNvPr id="364" name="Google Shape;364;p54"/>
          <p:cNvSpPr txBox="1"/>
          <p:nvPr>
            <p:ph idx="1" type="body"/>
          </p:nvPr>
        </p:nvSpPr>
        <p:spPr>
          <a:xfrm>
            <a:off x="729450" y="2183275"/>
            <a:ext cx="7688700" cy="29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Sin embargo si el objeto tiene como propiedades otros objetos estos se continúan pasando por referencia. Es ese caso lo más sencillo sería hacer:</a:t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bien usar la función </a:t>
            </a:r>
            <a:r>
              <a:rPr lang="es" sz="1000">
                <a:solidFill>
                  <a:srgbClr val="0366D6"/>
                </a:solidFill>
                <a:uFill>
                  <a:noFill/>
                </a:u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structuredClone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810" y="2974675"/>
            <a:ext cx="7545341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750" y="4311650"/>
            <a:ext cx="7413400" cy="4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Programaci</a:t>
            </a:r>
            <a:r>
              <a:rPr lang="es"/>
              <a:t>ón orientada a Objetos</a:t>
            </a:r>
            <a:endParaRPr/>
          </a:p>
        </p:txBody>
      </p:sp>
      <p:sp>
        <p:nvSpPr>
          <p:cNvPr id="372" name="Google Shape;372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Desde ES2015 la POO en Javascript es similar a como se hace en otros lenguajes, con clases, herencia, …: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375" y="2571747"/>
            <a:ext cx="6148949" cy="201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Programación orientada a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Herencia</a:t>
            </a:r>
            <a:endParaRPr/>
          </a:p>
        </p:txBody>
      </p:sp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217" y="2250725"/>
            <a:ext cx="6613160" cy="232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Programación orientada a Objetos</a:t>
            </a:r>
            <a:endParaRPr/>
          </a:p>
        </p:txBody>
      </p:sp>
      <p:sp>
        <p:nvSpPr>
          <p:cNvPr id="386" name="Google Shape;386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9700" marR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EJERCICIO 8: Crea una clase Productos con las propiedades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units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y los métodos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que devuelve el importe del producto y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getInfo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que devolverá: ‘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units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uds x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€ = </a:t>
            </a:r>
            <a:r>
              <a:rPr i="1"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 €’. Crea 3 productos diferentes.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1397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Después c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rea una clase Televisores que hereda de Productos y que tiene una nueva propiedad llamada tamaño. El método getInfo mostrará el tamaño junto al nombre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1397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Programación orientada a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étodos y propiedades estáticas</a:t>
            </a:r>
            <a:endParaRPr/>
          </a:p>
        </p:txBody>
      </p:sp>
      <p:sp>
        <p:nvSpPr>
          <p:cNvPr id="392" name="Google Shape;392;p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Estos métodos se llaman directamente utilizando el nombre de la clase y no tienen acceso al objeto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(ya que no hay objeto instanciado).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075" y="2644774"/>
            <a:ext cx="7345851" cy="21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Programación orientada a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lang="es"/>
              <a:t>étodo toString()</a:t>
            </a:r>
            <a:endParaRPr/>
          </a:p>
        </p:txBody>
      </p:sp>
      <p:sp>
        <p:nvSpPr>
          <p:cNvPr id="399" name="Google Shape;399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 convertir un objeto a string (por ejemplo al concatenarlo con un String) se llama al método </a:t>
            </a:r>
            <a:r>
              <a:rPr i="1" lang="es" sz="1200">
                <a:solidFill>
                  <a:srgbClr val="24292E"/>
                </a:solidFill>
                <a:latin typeface="Arial"/>
                <a:ea typeface="Arial"/>
                <a:cs typeface="Arial"/>
                <a:sym typeface="Arial"/>
              </a:rPr>
              <a:t>.toString()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del mismo, que por defecto devuelve la cadena </a:t>
            </a:r>
            <a:r>
              <a:rPr lang="es" sz="100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[object Object]</a:t>
            </a: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sz="1200">
              <a:solidFill>
                <a:srgbClr val="24292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1397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2429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Podemos sobrecargar este método para que devuelva lo que queramos: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525" y="3081051"/>
            <a:ext cx="5616551" cy="173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Programación orientada a Objetos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6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39700" marR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EJERCICIO 9: modifica las clases Productos y Televisores para que el método que muestra los datos del producto se llame de la manera más adecuada . A continuación, c</a:t>
            </a: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rea 5 productos y guárdalos en un array. Crea las siguientes funciones (todas reciben ese array como parámetro):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96900" marR="139700" rtl="0" algn="l">
              <a:spcBef>
                <a:spcPts val="120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prodsSortByName: devuelve un array con los productos ordenados alfabéticamente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96900" marR="139700" rtl="0" algn="l"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prodsSortByPrice: devuelve un array con los productos ordenados por importe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96900" marR="139700" rtl="0" algn="l"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prodsTotalPrice: devuelve el importe total del los productos del array, con 2 decimales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96900" marR="139700" rtl="0" algn="l"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prodsWithLowUnits: además del array recibe como segundo parámetro un nº y devuelve un array con todos los productos de los que quedan menos de los unidades indicadas</a:t>
            </a:r>
            <a:endParaRPr sz="1200">
              <a:solidFill>
                <a:srgbClr val="6A737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596900" marR="139700" rtl="0" algn="l">
              <a:spcBef>
                <a:spcPts val="0"/>
              </a:spcBef>
              <a:spcAft>
                <a:spcPts val="0"/>
              </a:spcAft>
              <a:buClr>
                <a:srgbClr val="6A737D"/>
              </a:buClr>
              <a:buSzPts val="1200"/>
              <a:buFont typeface="Arial"/>
              <a:buChar char="●"/>
            </a:pPr>
            <a:r>
              <a:rPr lang="es" sz="1200">
                <a:solidFill>
                  <a:srgbClr val="6A737D"/>
                </a:solidFill>
                <a:latin typeface="Arial"/>
                <a:ea typeface="Arial"/>
                <a:cs typeface="Arial"/>
                <a:sym typeface="Arial"/>
              </a:rPr>
              <a:t>prodsList: devuelve una cadena que dice ‘Listado de productos:’ y en cada línea un guión y la información de un producto del array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Objetos</a:t>
            </a:r>
            <a:endParaRPr/>
          </a:p>
        </p:txBody>
      </p:sp>
      <p:sp>
        <p:nvSpPr>
          <p:cNvPr id="412" name="Google Shape;412;p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10: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Realiza un html donde se pidan nombre, DNI y edad de una persona a trav</a:t>
            </a:r>
            <a:r>
              <a:rPr lang="es"/>
              <a:t>és de input. Con un botón se añaden a una lista de objetos “persona”. Y esa lista se deberá recorrer cada vez que haya un cambio y se </a:t>
            </a:r>
            <a:r>
              <a:rPr lang="es"/>
              <a:t>mostrará</a:t>
            </a:r>
            <a:r>
              <a:rPr lang="es"/>
              <a:t> en el html en una tabla.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dará la opción de ordenar por edad y por nombre si se clicka en las cabeceras de la tabla.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